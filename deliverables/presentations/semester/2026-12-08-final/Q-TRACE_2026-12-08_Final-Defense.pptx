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0a2c6ea7-0721-50b8-e688-f1a3703b060e}">
          <p14:sldIdLst>
            <p14:sldId id="256"/>
          </p14:sldIdLst>
        </p14:section>
        <p14:section name="Main" id="{2e45ebf1-ae93-1789-4f47-07f17fdb27f2}">
          <p14:sldIdLst>
            <p14:sldId id="257"/>
            <p14:sldId id="258"/>
            <p14:sldId id="259"/>
            <p14:sldId id="260"/>
            <p14:sldId id="262"/>
            <p14:sldId id="263"/>
            <p14:sldId id="264"/>
            <p14:sldId id="266"/>
            <p14:sldId id="268"/>
            <p14:sldId id="269"/>
            <p14:sldId id="270"/>
            <p14:sldId id="272"/>
            <p14:sldId id="273"/>
            <p14:sldId id="275"/>
            <p14:sldId id="276"/>
            <p14:sldId id="277"/>
            <p14:sldId id="278"/>
            <p14:sldId id="279"/>
          </p14:sldIdLst>
        </p14:section>
        <p14:section name="Methods" id="{1cc0efe1-7504-b563-1041-0ec4b54cff1b}">
          <p14:sldIdLst>
            <p14:sldId id="261"/>
          </p14:sldIdLst>
        </p14:section>
        <p14:section name="Main" id="{f59108c5-ed8e-dc47-f02c-a96c6d9f7a2c}">
          <p14:sldIdLst/>
        </p14:section>
        <p14:section name="Design" id="{55da00ee-f09b-d333-fa49-cfa8ad3dfbee}">
          <p14:sldIdLst>
            <p14:sldId id="265"/>
          </p14:sldIdLst>
        </p14:section>
        <p14:section name="Main" id="{f7a54704-8476-79ba-3644-4532aa072387}">
          <p14:sldIdLst/>
        </p14:section>
        <p14:section name="Results" id="{18fa8098-11cf-27ce-a229-9d5c1b253930}">
          <p14:sldIdLst>
            <p14:sldId id="267"/>
          </p14:sldIdLst>
        </p14:section>
        <p14:section name="Main" id="{be9e5dd3-1a55-cdf4-12e4-57b3007f0ec3}">
          <p14:sldIdLst/>
        </p14:section>
        <p14:section name="Close" id="{abfb27ab-1749-c57d-c101-4cfc7ee0f21a}">
          <p14:sldIdLst>
            <p14:sldId id="271"/>
          </p14:sldIdLst>
        </p14:section>
        <p14:section name="Main" id="{e73d3bd6-0586-571e-2986-025499373588}">
          <p14:sldIdLst/>
        </p14:section>
        <p14:section name="Backup" id="{48acbbee-68d0-7af8-a913-d4274b7f0d52}">
          <p14:sldIdLst>
            <p14:sldId id="274"/>
          </p14:sldIdLst>
        </p14:section>
        <p14:section name="Main" id="{32c0da9e-4d91-955f-e09c-75e3f2a222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0:00–0:28]
Good afternoon. We are Mayank and Tushar, and this is our capstone defense.
Our research problem: a noisy quantum classifier can spend extra quantum resources on error mitigation. When is that worth paying for, and does deciding it require a learned controller? Our answer, from a pre-registered study confirmed on a sealed held-out test, is that in the studied setting a simple probe rule was enough.
Key points: the research problem; answer preview: a simple probe rule was enough in the studied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0:28–1:11]
Mitigation options differ in cost by an order of magnitude. Readout mitigation needs about two calibration circuits per batch. Zero-noise extrapolation needs three times the shots and nine times the two-qubit-gate exposure. Buying extra shots only reduces variance, not bias.
In fraud scoring this matters, because alerts fire at a fixed threshold: a model whose probabilities are biased raises the wrong alerts even if it ranks transactions well. So for every execution context there is a real choice: nothing, readout mitigation, ZNE, both, or more shots. Paying for the wrong one either wastes quantum resources or leaves the alerts unreliable.
Key points: readout ≈ 2 calibration circuits per batch; ZNE 3× shots, 9× CX; extra shots fix variance, not bias; fraud alerts need calibrated probabilities; per-context choice among five actions.
Sources: p5c_costs.csv; configs/mitigation/*.yaml.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1:11–1:57]
Four strands of work frame our study.
The foundations of mitigation are established: zero-noise extrapolation, readout inversion, and probabilistic error cancellation, which removes bias at an exponential sampling cost.
Whether mitigation pays is less settled. A resource-normalized evaluation found it beneficial on average but strongly platform-dependent, and at a matched shot budget ZNE can be worse than the raw estimate.
Adaptive selection already exists: bandit and orchestration methods choose mitigation per context.
And for fraud, quantum classifiers have been tested on the same dataset, with tuned classical baselines ahead; other studies report quantum or hybrid models matching classical ones on particular metrics. So the comparison results are mixed.
Key points: foundations: ZNE, readout inversion, PEC; does it pay? platform-dependent; can be worse at matched budget; adaptive selectors exist; QML fraud: classical baselines ahead on this dataset.
Sources: deliverables/paper/references.bib; deliverables/paper/REFERENCES_VERIFICATION.md.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1:57–2:36]
This table compares the closest selectors with our work. The learned selectors condition on information that is label-dependent or unavailable at deployment, such as ideal-state fidelity, simulator noise parameters, loss or reward, and they report gains mainly over static choices.
To our knowledge, none puts extra shots and combined mitigation in one action space, restricts itself to label-free probes, and tests learning against a simple rule on held-out models under pre-registration. That is our gap. We do not claim to be the first to adapt mitigation; we claim a stricter comparison.
Key points: learned selectors use label-dependent or simulator-only context; gains reported mainly over static choices; gap: extra shots + combined actions, label-free probes, pre-registered held-out test vs simple rules.
Sources: deliverables/paper/REFERENCES_VERIFICATION.md (claim checks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2:36–3:22]
Our original hypothesis was that a learned controller, Q-TRACE, using only label-free probes, would beat fixed policies and a fairly tuned threshold rule on the reliability-cost trade-off. From the start we committed to report it as a result if a simple threshold rule matched it.
We tested this in three stages. Two gates asked whether any material structure was left for learning; a controller would be trained only if one passed. Then one sealed test checked four hypotheses: the rule is near-Oracle, learning adds no meaningful value, the rule beats fixed policies, and it transfers to categorical noise. Tushar will now walk through the model and data.
Key points: H-control vs the committed alternative (a simple rule suffices); two gates decide whether to train a controller; sealed test: H1 near-Oracle, H2 learning adds nothing meaningful, H3 beats fixed policies, H4 transfers.
Sources: docs/PREREG_P5B.md, docs/PREREG_P5C.md, docs/PREREG_FINAL.md; configs/final_test/final_v1.yaml.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3:22–4:08]
Our reference classifier uses four features encoded as angles on four qubits, a ZZ feature map, a two-layer RealAmplitudes ansatz with 12 trainable parameters, and a parity readout that maps to a fraud probability. It has 18 two-qubit gates after transpilation.
A pre-registered encoding repair raised its validation AUPRC from 0.104 to 0.507. Classical models on the same inputs reach 0.59 to 0.62, so we make no quantum-advantage claim: the classifier is the noisy workload whose mitigation decisions we study. Its output is an expectation value, the very quantity noise distorts and mitigation repairs.
Key points: ZZ map + RealAmplitudes (reps 2) + parity; 12 parameters, 18 CX; repair: AUPRC 0.104 → 0.507; classical 0.59–0.62 on the same inputs: no quantum advantage.
Sources: configs/repair/p3ar_v1.yaml; p5a_pool_metrics.csv (anchor); p3ar_validation_comparison.csv.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4:08–4:50]
We use the public European credit-card fraud dataset: 284,807 transactions. After removing exact duplicates, 283,726 rows remain, with 473 frauds, or 0.17 percent.
Rows that differ only in their timestamp are kept together, and a group-aware split creates five disjoint partitions. Preprocessing is fitted on the training partition only. The controller test partition was sealed until the final evaluation. True noise parameters, labels and identifiers never enter a policy, as enforced by a feature registry and tests. The probes are deployable measurements that estimate the noise by design.
Key points: 284,807 → 283,726 rows, 473 frauds (0.17%); group-aware split into 5 partitions; preprocessing fitted on training only; controller test sealed; registry + tests prevent leakage.
Sources: ulb_v1_dataset_summary.csv; ulb_v1_phase1_metadata.json.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4:50–5:42]
We simulate noise exactly with density matrices: depolarizing errors after gates, thermal relaxation during gates, and readout confusion. Each has low, medium and high anchors; asymmetric readout is a synthetic stress test, not device data.
We used two environments. Phase 5B used eight near-categorical conditions. Phase 5C varied all sources continuously and jointly: 17 gate settings, one of them gate-free, times four readout settings, giving 68 noise points, shown on the right. The first finding, on the right: across the twelve anchor conditions, noise changed AUPRC by at most 0.003 but raised the Brier score up to thirteen-fold. Noise pulls scores toward one half, so calibration and threshold alerts suffer, while the top-ranked frauds stay on top.
Key points: depolarizing, thermal relaxation, readout; low/medium/high anchors; 5B: 8 conditions; 5C: 68 continuous joint points (17 gate × 4 readout, one gate-free); AUPRC ≤ 0.003 change; Brier up to 13× worse.
Sources: configs/noise/anchors_rr_v1.yaml; p5c_design.csv; p3b_exact_metrics.csv (figure: deliverables/figures/fig3_noise_effects).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5:42–6:28]
We compare five actions: none, readout mitigation, ZNE by global folding at noise scales one, three and five with linear extrapolation, both combined, and three times the shots as the resource-matched baseline.
Mitigation restored calibration: under combined high noise, the Brier score fell from 0.122 to 0.054 with combined mitigation, while three times the shots left it at 0.121. No action improved AUPRC beyond its shot-matched comparator, and the best action depended on the noise type: readout mitigation for readout noise, ZNE for gate noise, both for combined noise. Mayank will explain how we tested the decision.
Key points: A0–A4 with explicit shot and CX costs; Brier 0.122 → 0.054 (combined); 3× shots 0.121; no AUPRC gain; best action depends on noise type.
Sources: p4_summary.csv (s1024); p5c_costs.csv.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6:28–7:12]
From Phase 3A-R on, every phase was pre-registered and committed before its own outcomes existed; for Phases 5B, 5C and the final test the code was pushed together with the registration. Gates decided whether to continue, and negative outcomes count as results.
The controller test outcomes were written to a sealed store. A guard allowed exactly one unlock, after the protocol and frozen comparators were pushed, and logged every read. Learned comparators were frozen by fingerprints of their decisions. Sixteen slow tests re-run Phases 1 to 5C and the final test. Every reported run records its commit, configuration hash, package versions and seeds.
Key points: from Phase 3A-R: registered before each phase's outcomes; sealed test: one guarded unlock, reads logged; comparators fingerprinted; 16 slow reproduction tests.
Sources: docs/PREREG_*.md; final_metadata.json (unlock record); tests/ (16 slow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7:12–8:03]
Because noise acts on calibration, the primary endpoint is the Brier score. The Oracle picks the cheapest action within ten percent of the best Brier score. A policy fails when it disagrees with the Oracle; the failure is material when its Brier score is more than twenty percent above the best, or it spends at least one extra shot-set per inference.
Costs are counted in shots, including the probes for probing policies. Models nested in structures are the independent units, so intervals come from a two-stage cluster bootstrap, resampling structures and then models. One subtlety: Brier regret can be slightly negative, because the Oracle may trade some reliability for a lower cost. Tushar will now present the results.
Key points: Brier primary; Oracle = cheapest within 10%; failure vs material failure (Brier &gt; 1.2× best, or ≥ 1 extra shot-set); shots incl. probes (66·S per batch); two-stage cluster bootstrap.
Sources: configs/mixed_noise_study/p5c_v1.yaml; configs/final_test/final_v1.yaml.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8:03–8:50]
To make models, not transactions, the unit of analysis, we trained 64 classifiers: 16 structures times four seeds, varying features, encoding, ansatz and readout. All qualified, with a median AUPRC of 0.235. Structures were split eight, four and four, and the four test structures were sealed.
Every model was run under every action, noise context, budget and replicate: about 1.4 million paired outcomes. A policy sees only static descriptors and two probes: the readout calibration circuits, and a gate probe of 32 fixed inputs at fold factors one and three. Together they cost 66 circuits per batch, charged to every probing policy.
Key points: 64 VQCs; median AUPRC 0.235 (0.047–0.538); split 8/4/4; ≈ 1.4 M paired outcomes (102,400 + 1,305,600); probes: readout calibration + 32-binding gate probe, 66 circuits per batch.
Sources: p5a_pool_metrics.csv; p5b_split.csv; Phase 5B/5C row counts (EXPERIMENT_PROTOCOL §3.12–3.13); p5b_feature_definitions.csv.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8:50–9:38]
Under categorical noise, the best action was a lookup on the noise type, and a four-cell probe rule was wrong in only 0.33 percent of validation cases. Under continuous joint noise, where 16 of 17 gate settings carry gate noise by design, combined mitigation or ZNE was almost always best, and the two-threshold rule on the left made material errors in only 2.0 percent of validation decisions.
Both were below the five-percent gates. The remaining structure was detectable, mostly from mean-Z readouts, but not material, so, as registered, no learned controller was trained. Instead we froze four learned comparators with fixed settings for the sealed test.
Key points: G3B: category rule wrong in 0.33% → fail; G3C: R_thr material 2.0% [1.6, 2.7] → fail; residual detectable, not material → no controller trained.
Sources: p5b_metadata.json; p5c_metadata.json (R_thr cells/thresholds, g3c); fig5 source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9:38–10:36]
On the sealed test, all four hypotheses were supported. Under continuous joint noise the rule made material errors in 2.0 percent of decisions, with an interval of 1.4 to 2.6 percent, and its Brier score was within 0.03 percent of the Oracle's. Under categorical noise: 8.8 percent, inside the ten-percent bound.
The best learned comparator, gradient boosting, tied the rule on material errors at 2.1 percent. To be precise: it disagreed with the Oracle less often, 6.5 against 21.9 percent, but most of the rule's extra choices came from the unseen mean-Z structure, cost only two calibration circuits and were not material. The learned models were also unstable: gradient boosting made 10.7 percent material errors on validation.
Key points: R_thr material 2.0% [1.4, 2.6]; Brier −0.03%; 5B 8.8%; H1–H4 supported; GBT 2.1% material; better raw agreement (6.5% vs 21.9%) but not material.
Sources: final_policies_5c_test.csv; final_policies_5b_test.csv; final_paired_vs_rthr_5c_test.csv; final_metadata.json.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10:36–11:23]
Against cost, the rule sits next to the Oracle: 0.6 percent more shots, and 3.4 percent fewer than always using combined mitigation, with about a third of its material errors. Never mitigating uses about a third of the shots, but makes material errors 96 percent of the time.
One disclosure matters here: always-combined's 5.9 percent material errors are exactly the one gate-free setting out of 17 in our design. So this saving, and the case for probing, depend on how often batches are gate-free. Probing pays for itself only above about 645 to 685 transactions per batch, a validation estimate.
Key points: rule: +0.6% vs Oracle, −3.4% vs always-combined; never mitigate: 0.35× shots, 96% material errors; always-A3 5.9% = 1/17 gate-free design share.
Sources: final_policies_5c_test.csv; p5c_design.csv.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11:23–12:04]
Our evidence is simulation-only, at four qubits, on one dataset, with two mitigation techniques. The held-out test has only four structures, so its intervals are probably too narrow, and H2 is a non-superiority result on material errors, not proof that learning cannot help. On raw agreement with the Oracle, learned models did better. The gate probe barely sees thermal noise, and gate noise was present in 16 of 17 settings by design. Per-model alert thresholds were tuned on clean validation data, which is optimistic. We claim no quantum advantage and no general applicability.
Key points: simulation only; 4 qubits; one dataset; two techniques; 4 held-out structures; H2 non-superiority; raw-endpoint caveat; thermal blind spot; design dependence; no quantum advantage.
Sources: final_policies_5c_test.csv; final_paired_vs_rthr_5c_test.csv; p5c_probe_validity.csv; p3ar_validation_comparison.csv.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12:04–12:42]
Our contribution has three parts. A characterization: noise damaged calibration, not discrimination, and mitigation repaired calibration where extra shots could not. A leakage-safe counterfactual benchmark across 64 independently trained models. And a pre-registered, held-out test of learned selection against simple rules, which found that a two-threshold probe rule performed competitively.
Every result is reproducible from the repository, and the manuscript and report are complete drafts for review; nothing has been submitted. The broader lesson is methodological: adaptive mitigation should be evaluated against simple probe rules and a cost-aware Oracle.
Key points: characterization: calibration, not discrimination; leakage-safe benchmark: 64 models, ≈ 1.4 M outcomes; pre-registered learning-vs-rule test; reproducible; manuscript drafted, nothing submitted.
Sources: deliverables/paper/main.tex; deliverables/README.md.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12:42–13:15]
So, our answer. Spend on mitigation when the probes detect noise that biases calibration, choose the technique by noise type with a simple rule, and in this setting do not learn that decision.
Next steps: validate on hardware, where readout asymmetry, drift and crosstalk are real; add richer mitigation such as probabilistic error cancellation and a thermal-sensitive probe; and test larger circuits, where noise may also damage discrimination.
Thank you. We are happy to take your questions.
Key points: answer: rule-based selective mitigation sufficed in the studied setting; future: hardware, richer mitigation + thermal probe, larger circuits.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If asked why the rule's raw disagreement is higher on the test: it comes from the unseen mean-Z structure, where the rule adds readout mitigation that mean-Z readouts barely need. That costs two calibration circuits per batch and is not material (1.4 percent). R_obs, which conditions on the readout type, absorbs it; learned comparators reached 5 to 30 percent material errors on that structure.
Key points: mean-Z structure drives raw disagreement; rule material 1.4% there; learned 5–30%.
Sources: final_by_structure_5c_test.csv.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If asked where ZNE alone beats combined mitigation: at low readout severity under gate noise, readout error below about 0.003. Readout mitigation or no mitigation wins only on the gate-free setting.
Key points: ZNE alone where readout error &lt; ~0.003; A0/A1 only on the gate-free setting.
Sources: p5c_preferred_by_point_train.csv, p5c_preferred_by_point_val.csv.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If asked which probe matters: the gate probe alone keeps material failure at 1.8 percent under continuous noise and 9.4 percent under categorical noise, though raw disagreement rises from 10 to 25 percent. A readout-only rule reaches 6.2 and 50 percent. Probing pays for itself relative to always-combined only above about 645 to 685 transactions per batch, or about 80 under categorical noise, and that break-even depends on the gate-free share.
Key points: gate probe alone: 1.8% / 9.4% material; break-even ≈ 645–685 transactions (≈ 80 categorical).
Sources: ablation_probes.csv; ablation_probe_cost.csv.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If asked about classical baselines and the first quantum model: random forest on all thirty features reaches 0.805; on the VQC's four inputs classical models reach 0.59 to 0.62, and only the logistic-regression gap has an interval excluding zero. The first encoding saturated and aliased, leaving 91 distinct fraud inputs; the pre-registered repair keeps 212 and raises AUPRC from 0.104 to 0.507.
Key points: RF 0.805 (30 features); 0.59–0.62 on VQC inputs; repair: 91 → 212 distinct fraud inputs; 0.104 → 0.507.
Sources: phase2_classical_metrics.csv; p3ar_validation_comparison.csv; p3ar_encoding_diagnostics.csv.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If asked about the statistics: these are the paired differences behind slides 14 and 15. On material errors no learned comparator is meaningfully better. On raw disagreement, gradient boosting, the depth-3 tree, the benefit model and R_obs are significantly closer to the Oracle. Learned comparators shifted between validation and test, while the rule did not. Only four structures were held out, so a cluster bootstrap over four clusters has few distinct resamples and its intervals are likely too narrow.
Key points: material: no comparator meaningfully better; raw: several comparators significantly closer to Oracle; validation → test shifts; 4-cluster bootstrap caveat.
Sources: final_paired_vs_rthr_5c_test.csv; final_paired_vs_rthr_5b_test.csv; p7_policies_5c_val.csv.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 backup, for questions]
Full references for the citations on the slides. The complete, verified bibliography is in the manuscript.
Key points: references for slides 3–4 and the methods.
Sources: deliverables/paper/references.bib.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Final capstone defense  ·  December 8,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Final capstone defense  ·  December 8,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7 of 7  ·  December 8, 2026</a:t>
            </a:r>
            <a:endParaRPr lang="en-US" sz="1100" dirty="0"/>
          </a:p>
        </p:txBody>
      </p:sp>
      <p:sp>
        <p:nvSpPr>
          <p:cNvPr id="4"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FINAL CAPSTONE DEFENSE</a:t>
            </a:r>
            <a:endParaRPr lang="en-US" sz="1300" dirty="0"/>
          </a:p>
        </p:txBody>
      </p:sp>
      <p:sp>
        <p:nvSpPr>
          <p:cNvPr id="5"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When is quantum error mitigation worth paying for?</a:t>
            </a:r>
            <a:endParaRPr lang="en-US" sz="3400" dirty="0"/>
          </a:p>
        </p:txBody>
      </p:sp>
      <p:sp>
        <p:nvSpPr>
          <p:cNvPr id="6"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A pre-registered study of selective error mitigation for noisy variational quantum fraud classifiers</a:t>
            </a:r>
            <a:endParaRPr lang="en-US" sz="1700" dirty="0"/>
          </a:p>
        </p:txBody>
      </p:sp>
      <p:sp>
        <p:nvSpPr>
          <p:cNvPr id="7"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8"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9"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0"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Research problem: when should a noisy quantum classifier spend extra quantum resources on error mitigation, and is learning that decision better than a simple observable rule?</a:t>
            </a:r>
            <a:endParaRPr lang="en-US" sz="1600" dirty="0"/>
          </a:p>
        </p:txBody>
      </p:sp>
      <p:sp>
        <p:nvSpPr>
          <p:cNvPr id="11"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Proposed split: Mayank (1–5, 10–11, 17–18) · Tushar (6–9, 12–16) · about 13–14 minutes</a:t>
            </a:r>
            <a:endParaRPr lang="en-US" sz="1300" dirty="0"/>
          </a:p>
        </p:txBody>
      </p:sp>
      <p:sp>
        <p:nvSpPr>
          <p:cNvPr id="12" name="tracker-line"/>
          <p:cNvSpPr/>
          <p:nvPr/>
        </p:nvSpPr>
        <p:spPr>
          <a:xfrm>
            <a:off x="548640" y="5888736"/>
            <a:ext cx="11094415" cy="0"/>
          </a:xfrm>
          <a:prstGeom prst="line">
            <a:avLst/>
          </a:prstGeom>
          <a:noFill/>
          <a:ln w="19050">
            <a:solidFill>
              <a:srgbClr val="5B6C8F"/>
            </a:solidFill>
            <a:prstDash val="solid"/>
          </a:ln>
        </p:spPr>
      </p:sp>
      <p:sp>
        <p:nvSpPr>
          <p:cNvPr id="13"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4"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5" name="tracker-node-1"/>
          <p:cNvSpPr/>
          <p:nvPr/>
        </p:nvSpPr>
        <p:spPr>
          <a:xfrm>
            <a:off x="2297125" y="5788152"/>
            <a:ext cx="201168" cy="201168"/>
          </a:xfrm>
          <a:prstGeom prst="ellipse">
            <a:avLst/>
          </a:prstGeom>
          <a:solidFill>
            <a:srgbClr val="0F8B8D"/>
          </a:solidFill>
          <a:ln w="19050">
            <a:solidFill>
              <a:srgbClr val="0F8B8D"/>
            </a:solidFill>
            <a:prstDash val="solid"/>
          </a:ln>
        </p:spPr>
      </p:sp>
      <p:sp>
        <p:nvSpPr>
          <p:cNvPr id="16"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7" name="tracker-node-2"/>
          <p:cNvSpPr/>
          <p:nvPr/>
        </p:nvSpPr>
        <p:spPr>
          <a:xfrm>
            <a:off x="4146194" y="5788152"/>
            <a:ext cx="201168" cy="201168"/>
          </a:xfrm>
          <a:prstGeom prst="ellipse">
            <a:avLst/>
          </a:prstGeom>
          <a:solidFill>
            <a:srgbClr val="0F8B8D"/>
          </a:solidFill>
          <a:ln w="19050">
            <a:solidFill>
              <a:srgbClr val="0F8B8D"/>
            </a:solidFill>
            <a:prstDash val="solid"/>
          </a:ln>
        </p:spPr>
      </p:sp>
      <p:sp>
        <p:nvSpPr>
          <p:cNvPr id="18"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13</a:t>
            </a:r>
            <a:endParaRPr lang="en-US" sz="1400" dirty="0"/>
          </a:p>
          <a:p>
            <a:pPr algn="ctr" indent="0" marL="0">
              <a:buNone/>
            </a:pPr>
            <a:r>
              <a:rPr lang="en-US" sz="950" dirty="0">
                <a:solidFill>
                  <a:srgbClr val="AFC2DC"/>
                </a:solidFill>
              </a:rPr>
              <a:t>Implementation</a:t>
            </a:r>
            <a:endParaRPr lang="en-US" sz="1400" dirty="0"/>
          </a:p>
        </p:txBody>
      </p:sp>
      <p:sp>
        <p:nvSpPr>
          <p:cNvPr id="19" name="tracker-node-3"/>
          <p:cNvSpPr/>
          <p:nvPr/>
        </p:nvSpPr>
        <p:spPr>
          <a:xfrm>
            <a:off x="5995264" y="5788152"/>
            <a:ext cx="201168" cy="201168"/>
          </a:xfrm>
          <a:prstGeom prst="ellipse">
            <a:avLst/>
          </a:prstGeom>
          <a:solidFill>
            <a:srgbClr val="0F8B8D"/>
          </a:solidFill>
          <a:ln w="19050">
            <a:solidFill>
              <a:srgbClr val="0F8B8D"/>
            </a:solidFill>
            <a:prstDash val="solid"/>
          </a:ln>
        </p:spPr>
      </p:sp>
      <p:sp>
        <p:nvSpPr>
          <p:cNvPr id="20"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1" name="tracker-node-4"/>
          <p:cNvSpPr/>
          <p:nvPr/>
        </p:nvSpPr>
        <p:spPr>
          <a:xfrm>
            <a:off x="7844333" y="5788152"/>
            <a:ext cx="201168" cy="201168"/>
          </a:xfrm>
          <a:prstGeom prst="ellipse">
            <a:avLst/>
          </a:prstGeom>
          <a:solidFill>
            <a:srgbClr val="0F8B8D"/>
          </a:solidFill>
          <a:ln w="19050">
            <a:solidFill>
              <a:srgbClr val="0F8B8D"/>
            </a:solidFill>
            <a:prstDash val="solid"/>
          </a:ln>
        </p:spPr>
      </p:sp>
      <p:sp>
        <p:nvSpPr>
          <p:cNvPr id="22"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3" name="tracker-node-5"/>
          <p:cNvSpPr/>
          <p:nvPr/>
        </p:nvSpPr>
        <p:spPr>
          <a:xfrm>
            <a:off x="9693402" y="5788152"/>
            <a:ext cx="201168" cy="201168"/>
          </a:xfrm>
          <a:prstGeom prst="ellipse">
            <a:avLst/>
          </a:prstGeom>
          <a:solidFill>
            <a:srgbClr val="0F8B8D"/>
          </a:solidFill>
          <a:ln w="19050">
            <a:solidFill>
              <a:srgbClr val="0F8B8D"/>
            </a:solidFill>
            <a:prstDash val="solid"/>
          </a:ln>
        </p:spPr>
      </p:sp>
      <p:sp>
        <p:nvSpPr>
          <p:cNvPr id="24"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5" name="tracker-node-6"/>
          <p:cNvSpPr/>
          <p:nvPr/>
        </p:nvSpPr>
        <p:spPr>
          <a:xfrm>
            <a:off x="11505895" y="5751576"/>
            <a:ext cx="274320" cy="274320"/>
          </a:xfrm>
          <a:prstGeom prst="ellipse">
            <a:avLst/>
          </a:prstGeom>
          <a:solidFill>
            <a:srgbClr val="E8A33D"/>
          </a:solidFill>
          <a:ln w="19050">
            <a:solidFill>
              <a:srgbClr val="E8A33D"/>
            </a:solidFill>
            <a:prstDash val="solid"/>
          </a:ln>
        </p:spPr>
      </p:sp>
      <p:sp>
        <p:nvSpPr>
          <p:cNvPr id="26"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Dec 8</a:t>
            </a:r>
            <a:endParaRPr lang="en-US" sz="1400" dirty="0"/>
          </a:p>
          <a:p>
            <a:pPr algn="ctr" indent="0" marL="0">
              <a:buNone/>
            </a:pPr>
            <a:r>
              <a:rPr lang="en-US" sz="950" dirty="0">
                <a:solidFill>
                  <a:srgbClr val="FFFFFF"/>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MOTIVATION</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noisy quantum classifier faces a spending decision</a:t>
            </a:r>
            <a:endParaRPr lang="en-US" sz="2800" dirty="0"/>
          </a:p>
        </p:txBody>
      </p:sp>
      <p:sp>
        <p:nvSpPr>
          <p:cNvPr id="4" name="cost-0"/>
          <p:cNvSpPr/>
          <p:nvPr/>
        </p:nvSpPr>
        <p:spPr>
          <a:xfrm>
            <a:off x="548640" y="1371600"/>
            <a:ext cx="3566160" cy="2148840"/>
          </a:xfrm>
          <a:prstGeom prst="roundRect">
            <a:avLst>
              <a:gd name="adj" fmla="val 2979"/>
            </a:avLst>
          </a:prstGeom>
          <a:solidFill>
            <a:srgbClr val="EEF2F7"/>
          </a:solidFill>
          <a:ln w="6350">
            <a:solidFill>
              <a:srgbClr val="EEF2F7"/>
            </a:solidFill>
            <a:prstDash val="solid"/>
          </a:ln>
        </p:spPr>
      </p:sp>
      <p:sp>
        <p:nvSpPr>
          <p:cNvPr id="5" name="cost-icon-0-circle"/>
          <p:cNvSpPr/>
          <p:nvPr/>
        </p:nvSpPr>
        <p:spPr>
          <a:xfrm>
            <a:off x="777240" y="1572768"/>
            <a:ext cx="713232" cy="713232"/>
          </a:xfrm>
          <a:prstGeom prst="ellipse">
            <a:avLst/>
          </a:prstGeom>
          <a:solidFill>
            <a:srgbClr val="1B2A49"/>
          </a:solidFill>
          <a:ln w="12700">
            <a:solidFill>
              <a:srgbClr val="1B2A49"/>
            </a:solidFill>
            <a:prstDash val="solid"/>
          </a:ln>
        </p:spPr>
      </p:sp>
      <p:pic>
        <p:nvPicPr>
          <p:cNvPr id="6" name="cost-icon-0" descr="preencoded.png">    </p:cNvPr>
          <p:cNvPicPr>
            <a:picLocks noChangeAspect="1"/>
          </p:cNvPicPr>
          <p:nvPr/>
        </p:nvPicPr>
        <p:blipFill>
          <a:blip r:embed="rId1"/>
          <a:stretch>
            <a:fillRect/>
          </a:stretch>
        </p:blipFill>
        <p:spPr>
          <a:xfrm>
            <a:off x="948416" y="1743944"/>
            <a:ext cx="370881" cy="370881"/>
          </a:xfrm>
          <a:prstGeom prst="rect">
            <a:avLst/>
          </a:prstGeom>
        </p:spPr>
      </p:pic>
      <p:sp>
        <p:nvSpPr>
          <p:cNvPr id="7" name="Text 4"/>
          <p:cNvSpPr txBox="1"/>
          <p:nvPr/>
        </p:nvSpPr>
        <p:spPr>
          <a:xfrm>
            <a:off x="1600200" y="1572768"/>
            <a:ext cx="2377440" cy="713232"/>
          </a:xfrm>
          <a:prstGeom prst="rect">
            <a:avLst/>
          </a:prstGeom>
          <a:noFill/>
          <a:ln/>
        </p:spPr>
        <p:txBody>
          <a:bodyPr wrap="square" lIns="0" tIns="0" rIns="0" bIns="0" rtlCol="0" anchor="ctr"/>
          <a:lstStyle/>
          <a:p>
            <a:pPr indent="0" marL="0">
              <a:buNone/>
            </a:pPr>
            <a:r>
              <a:rPr lang="en-US" sz="1600" b="1" dirty="0">
                <a:solidFill>
                  <a:schemeClr val="tx2"/>
                </a:solidFill>
              </a:rPr>
              <a:t>Readout mitigation</a:t>
            </a:r>
            <a:endParaRPr lang="en-US" sz="1600" dirty="0"/>
          </a:p>
        </p:txBody>
      </p:sp>
      <p:sp>
        <p:nvSpPr>
          <p:cNvPr id="8" name="Text 5"/>
          <p:cNvSpPr txBox="1"/>
          <p:nvPr/>
        </p:nvSpPr>
        <p:spPr>
          <a:xfrm>
            <a:off x="777240" y="2468880"/>
            <a:ext cx="3154680" cy="411480"/>
          </a:xfrm>
          <a:prstGeom prst="rect">
            <a:avLst/>
          </a:prstGeom>
          <a:noFill/>
          <a:ln/>
        </p:spPr>
        <p:txBody>
          <a:bodyPr wrap="square" lIns="0" tIns="0" rIns="0" bIns="0" rtlCol="0" anchor="t"/>
          <a:lstStyle/>
          <a:p>
            <a:pPr indent="0" marL="0">
              <a:buNone/>
            </a:pPr>
            <a:r>
              <a:rPr lang="en-US" sz="1400" b="1" dirty="0">
                <a:solidFill>
                  <a:schemeClr val="tx1"/>
                </a:solidFill>
              </a:rPr>
              <a:t>≈ 2 calibration circuits per batch</a:t>
            </a:r>
            <a:endParaRPr lang="en-US" sz="1400" dirty="0"/>
          </a:p>
        </p:txBody>
      </p:sp>
      <p:sp>
        <p:nvSpPr>
          <p:cNvPr id="9" name="Text 6"/>
          <p:cNvSpPr txBox="1"/>
          <p:nvPr/>
        </p:nvSpPr>
        <p:spPr>
          <a:xfrm>
            <a:off x="777240" y="2852928"/>
            <a:ext cx="3154680" cy="411480"/>
          </a:xfrm>
          <a:prstGeom prst="rect">
            <a:avLst/>
          </a:prstGeom>
          <a:noFill/>
          <a:ln/>
        </p:spPr>
        <p:txBody>
          <a:bodyPr wrap="square" lIns="0" tIns="0" rIns="0" bIns="0" rtlCol="0" anchor="t"/>
          <a:lstStyle/>
          <a:p>
            <a:pPr indent="0" marL="0">
              <a:buNone/>
            </a:pPr>
            <a:r>
              <a:rPr lang="en-US" sz="1300" dirty="0">
                <a:solidFill>
                  <a:schemeClr val="accent5"/>
                </a:solidFill>
              </a:rPr>
              <a:t>nearly free once calibrated</a:t>
            </a:r>
            <a:endParaRPr lang="en-US" sz="1300" dirty="0"/>
          </a:p>
        </p:txBody>
      </p:sp>
      <p:sp>
        <p:nvSpPr>
          <p:cNvPr id="10" name="cost-1"/>
          <p:cNvSpPr/>
          <p:nvPr/>
        </p:nvSpPr>
        <p:spPr>
          <a:xfrm>
            <a:off x="4297680" y="1371600"/>
            <a:ext cx="3566160" cy="2148840"/>
          </a:xfrm>
          <a:prstGeom prst="roundRect">
            <a:avLst>
              <a:gd name="adj" fmla="val 2979"/>
            </a:avLst>
          </a:prstGeom>
          <a:solidFill>
            <a:srgbClr val="EEF2F7"/>
          </a:solidFill>
          <a:ln w="6350">
            <a:solidFill>
              <a:srgbClr val="EEF2F7"/>
            </a:solidFill>
            <a:prstDash val="solid"/>
          </a:ln>
        </p:spPr>
      </p:sp>
      <p:sp>
        <p:nvSpPr>
          <p:cNvPr id="11" name="cost-icon-1-circle"/>
          <p:cNvSpPr/>
          <p:nvPr/>
        </p:nvSpPr>
        <p:spPr>
          <a:xfrm>
            <a:off x="4526280" y="1572768"/>
            <a:ext cx="713232" cy="713232"/>
          </a:xfrm>
          <a:prstGeom prst="ellipse">
            <a:avLst/>
          </a:prstGeom>
          <a:solidFill>
            <a:srgbClr val="1B2A49"/>
          </a:solidFill>
          <a:ln w="12700">
            <a:solidFill>
              <a:srgbClr val="1B2A49"/>
            </a:solidFill>
            <a:prstDash val="solid"/>
          </a:ln>
        </p:spPr>
      </p:sp>
      <p:pic>
        <p:nvPicPr>
          <p:cNvPr id="12" name="cost-icon-1" descr="preencoded.png">    </p:cNvPr>
          <p:cNvPicPr>
            <a:picLocks noChangeAspect="1"/>
          </p:cNvPicPr>
          <p:nvPr/>
        </p:nvPicPr>
        <p:blipFill>
          <a:blip r:embed="rId2"/>
          <a:stretch>
            <a:fillRect/>
          </a:stretch>
        </p:blipFill>
        <p:spPr>
          <a:xfrm>
            <a:off x="4697456" y="1743944"/>
            <a:ext cx="370881" cy="370881"/>
          </a:xfrm>
          <a:prstGeom prst="rect">
            <a:avLst/>
          </a:prstGeom>
        </p:spPr>
      </p:pic>
      <p:sp>
        <p:nvSpPr>
          <p:cNvPr id="13" name="Text 9"/>
          <p:cNvSpPr txBox="1"/>
          <p:nvPr/>
        </p:nvSpPr>
        <p:spPr>
          <a:xfrm>
            <a:off x="5349240" y="1572768"/>
            <a:ext cx="2377440" cy="713232"/>
          </a:xfrm>
          <a:prstGeom prst="rect">
            <a:avLst/>
          </a:prstGeom>
          <a:noFill/>
          <a:ln/>
        </p:spPr>
        <p:txBody>
          <a:bodyPr wrap="square" lIns="0" tIns="0" rIns="0" bIns="0" rtlCol="0" anchor="ctr"/>
          <a:lstStyle/>
          <a:p>
            <a:pPr indent="0" marL="0">
              <a:buNone/>
            </a:pPr>
            <a:r>
              <a:rPr lang="en-US" sz="1600" b="1" dirty="0">
                <a:solidFill>
                  <a:schemeClr val="tx2"/>
                </a:solidFill>
              </a:rPr>
              <a:t>Zero-noise extrapolation</a:t>
            </a:r>
            <a:endParaRPr lang="en-US" sz="1600" dirty="0"/>
          </a:p>
        </p:txBody>
      </p:sp>
      <p:sp>
        <p:nvSpPr>
          <p:cNvPr id="14" name="Text 10"/>
          <p:cNvSpPr txBox="1"/>
          <p:nvPr/>
        </p:nvSpPr>
        <p:spPr>
          <a:xfrm>
            <a:off x="4526280" y="2468880"/>
            <a:ext cx="3154680" cy="411480"/>
          </a:xfrm>
          <a:prstGeom prst="rect">
            <a:avLst/>
          </a:prstGeom>
          <a:noFill/>
          <a:ln/>
        </p:spPr>
        <p:txBody>
          <a:bodyPr wrap="square" lIns="0" tIns="0" rIns="0" bIns="0" rtlCol="0" anchor="t"/>
          <a:lstStyle/>
          <a:p>
            <a:pPr indent="0" marL="0">
              <a:buNone/>
            </a:pPr>
            <a:r>
              <a:rPr lang="en-US" sz="1400" b="1" dirty="0">
                <a:solidFill>
                  <a:schemeClr val="tx1"/>
                </a:solidFill>
              </a:rPr>
              <a:t>3× shots · 9× two-qubit-gate exposure</a:t>
            </a:r>
            <a:endParaRPr lang="en-US" sz="1400" dirty="0"/>
          </a:p>
        </p:txBody>
      </p:sp>
      <p:sp>
        <p:nvSpPr>
          <p:cNvPr id="15" name="Text 11"/>
          <p:cNvSpPr txBox="1"/>
          <p:nvPr/>
        </p:nvSpPr>
        <p:spPr>
          <a:xfrm>
            <a:off x="4526280" y="2852928"/>
            <a:ext cx="3154680" cy="411480"/>
          </a:xfrm>
          <a:prstGeom prst="rect">
            <a:avLst/>
          </a:prstGeom>
          <a:noFill/>
          <a:ln/>
        </p:spPr>
        <p:txBody>
          <a:bodyPr wrap="square" lIns="0" tIns="0" rIns="0" bIns="0" rtlCol="0" anchor="t"/>
          <a:lstStyle/>
          <a:p>
            <a:pPr indent="0" marL="0">
              <a:buNone/>
            </a:pPr>
            <a:r>
              <a:rPr lang="en-US" sz="1300" dirty="0">
                <a:solidFill>
                  <a:schemeClr val="accent5"/>
                </a:solidFill>
              </a:rPr>
              <a:t>removes gate-noise bias</a:t>
            </a:r>
            <a:endParaRPr lang="en-US" sz="1300" dirty="0"/>
          </a:p>
        </p:txBody>
      </p:sp>
      <p:sp>
        <p:nvSpPr>
          <p:cNvPr id="16" name="cost-2"/>
          <p:cNvSpPr/>
          <p:nvPr/>
        </p:nvSpPr>
        <p:spPr>
          <a:xfrm>
            <a:off x="8046720" y="1371600"/>
            <a:ext cx="3566160" cy="2148840"/>
          </a:xfrm>
          <a:prstGeom prst="roundRect">
            <a:avLst>
              <a:gd name="adj" fmla="val 2979"/>
            </a:avLst>
          </a:prstGeom>
          <a:solidFill>
            <a:srgbClr val="EEF2F7"/>
          </a:solidFill>
          <a:ln w="6350">
            <a:solidFill>
              <a:srgbClr val="EEF2F7"/>
            </a:solidFill>
            <a:prstDash val="solid"/>
          </a:ln>
        </p:spPr>
      </p:sp>
      <p:sp>
        <p:nvSpPr>
          <p:cNvPr id="17" name="cost-icon-2-circle"/>
          <p:cNvSpPr/>
          <p:nvPr/>
        </p:nvSpPr>
        <p:spPr>
          <a:xfrm>
            <a:off x="8275320" y="1572768"/>
            <a:ext cx="713232" cy="713232"/>
          </a:xfrm>
          <a:prstGeom prst="ellipse">
            <a:avLst/>
          </a:prstGeom>
          <a:solidFill>
            <a:srgbClr val="1B2A49"/>
          </a:solidFill>
          <a:ln w="12700">
            <a:solidFill>
              <a:srgbClr val="1B2A49"/>
            </a:solidFill>
            <a:prstDash val="solid"/>
          </a:ln>
        </p:spPr>
      </p:sp>
      <p:pic>
        <p:nvPicPr>
          <p:cNvPr id="18" name="cost-icon-2" descr="preencoded.png">    </p:cNvPr>
          <p:cNvPicPr>
            <a:picLocks noChangeAspect="1"/>
          </p:cNvPicPr>
          <p:nvPr/>
        </p:nvPicPr>
        <p:blipFill>
          <a:blip r:embed="rId3"/>
          <a:stretch>
            <a:fillRect/>
          </a:stretch>
        </p:blipFill>
        <p:spPr>
          <a:xfrm>
            <a:off x="8446496" y="1743944"/>
            <a:ext cx="370881" cy="370881"/>
          </a:xfrm>
          <a:prstGeom prst="rect">
            <a:avLst/>
          </a:prstGeom>
        </p:spPr>
      </p:pic>
      <p:sp>
        <p:nvSpPr>
          <p:cNvPr id="19" name="Text 14"/>
          <p:cNvSpPr txBox="1"/>
          <p:nvPr/>
        </p:nvSpPr>
        <p:spPr>
          <a:xfrm>
            <a:off x="9098280" y="1572768"/>
            <a:ext cx="2377440" cy="713232"/>
          </a:xfrm>
          <a:prstGeom prst="rect">
            <a:avLst/>
          </a:prstGeom>
          <a:noFill/>
          <a:ln/>
        </p:spPr>
        <p:txBody>
          <a:bodyPr wrap="square" lIns="0" tIns="0" rIns="0" bIns="0" rtlCol="0" anchor="ctr"/>
          <a:lstStyle/>
          <a:p>
            <a:pPr indent="0" marL="0">
              <a:buNone/>
            </a:pPr>
            <a:r>
              <a:rPr lang="en-US" sz="1600" b="1" dirty="0">
                <a:solidFill>
                  <a:schemeClr val="tx2"/>
                </a:solidFill>
              </a:rPr>
              <a:t>Extra shots</a:t>
            </a:r>
            <a:endParaRPr lang="en-US" sz="1600" dirty="0"/>
          </a:p>
        </p:txBody>
      </p:sp>
      <p:sp>
        <p:nvSpPr>
          <p:cNvPr id="20" name="Text 15"/>
          <p:cNvSpPr txBox="1"/>
          <p:nvPr/>
        </p:nvSpPr>
        <p:spPr>
          <a:xfrm>
            <a:off x="8275320" y="2468880"/>
            <a:ext cx="3154680" cy="411480"/>
          </a:xfrm>
          <a:prstGeom prst="rect">
            <a:avLst/>
          </a:prstGeom>
          <a:noFill/>
          <a:ln/>
        </p:spPr>
        <p:txBody>
          <a:bodyPr wrap="square" lIns="0" tIns="0" rIns="0" bIns="0" rtlCol="0" anchor="t"/>
          <a:lstStyle/>
          <a:p>
            <a:pPr indent="0" marL="0">
              <a:buNone/>
            </a:pPr>
            <a:r>
              <a:rPr lang="en-US" sz="1400" b="1" dirty="0">
                <a:solidFill>
                  <a:schemeClr val="tx1"/>
                </a:solidFill>
              </a:rPr>
              <a:t>3× shots on the same circuit</a:t>
            </a:r>
            <a:endParaRPr lang="en-US" sz="1400" dirty="0"/>
          </a:p>
        </p:txBody>
      </p:sp>
      <p:sp>
        <p:nvSpPr>
          <p:cNvPr id="21" name="Text 16"/>
          <p:cNvSpPr txBox="1"/>
          <p:nvPr/>
        </p:nvSpPr>
        <p:spPr>
          <a:xfrm>
            <a:off x="8275320" y="2852928"/>
            <a:ext cx="3154680" cy="411480"/>
          </a:xfrm>
          <a:prstGeom prst="rect">
            <a:avLst/>
          </a:prstGeom>
          <a:noFill/>
          <a:ln/>
        </p:spPr>
        <p:txBody>
          <a:bodyPr wrap="square" lIns="0" tIns="0" rIns="0" bIns="0" rtlCol="0" anchor="t"/>
          <a:lstStyle/>
          <a:p>
            <a:pPr indent="0" marL="0">
              <a:buNone/>
            </a:pPr>
            <a:r>
              <a:rPr lang="en-US" sz="1300" dirty="0">
                <a:solidFill>
                  <a:schemeClr val="accent5"/>
                </a:solidFill>
              </a:rPr>
              <a:t>removes variance, not bias</a:t>
            </a:r>
            <a:endParaRPr lang="en-US" sz="1300" dirty="0"/>
          </a:p>
        </p:txBody>
      </p:sp>
      <p:sp>
        <p:nvSpPr>
          <p:cNvPr id="22" name="card-bg"/>
          <p:cNvSpPr/>
          <p:nvPr/>
        </p:nvSpPr>
        <p:spPr>
          <a:xfrm>
            <a:off x="548640" y="3794760"/>
            <a:ext cx="11064240" cy="1005840"/>
          </a:xfrm>
          <a:prstGeom prst="roundRect">
            <a:avLst>
              <a:gd name="adj" fmla="val 6364"/>
            </a:avLst>
          </a:prstGeom>
          <a:solidFill>
            <a:srgbClr val="E3F2F1"/>
          </a:solidFill>
          <a:ln w="6350">
            <a:solidFill>
              <a:srgbClr val="E3F2F1"/>
            </a:solidFill>
            <a:prstDash val="solid"/>
          </a:ln>
        </p:spPr>
      </p:sp>
      <p:sp>
        <p:nvSpPr>
          <p:cNvPr id="23" name="card-text"/>
          <p:cNvSpPr txBox="1"/>
          <p:nvPr/>
        </p:nvSpPr>
        <p:spPr>
          <a:xfrm>
            <a:off x="731520" y="3922776"/>
            <a:ext cx="10698480" cy="7863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Why fraud scoring cares</a:t>
            </a:r>
            <a:endParaRPr lang="en-US" sz="1550" dirty="0"/>
          </a:p>
          <a:p>
            <a:pPr indent="0" marL="0">
              <a:spcAft>
                <a:spcPts val="400"/>
              </a:spcAft>
              <a:buNone/>
            </a:pPr>
            <a:r>
              <a:rPr lang="en-US" sz="1400" dirty="0">
                <a:solidFill>
                  <a:schemeClr val="tx1"/>
                </a:solidFill>
              </a:rPr>
              <a:t>Alerts fire at a fixed threshold, so biased probabilities raise the wrong alerts even when transactions are ranked well.</a:t>
            </a:r>
            <a:endParaRPr lang="en-US" sz="1550" dirty="0"/>
          </a:p>
        </p:txBody>
      </p:sp>
      <p:sp>
        <p:nvSpPr>
          <p:cNvPr id="24" name="takeaway-bg"/>
          <p:cNvSpPr/>
          <p:nvPr/>
        </p:nvSpPr>
        <p:spPr>
          <a:xfrm>
            <a:off x="548640" y="5074920"/>
            <a:ext cx="11094415" cy="512064"/>
          </a:xfrm>
          <a:prstGeom prst="roundRect">
            <a:avLst>
              <a:gd name="adj" fmla="val 12500"/>
            </a:avLst>
          </a:prstGeom>
          <a:solidFill>
            <a:srgbClr val="E3F2F1"/>
          </a:solidFill>
          <a:ln w="6350">
            <a:solidFill>
              <a:srgbClr val="E3F2F1"/>
            </a:solidFill>
            <a:prstDash val="solid"/>
          </a:ln>
        </p:spPr>
      </p:sp>
      <p:sp>
        <p:nvSpPr>
          <p:cNvPr id="25" name="takeaway-icon-circle"/>
          <p:cNvSpPr/>
          <p:nvPr/>
        </p:nvSpPr>
        <p:spPr>
          <a:xfrm>
            <a:off x="676656" y="5157216"/>
            <a:ext cx="347472" cy="347472"/>
          </a:xfrm>
          <a:prstGeom prst="ellipse">
            <a:avLst/>
          </a:prstGeom>
          <a:solidFill>
            <a:srgbClr val="0F8B8D"/>
          </a:solidFill>
          <a:ln w="12700">
            <a:solidFill>
              <a:srgbClr val="0F8B8D"/>
            </a:solidFill>
            <a:prstDash val="solid"/>
          </a:ln>
        </p:spPr>
      </p:sp>
      <p:pic>
        <p:nvPicPr>
          <p:cNvPr id="26" name="takeaway-icon" descr="preencoded.png">    </p:cNvPr>
          <p:cNvPicPr>
            <a:picLocks noChangeAspect="1"/>
          </p:cNvPicPr>
          <p:nvPr/>
        </p:nvPicPr>
        <p:blipFill>
          <a:blip r:embed="rId4"/>
          <a:stretch>
            <a:fillRect/>
          </a:stretch>
        </p:blipFill>
        <p:spPr>
          <a:xfrm>
            <a:off x="760049" y="5240609"/>
            <a:ext cx="180685" cy="180685"/>
          </a:xfrm>
          <a:prstGeom prst="rect">
            <a:avLst/>
          </a:prstGeom>
        </p:spPr>
      </p:pic>
      <p:sp>
        <p:nvSpPr>
          <p:cNvPr id="27" name="takeaway"/>
          <p:cNvSpPr txBox="1"/>
          <p:nvPr/>
        </p:nvSpPr>
        <p:spPr>
          <a:xfrm>
            <a:off x="1170432" y="50749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For every execution context: nothing, readout mitigation, ZNE, both, or more shots?</a:t>
            </a:r>
            <a:endParaRPr lang="en-US" sz="1550" dirty="0"/>
          </a:p>
        </p:txBody>
      </p:sp>
      <p:sp>
        <p:nvSpPr>
          <p:cNvPr id="28" name="source"/>
          <p:cNvSpPr txBox="1"/>
          <p:nvPr/>
        </p:nvSpPr>
        <p:spPr>
          <a:xfrm>
            <a:off x="548640" y="57607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p5c_costs.csv, configs/mitigation/*.yaml</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LITERATURE REVIEW  ·  REFERENCES CHECKED AGAINST PUBLISHER, ARXIV OR CROSSREF RECORDS (TEAM CONFIRMATION PENDING)</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What the literature offers</a:t>
            </a:r>
            <a:endParaRPr lang="en-US" sz="2800" dirty="0"/>
          </a:p>
        </p:txBody>
      </p:sp>
      <p:sp>
        <p:nvSpPr>
          <p:cNvPr id="4" name="card-bg"/>
          <p:cNvSpPr/>
          <p:nvPr/>
        </p:nvSpPr>
        <p:spPr>
          <a:xfrm>
            <a:off x="548640" y="1325880"/>
            <a:ext cx="2697480" cy="3931920"/>
          </a:xfrm>
          <a:prstGeom prst="roundRect">
            <a:avLst>
              <a:gd name="adj" fmla="val 2373"/>
            </a:avLst>
          </a:prstGeom>
          <a:solidFill>
            <a:srgbClr val="EEF2F7"/>
          </a:solidFill>
          <a:ln w="6350">
            <a:solidFill>
              <a:srgbClr val="EEF2F7"/>
            </a:solidFill>
            <a:prstDash val="solid"/>
          </a:ln>
        </p:spPr>
      </p:sp>
      <p:sp>
        <p:nvSpPr>
          <p:cNvPr id="5" name="card-text"/>
          <p:cNvSpPr txBox="1"/>
          <p:nvPr/>
        </p:nvSpPr>
        <p:spPr>
          <a:xfrm>
            <a:off x="731520" y="1453896"/>
            <a:ext cx="2331720" cy="3712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Mitigation foundations</a:t>
            </a:r>
            <a:endParaRPr lang="en-US" sz="1550" dirty="0"/>
          </a:p>
          <a:p>
            <a:pPr marL="177800" indent="-177800">
              <a:spcAft>
                <a:spcPts val="400"/>
              </a:spcAft>
              <a:buSzPct val="100000"/>
              <a:buChar char="•"/>
            </a:pPr>
            <a:r>
              <a:rPr lang="en-US" sz="1350" dirty="0">
                <a:solidFill>
                  <a:schemeClr val="tx1"/>
                </a:solidFill>
              </a:rPr>
              <a:t>ZNE: Temme 2017 · Kandala 2019 · Giurgica-Tiron 2020 · Kim 2023</a:t>
            </a:r>
            <a:endParaRPr lang="en-US" sz="1550" dirty="0"/>
          </a:p>
          <a:p>
            <a:pPr marL="177800" indent="-177800">
              <a:spcAft>
                <a:spcPts val="400"/>
              </a:spcAft>
              <a:buSzPct val="100000"/>
              <a:buChar char="•"/>
            </a:pPr>
            <a:r>
              <a:rPr lang="en-US" sz="1350" dirty="0">
                <a:solidFill>
                  <a:schemeClr val="tx1"/>
                </a:solidFill>
              </a:rPr>
              <a:t>Readout inversion: Bravyi 2021 · Maciejewski 2020</a:t>
            </a:r>
            <a:endParaRPr lang="en-US" sz="1550" dirty="0"/>
          </a:p>
          <a:p>
            <a:pPr marL="177800" indent="-177800">
              <a:spcAft>
                <a:spcPts val="400"/>
              </a:spcAft>
              <a:buSzPct val="100000"/>
              <a:buChar char="•"/>
            </a:pPr>
            <a:r>
              <a:rPr lang="en-US" sz="1350" dirty="0">
                <a:solidFill>
                  <a:schemeClr val="tx1"/>
                </a:solidFill>
              </a:rPr>
              <a:t>PEC at exponential cost: van den Berg 2023</a:t>
            </a:r>
            <a:endParaRPr lang="en-US" sz="1550" dirty="0"/>
          </a:p>
          <a:p>
            <a:pPr marL="177800" indent="-177800">
              <a:spcAft>
                <a:spcPts val="400"/>
              </a:spcAft>
              <a:buSzPct val="100000"/>
              <a:buChar char="•"/>
            </a:pPr>
            <a:r>
              <a:rPr lang="en-US" sz="1350" dirty="0">
                <a:solidFill>
                  <a:schemeClr val="tx1"/>
                </a:solidFill>
              </a:rPr>
              <a:t>Review: Cai 2023</a:t>
            </a:r>
            <a:endParaRPr lang="en-US" sz="1550" dirty="0"/>
          </a:p>
        </p:txBody>
      </p:sp>
      <p:sp>
        <p:nvSpPr>
          <p:cNvPr id="6" name="card-bg"/>
          <p:cNvSpPr/>
          <p:nvPr/>
        </p:nvSpPr>
        <p:spPr>
          <a:xfrm>
            <a:off x="3360420" y="1325880"/>
            <a:ext cx="2697480" cy="3931920"/>
          </a:xfrm>
          <a:prstGeom prst="roundRect">
            <a:avLst>
              <a:gd name="adj" fmla="val 2373"/>
            </a:avLst>
          </a:prstGeom>
          <a:solidFill>
            <a:srgbClr val="FBEFD9"/>
          </a:solidFill>
          <a:ln w="6350">
            <a:solidFill>
              <a:srgbClr val="FBEFD9"/>
            </a:solidFill>
            <a:prstDash val="solid"/>
          </a:ln>
        </p:spPr>
      </p:sp>
      <p:sp>
        <p:nvSpPr>
          <p:cNvPr id="7" name="card-text"/>
          <p:cNvSpPr txBox="1"/>
          <p:nvPr/>
        </p:nvSpPr>
        <p:spPr>
          <a:xfrm>
            <a:off x="3543300" y="1453896"/>
            <a:ext cx="2331720" cy="3712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Does mitigation pay?</a:t>
            </a:r>
            <a:endParaRPr lang="en-US" sz="1550" dirty="0"/>
          </a:p>
          <a:p>
            <a:pPr marL="177800" indent="-177800">
              <a:spcAft>
                <a:spcPts val="400"/>
              </a:spcAft>
              <a:buSzPct val="100000"/>
              <a:buChar char="•"/>
            </a:pPr>
            <a:r>
              <a:rPr lang="en-US" sz="1350" dirty="0">
                <a:solidFill>
                  <a:schemeClr val="tx1"/>
                </a:solidFill>
              </a:rPr>
              <a:t>Beneficial on average, platform-dependent: Russo 2023</a:t>
            </a:r>
            <a:endParaRPr lang="en-US" sz="1550" dirty="0"/>
          </a:p>
          <a:p>
            <a:pPr marL="177800" indent="-177800">
              <a:spcAft>
                <a:spcPts val="400"/>
              </a:spcAft>
              <a:buSzPct val="100000"/>
              <a:buChar char="•"/>
            </a:pPr>
            <a:r>
              <a:rPr lang="en-US" sz="1350" dirty="0">
                <a:solidFill>
                  <a:schemeClr val="tx1"/>
                </a:solidFill>
              </a:rPr>
              <a:t>At a matched shot budget, ZNE can be worse than raw: Zhang 2026</a:t>
            </a:r>
            <a:endParaRPr lang="en-US" sz="1550" dirty="0"/>
          </a:p>
          <a:p>
            <a:pPr marL="177800" indent="-177800">
              <a:spcAft>
                <a:spcPts val="400"/>
              </a:spcAft>
              <a:buSzPct val="100000"/>
              <a:buChar char="•"/>
            </a:pPr>
            <a:r>
              <a:rPr lang="en-US" sz="1350" dirty="0">
                <a:solidFill>
                  <a:schemeClr val="tx1"/>
                </a:solidFill>
              </a:rPr>
              <a:t>Select by downstream decisions: Scavino 2026</a:t>
            </a:r>
            <a:endParaRPr lang="en-US" sz="1550" dirty="0"/>
          </a:p>
        </p:txBody>
      </p:sp>
      <p:sp>
        <p:nvSpPr>
          <p:cNvPr id="8" name="card-bg"/>
          <p:cNvSpPr/>
          <p:nvPr/>
        </p:nvSpPr>
        <p:spPr>
          <a:xfrm>
            <a:off x="6172200" y="1325880"/>
            <a:ext cx="2697480" cy="3931920"/>
          </a:xfrm>
          <a:prstGeom prst="roundRect">
            <a:avLst>
              <a:gd name="adj" fmla="val 2373"/>
            </a:avLst>
          </a:prstGeom>
          <a:solidFill>
            <a:srgbClr val="E3F2F1"/>
          </a:solidFill>
          <a:ln w="6350">
            <a:solidFill>
              <a:srgbClr val="E3F2F1"/>
            </a:solidFill>
            <a:prstDash val="solid"/>
          </a:ln>
        </p:spPr>
      </p:sp>
      <p:sp>
        <p:nvSpPr>
          <p:cNvPr id="9" name="card-text"/>
          <p:cNvSpPr txBox="1"/>
          <p:nvPr/>
        </p:nvSpPr>
        <p:spPr>
          <a:xfrm>
            <a:off x="6355080" y="1453896"/>
            <a:ext cx="2331720" cy="3712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Adaptive selection</a:t>
            </a:r>
            <a:endParaRPr lang="en-US" sz="1550" dirty="0"/>
          </a:p>
          <a:p>
            <a:pPr marL="177800" indent="-177800">
              <a:spcAft>
                <a:spcPts val="400"/>
              </a:spcAft>
              <a:buSzPct val="100000"/>
              <a:buChar char="•"/>
            </a:pPr>
            <a:r>
              <a:rPr lang="en-US" sz="1350" dirty="0">
                <a:solidFill>
                  <a:schemeClr val="tx1"/>
                </a:solidFill>
              </a:rPr>
              <a:t>Telemetry + Thompson sampling: Szachara 2026</a:t>
            </a:r>
            <a:endParaRPr lang="en-US" sz="1550" dirty="0"/>
          </a:p>
          <a:p>
            <a:pPr marL="177800" indent="-177800">
              <a:spcAft>
                <a:spcPts val="400"/>
              </a:spcAft>
              <a:buSzPct val="100000"/>
              <a:buChar char="•"/>
            </a:pPr>
            <a:r>
              <a:rPr lang="en-US" sz="1350" dirty="0">
                <a:solidFill>
                  <a:schemeClr val="tx1"/>
                </a:solidFill>
              </a:rPr>
              <a:t>Contextual bandit over ZNE scales: Rahman &amp; Nguyen 2026</a:t>
            </a:r>
            <a:endParaRPr lang="en-US" sz="1550" dirty="0"/>
          </a:p>
          <a:p>
            <a:pPr marL="177800" indent="-177800">
              <a:spcAft>
                <a:spcPts val="400"/>
              </a:spcAft>
              <a:buSzPct val="100000"/>
              <a:buChar char="•"/>
            </a:pPr>
            <a:r>
              <a:rPr lang="en-US" sz="1350" dirty="0">
                <a:solidFill>
                  <a:schemeClr val="tx1"/>
                </a:solidFill>
              </a:rPr>
              <a:t>Orchestration in quantum RL: Majid 2026</a:t>
            </a:r>
            <a:endParaRPr lang="en-US" sz="1550" dirty="0"/>
          </a:p>
          <a:p>
            <a:pPr marL="177800" indent="-177800">
              <a:spcAft>
                <a:spcPts val="400"/>
              </a:spcAft>
              <a:buSzPct val="100000"/>
              <a:buChar char="•"/>
            </a:pPr>
            <a:r>
              <a:rPr lang="en-US" sz="1350" dirty="0">
                <a:solidFill>
                  <a:schemeClr val="tx1"/>
                </a:solidFill>
              </a:rPr>
              <a:t>Fuzzy rules on circuit features: Rao 2026</a:t>
            </a:r>
            <a:endParaRPr lang="en-US" sz="1550" dirty="0"/>
          </a:p>
        </p:txBody>
      </p:sp>
      <p:sp>
        <p:nvSpPr>
          <p:cNvPr id="10" name="card-bg"/>
          <p:cNvSpPr/>
          <p:nvPr/>
        </p:nvSpPr>
        <p:spPr>
          <a:xfrm>
            <a:off x="8983980" y="1325880"/>
            <a:ext cx="2697480" cy="3931920"/>
          </a:xfrm>
          <a:prstGeom prst="roundRect">
            <a:avLst>
              <a:gd name="adj" fmla="val 2373"/>
            </a:avLst>
          </a:prstGeom>
          <a:solidFill>
            <a:srgbClr val="EEF2F7"/>
          </a:solidFill>
          <a:ln w="6350">
            <a:solidFill>
              <a:srgbClr val="EEF2F7"/>
            </a:solidFill>
            <a:prstDash val="solid"/>
          </a:ln>
        </p:spPr>
      </p:sp>
      <p:sp>
        <p:nvSpPr>
          <p:cNvPr id="11" name="card-text"/>
          <p:cNvSpPr txBox="1"/>
          <p:nvPr/>
        </p:nvSpPr>
        <p:spPr>
          <a:xfrm>
            <a:off x="9166860" y="1453896"/>
            <a:ext cx="2331720" cy="3712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QML for fraud</a:t>
            </a:r>
            <a:endParaRPr lang="en-US" sz="1550" dirty="0"/>
          </a:p>
          <a:p>
            <a:pPr marL="177800" indent="-177800">
              <a:spcAft>
                <a:spcPts val="400"/>
              </a:spcAft>
              <a:buSzPct val="100000"/>
              <a:buChar char="•"/>
            </a:pPr>
            <a:r>
              <a:rPr lang="en-US" sz="1350" dirty="0">
                <a:solidFill>
                  <a:schemeClr val="tx1"/>
                </a:solidFill>
              </a:rPr>
              <a:t>Same dataset; tuned classical baselines ahead: Dinuț 2026</a:t>
            </a:r>
            <a:endParaRPr lang="en-US" sz="1550" dirty="0"/>
          </a:p>
          <a:p>
            <a:pPr marL="177800" indent="-177800">
              <a:spcAft>
                <a:spcPts val="400"/>
              </a:spcAft>
              <a:buSzPct val="100000"/>
              <a:buChar char="•"/>
            </a:pPr>
            <a:r>
              <a:rPr lang="en-US" sz="1350" dirty="0">
                <a:solidFill>
                  <a:schemeClr val="tx1"/>
                </a:solidFill>
              </a:rPr>
              <a:t>Architecture comparisons: El Alami 2026</a:t>
            </a:r>
            <a:endParaRPr lang="en-US" sz="1550" dirty="0"/>
          </a:p>
          <a:p>
            <a:pPr marL="177800" indent="-177800">
              <a:spcAft>
                <a:spcPts val="400"/>
              </a:spcAft>
              <a:buSzPct val="100000"/>
              <a:buChar char="•"/>
            </a:pPr>
            <a:r>
              <a:rPr lang="en-US" sz="1350" dirty="0">
                <a:solidFill>
                  <a:schemeClr val="tx1"/>
                </a:solidFill>
              </a:rPr>
              <a:t>Better recall on bank data: Tudisco 2024</a:t>
            </a:r>
            <a:endParaRPr lang="en-US" sz="1550" dirty="0"/>
          </a:p>
          <a:p>
            <a:pPr marL="177800" indent="-177800">
              <a:spcAft>
                <a:spcPts val="400"/>
              </a:spcAft>
              <a:buSzPct val="100000"/>
              <a:buChar char="•"/>
            </a:pPr>
            <a:r>
              <a:rPr lang="en-US" sz="1350" dirty="0">
                <a:solidFill>
                  <a:schemeClr val="tx1"/>
                </a:solidFill>
              </a:rPr>
              <a:t>Quantum kernels: Kyriienko 2022</a:t>
            </a:r>
            <a:endParaRPr lang="en-US" sz="1550" dirty="0"/>
          </a:p>
        </p:txBody>
      </p:sp>
      <p:sp>
        <p:nvSpPr>
          <p:cNvPr id="12" name="takeaway-bg"/>
          <p:cNvSpPr/>
          <p:nvPr/>
        </p:nvSpPr>
        <p:spPr>
          <a:xfrm>
            <a:off x="548640" y="5486400"/>
            <a:ext cx="11094415" cy="512064"/>
          </a:xfrm>
          <a:prstGeom prst="roundRect">
            <a:avLst>
              <a:gd name="adj" fmla="val 12500"/>
            </a:avLst>
          </a:prstGeom>
          <a:solidFill>
            <a:srgbClr val="E3F2F1"/>
          </a:solidFill>
          <a:ln w="6350">
            <a:solidFill>
              <a:srgbClr val="E3F2F1"/>
            </a:solidFill>
            <a:prstDash val="solid"/>
          </a:ln>
        </p:spPr>
      </p:sp>
      <p:sp>
        <p:nvSpPr>
          <p:cNvPr id="13" name="takeaway-icon-circle"/>
          <p:cNvSpPr/>
          <p:nvPr/>
        </p:nvSpPr>
        <p:spPr>
          <a:xfrm>
            <a:off x="676656" y="5568696"/>
            <a:ext cx="347472" cy="347472"/>
          </a:xfrm>
          <a:prstGeom prst="ellipse">
            <a:avLst/>
          </a:prstGeom>
          <a:solidFill>
            <a:srgbClr val="0F8B8D"/>
          </a:solidFill>
          <a:ln w="12700">
            <a:solidFill>
              <a:srgbClr val="0F8B8D"/>
            </a:solidFill>
            <a:prstDash val="solid"/>
          </a:ln>
        </p:spPr>
      </p:sp>
      <p:pic>
        <p:nvPicPr>
          <p:cNvPr id="14" name="takeaway-icon" descr="preencoded.png">    </p:cNvPr>
          <p:cNvPicPr>
            <a:picLocks noChangeAspect="1"/>
          </p:cNvPicPr>
          <p:nvPr/>
        </p:nvPicPr>
        <p:blipFill>
          <a:blip r:embed="rId1"/>
          <a:stretch>
            <a:fillRect/>
          </a:stretch>
        </p:blipFill>
        <p:spPr>
          <a:xfrm>
            <a:off x="760049" y="5652089"/>
            <a:ext cx="180685" cy="180685"/>
          </a:xfrm>
          <a:prstGeom prst="rect">
            <a:avLst/>
          </a:prstGeom>
        </p:spPr>
      </p:pic>
      <p:sp>
        <p:nvSpPr>
          <p:cNvPr id="15" name="takeaway"/>
          <p:cNvSpPr txBox="1"/>
          <p:nvPr/>
        </p:nvSpPr>
        <p:spPr>
          <a:xfrm>
            <a:off x="1170432" y="548640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Adaptive mitigation is not new; whether it beats simple rules was untested.</a:t>
            </a:r>
            <a:endParaRPr lang="en-US" sz="1550" dirty="0"/>
          </a:p>
        </p:txBody>
      </p:sp>
      <p:sp>
        <p:nvSpPr>
          <p:cNvPr id="16"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full references on backup slide B6; verification in deliverables/paper/REFERENCES_VERIFICATION.md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NOVELTY BOUNDARY  ·  STATED 'TO OUR KNOWLEDGE'</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Research gap</a:t>
            </a:r>
            <a:endParaRPr lang="en-US" sz="28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2651760"/>
                <a:gridCol w="2834640"/>
                <a:gridCol w="2651760"/>
              </a:tblGrid>
              <a:tr h="0">
                <a:tc>
                  <a:txBody>
                    <a:bodyPr/>
                    <a:lstStyle/>
                    <a:p>
                      <a:pPr indent="0" marL="0">
                        <a:buNone/>
                      </a:pPr>
                      <a:r>
                        <a:rPr lang="en-US" sz="1300" b="1" dirty="0">
                          <a:solidFill>
                            <a:srgbClr val="FFFFFF"/>
                          </a:solidFill>
                        </a:rPr>
                        <a:t>Work</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Selects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Context used</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Compared against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300" dirty="0">
                          <a:solidFill>
                            <a:srgbClr val="1A1F2B"/>
                          </a:solidFill>
                        </a:rPr>
                        <a:t>GSC-QEMit (Szachara et al. 2026)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abstract mitigation intensity</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telemetry incl. ideal-state fidelity, simulator drift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unmitigated, static-severe</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CMAB-ZNE (Rahman &amp; Nguyen 2026)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ZNE scale-factor sets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loss / accuracy (label-dependent)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fixed and grid-search ZNE, other QEM</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APGEM (Majid et al. 2026)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none / ZNE / PEC / CDR / readout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fidelity, reward, noise level</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fixed techniques, Oracle</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Rao et al. 2026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none / DD / ZNE (fuzzy rules)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label-free circuit + hardware features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not stated in abstract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b="1" dirty="0">
                          <a:solidFill>
                            <a:srgbClr val="1A1F2B"/>
                          </a:solidFill>
                        </a:rPr>
                        <a:t>This work</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A1F2B"/>
                          </a:solidFill>
                        </a:rPr>
                        <a:t>none / readout / ZNE / both / extra shots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A1F2B"/>
                          </a:solidFill>
                        </a:rPr>
                        <a:t>label-free probes only (leakage-tested)</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A1F2B"/>
                          </a:solidFill>
                        </a:rPr>
                        <a:t>simple rules + learned, held-out, pre-registered</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5" name="chip-bg"/>
          <p:cNvSpPr/>
          <p:nvPr/>
        </p:nvSpPr>
        <p:spPr>
          <a:xfrm>
            <a:off x="548640" y="3886200"/>
            <a:ext cx="411480" cy="411480"/>
          </a:xfrm>
          <a:prstGeom prst="roundRect">
            <a:avLst>
              <a:gd name="adj" fmla="val 35556"/>
            </a:avLst>
          </a:prstGeom>
          <a:solidFill>
            <a:srgbClr val="0F8B8D"/>
          </a:solidFill>
          <a:ln w="12700">
            <a:solidFill>
              <a:srgbClr val="0F8B8D"/>
            </a:solidFill>
            <a:prstDash val="solid"/>
          </a:ln>
        </p:spPr>
      </p:sp>
      <p:sp>
        <p:nvSpPr>
          <p:cNvPr id="6" name="chip"/>
          <p:cNvSpPr txBox="1"/>
          <p:nvPr/>
        </p:nvSpPr>
        <p:spPr>
          <a:xfrm>
            <a:off x="548640"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051560" y="3794760"/>
            <a:ext cx="3154680" cy="594360"/>
          </a:xfrm>
          <a:prstGeom prst="rect">
            <a:avLst/>
          </a:prstGeom>
          <a:noFill/>
          <a:ln/>
        </p:spPr>
        <p:txBody>
          <a:bodyPr wrap="square" lIns="0" tIns="0" rIns="0" bIns="0" rtlCol="0" anchor="ctr"/>
          <a:lstStyle/>
          <a:p>
            <a:pPr indent="0" marL="0">
              <a:buNone/>
            </a:pPr>
            <a:r>
              <a:rPr lang="en-US" sz="1400" b="1" dirty="0">
                <a:solidFill>
                  <a:schemeClr val="tx2"/>
                </a:solidFill>
              </a:rPr>
              <a:t>Extra shots and combined mitigation in one action space</a:t>
            </a:r>
            <a:endParaRPr lang="en-US" sz="1400" dirty="0"/>
          </a:p>
        </p:txBody>
      </p:sp>
      <p:sp>
        <p:nvSpPr>
          <p:cNvPr id="8" name="chip-bg"/>
          <p:cNvSpPr/>
          <p:nvPr/>
        </p:nvSpPr>
        <p:spPr>
          <a:xfrm>
            <a:off x="4297680" y="3886200"/>
            <a:ext cx="411480" cy="411480"/>
          </a:xfrm>
          <a:prstGeom prst="roundRect">
            <a:avLst>
              <a:gd name="adj" fmla="val 35556"/>
            </a:avLst>
          </a:prstGeom>
          <a:solidFill>
            <a:srgbClr val="0F8B8D"/>
          </a:solidFill>
          <a:ln w="12700">
            <a:solidFill>
              <a:srgbClr val="0F8B8D"/>
            </a:solidFill>
            <a:prstDash val="solid"/>
          </a:ln>
        </p:spPr>
      </p:sp>
      <p:sp>
        <p:nvSpPr>
          <p:cNvPr id="9" name="chip"/>
          <p:cNvSpPr txBox="1"/>
          <p:nvPr/>
        </p:nvSpPr>
        <p:spPr>
          <a:xfrm>
            <a:off x="4297680"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4800600" y="3794760"/>
            <a:ext cx="3154680" cy="594360"/>
          </a:xfrm>
          <a:prstGeom prst="rect">
            <a:avLst/>
          </a:prstGeom>
          <a:noFill/>
          <a:ln/>
        </p:spPr>
        <p:txBody>
          <a:bodyPr wrap="square" lIns="0" tIns="0" rIns="0" bIns="0" rtlCol="0" anchor="ctr"/>
          <a:lstStyle/>
          <a:p>
            <a:pPr indent="0" marL="0">
              <a:buNone/>
            </a:pPr>
            <a:r>
              <a:rPr lang="en-US" sz="1400" b="1" dirty="0">
                <a:solidFill>
                  <a:schemeClr val="tx2"/>
                </a:solidFill>
              </a:rPr>
              <a:t>Label-free probes only: no labels, no simulator parameters</a:t>
            </a:r>
            <a:endParaRPr lang="en-US" sz="1400" dirty="0"/>
          </a:p>
        </p:txBody>
      </p:sp>
      <p:sp>
        <p:nvSpPr>
          <p:cNvPr id="11" name="chip-bg"/>
          <p:cNvSpPr/>
          <p:nvPr/>
        </p:nvSpPr>
        <p:spPr>
          <a:xfrm>
            <a:off x="8046720" y="3886200"/>
            <a:ext cx="411480" cy="411480"/>
          </a:xfrm>
          <a:prstGeom prst="roundRect">
            <a:avLst>
              <a:gd name="adj" fmla="val 35556"/>
            </a:avLst>
          </a:prstGeom>
          <a:solidFill>
            <a:srgbClr val="0F8B8D"/>
          </a:solidFill>
          <a:ln w="12700">
            <a:solidFill>
              <a:srgbClr val="0F8B8D"/>
            </a:solidFill>
            <a:prstDash val="solid"/>
          </a:ln>
        </p:spPr>
      </p:sp>
      <p:sp>
        <p:nvSpPr>
          <p:cNvPr id="12" name="chip"/>
          <p:cNvSpPr txBox="1"/>
          <p:nvPr/>
        </p:nvSpPr>
        <p:spPr>
          <a:xfrm>
            <a:off x="8046720"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8549640" y="3794760"/>
            <a:ext cx="3154680" cy="594360"/>
          </a:xfrm>
          <a:prstGeom prst="rect">
            <a:avLst/>
          </a:prstGeom>
          <a:noFill/>
          <a:ln/>
        </p:spPr>
        <p:txBody>
          <a:bodyPr wrap="square" lIns="0" tIns="0" rIns="0" bIns="0" rtlCol="0" anchor="ctr"/>
          <a:lstStyle/>
          <a:p>
            <a:pPr indent="0" marL="0">
              <a:buNone/>
            </a:pPr>
            <a:r>
              <a:rPr lang="en-US" sz="1400" b="1" dirty="0">
                <a:solidFill>
                  <a:schemeClr val="tx2"/>
                </a:solidFill>
              </a:rPr>
              <a:t>Learning vs simple rules on held-out models, pre-registered</a:t>
            </a:r>
            <a:endParaRPr lang="en-US" sz="1400" dirty="0"/>
          </a:p>
        </p:txBody>
      </p:sp>
      <p:sp>
        <p:nvSpPr>
          <p:cNvPr id="14" name="takeaway-bg"/>
          <p:cNvSpPr/>
          <p:nvPr/>
        </p:nvSpPr>
        <p:spPr>
          <a:xfrm>
            <a:off x="548640" y="5074920"/>
            <a:ext cx="11094415" cy="512064"/>
          </a:xfrm>
          <a:prstGeom prst="roundRect">
            <a:avLst>
              <a:gd name="adj" fmla="val 12500"/>
            </a:avLst>
          </a:prstGeom>
          <a:solidFill>
            <a:srgbClr val="E3F2F1"/>
          </a:solidFill>
          <a:ln w="6350">
            <a:solidFill>
              <a:srgbClr val="E3F2F1"/>
            </a:solidFill>
            <a:prstDash val="solid"/>
          </a:ln>
        </p:spPr>
      </p:sp>
      <p:sp>
        <p:nvSpPr>
          <p:cNvPr id="15" name="takeaway-icon-circle"/>
          <p:cNvSpPr/>
          <p:nvPr/>
        </p:nvSpPr>
        <p:spPr>
          <a:xfrm>
            <a:off x="676656" y="5157216"/>
            <a:ext cx="347472" cy="347472"/>
          </a:xfrm>
          <a:prstGeom prst="ellipse">
            <a:avLst/>
          </a:prstGeom>
          <a:solidFill>
            <a:srgbClr val="0F8B8D"/>
          </a:solidFill>
          <a:ln w="12700">
            <a:solidFill>
              <a:srgbClr val="0F8B8D"/>
            </a:solidFill>
            <a:prstDash val="solid"/>
          </a:ln>
        </p:spPr>
      </p:sp>
      <p:pic>
        <p:nvPicPr>
          <p:cNvPr id="16" name="takeaway-icon" descr="preencoded.png">    </p:cNvPr>
          <p:cNvPicPr>
            <a:picLocks noChangeAspect="1"/>
          </p:cNvPicPr>
          <p:nvPr/>
        </p:nvPicPr>
        <p:blipFill>
          <a:blip r:embed="rId1"/>
          <a:stretch>
            <a:fillRect/>
          </a:stretch>
        </p:blipFill>
        <p:spPr>
          <a:xfrm>
            <a:off x="760049" y="5240609"/>
            <a:ext cx="180685" cy="180685"/>
          </a:xfrm>
          <a:prstGeom prst="rect">
            <a:avLst/>
          </a:prstGeom>
        </p:spPr>
      </p:pic>
      <p:sp>
        <p:nvSpPr>
          <p:cNvPr id="17" name="takeaway"/>
          <p:cNvSpPr txBox="1"/>
          <p:nvPr/>
        </p:nvSpPr>
        <p:spPr>
          <a:xfrm>
            <a:off x="1170432" y="50749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Gap: a pre-registered, held-out test of learned selection against simple observable rules.</a:t>
            </a:r>
            <a:endParaRPr lang="en-US" sz="1550" dirty="0"/>
          </a:p>
        </p:txBody>
      </p:sp>
      <p:sp>
        <p:nvSpPr>
          <p:cNvPr id="18" name="source"/>
          <p:cNvSpPr txBox="1"/>
          <p:nvPr/>
        </p:nvSpPr>
        <p:spPr>
          <a:xfrm>
            <a:off x="548640" y="57607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deliverables/paper/REFERENCES_VERIFICATION.md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ORIGINAL HYPOTHESIS (OCT 6)  ·  GATES AND H1–H4 REGISTERED BEFORE THEIR OUTCOMES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Original hypothesis and how we tested it</a:t>
            </a:r>
            <a:endParaRPr lang="en-US" sz="2800" dirty="0"/>
          </a:p>
        </p:txBody>
      </p:sp>
      <p:sp>
        <p:nvSpPr>
          <p:cNvPr id="4" name="card-bg"/>
          <p:cNvSpPr/>
          <p:nvPr/>
        </p:nvSpPr>
        <p:spPr>
          <a:xfrm>
            <a:off x="548640" y="1325880"/>
            <a:ext cx="5440680" cy="1280160"/>
          </a:xfrm>
          <a:prstGeom prst="roundRect">
            <a:avLst>
              <a:gd name="adj" fmla="val 5000"/>
            </a:avLst>
          </a:prstGeom>
          <a:solidFill>
            <a:srgbClr val="EEF2F7"/>
          </a:solidFill>
          <a:ln w="6350">
            <a:solidFill>
              <a:srgbClr val="EEF2F7"/>
            </a:solidFill>
            <a:prstDash val="solid"/>
          </a:ln>
        </p:spPr>
      </p:sp>
      <p:sp>
        <p:nvSpPr>
          <p:cNvPr id="5" name="card-text"/>
          <p:cNvSpPr txBox="1"/>
          <p:nvPr/>
        </p:nvSpPr>
        <p:spPr>
          <a:xfrm>
            <a:off x="731520" y="1453896"/>
            <a:ext cx="5074920" cy="106070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H-control (original)</a:t>
            </a:r>
            <a:endParaRPr lang="en-US" sz="1550" dirty="0"/>
          </a:p>
          <a:p>
            <a:pPr indent="0" marL="0">
              <a:spcAft>
                <a:spcPts val="400"/>
              </a:spcAft>
              <a:buNone/>
            </a:pPr>
            <a:r>
              <a:rPr lang="en-US" sz="1400" dirty="0">
                <a:solidFill>
                  <a:schemeClr val="tx1"/>
                </a:solidFill>
              </a:rPr>
              <a:t>A learned controller using only label-free probes beats fixed policies and a fairly tuned threshold rule.</a:t>
            </a:r>
            <a:endParaRPr lang="en-US" sz="1550" dirty="0"/>
          </a:p>
        </p:txBody>
      </p:sp>
      <p:sp>
        <p:nvSpPr>
          <p:cNvPr id="6" name="card-bg"/>
          <p:cNvSpPr/>
          <p:nvPr/>
        </p:nvSpPr>
        <p:spPr>
          <a:xfrm>
            <a:off x="6217920" y="1325880"/>
            <a:ext cx="5440680" cy="1280160"/>
          </a:xfrm>
          <a:prstGeom prst="roundRect">
            <a:avLst>
              <a:gd name="adj" fmla="val 5000"/>
            </a:avLst>
          </a:prstGeom>
          <a:solidFill>
            <a:srgbClr val="E3F2F1"/>
          </a:solidFill>
          <a:ln w="6350">
            <a:solidFill>
              <a:srgbClr val="E3F2F1"/>
            </a:solidFill>
            <a:prstDash val="solid"/>
          </a:ln>
        </p:spPr>
      </p:sp>
      <p:sp>
        <p:nvSpPr>
          <p:cNvPr id="7" name="card-text"/>
          <p:cNvSpPr txBox="1"/>
          <p:nvPr/>
        </p:nvSpPr>
        <p:spPr>
          <a:xfrm>
            <a:off x="6400800" y="1453896"/>
            <a:ext cx="5074920" cy="106070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The alternative we committed to report</a:t>
            </a:r>
            <a:endParaRPr lang="en-US" sz="1550" dirty="0"/>
          </a:p>
          <a:p>
            <a:pPr indent="0" marL="0">
              <a:spcAft>
                <a:spcPts val="400"/>
              </a:spcAft>
              <a:buNone/>
            </a:pPr>
            <a:r>
              <a:rPr lang="en-US" sz="1400" dirty="0">
                <a:solidFill>
                  <a:schemeClr val="tx1"/>
                </a:solidFill>
              </a:rPr>
              <a:t>A simple threshold rule matches the learned controller; formalized for the sealed test as H1–H4.</a:t>
            </a:r>
            <a:endParaRPr lang="en-US" sz="1550" dirty="0"/>
          </a:p>
        </p:txBody>
      </p:sp>
      <p:sp>
        <p:nvSpPr>
          <p:cNvPr id="8" name="flow-box-0"/>
          <p:cNvSpPr/>
          <p:nvPr/>
        </p:nvSpPr>
        <p:spPr>
          <a:xfrm>
            <a:off x="548640" y="2834640"/>
            <a:ext cx="3503066" cy="960120"/>
          </a:xfrm>
          <a:prstGeom prst="roundRect">
            <a:avLst>
              <a:gd name="adj" fmla="val 6667"/>
            </a:avLst>
          </a:prstGeom>
          <a:solidFill>
            <a:srgbClr val="EEF2F7"/>
          </a:solidFill>
          <a:ln w="6350">
            <a:solidFill>
              <a:srgbClr val="EEF2F7"/>
            </a:solidFill>
            <a:prstDash val="solid"/>
          </a:ln>
        </p:spPr>
      </p:sp>
      <p:sp>
        <p:nvSpPr>
          <p:cNvPr id="9" name="flow-text-0"/>
          <p:cNvSpPr txBox="1"/>
          <p:nvPr/>
        </p:nvSpPr>
        <p:spPr>
          <a:xfrm>
            <a:off x="621792" y="2834640"/>
            <a:ext cx="3356762" cy="960120"/>
          </a:xfrm>
          <a:prstGeom prst="rect">
            <a:avLst/>
          </a:prstGeom>
          <a:noFill/>
          <a:ln/>
        </p:spPr>
        <p:txBody>
          <a:bodyPr wrap="square" lIns="0" tIns="0" rIns="0" bIns="0" rtlCol="0" anchor="ctr"/>
          <a:lstStyle/>
          <a:p>
            <a:pPr algn="ctr" indent="0" marL="0">
              <a:buNone/>
            </a:pPr>
            <a:r>
              <a:rPr lang="en-US" sz="1400" b="1" dirty="0">
                <a:solidFill>
                  <a:schemeClr val="tx2"/>
                </a:solidFill>
              </a:rPr>
              <a:t>Gate G3B</a:t>
            </a:r>
            <a:endParaRPr lang="en-US" sz="1400" dirty="0"/>
          </a:p>
          <a:p>
            <a:pPr algn="ctr" indent="0" marL="0">
              <a:buNone/>
            </a:pPr>
            <a:r>
              <a:rPr lang="en-US" sz="1200" dirty="0">
                <a:solidFill>
                  <a:schemeClr val="tx1"/>
                </a:solidFill>
              </a:rPr>
              <a:t>categorical noise: residual for learning?</a:t>
            </a:r>
            <a:endParaRPr lang="en-US" sz="1400" dirty="0"/>
          </a:p>
        </p:txBody>
      </p:sp>
      <p:sp>
        <p:nvSpPr>
          <p:cNvPr id="10" name="flow-arrow-0"/>
          <p:cNvSpPr/>
          <p:nvPr/>
        </p:nvSpPr>
        <p:spPr>
          <a:xfrm>
            <a:off x="4088282" y="3214116"/>
            <a:ext cx="219456" cy="201168"/>
          </a:xfrm>
          <a:prstGeom prst="rightArrow">
            <a:avLst/>
          </a:prstGeom>
          <a:solidFill>
            <a:srgbClr val="6B7280"/>
          </a:solidFill>
          <a:ln w="12700">
            <a:solidFill>
              <a:srgbClr val="6B7280"/>
            </a:solidFill>
            <a:prstDash val="solid"/>
          </a:ln>
        </p:spPr>
      </p:sp>
      <p:sp>
        <p:nvSpPr>
          <p:cNvPr id="11" name="flow-box-1"/>
          <p:cNvSpPr/>
          <p:nvPr/>
        </p:nvSpPr>
        <p:spPr>
          <a:xfrm>
            <a:off x="4344314" y="2834640"/>
            <a:ext cx="3503066" cy="960120"/>
          </a:xfrm>
          <a:prstGeom prst="roundRect">
            <a:avLst>
              <a:gd name="adj" fmla="val 6667"/>
            </a:avLst>
          </a:prstGeom>
          <a:solidFill>
            <a:srgbClr val="EEF2F7"/>
          </a:solidFill>
          <a:ln w="6350">
            <a:solidFill>
              <a:srgbClr val="EEF2F7"/>
            </a:solidFill>
            <a:prstDash val="solid"/>
          </a:ln>
        </p:spPr>
      </p:sp>
      <p:sp>
        <p:nvSpPr>
          <p:cNvPr id="12" name="flow-text-1"/>
          <p:cNvSpPr txBox="1"/>
          <p:nvPr/>
        </p:nvSpPr>
        <p:spPr>
          <a:xfrm>
            <a:off x="4417466" y="2834640"/>
            <a:ext cx="3356762" cy="960120"/>
          </a:xfrm>
          <a:prstGeom prst="rect">
            <a:avLst/>
          </a:prstGeom>
          <a:noFill/>
          <a:ln/>
        </p:spPr>
        <p:txBody>
          <a:bodyPr wrap="square" lIns="0" tIns="0" rIns="0" bIns="0" rtlCol="0" anchor="ctr"/>
          <a:lstStyle/>
          <a:p>
            <a:pPr algn="ctr" indent="0" marL="0">
              <a:buNone/>
            </a:pPr>
            <a:r>
              <a:rPr lang="en-US" sz="1400" b="1" dirty="0">
                <a:solidFill>
                  <a:schemeClr val="tx2"/>
                </a:solidFill>
              </a:rPr>
              <a:t>Gate G3C</a:t>
            </a:r>
            <a:endParaRPr lang="en-US" sz="1400" dirty="0"/>
          </a:p>
          <a:p>
            <a:pPr algn="ctr" indent="0" marL="0">
              <a:buNone/>
            </a:pPr>
            <a:r>
              <a:rPr lang="en-US" sz="1200" dirty="0">
                <a:solidFill>
                  <a:schemeClr val="tx1"/>
                </a:solidFill>
              </a:rPr>
              <a:t>continuous joint noise: residual for learning?</a:t>
            </a:r>
            <a:endParaRPr lang="en-US" sz="1400" dirty="0"/>
          </a:p>
        </p:txBody>
      </p:sp>
      <p:sp>
        <p:nvSpPr>
          <p:cNvPr id="13" name="flow-arrow-1"/>
          <p:cNvSpPr/>
          <p:nvPr/>
        </p:nvSpPr>
        <p:spPr>
          <a:xfrm>
            <a:off x="7883957" y="3214116"/>
            <a:ext cx="219456" cy="201168"/>
          </a:xfrm>
          <a:prstGeom prst="rightArrow">
            <a:avLst/>
          </a:prstGeom>
          <a:solidFill>
            <a:srgbClr val="6B7280"/>
          </a:solidFill>
          <a:ln w="12700">
            <a:solidFill>
              <a:srgbClr val="6B7280"/>
            </a:solidFill>
            <a:prstDash val="solid"/>
          </a:ln>
        </p:spPr>
      </p:sp>
      <p:sp>
        <p:nvSpPr>
          <p:cNvPr id="14" name="flow-box-2"/>
          <p:cNvSpPr/>
          <p:nvPr/>
        </p:nvSpPr>
        <p:spPr>
          <a:xfrm>
            <a:off x="8139989" y="2834640"/>
            <a:ext cx="3503066" cy="960120"/>
          </a:xfrm>
          <a:prstGeom prst="roundRect">
            <a:avLst>
              <a:gd name="adj" fmla="val 6667"/>
            </a:avLst>
          </a:prstGeom>
          <a:solidFill>
            <a:srgbClr val="FBEFD9"/>
          </a:solidFill>
          <a:ln w="6350">
            <a:solidFill>
              <a:srgbClr val="FBEFD9"/>
            </a:solidFill>
            <a:prstDash val="solid"/>
          </a:ln>
        </p:spPr>
      </p:sp>
      <p:sp>
        <p:nvSpPr>
          <p:cNvPr id="15" name="flow-text-2"/>
          <p:cNvSpPr txBox="1"/>
          <p:nvPr/>
        </p:nvSpPr>
        <p:spPr>
          <a:xfrm>
            <a:off x="8213141" y="2834640"/>
            <a:ext cx="3356762" cy="960120"/>
          </a:xfrm>
          <a:prstGeom prst="rect">
            <a:avLst/>
          </a:prstGeom>
          <a:noFill/>
          <a:ln/>
        </p:spPr>
        <p:txBody>
          <a:bodyPr wrap="square" lIns="0" tIns="0" rIns="0" bIns="0" rtlCol="0" anchor="ctr"/>
          <a:lstStyle/>
          <a:p>
            <a:pPr algn="ctr" indent="0" marL="0">
              <a:buNone/>
            </a:pPr>
            <a:r>
              <a:rPr lang="en-US" sz="1400" b="1" dirty="0">
                <a:solidFill>
                  <a:schemeClr val="tx2"/>
                </a:solidFill>
              </a:rPr>
              <a:t>Sealed test</a:t>
            </a:r>
            <a:endParaRPr lang="en-US" sz="1400" dirty="0"/>
          </a:p>
          <a:p>
            <a:pPr algn="ctr" indent="0" marL="0">
              <a:buNone/>
            </a:pPr>
            <a:r>
              <a:rPr lang="en-US" sz="1200" dirty="0">
                <a:solidFill>
                  <a:schemeClr val="tx1"/>
                </a:solidFill>
              </a:rPr>
              <a:t>opened once: H1–H4</a:t>
            </a:r>
            <a:endParaRPr lang="en-US" sz="1400" dirty="0"/>
          </a:p>
        </p:txBody>
      </p:sp>
      <p:sp>
        <p:nvSpPr>
          <p:cNvPr id="16" name="chip-bg"/>
          <p:cNvSpPr/>
          <p:nvPr/>
        </p:nvSpPr>
        <p:spPr>
          <a:xfrm>
            <a:off x="548640" y="4078224"/>
            <a:ext cx="566928" cy="329184"/>
          </a:xfrm>
          <a:prstGeom prst="roundRect">
            <a:avLst>
              <a:gd name="adj" fmla="val 44444"/>
            </a:avLst>
          </a:prstGeom>
          <a:solidFill>
            <a:srgbClr val="0F8B8D"/>
          </a:solidFill>
          <a:ln w="12700">
            <a:solidFill>
              <a:srgbClr val="0F8B8D"/>
            </a:solidFill>
            <a:prstDash val="solid"/>
          </a:ln>
        </p:spPr>
      </p:sp>
      <p:sp>
        <p:nvSpPr>
          <p:cNvPr id="17" name="chip"/>
          <p:cNvSpPr txBox="1"/>
          <p:nvPr/>
        </p:nvSpPr>
        <p:spPr>
          <a:xfrm>
            <a:off x="548640" y="4078224"/>
            <a:ext cx="566928" cy="329184"/>
          </a:xfrm>
          <a:prstGeom prst="rect">
            <a:avLst/>
          </a:prstGeom>
          <a:noFill/>
          <a:ln/>
        </p:spPr>
        <p:txBody>
          <a:bodyPr wrap="square" lIns="0" tIns="0" rIns="0" bIns="0" rtlCol="0" anchor="ctr"/>
          <a:lstStyle/>
          <a:p>
            <a:pPr algn="ctr" indent="0" marL="0">
              <a:buNone/>
            </a:pPr>
            <a:r>
              <a:rPr lang="en-US" sz="1150" b="1" dirty="0">
                <a:solidFill>
                  <a:srgbClr val="FFFFFF"/>
                </a:solidFill>
              </a:rPr>
              <a:t>H1</a:t>
            </a:r>
            <a:endParaRPr lang="en-US" sz="1150" dirty="0"/>
          </a:p>
        </p:txBody>
      </p:sp>
      <p:sp>
        <p:nvSpPr>
          <p:cNvPr id="18" name="Text 16"/>
          <p:cNvSpPr txBox="1"/>
          <p:nvPr/>
        </p:nvSpPr>
        <p:spPr>
          <a:xfrm>
            <a:off x="1234440" y="4023360"/>
            <a:ext cx="4800600" cy="457200"/>
          </a:xfrm>
          <a:prstGeom prst="rect">
            <a:avLst/>
          </a:prstGeom>
          <a:noFill/>
          <a:ln/>
        </p:spPr>
        <p:txBody>
          <a:bodyPr wrap="square" lIns="0" tIns="0" rIns="0" bIns="0" rtlCol="0" anchor="ctr"/>
          <a:lstStyle/>
          <a:p>
            <a:pPr indent="0" marL="0">
              <a:buNone/>
            </a:pPr>
            <a:r>
              <a:rPr lang="en-US" sz="1350" dirty="0">
                <a:solidFill>
                  <a:schemeClr val="tx1"/>
                </a:solidFill>
              </a:rPr>
              <a:t>rule near-Oracle: material failure ≤ 0.05, Brier regret ≤ 2%</a:t>
            </a:r>
            <a:endParaRPr lang="en-US" sz="1350" dirty="0"/>
          </a:p>
        </p:txBody>
      </p:sp>
      <p:sp>
        <p:nvSpPr>
          <p:cNvPr id="19" name="chip-bg"/>
          <p:cNvSpPr/>
          <p:nvPr/>
        </p:nvSpPr>
        <p:spPr>
          <a:xfrm>
            <a:off x="6126480" y="4078224"/>
            <a:ext cx="566928" cy="329184"/>
          </a:xfrm>
          <a:prstGeom prst="roundRect">
            <a:avLst>
              <a:gd name="adj" fmla="val 44444"/>
            </a:avLst>
          </a:prstGeom>
          <a:solidFill>
            <a:srgbClr val="0F8B8D"/>
          </a:solidFill>
          <a:ln w="12700">
            <a:solidFill>
              <a:srgbClr val="0F8B8D"/>
            </a:solidFill>
            <a:prstDash val="solid"/>
          </a:ln>
        </p:spPr>
      </p:sp>
      <p:sp>
        <p:nvSpPr>
          <p:cNvPr id="20" name="chip"/>
          <p:cNvSpPr txBox="1"/>
          <p:nvPr/>
        </p:nvSpPr>
        <p:spPr>
          <a:xfrm>
            <a:off x="6126480" y="4078224"/>
            <a:ext cx="566928" cy="329184"/>
          </a:xfrm>
          <a:prstGeom prst="rect">
            <a:avLst/>
          </a:prstGeom>
          <a:noFill/>
          <a:ln/>
        </p:spPr>
        <p:txBody>
          <a:bodyPr wrap="square" lIns="0" tIns="0" rIns="0" bIns="0" rtlCol="0" anchor="ctr"/>
          <a:lstStyle/>
          <a:p>
            <a:pPr algn="ctr" indent="0" marL="0">
              <a:buNone/>
            </a:pPr>
            <a:r>
              <a:rPr lang="en-US" sz="1150" b="1" dirty="0">
                <a:solidFill>
                  <a:srgbClr val="FFFFFF"/>
                </a:solidFill>
              </a:rPr>
              <a:t>H2</a:t>
            </a:r>
            <a:endParaRPr lang="en-US" sz="1150" dirty="0"/>
          </a:p>
        </p:txBody>
      </p:sp>
      <p:sp>
        <p:nvSpPr>
          <p:cNvPr id="21" name="Text 19"/>
          <p:cNvSpPr txBox="1"/>
          <p:nvPr/>
        </p:nvSpPr>
        <p:spPr>
          <a:xfrm>
            <a:off x="6812280" y="4023360"/>
            <a:ext cx="4800600" cy="457200"/>
          </a:xfrm>
          <a:prstGeom prst="rect">
            <a:avLst/>
          </a:prstGeom>
          <a:noFill/>
          <a:ln/>
        </p:spPr>
        <p:txBody>
          <a:bodyPr wrap="square" lIns="0" tIns="0" rIns="0" bIns="0" rtlCol="0" anchor="ctr"/>
          <a:lstStyle/>
          <a:p>
            <a:pPr indent="0" marL="0">
              <a:buNone/>
            </a:pPr>
            <a:r>
              <a:rPr lang="en-US" sz="1350" dirty="0">
                <a:solidFill>
                  <a:schemeClr val="tx1"/>
                </a:solidFill>
              </a:rPr>
              <a:t>no learned comparator meaningfully better (non-superiority)</a:t>
            </a:r>
            <a:endParaRPr lang="en-US" sz="1350" dirty="0"/>
          </a:p>
        </p:txBody>
      </p:sp>
      <p:sp>
        <p:nvSpPr>
          <p:cNvPr id="22" name="chip-bg"/>
          <p:cNvSpPr/>
          <p:nvPr/>
        </p:nvSpPr>
        <p:spPr>
          <a:xfrm>
            <a:off x="548640" y="4645152"/>
            <a:ext cx="566928" cy="329184"/>
          </a:xfrm>
          <a:prstGeom prst="roundRect">
            <a:avLst>
              <a:gd name="adj" fmla="val 44444"/>
            </a:avLst>
          </a:prstGeom>
          <a:solidFill>
            <a:srgbClr val="0F8B8D"/>
          </a:solidFill>
          <a:ln w="12700">
            <a:solidFill>
              <a:srgbClr val="0F8B8D"/>
            </a:solidFill>
            <a:prstDash val="solid"/>
          </a:ln>
        </p:spPr>
      </p:sp>
      <p:sp>
        <p:nvSpPr>
          <p:cNvPr id="23" name="chip"/>
          <p:cNvSpPr txBox="1"/>
          <p:nvPr/>
        </p:nvSpPr>
        <p:spPr>
          <a:xfrm>
            <a:off x="548640" y="4645152"/>
            <a:ext cx="566928" cy="329184"/>
          </a:xfrm>
          <a:prstGeom prst="rect">
            <a:avLst/>
          </a:prstGeom>
          <a:noFill/>
          <a:ln/>
        </p:spPr>
        <p:txBody>
          <a:bodyPr wrap="square" lIns="0" tIns="0" rIns="0" bIns="0" rtlCol="0" anchor="ctr"/>
          <a:lstStyle/>
          <a:p>
            <a:pPr algn="ctr" indent="0" marL="0">
              <a:buNone/>
            </a:pPr>
            <a:r>
              <a:rPr lang="en-US" sz="1150" b="1" dirty="0">
                <a:solidFill>
                  <a:srgbClr val="FFFFFF"/>
                </a:solidFill>
              </a:rPr>
              <a:t>H3</a:t>
            </a:r>
            <a:endParaRPr lang="en-US" sz="1150" dirty="0"/>
          </a:p>
        </p:txBody>
      </p:sp>
      <p:sp>
        <p:nvSpPr>
          <p:cNvPr id="24" name="Text 22"/>
          <p:cNvSpPr txBox="1"/>
          <p:nvPr/>
        </p:nvSpPr>
        <p:spPr>
          <a:xfrm>
            <a:off x="1234440" y="4590288"/>
            <a:ext cx="4800600" cy="457200"/>
          </a:xfrm>
          <a:prstGeom prst="rect">
            <a:avLst/>
          </a:prstGeom>
          <a:noFill/>
          <a:ln/>
        </p:spPr>
        <p:txBody>
          <a:bodyPr wrap="square" lIns="0" tIns="0" rIns="0" bIns="0" rtlCol="0" anchor="ctr"/>
          <a:lstStyle/>
          <a:p>
            <a:pPr indent="0" marL="0">
              <a:buNone/>
            </a:pPr>
            <a:r>
              <a:rPr lang="en-US" sz="1350" dirty="0">
                <a:solidFill>
                  <a:schemeClr val="tx1"/>
                </a:solidFill>
              </a:rPr>
              <a:t>rule beats every universal policy, ≤ always-A3 shots</a:t>
            </a:r>
            <a:endParaRPr lang="en-US" sz="1350" dirty="0"/>
          </a:p>
        </p:txBody>
      </p:sp>
      <p:sp>
        <p:nvSpPr>
          <p:cNvPr id="25" name="chip-bg"/>
          <p:cNvSpPr/>
          <p:nvPr/>
        </p:nvSpPr>
        <p:spPr>
          <a:xfrm>
            <a:off x="6126480" y="4645152"/>
            <a:ext cx="566928" cy="329184"/>
          </a:xfrm>
          <a:prstGeom prst="roundRect">
            <a:avLst>
              <a:gd name="adj" fmla="val 44444"/>
            </a:avLst>
          </a:prstGeom>
          <a:solidFill>
            <a:srgbClr val="0F8B8D"/>
          </a:solidFill>
          <a:ln w="12700">
            <a:solidFill>
              <a:srgbClr val="0F8B8D"/>
            </a:solidFill>
            <a:prstDash val="solid"/>
          </a:ln>
        </p:spPr>
      </p:sp>
      <p:sp>
        <p:nvSpPr>
          <p:cNvPr id="26" name="chip"/>
          <p:cNvSpPr txBox="1"/>
          <p:nvPr/>
        </p:nvSpPr>
        <p:spPr>
          <a:xfrm>
            <a:off x="6126480" y="4645152"/>
            <a:ext cx="566928" cy="329184"/>
          </a:xfrm>
          <a:prstGeom prst="rect">
            <a:avLst/>
          </a:prstGeom>
          <a:noFill/>
          <a:ln/>
        </p:spPr>
        <p:txBody>
          <a:bodyPr wrap="square" lIns="0" tIns="0" rIns="0" bIns="0" rtlCol="0" anchor="ctr"/>
          <a:lstStyle/>
          <a:p>
            <a:pPr algn="ctr" indent="0" marL="0">
              <a:buNone/>
            </a:pPr>
            <a:r>
              <a:rPr lang="en-US" sz="1150" b="1" dirty="0">
                <a:solidFill>
                  <a:srgbClr val="FFFFFF"/>
                </a:solidFill>
              </a:rPr>
              <a:t>H4</a:t>
            </a:r>
            <a:endParaRPr lang="en-US" sz="1150" dirty="0"/>
          </a:p>
        </p:txBody>
      </p:sp>
      <p:sp>
        <p:nvSpPr>
          <p:cNvPr id="27" name="Text 25"/>
          <p:cNvSpPr txBox="1"/>
          <p:nvPr/>
        </p:nvSpPr>
        <p:spPr>
          <a:xfrm>
            <a:off x="6812280" y="4590288"/>
            <a:ext cx="4800600" cy="457200"/>
          </a:xfrm>
          <a:prstGeom prst="rect">
            <a:avLst/>
          </a:prstGeom>
          <a:noFill/>
          <a:ln/>
        </p:spPr>
        <p:txBody>
          <a:bodyPr wrap="square" lIns="0" tIns="0" rIns="0" bIns="0" rtlCol="0" anchor="ctr"/>
          <a:lstStyle/>
          <a:p>
            <a:pPr indent="0" marL="0">
              <a:buNone/>
            </a:pPr>
            <a:r>
              <a:rPr lang="en-US" sz="1350" dirty="0">
                <a:solidFill>
                  <a:schemeClr val="tx1"/>
                </a:solidFill>
              </a:rPr>
              <a:t>rule transfers to categorical noise: material ≤ 0.10</a:t>
            </a:r>
            <a:endParaRPr lang="en-US" sz="1350" dirty="0"/>
          </a:p>
        </p:txBody>
      </p:sp>
      <p:sp>
        <p:nvSpPr>
          <p:cNvPr id="28" name="takeaway-bg"/>
          <p:cNvSpPr/>
          <p:nvPr/>
        </p:nvSpPr>
        <p:spPr>
          <a:xfrm>
            <a:off x="548640" y="5349240"/>
            <a:ext cx="11094415" cy="512064"/>
          </a:xfrm>
          <a:prstGeom prst="roundRect">
            <a:avLst>
              <a:gd name="adj" fmla="val 12500"/>
            </a:avLst>
          </a:prstGeom>
          <a:solidFill>
            <a:srgbClr val="E3F2F1"/>
          </a:solidFill>
          <a:ln w="6350">
            <a:solidFill>
              <a:srgbClr val="E3F2F1"/>
            </a:solidFill>
            <a:prstDash val="solid"/>
          </a:ln>
        </p:spPr>
      </p:sp>
      <p:sp>
        <p:nvSpPr>
          <p:cNvPr id="29" name="takeaway-icon-circle"/>
          <p:cNvSpPr/>
          <p:nvPr/>
        </p:nvSpPr>
        <p:spPr>
          <a:xfrm>
            <a:off x="676656" y="5431536"/>
            <a:ext cx="347472" cy="347472"/>
          </a:xfrm>
          <a:prstGeom prst="ellipse">
            <a:avLst/>
          </a:prstGeom>
          <a:solidFill>
            <a:srgbClr val="0F8B8D"/>
          </a:solidFill>
          <a:ln w="12700">
            <a:solidFill>
              <a:srgbClr val="0F8B8D"/>
            </a:solidFill>
            <a:prstDash val="solid"/>
          </a:ln>
        </p:spPr>
      </p:sp>
      <p:pic>
        <p:nvPicPr>
          <p:cNvPr id="30" name="takeaway-icon" descr="preencoded.png">    </p:cNvPr>
          <p:cNvPicPr>
            <a:picLocks noChangeAspect="1"/>
          </p:cNvPicPr>
          <p:nvPr/>
        </p:nvPicPr>
        <p:blipFill>
          <a:blip r:embed="rId1"/>
          <a:stretch>
            <a:fillRect/>
          </a:stretch>
        </p:blipFill>
        <p:spPr>
          <a:xfrm>
            <a:off x="760049" y="5514929"/>
            <a:ext cx="180685" cy="180685"/>
          </a:xfrm>
          <a:prstGeom prst="rect">
            <a:avLst/>
          </a:prstGeom>
        </p:spPr>
      </p:pic>
      <p:sp>
        <p:nvSpPr>
          <p:cNvPr id="31" name="takeaway"/>
          <p:cNvSpPr txBox="1"/>
          <p:nvPr/>
        </p:nvSpPr>
        <p:spPr>
          <a:xfrm>
            <a:off x="1170432" y="53492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Negative outcomes were registered as reportable results before any data existed.</a:t>
            </a:r>
            <a:endParaRPr lang="en-US" sz="1550" dirty="0"/>
          </a:p>
        </p:txBody>
      </p:sp>
      <p:sp>
        <p:nvSpPr>
          <p:cNvPr id="32" name="source"/>
          <p:cNvSpPr txBox="1"/>
          <p:nvPr/>
        </p:nvSpPr>
        <p:spPr>
          <a:xfrm>
            <a:off x="548640" y="59893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docs/PREREG_P5B.md, docs/PREREG_P5C.md, docs/PREREG_FINAL.md, configs/final_test/final_v1.yaml</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FROZEN REFERENCE MODEL P3A-R  ·  4 QUBITS  ·  FROZEN OCTOBER 6,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QML fraud-classification architecture</a:t>
            </a:r>
            <a:endParaRPr lang="en-US" sz="2800" dirty="0"/>
          </a:p>
        </p:txBody>
      </p:sp>
      <p:pic>
        <p:nvPicPr>
          <p:cNvPr id="4" name="circuit_p3ar.png" descr="/Users/mayankpokhriyal/Workspaces/q-trace/deliverables/presentations/semester/_system/figures/circuit_p3ar.png">    </p:cNvPr>
          <p:cNvPicPr>
            <a:picLocks noChangeAspect="1"/>
          </p:cNvPicPr>
          <p:nvPr/>
        </p:nvPicPr>
        <p:blipFill>
          <a:blip r:embed="rId1"/>
          <a:stretch>
            <a:fillRect/>
          </a:stretch>
        </p:blipFill>
        <p:spPr>
          <a:xfrm>
            <a:off x="1844936" y="1234440"/>
            <a:ext cx="8471647" cy="3017520"/>
          </a:xfrm>
          <a:prstGeom prst="rect">
            <a:avLst/>
          </a:prstGeom>
        </p:spPr>
      </p:pic>
      <p:sp>
        <p:nvSpPr>
          <p:cNvPr id="5" name="stat-value"/>
          <p:cNvSpPr txBox="1"/>
          <p:nvPr/>
        </p:nvSpPr>
        <p:spPr>
          <a:xfrm>
            <a:off x="548640" y="4343400"/>
            <a:ext cx="35661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0.104 → 0.507</a:t>
            </a:r>
            <a:endParaRPr lang="en-US" sz="2600" dirty="0"/>
          </a:p>
        </p:txBody>
      </p:sp>
      <p:sp>
        <p:nvSpPr>
          <p:cNvPr id="6" name="stat-label"/>
          <p:cNvSpPr txBox="1"/>
          <p:nvPr/>
        </p:nvSpPr>
        <p:spPr>
          <a:xfrm>
            <a:off x="548640" y="4837176"/>
            <a:ext cx="3566160" cy="548640"/>
          </a:xfrm>
          <a:prstGeom prst="rect">
            <a:avLst/>
          </a:prstGeom>
          <a:noFill/>
          <a:ln/>
        </p:spPr>
        <p:txBody>
          <a:bodyPr wrap="square" lIns="0" tIns="0" rIns="0" bIns="0" rtlCol="0" anchor="t"/>
          <a:lstStyle/>
          <a:p>
            <a:pPr indent="0" marL="0">
              <a:buNone/>
            </a:pPr>
            <a:r>
              <a:rPr lang="en-US" sz="1250" dirty="0">
                <a:solidFill>
                  <a:schemeClr val="tx1"/>
                </a:solidFill>
              </a:rPr>
              <a:t>validation AUPRC after the pre-registered encoding repair (AUROC 0.957)</a:t>
            </a:r>
            <a:endParaRPr lang="en-US" sz="1250" dirty="0"/>
          </a:p>
        </p:txBody>
      </p:sp>
      <p:sp>
        <p:nvSpPr>
          <p:cNvPr id="7" name="stat-value"/>
          <p:cNvSpPr txBox="1"/>
          <p:nvPr/>
        </p:nvSpPr>
        <p:spPr>
          <a:xfrm>
            <a:off x="4297680" y="4343400"/>
            <a:ext cx="356616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0.59–0.62</a:t>
            </a:r>
            <a:endParaRPr lang="en-US" sz="2600" dirty="0"/>
          </a:p>
        </p:txBody>
      </p:sp>
      <p:sp>
        <p:nvSpPr>
          <p:cNvPr id="8" name="stat-label"/>
          <p:cNvSpPr txBox="1"/>
          <p:nvPr/>
        </p:nvSpPr>
        <p:spPr>
          <a:xfrm>
            <a:off x="4297680" y="4837176"/>
            <a:ext cx="3566160" cy="548640"/>
          </a:xfrm>
          <a:prstGeom prst="rect">
            <a:avLst/>
          </a:prstGeom>
          <a:noFill/>
          <a:ln/>
        </p:spPr>
        <p:txBody>
          <a:bodyPr wrap="square" lIns="0" tIns="0" rIns="0" bIns="0" rtlCol="0" anchor="t"/>
          <a:lstStyle/>
          <a:p>
            <a:pPr indent="0" marL="0">
              <a:buNone/>
            </a:pPr>
            <a:r>
              <a:rPr lang="en-US" sz="1250" dirty="0">
                <a:solidFill>
                  <a:schemeClr val="tx1"/>
                </a:solidFill>
              </a:rPr>
              <a:t>classical AUPRC on the same 4 inputs: no quantum advantage</a:t>
            </a:r>
            <a:endParaRPr lang="en-US" sz="1250" dirty="0"/>
          </a:p>
        </p:txBody>
      </p:sp>
      <p:sp>
        <p:nvSpPr>
          <p:cNvPr id="9" name="stat-value"/>
          <p:cNvSpPr txBox="1"/>
          <p:nvPr/>
        </p:nvSpPr>
        <p:spPr>
          <a:xfrm>
            <a:off x="8046720" y="4343400"/>
            <a:ext cx="3611880" cy="457200"/>
          </a:xfrm>
          <a:prstGeom prst="rect">
            <a:avLst/>
          </a:prstGeom>
          <a:noFill/>
          <a:ln/>
        </p:spPr>
        <p:txBody>
          <a:bodyPr wrap="square" lIns="0" tIns="0" rIns="0" bIns="0" rtlCol="0" anchor="t"/>
          <a:lstStyle/>
          <a:p>
            <a:pPr indent="0" marL="0">
              <a:buNone/>
            </a:pPr>
            <a:r>
              <a:rPr lang="en-US" sz="2600" b="1" dirty="0">
                <a:solidFill>
                  <a:schemeClr val="accent6"/>
                </a:solidFill>
                <a:latin typeface="Cambria" pitchFamily="34" charset="0"/>
                <a:ea typeface="Cambria" pitchFamily="34" charset="-122"/>
                <a:cs typeface="Cambria" pitchFamily="34" charset="-120"/>
              </a:rPr>
              <a:t>64 variants</a:t>
            </a:r>
            <a:endParaRPr lang="en-US" sz="2600" dirty="0"/>
          </a:p>
        </p:txBody>
      </p:sp>
      <p:sp>
        <p:nvSpPr>
          <p:cNvPr id="10" name="stat-label"/>
          <p:cNvSpPr txBox="1"/>
          <p:nvPr/>
        </p:nvSpPr>
        <p:spPr>
          <a:xfrm>
            <a:off x="8046720" y="4837176"/>
            <a:ext cx="3611880" cy="548640"/>
          </a:xfrm>
          <a:prstGeom prst="rect">
            <a:avLst/>
          </a:prstGeom>
          <a:noFill/>
          <a:ln/>
        </p:spPr>
        <p:txBody>
          <a:bodyPr wrap="square" lIns="0" tIns="0" rIns="0" bIns="0" rtlCol="0" anchor="t"/>
          <a:lstStyle/>
          <a:p>
            <a:pPr indent="0" marL="0">
              <a:buNone/>
            </a:pPr>
            <a:r>
              <a:rPr lang="en-US" sz="1250" dirty="0">
                <a:solidFill>
                  <a:schemeClr val="tx1"/>
                </a:solidFill>
              </a:rPr>
              <a:t>16 structures × 4 seeds for the benchmark (slide 12)</a:t>
            </a:r>
            <a:endParaRPr lang="en-US" sz="1250" dirty="0"/>
          </a:p>
        </p:txBody>
      </p:sp>
      <p:sp>
        <p:nvSpPr>
          <p:cNvPr id="11" name="takeaway-bg"/>
          <p:cNvSpPr/>
          <p:nvPr/>
        </p:nvSpPr>
        <p:spPr>
          <a:xfrm>
            <a:off x="548640" y="5577840"/>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60136"/>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743529"/>
            <a:ext cx="180685" cy="180685"/>
          </a:xfrm>
          <a:prstGeom prst="rect">
            <a:avLst/>
          </a:prstGeom>
        </p:spPr>
      </p:pic>
      <p:sp>
        <p:nvSpPr>
          <p:cNvPr id="14" name="takeaway"/>
          <p:cNvSpPr txBox="1"/>
          <p:nvPr/>
        </p:nvSpPr>
        <p:spPr>
          <a:xfrm>
            <a:off x="1170432" y="55778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The VQC is the noisy workload under study, not a competitor to classical fraud models.</a:t>
            </a:r>
            <a:endParaRPr lang="en-US" sz="1550" dirty="0"/>
          </a:p>
        </p:txBody>
      </p:sp>
      <p:sp>
        <p:nvSpPr>
          <p:cNvPr id="15"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configs/repair/p3ar_v1.yaml, p5a_pool_metrics.csv, p3ar_validation_comparison.csv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1  ·  PUBLIC EUROPEAN CREDIT-CARD FRAUD DATA  ·  COMPLETED OCTOBER 6,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Dataset and leakage-safe preprocessing</a:t>
            </a:r>
            <a:endParaRPr lang="en-US" sz="2800" dirty="0"/>
          </a:p>
        </p:txBody>
      </p:sp>
      <p:sp>
        <p:nvSpPr>
          <p:cNvPr id="4" name="flow-box-0"/>
          <p:cNvSpPr/>
          <p:nvPr/>
        </p:nvSpPr>
        <p:spPr>
          <a:xfrm>
            <a:off x="548640" y="1325880"/>
            <a:ext cx="2554148" cy="868680"/>
          </a:xfrm>
          <a:prstGeom prst="roundRect">
            <a:avLst>
              <a:gd name="adj" fmla="val 7368"/>
            </a:avLst>
          </a:prstGeom>
          <a:solidFill>
            <a:srgbClr val="EEF2F7"/>
          </a:solidFill>
          <a:ln w="6350">
            <a:solidFill>
              <a:srgbClr val="EEF2F7"/>
            </a:solidFill>
            <a:prstDash val="solid"/>
          </a:ln>
        </p:spPr>
      </p:sp>
      <p:sp>
        <p:nvSpPr>
          <p:cNvPr id="5" name="flow-text-0"/>
          <p:cNvSpPr txBox="1"/>
          <p:nvPr/>
        </p:nvSpPr>
        <p:spPr>
          <a:xfrm>
            <a:off x="621792"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284,807 transactions</a:t>
            </a:r>
            <a:endParaRPr lang="en-US" sz="1400" dirty="0"/>
          </a:p>
          <a:p>
            <a:pPr algn="ctr" indent="0" marL="0">
              <a:buNone/>
            </a:pPr>
            <a:r>
              <a:rPr lang="en-US" sz="1200" dirty="0">
                <a:solidFill>
                  <a:schemeClr val="tx1"/>
                </a:solidFill>
              </a:rPr>
              <a:t>492 frauds</a:t>
            </a:r>
            <a:endParaRPr lang="en-US" sz="1400" dirty="0"/>
          </a:p>
        </p:txBody>
      </p:sp>
      <p:sp>
        <p:nvSpPr>
          <p:cNvPr id="6" name="flow-arrow-0"/>
          <p:cNvSpPr/>
          <p:nvPr/>
        </p:nvSpPr>
        <p:spPr>
          <a:xfrm>
            <a:off x="3139364" y="1659636"/>
            <a:ext cx="219456" cy="201168"/>
          </a:xfrm>
          <a:prstGeom prst="rightArrow">
            <a:avLst/>
          </a:prstGeom>
          <a:solidFill>
            <a:srgbClr val="6B7280"/>
          </a:solidFill>
          <a:ln w="12700">
            <a:solidFill>
              <a:srgbClr val="6B7280"/>
            </a:solidFill>
            <a:prstDash val="solid"/>
          </a:ln>
        </p:spPr>
      </p:sp>
      <p:sp>
        <p:nvSpPr>
          <p:cNvPr id="7" name="flow-box-1"/>
          <p:cNvSpPr/>
          <p:nvPr/>
        </p:nvSpPr>
        <p:spPr>
          <a:xfrm>
            <a:off x="3395396" y="1325880"/>
            <a:ext cx="2554148" cy="868680"/>
          </a:xfrm>
          <a:prstGeom prst="roundRect">
            <a:avLst>
              <a:gd name="adj" fmla="val 7368"/>
            </a:avLst>
          </a:prstGeom>
          <a:solidFill>
            <a:srgbClr val="EEF2F7"/>
          </a:solidFill>
          <a:ln w="6350">
            <a:solidFill>
              <a:srgbClr val="EEF2F7"/>
            </a:solidFill>
            <a:prstDash val="solid"/>
          </a:ln>
        </p:spPr>
      </p:sp>
      <p:sp>
        <p:nvSpPr>
          <p:cNvPr id="8" name="flow-text-1"/>
          <p:cNvSpPr txBox="1"/>
          <p:nvPr/>
        </p:nvSpPr>
        <p:spPr>
          <a:xfrm>
            <a:off x="3468548"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Exact deduplication</a:t>
            </a:r>
            <a:endParaRPr lang="en-US" sz="1400" dirty="0"/>
          </a:p>
          <a:p>
            <a:pPr algn="ctr" indent="0" marL="0">
              <a:buNone/>
            </a:pPr>
            <a:r>
              <a:rPr lang="en-US" sz="1200" dirty="0">
                <a:solidFill>
                  <a:schemeClr val="tx1"/>
                </a:solidFill>
              </a:rPr>
              <a:t>1,081 duplicate rows removed (773 groups)</a:t>
            </a:r>
            <a:endParaRPr lang="en-US" sz="1400" dirty="0"/>
          </a:p>
        </p:txBody>
      </p:sp>
      <p:sp>
        <p:nvSpPr>
          <p:cNvPr id="9" name="flow-arrow-1"/>
          <p:cNvSpPr/>
          <p:nvPr/>
        </p:nvSpPr>
        <p:spPr>
          <a:xfrm>
            <a:off x="5986120" y="1659636"/>
            <a:ext cx="219456" cy="201168"/>
          </a:xfrm>
          <a:prstGeom prst="rightArrow">
            <a:avLst/>
          </a:prstGeom>
          <a:solidFill>
            <a:srgbClr val="6B7280"/>
          </a:solidFill>
          <a:ln w="12700">
            <a:solidFill>
              <a:srgbClr val="6B7280"/>
            </a:solidFill>
            <a:prstDash val="solid"/>
          </a:ln>
        </p:spPr>
      </p:sp>
      <p:sp>
        <p:nvSpPr>
          <p:cNvPr id="10" name="flow-box-2"/>
          <p:cNvSpPr/>
          <p:nvPr/>
        </p:nvSpPr>
        <p:spPr>
          <a:xfrm>
            <a:off x="6242152" y="1325880"/>
            <a:ext cx="2554148" cy="868680"/>
          </a:xfrm>
          <a:prstGeom prst="roundRect">
            <a:avLst>
              <a:gd name="adj" fmla="val 7368"/>
            </a:avLst>
          </a:prstGeom>
          <a:solidFill>
            <a:srgbClr val="EEF2F7"/>
          </a:solidFill>
          <a:ln w="6350">
            <a:solidFill>
              <a:srgbClr val="EEF2F7"/>
            </a:solidFill>
            <a:prstDash val="solid"/>
          </a:ln>
        </p:spPr>
      </p:sp>
      <p:sp>
        <p:nvSpPr>
          <p:cNvPr id="11" name="flow-text-2"/>
          <p:cNvSpPr txBox="1"/>
          <p:nvPr/>
        </p:nvSpPr>
        <p:spPr>
          <a:xfrm>
            <a:off x="6315304"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283,726 rows</a:t>
            </a:r>
            <a:endParaRPr lang="en-US" sz="1400" dirty="0"/>
          </a:p>
          <a:p>
            <a:pPr algn="ctr" indent="0" marL="0">
              <a:buNone/>
            </a:pPr>
            <a:r>
              <a:rPr lang="en-US" sz="1200" dirty="0">
                <a:solidFill>
                  <a:schemeClr val="tx1"/>
                </a:solidFill>
              </a:rPr>
              <a:t>473 frauds · 0.17%</a:t>
            </a:r>
            <a:endParaRPr lang="en-US" sz="1400" dirty="0"/>
          </a:p>
        </p:txBody>
      </p:sp>
      <p:sp>
        <p:nvSpPr>
          <p:cNvPr id="12" name="flow-arrow-2"/>
          <p:cNvSpPr/>
          <p:nvPr/>
        </p:nvSpPr>
        <p:spPr>
          <a:xfrm>
            <a:off x="8832875" y="1659636"/>
            <a:ext cx="219456" cy="201168"/>
          </a:xfrm>
          <a:prstGeom prst="rightArrow">
            <a:avLst/>
          </a:prstGeom>
          <a:solidFill>
            <a:srgbClr val="6B7280"/>
          </a:solidFill>
          <a:ln w="12700">
            <a:solidFill>
              <a:srgbClr val="6B7280"/>
            </a:solidFill>
            <a:prstDash val="solid"/>
          </a:ln>
        </p:spPr>
      </p:sp>
      <p:sp>
        <p:nvSpPr>
          <p:cNvPr id="13" name="flow-box-3"/>
          <p:cNvSpPr/>
          <p:nvPr/>
        </p:nvSpPr>
        <p:spPr>
          <a:xfrm>
            <a:off x="9088907" y="1325880"/>
            <a:ext cx="2554148" cy="868680"/>
          </a:xfrm>
          <a:prstGeom prst="roundRect">
            <a:avLst>
              <a:gd name="adj" fmla="val 7368"/>
            </a:avLst>
          </a:prstGeom>
          <a:solidFill>
            <a:srgbClr val="D7EEEE"/>
          </a:solidFill>
          <a:ln w="6350">
            <a:solidFill>
              <a:srgbClr val="D7EEEE"/>
            </a:solidFill>
            <a:prstDash val="solid"/>
          </a:ln>
        </p:spPr>
      </p:sp>
      <p:sp>
        <p:nvSpPr>
          <p:cNvPr id="14" name="flow-text-3"/>
          <p:cNvSpPr txBox="1"/>
          <p:nvPr/>
        </p:nvSpPr>
        <p:spPr>
          <a:xfrm>
            <a:off x="9162059"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Group-aware split</a:t>
            </a:r>
            <a:endParaRPr lang="en-US" sz="1400" dirty="0"/>
          </a:p>
          <a:p>
            <a:pPr algn="ctr" indent="0" marL="0">
              <a:buNone/>
            </a:pPr>
            <a:r>
              <a:rPr lang="en-US" sz="1200" dirty="0">
                <a:solidFill>
                  <a:schemeClr val="tx1"/>
                </a:solidFill>
              </a:rPr>
              <a:t>0 groups cross partitions</a:t>
            </a:r>
            <a:endParaRPr lang="en-US" sz="14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2468880"/>
          <a:ext cx="7498080" cy="914400"/>
        </p:xfrm>
        <a:graphic>
          <a:graphicData uri="http://schemas.openxmlformats.org/drawingml/2006/table">
            <a:tbl>
              <a:tblPr/>
              <a:tblGrid>
                <a:gridCol w="2011680"/>
                <a:gridCol w="1097280"/>
                <a:gridCol w="914400"/>
                <a:gridCol w="3474720"/>
              </a:tblGrid>
              <a:tr h="0">
                <a:tc>
                  <a:txBody>
                    <a:bodyPr/>
                    <a:lstStyle/>
                    <a:p>
                      <a:pPr indent="0" marL="0">
                        <a:buNone/>
                      </a:pPr>
                      <a:r>
                        <a:rPr lang="en-US" sz="1300" b="1" dirty="0">
                          <a:solidFill>
                            <a:srgbClr val="FFFFFF"/>
                          </a:solidFill>
                        </a:rPr>
                        <a:t>Partition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Rows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Frauds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Used for</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300" dirty="0">
                          <a:solidFill>
                            <a:srgbClr val="1A1F2B"/>
                          </a:solidFill>
                        </a:rPr>
                        <a:t>VQC train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127,677</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213</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fitting every VQC and the preprocessing</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VQC validation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28,372</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47</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qualification, thresholds, characterization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Controller train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42,559</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71</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policy fitting (training models)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Controller validation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28,372</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47</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policy validation (validation models)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b="1" dirty="0">
                          <a:solidFill>
                            <a:srgbClr val="1A1F2B"/>
                          </a:solidFill>
                        </a:rPr>
                        <a:t>Controller test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56,746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95</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A1F2B"/>
                          </a:solidFill>
                        </a:rPr>
                        <a:t>sealed; opened once (test models)</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16" name="card-bg"/>
          <p:cNvSpPr/>
          <p:nvPr/>
        </p:nvSpPr>
        <p:spPr>
          <a:xfrm>
            <a:off x="8275320" y="2468880"/>
            <a:ext cx="3383280" cy="2331720"/>
          </a:xfrm>
          <a:prstGeom prst="roundRect">
            <a:avLst>
              <a:gd name="adj" fmla="val 2745"/>
            </a:avLst>
          </a:prstGeom>
          <a:solidFill>
            <a:srgbClr val="E3F2F1"/>
          </a:solidFill>
          <a:ln w="6350">
            <a:solidFill>
              <a:srgbClr val="E3F2F1"/>
            </a:solidFill>
            <a:prstDash val="solid"/>
          </a:ln>
        </p:spPr>
      </p:sp>
      <p:sp>
        <p:nvSpPr>
          <p:cNvPr id="17" name="card-text"/>
          <p:cNvSpPr txBox="1"/>
          <p:nvPr/>
        </p:nvSpPr>
        <p:spPr>
          <a:xfrm>
            <a:off x="8458200" y="2596896"/>
            <a:ext cx="3017520" cy="21122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Leakage controls</a:t>
            </a:r>
            <a:endParaRPr lang="en-US" sz="1550" dirty="0"/>
          </a:p>
          <a:p>
            <a:pPr marL="177800" indent="-177800">
              <a:spcAft>
                <a:spcPts val="400"/>
              </a:spcAft>
              <a:buSzPct val="100000"/>
              <a:buChar char="•"/>
            </a:pPr>
            <a:r>
              <a:rPr lang="en-US" sz="1300" dirty="0">
                <a:solidFill>
                  <a:schemeClr val="tx1"/>
                </a:solidFill>
              </a:rPr>
              <a:t>Preprocessing fitted on VQC train only</a:t>
            </a:r>
            <a:endParaRPr lang="en-US" sz="1550" dirty="0"/>
          </a:p>
          <a:p>
            <a:pPr marL="177800" indent="-177800">
              <a:spcAft>
                <a:spcPts val="400"/>
              </a:spcAft>
              <a:buSzPct val="100000"/>
              <a:buChar char="•"/>
            </a:pPr>
            <a:r>
              <a:rPr lang="en-US" sz="1300" dirty="0">
                <a:solidFill>
                  <a:schemeClr val="tx1"/>
                </a:solidFill>
              </a:rPr>
              <a:t>Offline-only: true noise, labels, IDs</a:t>
            </a:r>
            <a:endParaRPr lang="en-US" sz="1550" dirty="0"/>
          </a:p>
          <a:p>
            <a:pPr marL="177800" indent="-177800">
              <a:spcAft>
                <a:spcPts val="400"/>
              </a:spcAft>
              <a:buSzPct val="100000"/>
              <a:buChar char="•"/>
            </a:pPr>
            <a:r>
              <a:rPr lang="en-US" sz="1300" dirty="0">
                <a:solidFill>
                  <a:schemeClr val="tx1"/>
                </a:solidFill>
              </a:rPr>
              <a:t>Feature registry + automated tests</a:t>
            </a:r>
            <a:endParaRPr lang="en-US" sz="1550" dirty="0"/>
          </a:p>
        </p:txBody>
      </p:sp>
      <p:sp>
        <p:nvSpPr>
          <p:cNvPr id="18" name="takeaway-bg"/>
          <p:cNvSpPr/>
          <p:nvPr/>
        </p:nvSpPr>
        <p:spPr>
          <a:xfrm>
            <a:off x="548640" y="5074920"/>
            <a:ext cx="11094415" cy="512064"/>
          </a:xfrm>
          <a:prstGeom prst="roundRect">
            <a:avLst>
              <a:gd name="adj" fmla="val 12500"/>
            </a:avLst>
          </a:prstGeom>
          <a:solidFill>
            <a:srgbClr val="E3F2F1"/>
          </a:solidFill>
          <a:ln w="6350">
            <a:solidFill>
              <a:srgbClr val="E3F2F1"/>
            </a:solidFill>
            <a:prstDash val="solid"/>
          </a:ln>
        </p:spPr>
      </p:sp>
      <p:sp>
        <p:nvSpPr>
          <p:cNvPr id="19" name="takeaway-icon-circle"/>
          <p:cNvSpPr/>
          <p:nvPr/>
        </p:nvSpPr>
        <p:spPr>
          <a:xfrm>
            <a:off x="676656" y="5157216"/>
            <a:ext cx="347472" cy="347472"/>
          </a:xfrm>
          <a:prstGeom prst="ellipse">
            <a:avLst/>
          </a:prstGeom>
          <a:solidFill>
            <a:srgbClr val="0F8B8D"/>
          </a:solidFill>
          <a:ln w="12700">
            <a:solidFill>
              <a:srgbClr val="0F8B8D"/>
            </a:solidFill>
            <a:prstDash val="solid"/>
          </a:ln>
        </p:spPr>
      </p:sp>
      <p:pic>
        <p:nvPicPr>
          <p:cNvPr id="20" name="takeaway-icon" descr="preencoded.png">    </p:cNvPr>
          <p:cNvPicPr>
            <a:picLocks noChangeAspect="1"/>
          </p:cNvPicPr>
          <p:nvPr/>
        </p:nvPicPr>
        <p:blipFill>
          <a:blip r:embed="rId1"/>
          <a:stretch>
            <a:fillRect/>
          </a:stretch>
        </p:blipFill>
        <p:spPr>
          <a:xfrm>
            <a:off x="760049" y="5240609"/>
            <a:ext cx="180685" cy="180685"/>
          </a:xfrm>
          <a:prstGeom prst="rect">
            <a:avLst/>
          </a:prstGeom>
        </p:spPr>
      </p:pic>
      <p:sp>
        <p:nvSpPr>
          <p:cNvPr id="21" name="takeaway"/>
          <p:cNvSpPr txBox="1"/>
          <p:nvPr/>
        </p:nvSpPr>
        <p:spPr>
          <a:xfrm>
            <a:off x="1170432" y="50749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Five disjoint, group-aware partitions; the controller test stayed sealed until the end.</a:t>
            </a:r>
            <a:endParaRPr lang="en-US" sz="1550" dirty="0"/>
          </a:p>
        </p:txBody>
      </p:sp>
      <p:sp>
        <p:nvSpPr>
          <p:cNvPr id="22" name="source"/>
          <p:cNvSpPr txBox="1"/>
          <p:nvPr/>
        </p:nvSpPr>
        <p:spPr>
          <a:xfrm>
            <a:off x="548640" y="57607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ulb_v1_dataset_summary.csv, ulb_v1_phase1_metadata.json</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QISKIT AER DENSITY MATRICES  ·  REGISTERED ANCHOR SEVERITIES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Noise models</a:t>
            </a:r>
            <a:endParaRPr lang="en-US" sz="2800" dirty="0"/>
          </a:p>
        </p:txBody>
      </p:sp>
      <p:sp>
        <p:nvSpPr>
          <p:cNvPr id="4" name="n-0"/>
          <p:cNvSpPr/>
          <p:nvPr/>
        </p:nvSpPr>
        <p:spPr>
          <a:xfrm>
            <a:off x="548640" y="1371600"/>
            <a:ext cx="5120640" cy="868680"/>
          </a:xfrm>
          <a:prstGeom prst="roundRect">
            <a:avLst>
              <a:gd name="adj" fmla="val 7368"/>
            </a:avLst>
          </a:prstGeom>
          <a:solidFill>
            <a:srgbClr val="EEF2F7"/>
          </a:solidFill>
          <a:ln w="6350">
            <a:solidFill>
              <a:srgbClr val="EEF2F7"/>
            </a:solidFill>
            <a:prstDash val="solid"/>
          </a:ln>
        </p:spPr>
      </p:sp>
      <p:sp>
        <p:nvSpPr>
          <p:cNvPr id="5" name="n-icon-0-circle"/>
          <p:cNvSpPr/>
          <p:nvPr/>
        </p:nvSpPr>
        <p:spPr>
          <a:xfrm>
            <a:off x="713232" y="1508760"/>
            <a:ext cx="594360" cy="594360"/>
          </a:xfrm>
          <a:prstGeom prst="ellipse">
            <a:avLst/>
          </a:prstGeom>
          <a:solidFill>
            <a:srgbClr val="1B2A49"/>
          </a:solidFill>
          <a:ln w="12700">
            <a:solidFill>
              <a:srgbClr val="1B2A49"/>
            </a:solidFill>
            <a:prstDash val="solid"/>
          </a:ln>
        </p:spPr>
      </p:sp>
      <p:pic>
        <p:nvPicPr>
          <p:cNvPr id="6" name="n-icon-0" descr="preencoded.png">    </p:cNvPr>
          <p:cNvPicPr>
            <a:picLocks noChangeAspect="1"/>
          </p:cNvPicPr>
          <p:nvPr/>
        </p:nvPicPr>
        <p:blipFill>
          <a:blip r:embed="rId1"/>
          <a:stretch>
            <a:fillRect/>
          </a:stretch>
        </p:blipFill>
        <p:spPr>
          <a:xfrm>
            <a:off x="855878" y="1651406"/>
            <a:ext cx="309067" cy="309067"/>
          </a:xfrm>
          <a:prstGeom prst="rect">
            <a:avLst/>
          </a:prstGeom>
        </p:spPr>
      </p:pic>
      <p:sp>
        <p:nvSpPr>
          <p:cNvPr id="7" name="Text 4"/>
          <p:cNvSpPr txBox="1"/>
          <p:nvPr/>
        </p:nvSpPr>
        <p:spPr>
          <a:xfrm>
            <a:off x="1463040" y="1371600"/>
            <a:ext cx="4114800" cy="868680"/>
          </a:xfrm>
          <a:prstGeom prst="rect">
            <a:avLst/>
          </a:prstGeom>
          <a:noFill/>
          <a:ln/>
        </p:spPr>
        <p:txBody>
          <a:bodyPr wrap="square" lIns="0" tIns="0" rIns="0" bIns="0" rtlCol="0" anchor="ctr"/>
          <a:lstStyle/>
          <a:p>
            <a:pPr indent="0" marL="0">
              <a:buNone/>
            </a:pPr>
            <a:r>
              <a:rPr lang="en-US" sz="1500" b="1" dirty="0">
                <a:solidFill>
                  <a:schemeClr val="tx2"/>
                </a:solidFill>
              </a:rPr>
              <a:t>Depolarizing</a:t>
            </a:r>
            <a:endParaRPr lang="en-US" sz="1400" dirty="0"/>
          </a:p>
          <a:p>
            <a:pPr indent="0" marL="0">
              <a:buNone/>
            </a:pPr>
            <a:r>
              <a:rPr lang="en-US" sz="1300" dirty="0">
                <a:solidFill>
                  <a:schemeClr val="tx1"/>
                </a:solidFill>
              </a:rPr>
              <a:t>two-qubit error 0.005–0.020</a:t>
            </a:r>
            <a:endParaRPr lang="en-US" sz="1400" dirty="0"/>
          </a:p>
        </p:txBody>
      </p:sp>
      <p:sp>
        <p:nvSpPr>
          <p:cNvPr id="8" name="n-1"/>
          <p:cNvSpPr/>
          <p:nvPr/>
        </p:nvSpPr>
        <p:spPr>
          <a:xfrm>
            <a:off x="548640" y="2359152"/>
            <a:ext cx="5120640" cy="868680"/>
          </a:xfrm>
          <a:prstGeom prst="roundRect">
            <a:avLst>
              <a:gd name="adj" fmla="val 7368"/>
            </a:avLst>
          </a:prstGeom>
          <a:solidFill>
            <a:srgbClr val="EEF2F7"/>
          </a:solidFill>
          <a:ln w="6350">
            <a:solidFill>
              <a:srgbClr val="EEF2F7"/>
            </a:solidFill>
            <a:prstDash val="solid"/>
          </a:ln>
        </p:spPr>
      </p:sp>
      <p:sp>
        <p:nvSpPr>
          <p:cNvPr id="9" name="n-icon-1-circle"/>
          <p:cNvSpPr/>
          <p:nvPr/>
        </p:nvSpPr>
        <p:spPr>
          <a:xfrm>
            <a:off x="713232" y="2496312"/>
            <a:ext cx="594360" cy="594360"/>
          </a:xfrm>
          <a:prstGeom prst="ellipse">
            <a:avLst/>
          </a:prstGeom>
          <a:solidFill>
            <a:srgbClr val="1B2A49"/>
          </a:solidFill>
          <a:ln w="12700">
            <a:solidFill>
              <a:srgbClr val="1B2A49"/>
            </a:solidFill>
            <a:prstDash val="solid"/>
          </a:ln>
        </p:spPr>
      </p:sp>
      <p:pic>
        <p:nvPicPr>
          <p:cNvPr id="10" name="n-icon-1" descr="preencoded.png">    </p:cNvPr>
          <p:cNvPicPr>
            <a:picLocks noChangeAspect="1"/>
          </p:cNvPicPr>
          <p:nvPr/>
        </p:nvPicPr>
        <p:blipFill>
          <a:blip r:embed="rId2"/>
          <a:stretch>
            <a:fillRect/>
          </a:stretch>
        </p:blipFill>
        <p:spPr>
          <a:xfrm>
            <a:off x="855878" y="2638958"/>
            <a:ext cx="309067" cy="309067"/>
          </a:xfrm>
          <a:prstGeom prst="rect">
            <a:avLst/>
          </a:prstGeom>
        </p:spPr>
      </p:pic>
      <p:sp>
        <p:nvSpPr>
          <p:cNvPr id="11" name="Text 7"/>
          <p:cNvSpPr txBox="1"/>
          <p:nvPr/>
        </p:nvSpPr>
        <p:spPr>
          <a:xfrm>
            <a:off x="1463040" y="2359152"/>
            <a:ext cx="4114800" cy="868680"/>
          </a:xfrm>
          <a:prstGeom prst="rect">
            <a:avLst/>
          </a:prstGeom>
          <a:noFill/>
          <a:ln/>
        </p:spPr>
        <p:txBody>
          <a:bodyPr wrap="square" lIns="0" tIns="0" rIns="0" bIns="0" rtlCol="0" anchor="ctr"/>
          <a:lstStyle/>
          <a:p>
            <a:pPr indent="0" marL="0">
              <a:buNone/>
            </a:pPr>
            <a:r>
              <a:rPr lang="en-US" sz="1500" b="1" dirty="0">
                <a:solidFill>
                  <a:schemeClr val="tx2"/>
                </a:solidFill>
              </a:rPr>
              <a:t>Thermal relaxation</a:t>
            </a:r>
            <a:endParaRPr lang="en-US" sz="1400" dirty="0"/>
          </a:p>
          <a:p>
            <a:pPr indent="0" marL="0">
              <a:buNone/>
            </a:pPr>
            <a:r>
              <a:rPr lang="en-US" sz="1300" dirty="0">
                <a:solidFill>
                  <a:schemeClr val="tx1"/>
                </a:solidFill>
              </a:rPr>
              <a:t>T₁ 200 → 50 µs</a:t>
            </a:r>
            <a:endParaRPr lang="en-US" sz="1400" dirty="0"/>
          </a:p>
        </p:txBody>
      </p:sp>
      <p:sp>
        <p:nvSpPr>
          <p:cNvPr id="12" name="n-2"/>
          <p:cNvSpPr/>
          <p:nvPr/>
        </p:nvSpPr>
        <p:spPr>
          <a:xfrm>
            <a:off x="548640" y="3346704"/>
            <a:ext cx="5120640" cy="868680"/>
          </a:xfrm>
          <a:prstGeom prst="roundRect">
            <a:avLst>
              <a:gd name="adj" fmla="val 7368"/>
            </a:avLst>
          </a:prstGeom>
          <a:solidFill>
            <a:srgbClr val="EEF2F7"/>
          </a:solidFill>
          <a:ln w="6350">
            <a:solidFill>
              <a:srgbClr val="EEF2F7"/>
            </a:solidFill>
            <a:prstDash val="solid"/>
          </a:ln>
        </p:spPr>
      </p:sp>
      <p:sp>
        <p:nvSpPr>
          <p:cNvPr id="13" name="n-icon-2-circle"/>
          <p:cNvSpPr/>
          <p:nvPr/>
        </p:nvSpPr>
        <p:spPr>
          <a:xfrm>
            <a:off x="713232" y="3483864"/>
            <a:ext cx="594360" cy="594360"/>
          </a:xfrm>
          <a:prstGeom prst="ellipse">
            <a:avLst/>
          </a:prstGeom>
          <a:solidFill>
            <a:srgbClr val="1B2A49"/>
          </a:solidFill>
          <a:ln w="12700">
            <a:solidFill>
              <a:srgbClr val="1B2A49"/>
            </a:solidFill>
            <a:prstDash val="solid"/>
          </a:ln>
        </p:spPr>
      </p:sp>
      <p:pic>
        <p:nvPicPr>
          <p:cNvPr id="14" name="n-icon-2" descr="preencoded.png">    </p:cNvPr>
          <p:cNvPicPr>
            <a:picLocks noChangeAspect="1"/>
          </p:cNvPicPr>
          <p:nvPr/>
        </p:nvPicPr>
        <p:blipFill>
          <a:blip r:embed="rId3"/>
          <a:stretch>
            <a:fillRect/>
          </a:stretch>
        </p:blipFill>
        <p:spPr>
          <a:xfrm>
            <a:off x="855878" y="3626510"/>
            <a:ext cx="309067" cy="309067"/>
          </a:xfrm>
          <a:prstGeom prst="rect">
            <a:avLst/>
          </a:prstGeom>
        </p:spPr>
      </p:pic>
      <p:sp>
        <p:nvSpPr>
          <p:cNvPr id="15" name="Text 10"/>
          <p:cNvSpPr txBox="1"/>
          <p:nvPr/>
        </p:nvSpPr>
        <p:spPr>
          <a:xfrm>
            <a:off x="1463040" y="3346704"/>
            <a:ext cx="4114800" cy="868680"/>
          </a:xfrm>
          <a:prstGeom prst="rect">
            <a:avLst/>
          </a:prstGeom>
          <a:noFill/>
          <a:ln/>
        </p:spPr>
        <p:txBody>
          <a:bodyPr wrap="square" lIns="0" tIns="0" rIns="0" bIns="0" rtlCol="0" anchor="ctr"/>
          <a:lstStyle/>
          <a:p>
            <a:pPr indent="0" marL="0">
              <a:buNone/>
            </a:pPr>
            <a:r>
              <a:rPr lang="en-US" sz="1500" b="1" dirty="0">
                <a:solidFill>
                  <a:schemeClr val="tx2"/>
                </a:solidFill>
              </a:rPr>
              <a:t>Readout confusion</a:t>
            </a:r>
            <a:endParaRPr lang="en-US" sz="1400" dirty="0"/>
          </a:p>
          <a:p>
            <a:pPr indent="0" marL="0">
              <a:buNone/>
            </a:pPr>
            <a:r>
              <a:rPr lang="en-US" sz="1300" dirty="0">
                <a:solidFill>
                  <a:schemeClr val="tx1"/>
                </a:solidFill>
              </a:rPr>
              <a:t>flip probability 0.005–0.05</a:t>
            </a:r>
            <a:endParaRPr lang="en-US" sz="1400" dirty="0"/>
          </a:p>
        </p:txBody>
      </p:sp>
      <p:pic>
        <p:nvPicPr>
          <p:cNvPr id="16" name="fig3_noise_effects.png" descr="/Users/mayankpokhriyal/Workspaces/q-trace/deliverables/figures/fig3_noise_effects.png">    </p:cNvPr>
          <p:cNvPicPr>
            <a:picLocks noChangeAspect="1"/>
          </p:cNvPicPr>
          <p:nvPr/>
        </p:nvPicPr>
        <p:blipFill>
          <a:blip r:embed="rId4"/>
          <a:stretch>
            <a:fillRect/>
          </a:stretch>
        </p:blipFill>
        <p:spPr>
          <a:xfrm>
            <a:off x="5897880" y="1690138"/>
            <a:ext cx="5760720" cy="2289004"/>
          </a:xfrm>
          <a:prstGeom prst="rect">
            <a:avLst/>
          </a:prstGeom>
        </p:spPr>
      </p:pic>
      <p:sp>
        <p:nvSpPr>
          <p:cNvPr id="17" name="stat-value"/>
          <p:cNvSpPr txBox="1"/>
          <p:nvPr/>
        </p:nvSpPr>
        <p:spPr>
          <a:xfrm>
            <a:off x="548640" y="4434840"/>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 0.003</a:t>
            </a:r>
            <a:endParaRPr lang="en-US" sz="2600" dirty="0"/>
          </a:p>
        </p:txBody>
      </p:sp>
      <p:sp>
        <p:nvSpPr>
          <p:cNvPr id="18" name="stat-label"/>
          <p:cNvSpPr txBox="1"/>
          <p:nvPr/>
        </p:nvSpPr>
        <p:spPr>
          <a:xfrm>
            <a:off x="548640" y="4928616"/>
            <a:ext cx="2560320" cy="365760"/>
          </a:xfrm>
          <a:prstGeom prst="rect">
            <a:avLst/>
          </a:prstGeom>
          <a:noFill/>
          <a:ln/>
        </p:spPr>
        <p:txBody>
          <a:bodyPr wrap="square" lIns="0" tIns="0" rIns="0" bIns="0" rtlCol="0" anchor="t"/>
          <a:lstStyle/>
          <a:p>
            <a:pPr indent="0" marL="0">
              <a:buNone/>
            </a:pPr>
            <a:r>
              <a:rPr lang="en-US" sz="1250" dirty="0">
                <a:solidFill>
                  <a:schemeClr val="tx1"/>
                </a:solidFill>
              </a:rPr>
              <a:t>change in AUPRC</a:t>
            </a:r>
            <a:endParaRPr lang="en-US" sz="1250" dirty="0"/>
          </a:p>
        </p:txBody>
      </p:sp>
      <p:sp>
        <p:nvSpPr>
          <p:cNvPr id="19" name="stat-value"/>
          <p:cNvSpPr txBox="1"/>
          <p:nvPr/>
        </p:nvSpPr>
        <p:spPr>
          <a:xfrm>
            <a:off x="3200400" y="4434840"/>
            <a:ext cx="2560320"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13×</a:t>
            </a:r>
            <a:endParaRPr lang="en-US" sz="2600" dirty="0"/>
          </a:p>
        </p:txBody>
      </p:sp>
      <p:sp>
        <p:nvSpPr>
          <p:cNvPr id="20" name="stat-label"/>
          <p:cNvSpPr txBox="1"/>
          <p:nvPr/>
        </p:nvSpPr>
        <p:spPr>
          <a:xfrm>
            <a:off x="3200400" y="4928616"/>
            <a:ext cx="2560320" cy="365760"/>
          </a:xfrm>
          <a:prstGeom prst="rect">
            <a:avLst/>
          </a:prstGeom>
          <a:noFill/>
          <a:ln/>
        </p:spPr>
        <p:txBody>
          <a:bodyPr wrap="square" lIns="0" tIns="0" rIns="0" bIns="0" rtlCol="0" anchor="t"/>
          <a:lstStyle/>
          <a:p>
            <a:pPr indent="0" marL="0">
              <a:buNone/>
            </a:pPr>
            <a:r>
              <a:rPr lang="en-US" sz="1250" dirty="0">
                <a:solidFill>
                  <a:schemeClr val="tx1"/>
                </a:solidFill>
              </a:rPr>
              <a:t>worse Brier (0.0093 → 0.121)</a:t>
            </a:r>
            <a:endParaRPr lang="en-US" sz="1250" dirty="0"/>
          </a:p>
        </p:txBody>
      </p:sp>
      <p:sp>
        <p:nvSpPr>
          <p:cNvPr id="21" name="card-bg"/>
          <p:cNvSpPr/>
          <p:nvPr/>
        </p:nvSpPr>
        <p:spPr>
          <a:xfrm>
            <a:off x="5897880" y="4434840"/>
            <a:ext cx="5760720" cy="777240"/>
          </a:xfrm>
          <a:prstGeom prst="roundRect">
            <a:avLst>
              <a:gd name="adj" fmla="val 8235"/>
            </a:avLst>
          </a:prstGeom>
          <a:solidFill>
            <a:srgbClr val="E3F2F1"/>
          </a:solidFill>
          <a:ln w="6350">
            <a:solidFill>
              <a:srgbClr val="E3F2F1"/>
            </a:solidFill>
            <a:prstDash val="solid"/>
          </a:ln>
        </p:spPr>
      </p:sp>
      <p:sp>
        <p:nvSpPr>
          <p:cNvPr id="22" name="card-text"/>
          <p:cNvSpPr txBox="1"/>
          <p:nvPr/>
        </p:nvSpPr>
        <p:spPr>
          <a:xfrm>
            <a:off x="6080760" y="4562856"/>
            <a:ext cx="5394960" cy="55778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5B: 8 near-categorical conditions · 5C: 17 gate settings (one gate-free) × 4 readout = 68 points</a:t>
            </a:r>
            <a:endParaRPr lang="en-US" sz="1250" dirty="0"/>
          </a:p>
        </p:txBody>
      </p:sp>
      <p:sp>
        <p:nvSpPr>
          <p:cNvPr id="23" name="takeaway-bg"/>
          <p:cNvSpPr/>
          <p:nvPr/>
        </p:nvSpPr>
        <p:spPr>
          <a:xfrm>
            <a:off x="548640" y="5394960"/>
            <a:ext cx="11094415" cy="512064"/>
          </a:xfrm>
          <a:prstGeom prst="roundRect">
            <a:avLst>
              <a:gd name="adj" fmla="val 12500"/>
            </a:avLst>
          </a:prstGeom>
          <a:solidFill>
            <a:srgbClr val="E3F2F1"/>
          </a:solidFill>
          <a:ln w="6350">
            <a:solidFill>
              <a:srgbClr val="E3F2F1"/>
            </a:solidFill>
            <a:prstDash val="solid"/>
          </a:ln>
        </p:spPr>
      </p:sp>
      <p:sp>
        <p:nvSpPr>
          <p:cNvPr id="24" name="takeaway-icon-circle"/>
          <p:cNvSpPr/>
          <p:nvPr/>
        </p:nvSpPr>
        <p:spPr>
          <a:xfrm>
            <a:off x="676656" y="5477256"/>
            <a:ext cx="347472" cy="347472"/>
          </a:xfrm>
          <a:prstGeom prst="ellipse">
            <a:avLst/>
          </a:prstGeom>
          <a:solidFill>
            <a:srgbClr val="0F8B8D"/>
          </a:solidFill>
          <a:ln w="12700">
            <a:solidFill>
              <a:srgbClr val="0F8B8D"/>
            </a:solidFill>
            <a:prstDash val="solid"/>
          </a:ln>
        </p:spPr>
      </p:sp>
      <p:pic>
        <p:nvPicPr>
          <p:cNvPr id="25" name="takeaway-icon" descr="preencoded.png">    </p:cNvPr>
          <p:cNvPicPr>
            <a:picLocks noChangeAspect="1"/>
          </p:cNvPicPr>
          <p:nvPr/>
        </p:nvPicPr>
        <p:blipFill>
          <a:blip r:embed="rId5"/>
          <a:stretch>
            <a:fillRect/>
          </a:stretch>
        </p:blipFill>
        <p:spPr>
          <a:xfrm>
            <a:off x="760049" y="5560649"/>
            <a:ext cx="180685" cy="180685"/>
          </a:xfrm>
          <a:prstGeom prst="rect">
            <a:avLst/>
          </a:prstGeom>
        </p:spPr>
      </p:pic>
      <p:sp>
        <p:nvSpPr>
          <p:cNvPr id="26" name="takeaway"/>
          <p:cNvSpPr txBox="1"/>
          <p:nvPr/>
        </p:nvSpPr>
        <p:spPr>
          <a:xfrm>
            <a:off x="1170432" y="539496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Noise damaged calibration, not discrimination.</a:t>
            </a:r>
            <a:endParaRPr lang="en-US" sz="1550" dirty="0"/>
          </a:p>
        </p:txBody>
      </p:sp>
      <p:sp>
        <p:nvSpPr>
          <p:cNvPr id="27" name="source"/>
          <p:cNvSpPr txBox="1"/>
          <p:nvPr/>
        </p:nvSpPr>
        <p:spPr>
          <a:xfrm>
            <a:off x="548640" y="605332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configs/noise/anchors_rr_v1.yaml, p5c_design.csv, p3b_exact_metrics.csv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4  ·  RESOURCE-MATCHED COMPARISON  ·  COMPLETED OCTOBER 7,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Error-mitigation methods</a:t>
            </a:r>
            <a:endParaRPr lang="en-US" sz="28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731520"/>
                <a:gridCol w="2834640"/>
                <a:gridCol w="1188720"/>
                <a:gridCol w="914400"/>
              </a:tblGrid>
              <a:tr h="0">
                <a:tc>
                  <a:txBody>
                    <a:bodyPr/>
                    <a:lstStyle/>
                    <a:p>
                      <a:pPr indent="0" marL="0">
                        <a:buNone/>
                      </a:pPr>
                      <a:r>
                        <a:rPr lang="en-US" sz="1200" b="1" dirty="0">
                          <a:solidFill>
                            <a:srgbClr val="FFFFFF"/>
                          </a:solidFill>
                        </a:rPr>
                        <a:t>Action</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Method</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Shots / inference</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00" b="1" dirty="0">
                          <a:solidFill>
                            <a:srgbClr val="FFFFFF"/>
                          </a:solidFill>
                        </a:rPr>
                        <a:t>CX exposure</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200" dirty="0">
                          <a:solidFill>
                            <a:srgbClr val="1A1F2B"/>
                          </a:solidFill>
                        </a:rPr>
                        <a:t>A0</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none</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S</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1×</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A1</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tensored readout inversion + simplex projection</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S + 2S/N</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1×</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A4</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 shots, unmitigated (resource-matched)</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A2</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ZNE: global folding λ = 1, 3, 5; linear fit</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9×</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00" dirty="0">
                          <a:solidFill>
                            <a:srgbClr val="1A1F2B"/>
                          </a:solidFill>
                        </a:rPr>
                        <a:t>A3</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readout mitigation + ZNE</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3S + 2S/N</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00" dirty="0">
                          <a:solidFill>
                            <a:srgbClr val="1A1F2B"/>
                          </a:solidFill>
                        </a:rPr>
                        <a:t>9×</a:t>
                      </a:r>
                      <a:endParaRPr lang="en-US" sz="12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5" name="caption"/>
          <p:cNvSpPr txBox="1"/>
          <p:nvPr/>
        </p:nvSpPr>
        <p:spPr>
          <a:xfrm>
            <a:off x="548640" y="3657600"/>
            <a:ext cx="5669280" cy="274320"/>
          </a:xfrm>
          <a:prstGeom prst="rect">
            <a:avLst/>
          </a:prstGeom>
          <a:noFill/>
          <a:ln/>
        </p:spPr>
        <p:txBody>
          <a:bodyPr wrap="square" lIns="0" tIns="0" rIns="0" bIns="0" rtlCol="0" anchor="t"/>
          <a:lstStyle/>
          <a:p>
            <a:pPr indent="0" marL="0">
              <a:buNone/>
            </a:pPr>
            <a:r>
              <a:rPr lang="en-US" sz="1050" i="1" dirty="0">
                <a:solidFill>
                  <a:schemeClr val="accent5"/>
                </a:solidFill>
              </a:rPr>
              <a:t>S = shots per circuit · N = transactions per batch</a:t>
            </a:r>
            <a:endParaRPr lang="en-US" sz="1050" dirty="0"/>
          </a:p>
        </p:txBody>
      </p:sp>
      <p:pic>
        <p:nvPicPr>
          <p:cNvPr id="6" name="fig4_mitigation.png" descr="/Users/mayankpokhriyal/Workspaces/q-trace/deliverables/figures/fig4_mitigation.png">    </p:cNvPr>
          <p:cNvPicPr>
            <a:picLocks noChangeAspect="1"/>
          </p:cNvPicPr>
          <p:nvPr/>
        </p:nvPicPr>
        <p:blipFill>
          <a:blip r:embed="rId1"/>
          <a:stretch>
            <a:fillRect/>
          </a:stretch>
        </p:blipFill>
        <p:spPr>
          <a:xfrm>
            <a:off x="6400800" y="1803139"/>
            <a:ext cx="5257800" cy="2245881"/>
          </a:xfrm>
          <a:prstGeom prst="rect">
            <a:avLst/>
          </a:prstGeom>
        </p:spPr>
      </p:pic>
      <p:sp>
        <p:nvSpPr>
          <p:cNvPr id="7" name="stat-value"/>
          <p:cNvSpPr txBox="1"/>
          <p:nvPr/>
        </p:nvSpPr>
        <p:spPr>
          <a:xfrm>
            <a:off x="548640" y="4069080"/>
            <a:ext cx="2743200" cy="422031"/>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0.122 → 0.054</a:t>
            </a:r>
            <a:endParaRPr lang="en-US" sz="2400" dirty="0"/>
          </a:p>
        </p:txBody>
      </p:sp>
      <p:sp>
        <p:nvSpPr>
          <p:cNvPr id="8" name="stat-label"/>
          <p:cNvSpPr txBox="1"/>
          <p:nvPr/>
        </p:nvSpPr>
        <p:spPr>
          <a:xfrm>
            <a:off x="548640" y="4527687"/>
            <a:ext cx="2743200" cy="457200"/>
          </a:xfrm>
          <a:prstGeom prst="rect">
            <a:avLst/>
          </a:prstGeom>
          <a:noFill/>
          <a:ln/>
        </p:spPr>
        <p:txBody>
          <a:bodyPr wrap="square" lIns="0" tIns="0" rIns="0" bIns="0" rtlCol="0" anchor="t"/>
          <a:lstStyle/>
          <a:p>
            <a:pPr indent="0" marL="0">
              <a:buNone/>
            </a:pPr>
            <a:r>
              <a:rPr lang="en-US" sz="1250" dirty="0">
                <a:solidFill>
                  <a:schemeClr val="tx1"/>
                </a:solidFill>
              </a:rPr>
              <a:t>Brier, combined-high, combined mitigation</a:t>
            </a:r>
            <a:endParaRPr lang="en-US" sz="1250" dirty="0"/>
          </a:p>
        </p:txBody>
      </p:sp>
      <p:sp>
        <p:nvSpPr>
          <p:cNvPr id="9" name="stat-value"/>
          <p:cNvSpPr txBox="1"/>
          <p:nvPr/>
        </p:nvSpPr>
        <p:spPr>
          <a:xfrm>
            <a:off x="3429000" y="4069080"/>
            <a:ext cx="2743200" cy="422031"/>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0.121</a:t>
            </a:r>
            <a:endParaRPr lang="en-US" sz="2400" dirty="0"/>
          </a:p>
        </p:txBody>
      </p:sp>
      <p:sp>
        <p:nvSpPr>
          <p:cNvPr id="10" name="stat-label"/>
          <p:cNvSpPr txBox="1"/>
          <p:nvPr/>
        </p:nvSpPr>
        <p:spPr>
          <a:xfrm>
            <a:off x="3429000" y="4527687"/>
            <a:ext cx="2743200" cy="457200"/>
          </a:xfrm>
          <a:prstGeom prst="rect">
            <a:avLst/>
          </a:prstGeom>
          <a:noFill/>
          <a:ln/>
        </p:spPr>
        <p:txBody>
          <a:bodyPr wrap="square" lIns="0" tIns="0" rIns="0" bIns="0" rtlCol="0" anchor="t"/>
          <a:lstStyle/>
          <a:p>
            <a:pPr indent="0" marL="0">
              <a:buNone/>
            </a:pPr>
            <a:r>
              <a:rPr lang="en-US" sz="1250" dirty="0">
                <a:solidFill>
                  <a:schemeClr val="tx1"/>
                </a:solidFill>
              </a:rPr>
              <a:t>Brier with 3× shots: unchanged</a:t>
            </a:r>
            <a:endParaRPr lang="en-US" sz="1250" dirty="0"/>
          </a:p>
        </p:txBody>
      </p:sp>
      <p:sp>
        <p:nvSpPr>
          <p:cNvPr id="11" name="takeaway-bg"/>
          <p:cNvSpPr/>
          <p:nvPr/>
        </p:nvSpPr>
        <p:spPr>
          <a:xfrm>
            <a:off x="548640" y="5257800"/>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340096"/>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423489"/>
            <a:ext cx="180685" cy="180685"/>
          </a:xfrm>
          <a:prstGeom prst="rect">
            <a:avLst/>
          </a:prstGeom>
        </p:spPr>
      </p:pic>
      <p:sp>
        <p:nvSpPr>
          <p:cNvPr id="14" name="takeaway"/>
          <p:cNvSpPr txBox="1"/>
          <p:nvPr/>
        </p:nvSpPr>
        <p:spPr>
          <a:xfrm>
            <a:off x="1170432" y="525780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Mitigation removes a bias that shots cannot; which action pays depends on the noise.</a:t>
            </a:r>
            <a:endParaRPr lang="en-US" sz="1550" dirty="0"/>
          </a:p>
        </p:txBody>
      </p:sp>
      <p:sp>
        <p:nvSpPr>
          <p:cNvPr id="15" name="source"/>
          <p:cNvSpPr txBox="1"/>
          <p:nvPr/>
        </p:nvSpPr>
        <p:spPr>
          <a:xfrm>
            <a:off x="548640" y="5925312"/>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p4_summary.csv (1,024 shots), p5c_costs.csv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PRE-REGISTRATION, GATES AND A ONE-TIME SEALED TEST  ·  OCTOBER 6–8,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Experimental design and integrity</a:t>
            </a:r>
            <a:endParaRPr lang="en-US" sz="2800" dirty="0"/>
          </a:p>
        </p:txBody>
      </p:sp>
      <p:pic>
        <p:nvPicPr>
          <p:cNvPr id="4" name="workflow_slide.png" descr="/Users/mayankpokhriyal/Workspaces/q-trace/deliverables/presentations/semester/_system/figures/workflow_slide.png">    </p:cNvPr>
          <p:cNvPicPr>
            <a:picLocks noChangeAspect="1"/>
          </p:cNvPicPr>
          <p:nvPr/>
        </p:nvPicPr>
        <p:blipFill>
          <a:blip r:embed="rId1"/>
          <a:stretch>
            <a:fillRect/>
          </a:stretch>
        </p:blipFill>
        <p:spPr>
          <a:xfrm>
            <a:off x="457200" y="1557352"/>
            <a:ext cx="7406640" cy="3194656"/>
          </a:xfrm>
          <a:prstGeom prst="rect">
            <a:avLst/>
          </a:prstGeom>
        </p:spPr>
      </p:pic>
      <p:sp>
        <p:nvSpPr>
          <p:cNvPr id="5" name="integ-0-circle"/>
          <p:cNvSpPr/>
          <p:nvPr/>
        </p:nvSpPr>
        <p:spPr>
          <a:xfrm>
            <a:off x="8138160" y="1371600"/>
            <a:ext cx="658368" cy="658368"/>
          </a:xfrm>
          <a:prstGeom prst="ellipse">
            <a:avLst/>
          </a:prstGeom>
          <a:solidFill>
            <a:srgbClr val="0F8B8D"/>
          </a:solidFill>
          <a:ln w="12700">
            <a:solidFill>
              <a:srgbClr val="0F8B8D"/>
            </a:solidFill>
            <a:prstDash val="solid"/>
          </a:ln>
        </p:spPr>
      </p:sp>
      <p:pic>
        <p:nvPicPr>
          <p:cNvPr id="6" name="integ-0" descr="preencoded.png">    </p:cNvPr>
          <p:cNvPicPr>
            <a:picLocks noChangeAspect="1"/>
          </p:cNvPicPr>
          <p:nvPr/>
        </p:nvPicPr>
        <p:blipFill>
          <a:blip r:embed="rId2"/>
          <a:stretch>
            <a:fillRect/>
          </a:stretch>
        </p:blipFill>
        <p:spPr>
          <a:xfrm>
            <a:off x="8296168" y="1529608"/>
            <a:ext cx="342351" cy="342351"/>
          </a:xfrm>
          <a:prstGeom prst="rect">
            <a:avLst/>
          </a:prstGeom>
        </p:spPr>
      </p:pic>
      <p:sp>
        <p:nvSpPr>
          <p:cNvPr id="7" name="Text 3"/>
          <p:cNvSpPr txBox="1"/>
          <p:nvPr/>
        </p:nvSpPr>
        <p:spPr>
          <a:xfrm>
            <a:off x="8961120" y="1316736"/>
            <a:ext cx="2697480" cy="822960"/>
          </a:xfrm>
          <a:prstGeom prst="rect">
            <a:avLst/>
          </a:prstGeom>
          <a:noFill/>
          <a:ln/>
        </p:spPr>
        <p:txBody>
          <a:bodyPr wrap="square" lIns="0" tIns="0" rIns="0" bIns="0" rtlCol="0" anchor="t"/>
          <a:lstStyle/>
          <a:p>
            <a:pPr indent="0" marL="0">
              <a:buNone/>
            </a:pPr>
            <a:r>
              <a:rPr lang="en-US" sz="1500" b="1" dirty="0">
                <a:solidFill>
                  <a:schemeClr val="tx2"/>
                </a:solidFill>
              </a:rPr>
              <a:t>Pre-registered</a:t>
            </a:r>
            <a:endParaRPr lang="en-US" sz="1400" dirty="0"/>
          </a:p>
          <a:p>
            <a:pPr indent="0" marL="0">
              <a:buNone/>
            </a:pPr>
            <a:r>
              <a:rPr lang="en-US" sz="1250" dirty="0">
                <a:solidFill>
                  <a:schemeClr val="tx1"/>
                </a:solidFill>
              </a:rPr>
              <a:t>from 3A-R on, before each phase's outcomes</a:t>
            </a:r>
            <a:endParaRPr lang="en-US" sz="1400" dirty="0"/>
          </a:p>
        </p:txBody>
      </p:sp>
      <p:sp>
        <p:nvSpPr>
          <p:cNvPr id="8" name="integ-1-circle"/>
          <p:cNvSpPr/>
          <p:nvPr/>
        </p:nvSpPr>
        <p:spPr>
          <a:xfrm>
            <a:off x="8138160" y="2350008"/>
            <a:ext cx="658368" cy="658368"/>
          </a:xfrm>
          <a:prstGeom prst="ellipse">
            <a:avLst/>
          </a:prstGeom>
          <a:solidFill>
            <a:srgbClr val="0F8B8D"/>
          </a:solidFill>
          <a:ln w="12700">
            <a:solidFill>
              <a:srgbClr val="0F8B8D"/>
            </a:solidFill>
            <a:prstDash val="solid"/>
          </a:ln>
        </p:spPr>
      </p:sp>
      <p:pic>
        <p:nvPicPr>
          <p:cNvPr id="9" name="integ-1" descr="preencoded.png">    </p:cNvPr>
          <p:cNvPicPr>
            <a:picLocks noChangeAspect="1"/>
          </p:cNvPicPr>
          <p:nvPr/>
        </p:nvPicPr>
        <p:blipFill>
          <a:blip r:embed="rId3"/>
          <a:stretch>
            <a:fillRect/>
          </a:stretch>
        </p:blipFill>
        <p:spPr>
          <a:xfrm>
            <a:off x="8296168" y="2508016"/>
            <a:ext cx="342351" cy="342351"/>
          </a:xfrm>
          <a:prstGeom prst="rect">
            <a:avLst/>
          </a:prstGeom>
        </p:spPr>
      </p:pic>
      <p:sp>
        <p:nvSpPr>
          <p:cNvPr id="10" name="Text 5"/>
          <p:cNvSpPr txBox="1"/>
          <p:nvPr/>
        </p:nvSpPr>
        <p:spPr>
          <a:xfrm>
            <a:off x="8961120" y="2295144"/>
            <a:ext cx="2697480" cy="822960"/>
          </a:xfrm>
          <a:prstGeom prst="rect">
            <a:avLst/>
          </a:prstGeom>
          <a:noFill/>
          <a:ln/>
        </p:spPr>
        <p:txBody>
          <a:bodyPr wrap="square" lIns="0" tIns="0" rIns="0" bIns="0" rtlCol="0" anchor="t"/>
          <a:lstStyle/>
          <a:p>
            <a:pPr indent="0" marL="0">
              <a:buNone/>
            </a:pPr>
            <a:r>
              <a:rPr lang="en-US" sz="1500" b="1" dirty="0">
                <a:solidFill>
                  <a:schemeClr val="tx2"/>
                </a:solidFill>
              </a:rPr>
              <a:t>Sealed test</a:t>
            </a:r>
            <a:endParaRPr lang="en-US" sz="1400" dirty="0"/>
          </a:p>
          <a:p>
            <a:pPr indent="0" marL="0">
              <a:buNone/>
            </a:pPr>
            <a:r>
              <a:rPr lang="en-US" sz="1250" dirty="0">
                <a:solidFill>
                  <a:schemeClr val="tx1"/>
                </a:solidFill>
              </a:rPr>
              <a:t>one guarded unlock; reads logged</a:t>
            </a:r>
            <a:endParaRPr lang="en-US" sz="1400" dirty="0"/>
          </a:p>
        </p:txBody>
      </p:sp>
      <p:sp>
        <p:nvSpPr>
          <p:cNvPr id="11" name="integ-2-circle"/>
          <p:cNvSpPr/>
          <p:nvPr/>
        </p:nvSpPr>
        <p:spPr>
          <a:xfrm>
            <a:off x="8138160" y="3328416"/>
            <a:ext cx="658368" cy="658368"/>
          </a:xfrm>
          <a:prstGeom prst="ellipse">
            <a:avLst/>
          </a:prstGeom>
          <a:solidFill>
            <a:srgbClr val="0F8B8D"/>
          </a:solidFill>
          <a:ln w="12700">
            <a:solidFill>
              <a:srgbClr val="0F8B8D"/>
            </a:solidFill>
            <a:prstDash val="solid"/>
          </a:ln>
        </p:spPr>
      </p:sp>
      <p:pic>
        <p:nvPicPr>
          <p:cNvPr id="12" name="integ-2" descr="preencoded.png">    </p:cNvPr>
          <p:cNvPicPr>
            <a:picLocks noChangeAspect="1"/>
          </p:cNvPicPr>
          <p:nvPr/>
        </p:nvPicPr>
        <p:blipFill>
          <a:blip r:embed="rId4"/>
          <a:stretch>
            <a:fillRect/>
          </a:stretch>
        </p:blipFill>
        <p:spPr>
          <a:xfrm>
            <a:off x="8296168" y="3486424"/>
            <a:ext cx="342351" cy="342351"/>
          </a:xfrm>
          <a:prstGeom prst="rect">
            <a:avLst/>
          </a:prstGeom>
        </p:spPr>
      </p:pic>
      <p:sp>
        <p:nvSpPr>
          <p:cNvPr id="13" name="Text 7"/>
          <p:cNvSpPr txBox="1"/>
          <p:nvPr/>
        </p:nvSpPr>
        <p:spPr>
          <a:xfrm>
            <a:off x="8961120" y="3273552"/>
            <a:ext cx="2697480" cy="822960"/>
          </a:xfrm>
          <a:prstGeom prst="rect">
            <a:avLst/>
          </a:prstGeom>
          <a:noFill/>
          <a:ln/>
        </p:spPr>
        <p:txBody>
          <a:bodyPr wrap="square" lIns="0" tIns="0" rIns="0" bIns="0" rtlCol="0" anchor="t"/>
          <a:lstStyle/>
          <a:p>
            <a:pPr indent="0" marL="0">
              <a:buNone/>
            </a:pPr>
            <a:r>
              <a:rPr lang="en-US" sz="1500" b="1" dirty="0">
                <a:solidFill>
                  <a:schemeClr val="tx2"/>
                </a:solidFill>
              </a:rPr>
              <a:t>Frozen comparators</a:t>
            </a:r>
            <a:endParaRPr lang="en-US" sz="1400" dirty="0"/>
          </a:p>
          <a:p>
            <a:pPr indent="0" marL="0">
              <a:buNone/>
            </a:pPr>
            <a:r>
              <a:rPr lang="en-US" sz="1250" dirty="0">
                <a:solidFill>
                  <a:schemeClr val="tx1"/>
                </a:solidFill>
              </a:rPr>
              <a:t>decision fingerprints verified</a:t>
            </a:r>
            <a:endParaRPr lang="en-US" sz="1400" dirty="0"/>
          </a:p>
        </p:txBody>
      </p:sp>
      <p:sp>
        <p:nvSpPr>
          <p:cNvPr id="14" name="integ-3-circle"/>
          <p:cNvSpPr/>
          <p:nvPr/>
        </p:nvSpPr>
        <p:spPr>
          <a:xfrm>
            <a:off x="8138160" y="4306824"/>
            <a:ext cx="658368" cy="658368"/>
          </a:xfrm>
          <a:prstGeom prst="ellipse">
            <a:avLst/>
          </a:prstGeom>
          <a:solidFill>
            <a:srgbClr val="0F8B8D"/>
          </a:solidFill>
          <a:ln w="12700">
            <a:solidFill>
              <a:srgbClr val="0F8B8D"/>
            </a:solidFill>
            <a:prstDash val="solid"/>
          </a:ln>
        </p:spPr>
      </p:sp>
      <p:pic>
        <p:nvPicPr>
          <p:cNvPr id="15" name="integ-3" descr="preencoded.png">    </p:cNvPr>
          <p:cNvPicPr>
            <a:picLocks noChangeAspect="1"/>
          </p:cNvPicPr>
          <p:nvPr/>
        </p:nvPicPr>
        <p:blipFill>
          <a:blip r:embed="rId5"/>
          <a:stretch>
            <a:fillRect/>
          </a:stretch>
        </p:blipFill>
        <p:spPr>
          <a:xfrm>
            <a:off x="8296168" y="4464832"/>
            <a:ext cx="342351" cy="342351"/>
          </a:xfrm>
          <a:prstGeom prst="rect">
            <a:avLst/>
          </a:prstGeom>
        </p:spPr>
      </p:pic>
      <p:sp>
        <p:nvSpPr>
          <p:cNvPr id="16" name="Text 9"/>
          <p:cNvSpPr txBox="1"/>
          <p:nvPr/>
        </p:nvSpPr>
        <p:spPr>
          <a:xfrm>
            <a:off x="8961120" y="4251960"/>
            <a:ext cx="2697480" cy="822960"/>
          </a:xfrm>
          <a:prstGeom prst="rect">
            <a:avLst/>
          </a:prstGeom>
          <a:noFill/>
          <a:ln/>
        </p:spPr>
        <p:txBody>
          <a:bodyPr wrap="square" lIns="0" tIns="0" rIns="0" bIns="0" rtlCol="0" anchor="t"/>
          <a:lstStyle/>
          <a:p>
            <a:pPr indent="0" marL="0">
              <a:buNone/>
            </a:pPr>
            <a:r>
              <a:rPr lang="en-US" sz="1500" b="1" dirty="0">
                <a:solidFill>
                  <a:schemeClr val="tx2"/>
                </a:solidFill>
              </a:rPr>
              <a:t>Reproducible</a:t>
            </a:r>
            <a:endParaRPr lang="en-US" sz="1400" dirty="0"/>
          </a:p>
          <a:p>
            <a:pPr indent="0" marL="0">
              <a:buNone/>
            </a:pPr>
            <a:r>
              <a:rPr lang="en-US" sz="1250" dirty="0">
                <a:solidFill>
                  <a:schemeClr val="tx1"/>
                </a:solidFill>
              </a:rPr>
              <a:t>16 slow tests re-run Phases 1–5C + final</a:t>
            </a:r>
            <a:endParaRPr lang="en-US" sz="1400" dirty="0"/>
          </a:p>
        </p:txBody>
      </p:sp>
      <p:sp>
        <p:nvSpPr>
          <p:cNvPr id="17" name="takeaway-bg"/>
          <p:cNvSpPr/>
          <p:nvPr/>
        </p:nvSpPr>
        <p:spPr>
          <a:xfrm>
            <a:off x="548640" y="5303520"/>
            <a:ext cx="11094415" cy="512064"/>
          </a:xfrm>
          <a:prstGeom prst="roundRect">
            <a:avLst>
              <a:gd name="adj" fmla="val 12500"/>
            </a:avLst>
          </a:prstGeom>
          <a:solidFill>
            <a:srgbClr val="E3F2F1"/>
          </a:solidFill>
          <a:ln w="6350">
            <a:solidFill>
              <a:srgbClr val="E3F2F1"/>
            </a:solidFill>
            <a:prstDash val="solid"/>
          </a:ln>
        </p:spPr>
      </p:sp>
      <p:sp>
        <p:nvSpPr>
          <p:cNvPr id="18" name="takeaway-icon-circle"/>
          <p:cNvSpPr/>
          <p:nvPr/>
        </p:nvSpPr>
        <p:spPr>
          <a:xfrm>
            <a:off x="676656" y="5385816"/>
            <a:ext cx="347472" cy="347472"/>
          </a:xfrm>
          <a:prstGeom prst="ellipse">
            <a:avLst/>
          </a:prstGeom>
          <a:solidFill>
            <a:srgbClr val="0F8B8D"/>
          </a:solidFill>
          <a:ln w="12700">
            <a:solidFill>
              <a:srgbClr val="0F8B8D"/>
            </a:solidFill>
            <a:prstDash val="solid"/>
          </a:ln>
        </p:spPr>
      </p:sp>
      <p:pic>
        <p:nvPicPr>
          <p:cNvPr id="19" name="takeaway-icon" descr="preencoded.png">    </p:cNvPr>
          <p:cNvPicPr>
            <a:picLocks noChangeAspect="1"/>
          </p:cNvPicPr>
          <p:nvPr/>
        </p:nvPicPr>
        <p:blipFill>
          <a:blip r:embed="rId6"/>
          <a:stretch>
            <a:fillRect/>
          </a:stretch>
        </p:blipFill>
        <p:spPr>
          <a:xfrm>
            <a:off x="760049" y="5469209"/>
            <a:ext cx="180685" cy="180685"/>
          </a:xfrm>
          <a:prstGeom prst="rect">
            <a:avLst/>
          </a:prstGeom>
        </p:spPr>
      </p:pic>
      <p:sp>
        <p:nvSpPr>
          <p:cNvPr id="20" name="takeaway"/>
          <p:cNvSpPr txBox="1"/>
          <p:nvPr/>
        </p:nvSpPr>
        <p:spPr>
          <a:xfrm>
            <a:off x="1170432" y="53035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Gates decided whether to proceed; negative outcomes were reported as results.</a:t>
            </a:r>
            <a:endParaRPr lang="en-US" sz="1550" dirty="0"/>
          </a:p>
        </p:txBody>
      </p:sp>
      <p:sp>
        <p:nvSpPr>
          <p:cNvPr id="21" name="source"/>
          <p:cNvSpPr txBox="1"/>
          <p:nvPr/>
        </p:nvSpPr>
        <p:spPr>
          <a:xfrm>
            <a:off x="548640" y="596188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docs/PREREG_*.md, final_metadata.json, tests/</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BRIER-PRIMARY, COST-AWARE, CLUSTER-LEVEL STATISTICS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Evaluation metrics</a:t>
            </a:r>
            <a:endParaRPr lang="en-US" sz="2800" dirty="0"/>
          </a:p>
        </p:txBody>
      </p:sp>
      <p:sp>
        <p:nvSpPr>
          <p:cNvPr id="4" name="card-bg"/>
          <p:cNvSpPr/>
          <p:nvPr/>
        </p:nvSpPr>
        <p:spPr>
          <a:xfrm>
            <a:off x="548640" y="1371600"/>
            <a:ext cx="3566160" cy="1645920"/>
          </a:xfrm>
          <a:prstGeom prst="roundRect">
            <a:avLst>
              <a:gd name="adj" fmla="val 3889"/>
            </a:avLst>
          </a:prstGeom>
          <a:solidFill>
            <a:srgbClr val="EEF2F7"/>
          </a:solidFill>
          <a:ln w="6350">
            <a:solidFill>
              <a:srgbClr val="EEF2F7"/>
            </a:solidFill>
            <a:prstDash val="solid"/>
          </a:ln>
        </p:spPr>
      </p:sp>
      <p:sp>
        <p:nvSpPr>
          <p:cNvPr id="5" name="card-text"/>
          <p:cNvSpPr txBox="1"/>
          <p:nvPr/>
        </p:nvSpPr>
        <p:spPr>
          <a:xfrm>
            <a:off x="731520" y="149961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Primary endpoint</a:t>
            </a:r>
            <a:endParaRPr lang="en-US" sz="1550" dirty="0"/>
          </a:p>
          <a:p>
            <a:pPr indent="0" marL="0">
              <a:spcAft>
                <a:spcPts val="400"/>
              </a:spcAft>
              <a:buNone/>
            </a:pPr>
            <a:r>
              <a:rPr lang="en-US" sz="1350" dirty="0">
                <a:solidFill>
                  <a:schemeClr val="tx1"/>
                </a:solidFill>
              </a:rPr>
              <a:t>Brier score of the mitigated fraud probabilities, mean of 20 finite-shot replicates</a:t>
            </a:r>
            <a:endParaRPr lang="en-US" sz="1550" dirty="0"/>
          </a:p>
        </p:txBody>
      </p:sp>
      <p:sp>
        <p:nvSpPr>
          <p:cNvPr id="6" name="card-bg"/>
          <p:cNvSpPr/>
          <p:nvPr/>
        </p:nvSpPr>
        <p:spPr>
          <a:xfrm>
            <a:off x="4297680" y="1371600"/>
            <a:ext cx="3566160" cy="1645920"/>
          </a:xfrm>
          <a:prstGeom prst="roundRect">
            <a:avLst>
              <a:gd name="adj" fmla="val 3889"/>
            </a:avLst>
          </a:prstGeom>
          <a:solidFill>
            <a:srgbClr val="E3F2F1"/>
          </a:solidFill>
          <a:ln w="6350">
            <a:solidFill>
              <a:srgbClr val="E3F2F1"/>
            </a:solidFill>
            <a:prstDash val="solid"/>
          </a:ln>
        </p:spPr>
      </p:sp>
      <p:sp>
        <p:nvSpPr>
          <p:cNvPr id="7" name="card-text"/>
          <p:cNvSpPr txBox="1"/>
          <p:nvPr/>
        </p:nvSpPr>
        <p:spPr>
          <a:xfrm>
            <a:off x="4480560" y="149961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Oracle p*</a:t>
            </a:r>
            <a:endParaRPr lang="en-US" sz="1550" dirty="0"/>
          </a:p>
          <a:p>
            <a:pPr indent="0" marL="0">
              <a:spcAft>
                <a:spcPts val="400"/>
              </a:spcAft>
              <a:buNone/>
            </a:pPr>
            <a:r>
              <a:rPr lang="en-US" sz="1350" dirty="0">
                <a:solidFill>
                  <a:schemeClr val="tx1"/>
                </a:solidFill>
              </a:rPr>
              <a:t>cheapest action whose Brier score is within ε = 10% of the best (evaluation only)</a:t>
            </a:r>
            <a:endParaRPr lang="en-US" sz="1550" dirty="0"/>
          </a:p>
        </p:txBody>
      </p:sp>
      <p:sp>
        <p:nvSpPr>
          <p:cNvPr id="8" name="card-bg"/>
          <p:cNvSpPr/>
          <p:nvPr/>
        </p:nvSpPr>
        <p:spPr>
          <a:xfrm>
            <a:off x="8046720" y="1371600"/>
            <a:ext cx="3566160" cy="1645920"/>
          </a:xfrm>
          <a:prstGeom prst="roundRect">
            <a:avLst>
              <a:gd name="adj" fmla="val 3889"/>
            </a:avLst>
          </a:prstGeom>
          <a:solidFill>
            <a:srgbClr val="EEF2F7"/>
          </a:solidFill>
          <a:ln w="6350">
            <a:solidFill>
              <a:srgbClr val="EEF2F7"/>
            </a:solidFill>
            <a:prstDash val="solid"/>
          </a:ln>
        </p:spPr>
      </p:sp>
      <p:sp>
        <p:nvSpPr>
          <p:cNvPr id="9" name="card-text"/>
          <p:cNvSpPr txBox="1"/>
          <p:nvPr/>
        </p:nvSpPr>
        <p:spPr>
          <a:xfrm>
            <a:off x="8229600" y="149961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Failure</a:t>
            </a:r>
            <a:endParaRPr lang="en-US" sz="1550" dirty="0"/>
          </a:p>
          <a:p>
            <a:pPr indent="0" marL="0">
              <a:spcAft>
                <a:spcPts val="400"/>
              </a:spcAft>
              <a:buNone/>
            </a:pPr>
            <a:r>
              <a:rPr lang="en-US" sz="1350" dirty="0">
                <a:solidFill>
                  <a:schemeClr val="tx1"/>
                </a:solidFill>
              </a:rPr>
              <a:t>any disagreement with p*</a:t>
            </a:r>
            <a:endParaRPr lang="en-US" sz="1550" dirty="0"/>
          </a:p>
        </p:txBody>
      </p:sp>
      <p:sp>
        <p:nvSpPr>
          <p:cNvPr id="10" name="card-bg"/>
          <p:cNvSpPr/>
          <p:nvPr/>
        </p:nvSpPr>
        <p:spPr>
          <a:xfrm>
            <a:off x="548640" y="3154680"/>
            <a:ext cx="3566160" cy="1645920"/>
          </a:xfrm>
          <a:prstGeom prst="roundRect">
            <a:avLst>
              <a:gd name="adj" fmla="val 3889"/>
            </a:avLst>
          </a:prstGeom>
          <a:solidFill>
            <a:srgbClr val="FBEFD9"/>
          </a:solidFill>
          <a:ln w="6350">
            <a:solidFill>
              <a:srgbClr val="FBEFD9"/>
            </a:solidFill>
            <a:prstDash val="solid"/>
          </a:ln>
        </p:spPr>
      </p:sp>
      <p:sp>
        <p:nvSpPr>
          <p:cNvPr id="11" name="card-text"/>
          <p:cNvSpPr txBox="1"/>
          <p:nvPr/>
        </p:nvSpPr>
        <p:spPr>
          <a:xfrm>
            <a:off x="731520" y="328269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Material failure</a:t>
            </a:r>
            <a:endParaRPr lang="en-US" sz="1550" dirty="0"/>
          </a:p>
          <a:p>
            <a:pPr indent="0" marL="0">
              <a:spcAft>
                <a:spcPts val="400"/>
              </a:spcAft>
              <a:buNone/>
            </a:pPr>
            <a:r>
              <a:rPr lang="en-US" sz="1350" dirty="0">
                <a:solidFill>
                  <a:schemeClr val="tx1"/>
                </a:solidFill>
              </a:rPr>
              <a:t>Brier &gt; (1 + 2ε) × best, or ≥ 1 extra shot-set (S) per inference</a:t>
            </a:r>
            <a:endParaRPr lang="en-US" sz="1550" dirty="0"/>
          </a:p>
        </p:txBody>
      </p:sp>
      <p:sp>
        <p:nvSpPr>
          <p:cNvPr id="12" name="card-bg"/>
          <p:cNvSpPr/>
          <p:nvPr/>
        </p:nvSpPr>
        <p:spPr>
          <a:xfrm>
            <a:off x="4297680" y="3154680"/>
            <a:ext cx="3566160" cy="1645920"/>
          </a:xfrm>
          <a:prstGeom prst="roundRect">
            <a:avLst>
              <a:gd name="adj" fmla="val 3889"/>
            </a:avLst>
          </a:prstGeom>
          <a:solidFill>
            <a:srgbClr val="EEF2F7"/>
          </a:solidFill>
          <a:ln w="6350">
            <a:solidFill>
              <a:srgbClr val="EEF2F7"/>
            </a:solidFill>
            <a:prstDash val="solid"/>
          </a:ln>
        </p:spPr>
      </p:sp>
      <p:sp>
        <p:nvSpPr>
          <p:cNvPr id="13" name="card-text"/>
          <p:cNvSpPr txBox="1"/>
          <p:nvPr/>
        </p:nvSpPr>
        <p:spPr>
          <a:xfrm>
            <a:off x="4480560" y="328269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Cost</a:t>
            </a:r>
            <a:endParaRPr lang="en-US" sz="1550" dirty="0"/>
          </a:p>
          <a:p>
            <a:pPr indent="0" marL="0">
              <a:spcAft>
                <a:spcPts val="400"/>
              </a:spcAft>
              <a:buNone/>
            </a:pPr>
            <a:r>
              <a:rPr lang="en-US" sz="1350" dirty="0">
                <a:solidFill>
                  <a:schemeClr val="tx1"/>
                </a:solidFill>
              </a:rPr>
              <a:t>shots per inference, including 66·S probe shots per batch for probing policies</a:t>
            </a:r>
            <a:endParaRPr lang="en-US" sz="1550" dirty="0"/>
          </a:p>
        </p:txBody>
      </p:sp>
      <p:sp>
        <p:nvSpPr>
          <p:cNvPr id="14" name="card-bg"/>
          <p:cNvSpPr/>
          <p:nvPr/>
        </p:nvSpPr>
        <p:spPr>
          <a:xfrm>
            <a:off x="8046720" y="3154680"/>
            <a:ext cx="3566160" cy="1645920"/>
          </a:xfrm>
          <a:prstGeom prst="roundRect">
            <a:avLst>
              <a:gd name="adj" fmla="val 3889"/>
            </a:avLst>
          </a:prstGeom>
          <a:solidFill>
            <a:srgbClr val="EEF2F7"/>
          </a:solidFill>
          <a:ln w="6350">
            <a:solidFill>
              <a:srgbClr val="EEF2F7"/>
            </a:solidFill>
            <a:prstDash val="solid"/>
          </a:ln>
        </p:spPr>
      </p:sp>
      <p:sp>
        <p:nvSpPr>
          <p:cNvPr id="15" name="card-text"/>
          <p:cNvSpPr txBox="1"/>
          <p:nvPr/>
        </p:nvSpPr>
        <p:spPr>
          <a:xfrm>
            <a:off x="8229600" y="3282696"/>
            <a:ext cx="3200400" cy="142646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Uncertainty</a:t>
            </a:r>
            <a:endParaRPr lang="en-US" sz="1550" dirty="0"/>
          </a:p>
          <a:p>
            <a:pPr indent="0" marL="0">
              <a:spcAft>
                <a:spcPts val="400"/>
              </a:spcAft>
              <a:buNone/>
            </a:pPr>
            <a:r>
              <a:rPr lang="en-US" sz="1350" dirty="0">
                <a:solidFill>
                  <a:schemeClr val="tx1"/>
                </a:solidFill>
              </a:rPr>
              <a:t>two-stage cluster bootstrap: structures, then models (2,000 resamples)</a:t>
            </a:r>
            <a:endParaRPr lang="en-US" sz="1550" dirty="0"/>
          </a:p>
        </p:txBody>
      </p:sp>
      <p:sp>
        <p:nvSpPr>
          <p:cNvPr id="16" name="takeaway-bg"/>
          <p:cNvSpPr/>
          <p:nvPr/>
        </p:nvSpPr>
        <p:spPr>
          <a:xfrm>
            <a:off x="548640" y="5120640"/>
            <a:ext cx="11094415" cy="512064"/>
          </a:xfrm>
          <a:prstGeom prst="roundRect">
            <a:avLst>
              <a:gd name="adj" fmla="val 12500"/>
            </a:avLst>
          </a:prstGeom>
          <a:solidFill>
            <a:srgbClr val="E3F2F1"/>
          </a:solidFill>
          <a:ln w="6350">
            <a:solidFill>
              <a:srgbClr val="E3F2F1"/>
            </a:solidFill>
            <a:prstDash val="solid"/>
          </a:ln>
        </p:spPr>
      </p:sp>
      <p:sp>
        <p:nvSpPr>
          <p:cNvPr id="17" name="takeaway-icon-circle"/>
          <p:cNvSpPr/>
          <p:nvPr/>
        </p:nvSpPr>
        <p:spPr>
          <a:xfrm>
            <a:off x="676656" y="5202936"/>
            <a:ext cx="347472" cy="347472"/>
          </a:xfrm>
          <a:prstGeom prst="ellipse">
            <a:avLst/>
          </a:prstGeom>
          <a:solidFill>
            <a:srgbClr val="0F8B8D"/>
          </a:solidFill>
          <a:ln w="12700">
            <a:solidFill>
              <a:srgbClr val="0F8B8D"/>
            </a:solidFill>
            <a:prstDash val="solid"/>
          </a:ln>
        </p:spPr>
      </p:sp>
      <p:pic>
        <p:nvPicPr>
          <p:cNvPr id="18" name="takeaway-icon" descr="preencoded.png">    </p:cNvPr>
          <p:cNvPicPr>
            <a:picLocks noChangeAspect="1"/>
          </p:cNvPicPr>
          <p:nvPr/>
        </p:nvPicPr>
        <p:blipFill>
          <a:blip r:embed="rId1"/>
          <a:stretch>
            <a:fillRect/>
          </a:stretch>
        </p:blipFill>
        <p:spPr>
          <a:xfrm>
            <a:off x="760049" y="5286329"/>
            <a:ext cx="180685" cy="180685"/>
          </a:xfrm>
          <a:prstGeom prst="rect">
            <a:avLst/>
          </a:prstGeom>
        </p:spPr>
      </p:pic>
      <p:sp>
        <p:nvSpPr>
          <p:cNvPr id="19" name="takeaway"/>
          <p:cNvSpPr txBox="1"/>
          <p:nvPr/>
        </p:nvSpPr>
        <p:spPr>
          <a:xfrm>
            <a:off x="1170432" y="51206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Brier regret can be slightly negative: the Oracle may trade up to 10% of reliability for a lower cost.</a:t>
            </a:r>
            <a:endParaRPr lang="en-US" sz="1550" dirty="0"/>
          </a:p>
        </p:txBody>
      </p:sp>
      <p:sp>
        <p:nvSpPr>
          <p:cNvPr id="20" name="source"/>
          <p:cNvSpPr txBox="1"/>
          <p:nvPr/>
        </p:nvSpPr>
        <p:spPr>
          <a:xfrm>
            <a:off x="548640" y="577900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configs/mixed_noise_study/p5c_v1.yaml, configs/final_test/final_v1.yaml</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PHASES 5A–5C  ·  EVERY MODEL UNDER EVERY ACTION  ·  COMPLETED OCTOBER 7–8,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64-model benchmark</a:t>
            </a:r>
            <a:endParaRPr lang="en-US" sz="2800" dirty="0"/>
          </a:p>
        </p:txBody>
      </p:sp>
      <p:pic>
        <p:nvPicPr>
          <p:cNvPr id="4" name="pool_auprc.png" descr="/Users/mayankpokhriyal/Workspaces/q-trace/deliverables/presentations/semester/_system/figures/pool_auprc.png">    </p:cNvPr>
          <p:cNvPicPr>
            <a:picLocks noChangeAspect="1"/>
          </p:cNvPicPr>
          <p:nvPr/>
        </p:nvPicPr>
        <p:blipFill>
          <a:blip r:embed="rId1"/>
          <a:stretch>
            <a:fillRect/>
          </a:stretch>
        </p:blipFill>
        <p:spPr>
          <a:xfrm>
            <a:off x="457200" y="1364509"/>
            <a:ext cx="6400800" cy="4037542"/>
          </a:xfrm>
          <a:prstGeom prst="rect">
            <a:avLst/>
          </a:prstGeom>
        </p:spPr>
      </p:pic>
      <p:sp>
        <p:nvSpPr>
          <p:cNvPr id="5" name="stat-value"/>
          <p:cNvSpPr txBox="1"/>
          <p:nvPr/>
        </p:nvSpPr>
        <p:spPr>
          <a:xfrm>
            <a:off x="7178040" y="1325880"/>
            <a:ext cx="4480560" cy="492369"/>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64 models</a:t>
            </a:r>
            <a:endParaRPr lang="en-US" sz="2800" dirty="0"/>
          </a:p>
        </p:txBody>
      </p:sp>
      <p:sp>
        <p:nvSpPr>
          <p:cNvPr id="6" name="stat-label"/>
          <p:cNvSpPr txBox="1"/>
          <p:nvPr/>
        </p:nvSpPr>
        <p:spPr>
          <a:xfrm>
            <a:off x="7178040" y="1854825"/>
            <a:ext cx="4480560" cy="502920"/>
          </a:xfrm>
          <a:prstGeom prst="rect">
            <a:avLst/>
          </a:prstGeom>
          <a:noFill/>
          <a:ln/>
        </p:spPr>
        <p:txBody>
          <a:bodyPr wrap="square" lIns="0" tIns="0" rIns="0" bIns="0" rtlCol="0" anchor="t"/>
          <a:lstStyle/>
          <a:p>
            <a:pPr indent="0" marL="0">
              <a:buNone/>
            </a:pPr>
            <a:r>
              <a:rPr lang="en-US" sz="1250" dirty="0">
                <a:solidFill>
                  <a:schemeClr val="tx1"/>
                </a:solidFill>
              </a:rPr>
              <a:t>16 structures × 4 seeds; median clean AUPRC 0.235 (0.047–0.538)</a:t>
            </a:r>
            <a:endParaRPr lang="en-US" sz="1250" dirty="0"/>
          </a:p>
        </p:txBody>
      </p:sp>
      <p:sp>
        <p:nvSpPr>
          <p:cNvPr id="7" name="stat-value"/>
          <p:cNvSpPr txBox="1"/>
          <p:nvPr/>
        </p:nvSpPr>
        <p:spPr>
          <a:xfrm>
            <a:off x="7178040" y="2514600"/>
            <a:ext cx="4480560" cy="492369"/>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 1.4 million</a:t>
            </a:r>
            <a:endParaRPr lang="en-US" sz="2800" dirty="0"/>
          </a:p>
        </p:txBody>
      </p:sp>
      <p:sp>
        <p:nvSpPr>
          <p:cNvPr id="8" name="stat-label"/>
          <p:cNvSpPr txBox="1"/>
          <p:nvPr/>
        </p:nvSpPr>
        <p:spPr>
          <a:xfrm>
            <a:off x="7178040" y="3043545"/>
            <a:ext cx="4480560" cy="502920"/>
          </a:xfrm>
          <a:prstGeom prst="rect">
            <a:avLst/>
          </a:prstGeom>
          <a:noFill/>
          <a:ln/>
        </p:spPr>
        <p:txBody>
          <a:bodyPr wrap="square" lIns="0" tIns="0" rIns="0" bIns="0" rtlCol="0" anchor="t"/>
          <a:lstStyle/>
          <a:p>
            <a:pPr indent="0" marL="0">
              <a:buNone/>
            </a:pPr>
            <a:r>
              <a:rPr lang="en-US" sz="1250" dirty="0">
                <a:solidFill>
                  <a:schemeClr val="tx1"/>
                </a:solidFill>
              </a:rPr>
              <a:t>paired counterfactual outcomes (5B 102,400; 5C 1,305,600)</a:t>
            </a:r>
            <a:endParaRPr lang="en-US" sz="1250" dirty="0"/>
          </a:p>
        </p:txBody>
      </p:sp>
      <p:sp>
        <p:nvSpPr>
          <p:cNvPr id="9" name="stat-value"/>
          <p:cNvSpPr txBox="1"/>
          <p:nvPr/>
        </p:nvSpPr>
        <p:spPr>
          <a:xfrm>
            <a:off x="7178040" y="3703320"/>
            <a:ext cx="4480560" cy="492369"/>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66 circuits</a:t>
            </a:r>
            <a:endParaRPr lang="en-US" sz="2800" dirty="0"/>
          </a:p>
        </p:txBody>
      </p:sp>
      <p:sp>
        <p:nvSpPr>
          <p:cNvPr id="10" name="stat-label"/>
          <p:cNvSpPr txBox="1"/>
          <p:nvPr/>
        </p:nvSpPr>
        <p:spPr>
          <a:xfrm>
            <a:off x="7178040" y="4232265"/>
            <a:ext cx="4480560" cy="502920"/>
          </a:xfrm>
          <a:prstGeom prst="rect">
            <a:avLst/>
          </a:prstGeom>
          <a:noFill/>
          <a:ln/>
        </p:spPr>
        <p:txBody>
          <a:bodyPr wrap="square" lIns="0" tIns="0" rIns="0" bIns="0" rtlCol="0" anchor="t"/>
          <a:lstStyle/>
          <a:p>
            <a:pPr indent="0" marL="0">
              <a:buNone/>
            </a:pPr>
            <a:r>
              <a:rPr lang="en-US" sz="1250" dirty="0">
                <a:solidFill>
                  <a:schemeClr val="tx1"/>
                </a:solidFill>
              </a:rPr>
              <a:t>probe cost per batch: 2 readout calibration + 32 gate bindings × folds 1, 3</a:t>
            </a:r>
            <a:endParaRPr lang="en-US" sz="1250" dirty="0"/>
          </a:p>
        </p:txBody>
      </p:sp>
      <p:sp>
        <p:nvSpPr>
          <p:cNvPr id="11" name="takeaway-bg"/>
          <p:cNvSpPr/>
          <p:nvPr/>
        </p:nvSpPr>
        <p:spPr>
          <a:xfrm>
            <a:off x="548640" y="5577840"/>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60136"/>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743529"/>
            <a:ext cx="180685" cy="180685"/>
          </a:xfrm>
          <a:prstGeom prst="rect">
            <a:avLst/>
          </a:prstGeom>
        </p:spPr>
      </p:pic>
      <p:sp>
        <p:nvSpPr>
          <p:cNvPr id="14" name="takeaway"/>
          <p:cNvSpPr txBox="1"/>
          <p:nvPr/>
        </p:nvSpPr>
        <p:spPr>
          <a:xfrm>
            <a:off x="1170432" y="55778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Models, nested in structures, are the independent units; 4 test structures stayed sealed.</a:t>
            </a:r>
            <a:endParaRPr lang="en-US" sz="1550" dirty="0"/>
          </a:p>
        </p:txBody>
      </p:sp>
      <p:sp>
        <p:nvSpPr>
          <p:cNvPr id="15" name="source"/>
          <p:cNvSpPr txBox="1"/>
          <p:nvPr/>
        </p:nvSpPr>
        <p:spPr>
          <a:xfrm>
            <a:off x="548640" y="6181344"/>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p5a_pool_metrics.csv, p5b_split.csv, p5b_feature_definitions.csv; row counts per docs/EXPERIMENT_PROTOCOL.md §3.12–3.13</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GATES G3B AND G3C  ·  VALIDATION DATA  ·  DECIDED OCTOBER 7–8,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Policy comparison: the gates failed, a simple rule emerged</a:t>
            </a:r>
            <a:endParaRPr lang="en-US" sz="2800" dirty="0"/>
          </a:p>
        </p:txBody>
      </p:sp>
      <p:sp>
        <p:nvSpPr>
          <p:cNvPr id="4" name="Text 2"/>
          <p:cNvSpPr txBox="1"/>
          <p:nvPr/>
        </p:nvSpPr>
        <p:spPr>
          <a:xfrm>
            <a:off x="548640" y="1325880"/>
            <a:ext cx="5669280" cy="320040"/>
          </a:xfrm>
          <a:prstGeom prst="rect">
            <a:avLst/>
          </a:prstGeom>
          <a:noFill/>
          <a:ln/>
        </p:spPr>
        <p:txBody>
          <a:bodyPr wrap="square" lIns="0" tIns="0" rIns="0" bIns="0" rtlCol="0" anchor="t"/>
          <a:lstStyle/>
          <a:p>
            <a:pPr indent="0" marL="0">
              <a:buNone/>
            </a:pPr>
            <a:r>
              <a:rPr lang="en-US" sz="1450" b="1" dirty="0">
                <a:solidFill>
                  <a:schemeClr val="tx2"/>
                </a:solidFill>
              </a:rPr>
              <a:t>The probe rule R_thr</a:t>
            </a:r>
            <a:endParaRPr lang="en-US" sz="1450" dirty="0"/>
          </a:p>
        </p:txBody>
      </p:sp>
      <p:sp>
        <p:nvSpPr>
          <p:cNvPr id="5" name="rule-box"/>
          <p:cNvSpPr/>
          <p:nvPr/>
        </p:nvSpPr>
        <p:spPr>
          <a:xfrm>
            <a:off x="548640" y="1737360"/>
            <a:ext cx="2560320" cy="713232"/>
          </a:xfrm>
          <a:prstGeom prst="roundRect">
            <a:avLst>
              <a:gd name="adj" fmla="val 8974"/>
            </a:avLst>
          </a:prstGeom>
          <a:solidFill>
            <a:srgbClr val="EEF2F7"/>
          </a:solidFill>
          <a:ln w="6350">
            <a:solidFill>
              <a:srgbClr val="EEF2F7"/>
            </a:solidFill>
            <a:prstDash val="solid"/>
          </a:ln>
        </p:spPr>
      </p:sp>
      <p:sp>
        <p:nvSpPr>
          <p:cNvPr id="6" name="Text 4"/>
          <p:cNvSpPr txBox="1"/>
          <p:nvPr/>
        </p:nvSpPr>
        <p:spPr>
          <a:xfrm>
            <a:off x="594360" y="1737360"/>
            <a:ext cx="2468880" cy="713232"/>
          </a:xfrm>
          <a:prstGeom prst="rect">
            <a:avLst/>
          </a:prstGeom>
          <a:noFill/>
          <a:ln/>
        </p:spPr>
        <p:txBody>
          <a:bodyPr wrap="square" lIns="0" tIns="0" rIns="0" bIns="0" rtlCol="0" anchor="ctr"/>
          <a:lstStyle/>
          <a:p>
            <a:pPr algn="ctr" indent="0" marL="0">
              <a:buNone/>
            </a:pPr>
            <a:r>
              <a:rPr lang="en-US" sz="1250" b="1" dirty="0">
                <a:solidFill>
                  <a:schemeClr val="tx2"/>
                </a:solidFill>
              </a:rPr>
              <a:t>Gate probe</a:t>
            </a:r>
            <a:endParaRPr lang="en-US" sz="1400" dirty="0"/>
          </a:p>
          <a:p>
            <a:pPr algn="ctr" indent="0" marL="0">
              <a:buNone/>
            </a:pPr>
            <a:r>
              <a:rPr lang="en-US" sz="1050" dirty="0">
                <a:solidFill>
                  <a:schemeClr val="tx1"/>
                </a:solidFill>
              </a:rPr>
              <a:t>contraction ≤ t_g (≈ 0.97–0.98)?</a:t>
            </a:r>
            <a:endParaRPr lang="en-US" sz="1400" dirty="0"/>
          </a:p>
        </p:txBody>
      </p:sp>
      <p:sp>
        <p:nvSpPr>
          <p:cNvPr id="7" name="rule-box"/>
          <p:cNvSpPr/>
          <p:nvPr/>
        </p:nvSpPr>
        <p:spPr>
          <a:xfrm>
            <a:off x="3566160" y="1737360"/>
            <a:ext cx="2560320" cy="713232"/>
          </a:xfrm>
          <a:prstGeom prst="roundRect">
            <a:avLst>
              <a:gd name="adj" fmla="val 8974"/>
            </a:avLst>
          </a:prstGeom>
          <a:solidFill>
            <a:srgbClr val="EEF2F7"/>
          </a:solidFill>
          <a:ln w="6350">
            <a:solidFill>
              <a:srgbClr val="EEF2F7"/>
            </a:solidFill>
            <a:prstDash val="solid"/>
          </a:ln>
        </p:spPr>
      </p:sp>
      <p:sp>
        <p:nvSpPr>
          <p:cNvPr id="8" name="Text 6"/>
          <p:cNvSpPr txBox="1"/>
          <p:nvPr/>
        </p:nvSpPr>
        <p:spPr>
          <a:xfrm>
            <a:off x="3611880" y="1737360"/>
            <a:ext cx="2468880" cy="713232"/>
          </a:xfrm>
          <a:prstGeom prst="rect">
            <a:avLst/>
          </a:prstGeom>
          <a:noFill/>
          <a:ln/>
        </p:spPr>
        <p:txBody>
          <a:bodyPr wrap="square" lIns="0" tIns="0" rIns="0" bIns="0" rtlCol="0" anchor="ctr"/>
          <a:lstStyle/>
          <a:p>
            <a:pPr algn="ctr" indent="0" marL="0">
              <a:buNone/>
            </a:pPr>
            <a:r>
              <a:rPr lang="en-US" sz="1250" b="1" dirty="0">
                <a:solidFill>
                  <a:schemeClr val="tx2"/>
                </a:solidFill>
              </a:rPr>
              <a:t>Readout probe</a:t>
            </a:r>
            <a:endParaRPr lang="en-US" sz="1400" dirty="0"/>
          </a:p>
          <a:p>
            <a:pPr algn="ctr" indent="0" marL="0">
              <a:buNone/>
            </a:pPr>
            <a:r>
              <a:rPr lang="en-US" sz="1050" dirty="0">
                <a:solidFill>
                  <a:schemeClr val="tx1"/>
                </a:solidFill>
              </a:rPr>
              <a:t>error ≥ t_r (≈ 0.4%)?</a:t>
            </a:r>
            <a:endParaRPr lang="en-US" sz="1400" dirty="0"/>
          </a:p>
        </p:txBody>
      </p:sp>
      <p:sp>
        <p:nvSpPr>
          <p:cNvPr id="9" name="rule-box"/>
          <p:cNvSpPr/>
          <p:nvPr/>
        </p:nvSpPr>
        <p:spPr>
          <a:xfrm>
            <a:off x="548640" y="2880360"/>
            <a:ext cx="2560320" cy="713232"/>
          </a:xfrm>
          <a:prstGeom prst="roundRect">
            <a:avLst>
              <a:gd name="adj" fmla="val 8974"/>
            </a:avLst>
          </a:prstGeom>
          <a:solidFill>
            <a:srgbClr val="0072B2"/>
          </a:solidFill>
          <a:ln w="6350">
            <a:solidFill>
              <a:srgbClr val="0072B2"/>
            </a:solidFill>
            <a:prstDash val="solid"/>
          </a:ln>
        </p:spPr>
      </p:sp>
      <p:sp>
        <p:nvSpPr>
          <p:cNvPr id="10" name="Text 8"/>
          <p:cNvSpPr txBox="1"/>
          <p:nvPr/>
        </p:nvSpPr>
        <p:spPr>
          <a:xfrm>
            <a:off x="594360" y="2880360"/>
            <a:ext cx="2468880" cy="713232"/>
          </a:xfrm>
          <a:prstGeom prst="rect">
            <a:avLst/>
          </a:prstGeom>
          <a:noFill/>
          <a:ln/>
        </p:spPr>
        <p:txBody>
          <a:bodyPr wrap="square" lIns="0" tIns="0" rIns="0" bIns="0" rtlCol="0" anchor="ctr"/>
          <a:lstStyle/>
          <a:p>
            <a:pPr algn="ctr" indent="0" marL="0">
              <a:buNone/>
            </a:pPr>
            <a:r>
              <a:rPr lang="en-US" sz="1250" b="1" dirty="0">
                <a:solidFill>
                  <a:srgbClr val="FFFFFF"/>
                </a:solidFill>
              </a:rPr>
              <a:t>A1 readout mitigation</a:t>
            </a:r>
            <a:endParaRPr lang="en-US" sz="1400" dirty="0"/>
          </a:p>
          <a:p>
            <a:pPr algn="ctr" indent="0" marL="0">
              <a:buNone/>
            </a:pPr>
            <a:r>
              <a:rPr lang="en-US" sz="1050" dirty="0">
                <a:solidFill>
                  <a:srgbClr val="E6ECF5"/>
                </a:solidFill>
              </a:rPr>
              <a:t>A0 at 256 shots if readout is low</a:t>
            </a:r>
            <a:endParaRPr lang="en-US" sz="1400" dirty="0"/>
          </a:p>
        </p:txBody>
      </p:sp>
      <p:sp>
        <p:nvSpPr>
          <p:cNvPr id="11" name="rule-box"/>
          <p:cNvSpPr/>
          <p:nvPr/>
        </p:nvSpPr>
        <p:spPr>
          <a:xfrm>
            <a:off x="3566160" y="2880360"/>
            <a:ext cx="1207008" cy="713232"/>
          </a:xfrm>
          <a:prstGeom prst="roundRect">
            <a:avLst>
              <a:gd name="adj" fmla="val 8974"/>
            </a:avLst>
          </a:prstGeom>
          <a:solidFill>
            <a:srgbClr val="CC79A7"/>
          </a:solidFill>
          <a:ln w="6350">
            <a:solidFill>
              <a:srgbClr val="CC79A7"/>
            </a:solidFill>
            <a:prstDash val="solid"/>
          </a:ln>
        </p:spPr>
      </p:sp>
      <p:sp>
        <p:nvSpPr>
          <p:cNvPr id="12" name="Text 10"/>
          <p:cNvSpPr txBox="1"/>
          <p:nvPr/>
        </p:nvSpPr>
        <p:spPr>
          <a:xfrm>
            <a:off x="3611880" y="2880360"/>
            <a:ext cx="1115568" cy="713232"/>
          </a:xfrm>
          <a:prstGeom prst="rect">
            <a:avLst/>
          </a:prstGeom>
          <a:noFill/>
          <a:ln/>
        </p:spPr>
        <p:txBody>
          <a:bodyPr wrap="square" lIns="0" tIns="0" rIns="0" bIns="0" rtlCol="0" anchor="ctr"/>
          <a:lstStyle/>
          <a:p>
            <a:pPr algn="ctr" indent="0" marL="0">
              <a:buNone/>
            </a:pPr>
            <a:r>
              <a:rPr lang="en-US" sz="1250" b="1" dirty="0">
                <a:solidFill>
                  <a:srgbClr val="FFFFFF"/>
                </a:solidFill>
              </a:rPr>
              <a:t>A3</a:t>
            </a:r>
            <a:endParaRPr lang="en-US" sz="1400" dirty="0"/>
          </a:p>
          <a:p>
            <a:pPr algn="ctr" indent="0" marL="0">
              <a:buNone/>
            </a:pPr>
            <a:r>
              <a:rPr lang="en-US" sz="1050" dirty="0">
                <a:solidFill>
                  <a:srgbClr val="E6ECF5"/>
                </a:solidFill>
              </a:rPr>
              <a:t>combined</a:t>
            </a:r>
            <a:endParaRPr lang="en-US" sz="1400" dirty="0"/>
          </a:p>
        </p:txBody>
      </p:sp>
      <p:sp>
        <p:nvSpPr>
          <p:cNvPr id="13" name="rule-box"/>
          <p:cNvSpPr/>
          <p:nvPr/>
        </p:nvSpPr>
        <p:spPr>
          <a:xfrm>
            <a:off x="4919472" y="2880360"/>
            <a:ext cx="1207008" cy="713232"/>
          </a:xfrm>
          <a:prstGeom prst="roundRect">
            <a:avLst>
              <a:gd name="adj" fmla="val 8974"/>
            </a:avLst>
          </a:prstGeom>
          <a:solidFill>
            <a:srgbClr val="D55E00"/>
          </a:solidFill>
          <a:ln w="6350">
            <a:solidFill>
              <a:srgbClr val="D55E00"/>
            </a:solidFill>
            <a:prstDash val="solid"/>
          </a:ln>
        </p:spPr>
      </p:sp>
      <p:sp>
        <p:nvSpPr>
          <p:cNvPr id="14" name="Text 12"/>
          <p:cNvSpPr txBox="1"/>
          <p:nvPr/>
        </p:nvSpPr>
        <p:spPr>
          <a:xfrm>
            <a:off x="4965192" y="2880360"/>
            <a:ext cx="1115568" cy="713232"/>
          </a:xfrm>
          <a:prstGeom prst="rect">
            <a:avLst/>
          </a:prstGeom>
          <a:noFill/>
          <a:ln/>
        </p:spPr>
        <p:txBody>
          <a:bodyPr wrap="square" lIns="0" tIns="0" rIns="0" bIns="0" rtlCol="0" anchor="ctr"/>
          <a:lstStyle/>
          <a:p>
            <a:pPr algn="ctr" indent="0" marL="0">
              <a:buNone/>
            </a:pPr>
            <a:r>
              <a:rPr lang="en-US" sz="1250" b="1" dirty="0">
                <a:solidFill>
                  <a:srgbClr val="FFFFFF"/>
                </a:solidFill>
              </a:rPr>
              <a:t>A2</a:t>
            </a:r>
            <a:endParaRPr lang="en-US" sz="1400" dirty="0"/>
          </a:p>
          <a:p>
            <a:pPr algn="ctr" indent="0" marL="0">
              <a:buNone/>
            </a:pPr>
            <a:r>
              <a:rPr lang="en-US" sz="1050" dirty="0">
                <a:solidFill>
                  <a:srgbClr val="E6ECF5"/>
                </a:solidFill>
              </a:rPr>
              <a:t>ZNE</a:t>
            </a:r>
            <a:endParaRPr lang="en-US" sz="1400" dirty="0"/>
          </a:p>
        </p:txBody>
      </p:sp>
      <p:sp>
        <p:nvSpPr>
          <p:cNvPr id="15" name="Shape 13"/>
          <p:cNvSpPr/>
          <p:nvPr/>
        </p:nvSpPr>
        <p:spPr>
          <a:xfrm>
            <a:off x="3108960" y="2093976"/>
            <a:ext cx="457200" cy="914"/>
          </a:xfrm>
          <a:prstGeom prst="line">
            <a:avLst/>
          </a:prstGeom>
          <a:noFill/>
          <a:ln w="19050">
            <a:solidFill>
              <a:srgbClr val="6B7280"/>
            </a:solidFill>
            <a:prstDash val="solid"/>
            <a:tailEnd type="triangle"/>
          </a:ln>
        </p:spPr>
      </p:sp>
      <p:sp>
        <p:nvSpPr>
          <p:cNvPr id="16" name="Text 14"/>
          <p:cNvSpPr txBox="1"/>
          <p:nvPr/>
        </p:nvSpPr>
        <p:spPr>
          <a:xfrm>
            <a:off x="3081528" y="1828800"/>
            <a:ext cx="502920" cy="228600"/>
          </a:xfrm>
          <a:prstGeom prst="rect">
            <a:avLst/>
          </a:prstGeom>
          <a:noFill/>
          <a:ln/>
        </p:spPr>
        <p:txBody>
          <a:bodyPr wrap="square" lIns="0" tIns="0" rIns="0" bIns="0" rtlCol="0" anchor="t"/>
          <a:lstStyle/>
          <a:p>
            <a:pPr algn="ctr" indent="0" marL="0">
              <a:buNone/>
            </a:pPr>
            <a:r>
              <a:rPr lang="en-US" sz="1000" b="1" dirty="0">
                <a:solidFill>
                  <a:schemeClr val="accent5"/>
                </a:solidFill>
              </a:rPr>
              <a:t>yes</a:t>
            </a:r>
            <a:endParaRPr lang="en-US" sz="1000" dirty="0"/>
          </a:p>
        </p:txBody>
      </p:sp>
      <p:sp>
        <p:nvSpPr>
          <p:cNvPr id="17" name="Shape 15"/>
          <p:cNvSpPr/>
          <p:nvPr/>
        </p:nvSpPr>
        <p:spPr>
          <a:xfrm>
            <a:off x="1828800" y="2450592"/>
            <a:ext cx="914" cy="429768"/>
          </a:xfrm>
          <a:prstGeom prst="line">
            <a:avLst/>
          </a:prstGeom>
          <a:noFill/>
          <a:ln w="19050">
            <a:solidFill>
              <a:srgbClr val="6B7280"/>
            </a:solidFill>
            <a:prstDash val="solid"/>
            <a:tailEnd type="triangle"/>
          </a:ln>
        </p:spPr>
      </p:sp>
      <p:sp>
        <p:nvSpPr>
          <p:cNvPr id="18" name="Text 16"/>
          <p:cNvSpPr txBox="1"/>
          <p:nvPr/>
        </p:nvSpPr>
        <p:spPr>
          <a:xfrm>
            <a:off x="1874520" y="2542032"/>
            <a:ext cx="502920" cy="228600"/>
          </a:xfrm>
          <a:prstGeom prst="rect">
            <a:avLst/>
          </a:prstGeom>
          <a:noFill/>
          <a:ln/>
        </p:spPr>
        <p:txBody>
          <a:bodyPr wrap="square" lIns="0" tIns="0" rIns="0" bIns="0" rtlCol="0" anchor="t"/>
          <a:lstStyle/>
          <a:p>
            <a:pPr algn="ctr" indent="0" marL="0">
              <a:buNone/>
            </a:pPr>
            <a:r>
              <a:rPr lang="en-US" sz="1000" b="1" dirty="0">
                <a:solidFill>
                  <a:schemeClr val="accent5"/>
                </a:solidFill>
              </a:rPr>
              <a:t>no</a:t>
            </a:r>
            <a:endParaRPr lang="en-US" sz="1000" dirty="0"/>
          </a:p>
        </p:txBody>
      </p:sp>
      <p:sp>
        <p:nvSpPr>
          <p:cNvPr id="19" name="Shape 17"/>
          <p:cNvSpPr/>
          <p:nvPr/>
        </p:nvSpPr>
        <p:spPr>
          <a:xfrm>
            <a:off x="4169664" y="2450592"/>
            <a:ext cx="914" cy="429768"/>
          </a:xfrm>
          <a:prstGeom prst="line">
            <a:avLst/>
          </a:prstGeom>
          <a:noFill/>
          <a:ln w="19050">
            <a:solidFill>
              <a:srgbClr val="6B7280"/>
            </a:solidFill>
            <a:prstDash val="solid"/>
            <a:tailEnd type="triangle"/>
          </a:ln>
        </p:spPr>
      </p:sp>
      <p:sp>
        <p:nvSpPr>
          <p:cNvPr id="20" name="Text 18"/>
          <p:cNvSpPr txBox="1"/>
          <p:nvPr/>
        </p:nvSpPr>
        <p:spPr>
          <a:xfrm>
            <a:off x="3657600" y="2542032"/>
            <a:ext cx="502920" cy="228600"/>
          </a:xfrm>
          <a:prstGeom prst="rect">
            <a:avLst/>
          </a:prstGeom>
          <a:noFill/>
          <a:ln/>
        </p:spPr>
        <p:txBody>
          <a:bodyPr wrap="square" lIns="0" tIns="0" rIns="0" bIns="0" rtlCol="0" anchor="t"/>
          <a:lstStyle/>
          <a:p>
            <a:pPr algn="ctr" indent="0" marL="0">
              <a:buNone/>
            </a:pPr>
            <a:r>
              <a:rPr lang="en-US" sz="1000" b="1" dirty="0">
                <a:solidFill>
                  <a:schemeClr val="accent5"/>
                </a:solidFill>
              </a:rPr>
              <a:t>yes</a:t>
            </a:r>
            <a:endParaRPr lang="en-US" sz="1000" dirty="0"/>
          </a:p>
        </p:txBody>
      </p:sp>
      <p:sp>
        <p:nvSpPr>
          <p:cNvPr id="21" name="Shape 19"/>
          <p:cNvSpPr/>
          <p:nvPr/>
        </p:nvSpPr>
        <p:spPr>
          <a:xfrm>
            <a:off x="5522976" y="2450592"/>
            <a:ext cx="914" cy="429768"/>
          </a:xfrm>
          <a:prstGeom prst="line">
            <a:avLst/>
          </a:prstGeom>
          <a:noFill/>
          <a:ln w="19050">
            <a:solidFill>
              <a:srgbClr val="6B7280"/>
            </a:solidFill>
            <a:prstDash val="solid"/>
            <a:tailEnd type="triangle"/>
          </a:ln>
        </p:spPr>
      </p:sp>
      <p:sp>
        <p:nvSpPr>
          <p:cNvPr id="22" name="Text 20"/>
          <p:cNvSpPr txBox="1"/>
          <p:nvPr/>
        </p:nvSpPr>
        <p:spPr>
          <a:xfrm>
            <a:off x="5577840" y="2542032"/>
            <a:ext cx="502920" cy="228600"/>
          </a:xfrm>
          <a:prstGeom prst="rect">
            <a:avLst/>
          </a:prstGeom>
          <a:noFill/>
          <a:ln/>
        </p:spPr>
        <p:txBody>
          <a:bodyPr wrap="square" lIns="0" tIns="0" rIns="0" bIns="0" rtlCol="0" anchor="t"/>
          <a:lstStyle/>
          <a:p>
            <a:pPr algn="ctr" indent="0" marL="0">
              <a:buNone/>
            </a:pPr>
            <a:r>
              <a:rPr lang="en-US" sz="1000" b="1" dirty="0">
                <a:solidFill>
                  <a:schemeClr val="accent5"/>
                </a:solidFill>
              </a:rPr>
              <a:t>no</a:t>
            </a:r>
            <a:endParaRPr lang="en-US" sz="1000" dirty="0"/>
          </a:p>
        </p:txBody>
      </p:sp>
      <p:sp>
        <p:nvSpPr>
          <p:cNvPr id="23" name="card-bg"/>
          <p:cNvSpPr/>
          <p:nvPr/>
        </p:nvSpPr>
        <p:spPr>
          <a:xfrm>
            <a:off x="548640" y="3794760"/>
            <a:ext cx="2743200" cy="1280160"/>
          </a:xfrm>
          <a:prstGeom prst="roundRect">
            <a:avLst>
              <a:gd name="adj" fmla="val 5000"/>
            </a:avLst>
          </a:prstGeom>
          <a:solidFill>
            <a:srgbClr val="F7E3E1"/>
          </a:solidFill>
          <a:ln w="6350">
            <a:solidFill>
              <a:srgbClr val="F7E3E1"/>
            </a:solidFill>
            <a:prstDash val="solid"/>
          </a:ln>
        </p:spPr>
      </p:sp>
      <p:sp>
        <p:nvSpPr>
          <p:cNvPr id="24" name="card-text"/>
          <p:cNvSpPr txBox="1"/>
          <p:nvPr/>
        </p:nvSpPr>
        <p:spPr>
          <a:xfrm>
            <a:off x="731520" y="3922776"/>
            <a:ext cx="2377440" cy="1060704"/>
          </a:xfrm>
          <a:prstGeom prst="rect">
            <a:avLst/>
          </a:prstGeom>
          <a:noFill/>
          <a:ln/>
        </p:spPr>
        <p:txBody>
          <a:bodyPr wrap="square" lIns="0" tIns="0" rIns="0" bIns="0" rtlCol="0" anchor="t"/>
          <a:lstStyle/>
          <a:p>
            <a:pPr indent="0" marL="0">
              <a:spcAft>
                <a:spcPts val="400"/>
              </a:spcAft>
              <a:buNone/>
            </a:pPr>
            <a:r>
              <a:rPr lang="en-US" sz="1550" b="1" dirty="0">
                <a:solidFill>
                  <a:schemeClr val="accent3"/>
                </a:solidFill>
              </a:rPr>
              <a:t>G3B → FAIL</a:t>
            </a:r>
            <a:endParaRPr lang="en-US" sz="1550" dirty="0"/>
          </a:p>
          <a:p>
            <a:pPr indent="0" marL="0">
              <a:spcAft>
                <a:spcPts val="400"/>
              </a:spcAft>
              <a:buNone/>
            </a:pPr>
            <a:r>
              <a:rPr lang="en-US" sz="1250" dirty="0">
                <a:solidFill>
                  <a:schemeClr val="tx1"/>
                </a:solidFill>
              </a:rPr>
              <a:t>category rule wrong in 0.33% of validation cases</a:t>
            </a:r>
            <a:endParaRPr lang="en-US" sz="1550" dirty="0"/>
          </a:p>
        </p:txBody>
      </p:sp>
      <p:sp>
        <p:nvSpPr>
          <p:cNvPr id="25" name="card-bg"/>
          <p:cNvSpPr/>
          <p:nvPr/>
        </p:nvSpPr>
        <p:spPr>
          <a:xfrm>
            <a:off x="3429000" y="3794760"/>
            <a:ext cx="2743200" cy="1280160"/>
          </a:xfrm>
          <a:prstGeom prst="roundRect">
            <a:avLst>
              <a:gd name="adj" fmla="val 5000"/>
            </a:avLst>
          </a:prstGeom>
          <a:solidFill>
            <a:srgbClr val="F7E3E1"/>
          </a:solidFill>
          <a:ln w="6350">
            <a:solidFill>
              <a:srgbClr val="F7E3E1"/>
            </a:solidFill>
            <a:prstDash val="solid"/>
          </a:ln>
        </p:spPr>
      </p:sp>
      <p:sp>
        <p:nvSpPr>
          <p:cNvPr id="26" name="card-text"/>
          <p:cNvSpPr txBox="1"/>
          <p:nvPr/>
        </p:nvSpPr>
        <p:spPr>
          <a:xfrm>
            <a:off x="3611880" y="3922776"/>
            <a:ext cx="2377440" cy="1060704"/>
          </a:xfrm>
          <a:prstGeom prst="rect">
            <a:avLst/>
          </a:prstGeom>
          <a:noFill/>
          <a:ln/>
        </p:spPr>
        <p:txBody>
          <a:bodyPr wrap="square" lIns="0" tIns="0" rIns="0" bIns="0" rtlCol="0" anchor="t"/>
          <a:lstStyle/>
          <a:p>
            <a:pPr indent="0" marL="0">
              <a:spcAft>
                <a:spcPts val="400"/>
              </a:spcAft>
              <a:buNone/>
            </a:pPr>
            <a:r>
              <a:rPr lang="en-US" sz="1550" b="1" dirty="0">
                <a:solidFill>
                  <a:schemeClr val="accent3"/>
                </a:solidFill>
              </a:rPr>
              <a:t>G3C → FAIL</a:t>
            </a:r>
            <a:endParaRPr lang="en-US" sz="1550" dirty="0"/>
          </a:p>
          <a:p>
            <a:pPr indent="0" marL="0">
              <a:spcAft>
                <a:spcPts val="400"/>
              </a:spcAft>
              <a:buNone/>
            </a:pPr>
            <a:r>
              <a:rPr lang="en-US" sz="1250" dirty="0">
                <a:solidFill>
                  <a:schemeClr val="tx1"/>
                </a:solidFill>
              </a:rPr>
              <a:t>R_thr material failure 2.0% [1.6, 2.7]</a:t>
            </a:r>
            <a:endParaRPr lang="en-US" sz="1550" dirty="0"/>
          </a:p>
        </p:txBody>
      </p:sp>
      <p:pic>
        <p:nvPicPr>
          <p:cNvPr id="27" name="fig5_preferred_actions.png" descr="/Users/mayankpokhriyal/Workspaces/q-trace/deliverables/figures/fig5_preferred_actions.png">    </p:cNvPr>
          <p:cNvPicPr>
            <a:picLocks noChangeAspect="1"/>
          </p:cNvPicPr>
          <p:nvPr/>
        </p:nvPicPr>
        <p:blipFill>
          <a:blip r:embed="rId1"/>
          <a:stretch>
            <a:fillRect/>
          </a:stretch>
        </p:blipFill>
        <p:spPr>
          <a:xfrm>
            <a:off x="6400800" y="2008986"/>
            <a:ext cx="5257800" cy="2382828"/>
          </a:xfrm>
          <a:prstGeom prst="rect">
            <a:avLst/>
          </a:prstGeom>
        </p:spPr>
      </p:pic>
      <p:sp>
        <p:nvSpPr>
          <p:cNvPr id="28" name="takeaway-bg"/>
          <p:cNvSpPr/>
          <p:nvPr/>
        </p:nvSpPr>
        <p:spPr>
          <a:xfrm>
            <a:off x="548640" y="5303520"/>
            <a:ext cx="11094415" cy="512064"/>
          </a:xfrm>
          <a:prstGeom prst="roundRect">
            <a:avLst>
              <a:gd name="adj" fmla="val 12500"/>
            </a:avLst>
          </a:prstGeom>
          <a:solidFill>
            <a:srgbClr val="E3F2F1"/>
          </a:solidFill>
          <a:ln w="6350">
            <a:solidFill>
              <a:srgbClr val="E3F2F1"/>
            </a:solidFill>
            <a:prstDash val="solid"/>
          </a:ln>
        </p:spPr>
      </p:sp>
      <p:sp>
        <p:nvSpPr>
          <p:cNvPr id="29" name="takeaway-icon-circle"/>
          <p:cNvSpPr/>
          <p:nvPr/>
        </p:nvSpPr>
        <p:spPr>
          <a:xfrm>
            <a:off x="676656" y="5385816"/>
            <a:ext cx="347472" cy="347472"/>
          </a:xfrm>
          <a:prstGeom prst="ellipse">
            <a:avLst/>
          </a:prstGeom>
          <a:solidFill>
            <a:srgbClr val="0F8B8D"/>
          </a:solidFill>
          <a:ln w="12700">
            <a:solidFill>
              <a:srgbClr val="0F8B8D"/>
            </a:solidFill>
            <a:prstDash val="solid"/>
          </a:ln>
        </p:spPr>
      </p:sp>
      <p:pic>
        <p:nvPicPr>
          <p:cNvPr id="30" name="takeaway-icon" descr="preencoded.png">    </p:cNvPr>
          <p:cNvPicPr>
            <a:picLocks noChangeAspect="1"/>
          </p:cNvPicPr>
          <p:nvPr/>
        </p:nvPicPr>
        <p:blipFill>
          <a:blip r:embed="rId2"/>
          <a:stretch>
            <a:fillRect/>
          </a:stretch>
        </p:blipFill>
        <p:spPr>
          <a:xfrm>
            <a:off x="760049" y="5469209"/>
            <a:ext cx="180685" cy="180685"/>
          </a:xfrm>
          <a:prstGeom prst="rect">
            <a:avLst/>
          </a:prstGeom>
        </p:spPr>
      </p:pic>
      <p:sp>
        <p:nvSpPr>
          <p:cNvPr id="31" name="takeaway"/>
          <p:cNvSpPr txBox="1"/>
          <p:nvPr/>
        </p:nvSpPr>
        <p:spPr>
          <a:xfrm>
            <a:off x="1170432" y="530352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As registered, no learned controller was trained; fixed learned comparators were tested instead.</a:t>
            </a:r>
            <a:endParaRPr lang="en-US" sz="1550" dirty="0"/>
          </a:p>
        </p:txBody>
      </p:sp>
      <p:sp>
        <p:nvSpPr>
          <p:cNvPr id="32" name="source"/>
          <p:cNvSpPr txBox="1"/>
          <p:nvPr/>
        </p:nvSpPr>
        <p:spPr>
          <a:xfrm>
            <a:off x="548640" y="596188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p5b_metadata.json, p5c_metadata.json, final_metadata.json</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ONE-TIME SEALED TEST, OCTOBER 8, 2026  ·  16 UNSEEN MODELS, 4 UNSEEN STRUCTURES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Final held-out results</a:t>
            </a:r>
            <a:endParaRPr lang="en-US" sz="2800" dirty="0"/>
          </a:p>
        </p:txBody>
      </p:sp>
      <p:pic>
        <p:nvPicPr>
          <p:cNvPr id="4" name="fig8_final_heldout.png" descr="/Users/mayankpokhriyal/Workspaces/q-trace/deliverables/figures/fig8_final_heldout.png">    </p:cNvPr>
          <p:cNvPicPr>
            <a:picLocks noChangeAspect="1"/>
          </p:cNvPicPr>
          <p:nvPr/>
        </p:nvPicPr>
        <p:blipFill>
          <a:blip r:embed="rId1"/>
          <a:stretch>
            <a:fillRect/>
          </a:stretch>
        </p:blipFill>
        <p:spPr>
          <a:xfrm>
            <a:off x="457200" y="1653219"/>
            <a:ext cx="7315200" cy="3185802"/>
          </a:xfrm>
          <a:prstGeom prst="rect">
            <a:avLst/>
          </a:prstGeom>
        </p:spPr>
      </p:pic>
      <p:sp>
        <p:nvSpPr>
          <p:cNvPr id="5" name="stat-value"/>
          <p:cNvSpPr txBox="1"/>
          <p:nvPr/>
        </p:nvSpPr>
        <p:spPr>
          <a:xfrm>
            <a:off x="8046720" y="1325880"/>
            <a:ext cx="3611880" cy="52753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2.0%</a:t>
            </a:r>
            <a:endParaRPr lang="en-US" sz="3000" dirty="0"/>
          </a:p>
        </p:txBody>
      </p:sp>
      <p:sp>
        <p:nvSpPr>
          <p:cNvPr id="6" name="stat-label"/>
          <p:cNvSpPr txBox="1"/>
          <p:nvPr/>
        </p:nvSpPr>
        <p:spPr>
          <a:xfrm>
            <a:off x="8046720" y="1889994"/>
            <a:ext cx="3611880" cy="411480"/>
          </a:xfrm>
          <a:prstGeom prst="rect">
            <a:avLst/>
          </a:prstGeom>
          <a:noFill/>
          <a:ln/>
        </p:spPr>
        <p:txBody>
          <a:bodyPr wrap="square" lIns="0" tIns="0" rIns="0" bIns="0" rtlCol="0" anchor="t"/>
          <a:lstStyle/>
          <a:p>
            <a:pPr indent="0" marL="0">
              <a:buNone/>
            </a:pPr>
            <a:r>
              <a:rPr lang="en-US" sz="1250" dirty="0">
                <a:solidFill>
                  <a:schemeClr val="tx1"/>
                </a:solidFill>
              </a:rPr>
              <a:t>material errors, rule (95% CI 1.4–2.6%; 4 structures, likely too narrow)</a:t>
            </a:r>
            <a:endParaRPr lang="en-US" sz="1250" dirty="0"/>
          </a:p>
        </p:txBody>
      </p:sp>
      <p:sp>
        <p:nvSpPr>
          <p:cNvPr id="7" name="stat-value"/>
          <p:cNvSpPr txBox="1"/>
          <p:nvPr/>
        </p:nvSpPr>
        <p:spPr>
          <a:xfrm>
            <a:off x="8046720" y="2377440"/>
            <a:ext cx="3611880" cy="527538"/>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2.1%</a:t>
            </a:r>
            <a:endParaRPr lang="en-US" sz="3000" dirty="0"/>
          </a:p>
        </p:txBody>
      </p:sp>
      <p:sp>
        <p:nvSpPr>
          <p:cNvPr id="8" name="stat-label"/>
          <p:cNvSpPr txBox="1"/>
          <p:nvPr/>
        </p:nvSpPr>
        <p:spPr>
          <a:xfrm>
            <a:off x="8046720" y="2941554"/>
            <a:ext cx="3611880" cy="411480"/>
          </a:xfrm>
          <a:prstGeom prst="rect">
            <a:avLst/>
          </a:prstGeom>
          <a:noFill/>
          <a:ln/>
        </p:spPr>
        <p:txBody>
          <a:bodyPr wrap="square" lIns="0" tIns="0" rIns="0" bIns="0" rtlCol="0" anchor="t"/>
          <a:lstStyle/>
          <a:p>
            <a:pPr indent="0" marL="0">
              <a:buNone/>
            </a:pPr>
            <a:r>
              <a:rPr lang="en-US" sz="1250" dirty="0">
                <a:solidFill>
                  <a:schemeClr val="tx1"/>
                </a:solidFill>
              </a:rPr>
              <a:t>best learned (gradient boosting): a tie</a:t>
            </a:r>
            <a:endParaRPr lang="en-US" sz="1250" dirty="0"/>
          </a:p>
        </p:txBody>
      </p:sp>
      <p:sp>
        <p:nvSpPr>
          <p:cNvPr id="9" name="stat-value"/>
          <p:cNvSpPr txBox="1"/>
          <p:nvPr/>
        </p:nvSpPr>
        <p:spPr>
          <a:xfrm>
            <a:off x="8046720" y="3429000"/>
            <a:ext cx="3611880" cy="527538"/>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8.8%</a:t>
            </a:r>
            <a:endParaRPr lang="en-US" sz="3000" dirty="0"/>
          </a:p>
        </p:txBody>
      </p:sp>
      <p:sp>
        <p:nvSpPr>
          <p:cNvPr id="10" name="stat-label"/>
          <p:cNvSpPr txBox="1"/>
          <p:nvPr/>
        </p:nvSpPr>
        <p:spPr>
          <a:xfrm>
            <a:off x="8046720" y="3993114"/>
            <a:ext cx="3611880" cy="411480"/>
          </a:xfrm>
          <a:prstGeom prst="rect">
            <a:avLst/>
          </a:prstGeom>
          <a:noFill/>
          <a:ln/>
        </p:spPr>
        <p:txBody>
          <a:bodyPr wrap="square" lIns="0" tIns="0" rIns="0" bIns="0" rtlCol="0" anchor="t"/>
          <a:lstStyle/>
          <a:p>
            <a:pPr indent="0" marL="0">
              <a:buNone/>
            </a:pPr>
            <a:r>
              <a:rPr lang="en-US" sz="1250" dirty="0">
                <a:solidFill>
                  <a:schemeClr val="tx1"/>
                </a:solidFill>
              </a:rPr>
              <a:t>rule, categorical test (bound 10%)</a:t>
            </a:r>
            <a:endParaRPr lang="en-US" sz="1250" dirty="0"/>
          </a:p>
        </p:txBody>
      </p:sp>
      <p:sp>
        <p:nvSpPr>
          <p:cNvPr id="11" name="chip-bg"/>
          <p:cNvSpPr/>
          <p:nvPr/>
        </p:nvSpPr>
        <p:spPr>
          <a:xfrm>
            <a:off x="8046720" y="4526280"/>
            <a:ext cx="804672" cy="329184"/>
          </a:xfrm>
          <a:prstGeom prst="roundRect">
            <a:avLst>
              <a:gd name="adj" fmla="val 44444"/>
            </a:avLst>
          </a:prstGeom>
          <a:solidFill>
            <a:srgbClr val="0F8B8D"/>
          </a:solidFill>
          <a:ln w="12700">
            <a:solidFill>
              <a:srgbClr val="0F8B8D"/>
            </a:solidFill>
            <a:prstDash val="solid"/>
          </a:ln>
        </p:spPr>
      </p:sp>
      <p:sp>
        <p:nvSpPr>
          <p:cNvPr id="12" name="chip"/>
          <p:cNvSpPr txBox="1"/>
          <p:nvPr/>
        </p:nvSpPr>
        <p:spPr>
          <a:xfrm>
            <a:off x="8046720" y="4526280"/>
            <a:ext cx="804672" cy="329184"/>
          </a:xfrm>
          <a:prstGeom prst="rect">
            <a:avLst/>
          </a:prstGeom>
          <a:noFill/>
          <a:ln/>
        </p:spPr>
        <p:txBody>
          <a:bodyPr wrap="square" lIns="0" tIns="0" rIns="0" bIns="0" rtlCol="0" anchor="ctr"/>
          <a:lstStyle/>
          <a:p>
            <a:pPr algn="ctr" indent="0" marL="0">
              <a:buNone/>
            </a:pPr>
            <a:r>
              <a:rPr lang="en-US" sz="1150" b="1" dirty="0">
                <a:solidFill>
                  <a:srgbClr val="FFFFFF"/>
                </a:solidFill>
              </a:rPr>
              <a:t>H1 ✓</a:t>
            </a:r>
            <a:endParaRPr lang="en-US" sz="1150" dirty="0"/>
          </a:p>
        </p:txBody>
      </p:sp>
      <p:sp>
        <p:nvSpPr>
          <p:cNvPr id="13" name="chip-bg"/>
          <p:cNvSpPr/>
          <p:nvPr/>
        </p:nvSpPr>
        <p:spPr>
          <a:xfrm>
            <a:off x="8942832" y="4526280"/>
            <a:ext cx="804672" cy="329184"/>
          </a:xfrm>
          <a:prstGeom prst="roundRect">
            <a:avLst>
              <a:gd name="adj" fmla="val 44444"/>
            </a:avLst>
          </a:prstGeom>
          <a:solidFill>
            <a:srgbClr val="0F8B8D"/>
          </a:solidFill>
          <a:ln w="12700">
            <a:solidFill>
              <a:srgbClr val="0F8B8D"/>
            </a:solidFill>
            <a:prstDash val="solid"/>
          </a:ln>
        </p:spPr>
      </p:sp>
      <p:sp>
        <p:nvSpPr>
          <p:cNvPr id="14" name="chip"/>
          <p:cNvSpPr txBox="1"/>
          <p:nvPr/>
        </p:nvSpPr>
        <p:spPr>
          <a:xfrm>
            <a:off x="8942832" y="4526280"/>
            <a:ext cx="804672" cy="329184"/>
          </a:xfrm>
          <a:prstGeom prst="rect">
            <a:avLst/>
          </a:prstGeom>
          <a:noFill/>
          <a:ln/>
        </p:spPr>
        <p:txBody>
          <a:bodyPr wrap="square" lIns="0" tIns="0" rIns="0" bIns="0" rtlCol="0" anchor="ctr"/>
          <a:lstStyle/>
          <a:p>
            <a:pPr algn="ctr" indent="0" marL="0">
              <a:buNone/>
            </a:pPr>
            <a:r>
              <a:rPr lang="en-US" sz="1150" b="1" dirty="0">
                <a:solidFill>
                  <a:srgbClr val="FFFFFF"/>
                </a:solidFill>
              </a:rPr>
              <a:t>H2 ✓</a:t>
            </a:r>
            <a:endParaRPr lang="en-US" sz="1150" dirty="0"/>
          </a:p>
        </p:txBody>
      </p:sp>
      <p:sp>
        <p:nvSpPr>
          <p:cNvPr id="15" name="chip-bg"/>
          <p:cNvSpPr/>
          <p:nvPr/>
        </p:nvSpPr>
        <p:spPr>
          <a:xfrm>
            <a:off x="9838944" y="4526280"/>
            <a:ext cx="804672" cy="329184"/>
          </a:xfrm>
          <a:prstGeom prst="roundRect">
            <a:avLst>
              <a:gd name="adj" fmla="val 44444"/>
            </a:avLst>
          </a:prstGeom>
          <a:solidFill>
            <a:srgbClr val="0F8B8D"/>
          </a:solidFill>
          <a:ln w="12700">
            <a:solidFill>
              <a:srgbClr val="0F8B8D"/>
            </a:solidFill>
            <a:prstDash val="solid"/>
          </a:ln>
        </p:spPr>
      </p:sp>
      <p:sp>
        <p:nvSpPr>
          <p:cNvPr id="16" name="chip"/>
          <p:cNvSpPr txBox="1"/>
          <p:nvPr/>
        </p:nvSpPr>
        <p:spPr>
          <a:xfrm>
            <a:off x="9838944" y="4526280"/>
            <a:ext cx="804672" cy="329184"/>
          </a:xfrm>
          <a:prstGeom prst="rect">
            <a:avLst/>
          </a:prstGeom>
          <a:noFill/>
          <a:ln/>
        </p:spPr>
        <p:txBody>
          <a:bodyPr wrap="square" lIns="0" tIns="0" rIns="0" bIns="0" rtlCol="0" anchor="ctr"/>
          <a:lstStyle/>
          <a:p>
            <a:pPr algn="ctr" indent="0" marL="0">
              <a:buNone/>
            </a:pPr>
            <a:r>
              <a:rPr lang="en-US" sz="1150" b="1" dirty="0">
                <a:solidFill>
                  <a:srgbClr val="FFFFFF"/>
                </a:solidFill>
              </a:rPr>
              <a:t>H3 ✓</a:t>
            </a:r>
            <a:endParaRPr lang="en-US" sz="1150" dirty="0"/>
          </a:p>
        </p:txBody>
      </p:sp>
      <p:sp>
        <p:nvSpPr>
          <p:cNvPr id="17" name="chip-bg"/>
          <p:cNvSpPr/>
          <p:nvPr/>
        </p:nvSpPr>
        <p:spPr>
          <a:xfrm>
            <a:off x="10735056" y="4526280"/>
            <a:ext cx="804672" cy="329184"/>
          </a:xfrm>
          <a:prstGeom prst="roundRect">
            <a:avLst>
              <a:gd name="adj" fmla="val 44444"/>
            </a:avLst>
          </a:prstGeom>
          <a:solidFill>
            <a:srgbClr val="0F8B8D"/>
          </a:solidFill>
          <a:ln w="12700">
            <a:solidFill>
              <a:srgbClr val="0F8B8D"/>
            </a:solidFill>
            <a:prstDash val="solid"/>
          </a:ln>
        </p:spPr>
      </p:sp>
      <p:sp>
        <p:nvSpPr>
          <p:cNvPr id="18" name="chip"/>
          <p:cNvSpPr txBox="1"/>
          <p:nvPr/>
        </p:nvSpPr>
        <p:spPr>
          <a:xfrm>
            <a:off x="10735056" y="4526280"/>
            <a:ext cx="804672" cy="329184"/>
          </a:xfrm>
          <a:prstGeom prst="rect">
            <a:avLst/>
          </a:prstGeom>
          <a:noFill/>
          <a:ln/>
        </p:spPr>
        <p:txBody>
          <a:bodyPr wrap="square" lIns="0" tIns="0" rIns="0" bIns="0" rtlCol="0" anchor="ctr"/>
          <a:lstStyle/>
          <a:p>
            <a:pPr algn="ctr" indent="0" marL="0">
              <a:buNone/>
            </a:pPr>
            <a:r>
              <a:rPr lang="en-US" sz="1150" b="1" dirty="0">
                <a:solidFill>
                  <a:srgbClr val="FFFFFF"/>
                </a:solidFill>
              </a:rPr>
              <a:t>H4 ✓</a:t>
            </a:r>
            <a:endParaRPr lang="en-US" sz="1150" dirty="0"/>
          </a:p>
        </p:txBody>
      </p:sp>
      <p:sp>
        <p:nvSpPr>
          <p:cNvPr id="19" name="takeaway-bg"/>
          <p:cNvSpPr/>
          <p:nvPr/>
        </p:nvSpPr>
        <p:spPr>
          <a:xfrm>
            <a:off x="548640" y="5394960"/>
            <a:ext cx="11094415" cy="512064"/>
          </a:xfrm>
          <a:prstGeom prst="roundRect">
            <a:avLst>
              <a:gd name="adj" fmla="val 12500"/>
            </a:avLst>
          </a:prstGeom>
          <a:solidFill>
            <a:srgbClr val="E3F2F1"/>
          </a:solidFill>
          <a:ln w="6350">
            <a:solidFill>
              <a:srgbClr val="E3F2F1"/>
            </a:solidFill>
            <a:prstDash val="solid"/>
          </a:ln>
        </p:spPr>
      </p:sp>
      <p:sp>
        <p:nvSpPr>
          <p:cNvPr id="20" name="takeaway-icon-circle"/>
          <p:cNvSpPr/>
          <p:nvPr/>
        </p:nvSpPr>
        <p:spPr>
          <a:xfrm>
            <a:off x="676656" y="5477256"/>
            <a:ext cx="347472" cy="347472"/>
          </a:xfrm>
          <a:prstGeom prst="ellipse">
            <a:avLst/>
          </a:prstGeom>
          <a:solidFill>
            <a:srgbClr val="0F8B8D"/>
          </a:solidFill>
          <a:ln w="12700">
            <a:solidFill>
              <a:srgbClr val="0F8B8D"/>
            </a:solidFill>
            <a:prstDash val="solid"/>
          </a:ln>
        </p:spPr>
      </p:sp>
      <p:pic>
        <p:nvPicPr>
          <p:cNvPr id="21" name="takeaway-icon" descr="preencoded.png">    </p:cNvPr>
          <p:cNvPicPr>
            <a:picLocks noChangeAspect="1"/>
          </p:cNvPicPr>
          <p:nvPr/>
        </p:nvPicPr>
        <p:blipFill>
          <a:blip r:embed="rId2"/>
          <a:stretch>
            <a:fillRect/>
          </a:stretch>
        </p:blipFill>
        <p:spPr>
          <a:xfrm>
            <a:off x="760049" y="5560649"/>
            <a:ext cx="180685" cy="180685"/>
          </a:xfrm>
          <a:prstGeom prst="rect">
            <a:avLst/>
          </a:prstGeom>
        </p:spPr>
      </p:pic>
      <p:sp>
        <p:nvSpPr>
          <p:cNvPr id="22" name="takeaway"/>
          <p:cNvSpPr txBox="1"/>
          <p:nvPr/>
        </p:nvSpPr>
        <p:spPr>
          <a:xfrm>
            <a:off x="1170432" y="539496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Any disagreement: gradient boosting 6.5% vs rule 21.9%, mostly on mean-Z, where the rule's extra choices were cheap.</a:t>
            </a:r>
            <a:endParaRPr lang="en-US" sz="1550" dirty="0"/>
          </a:p>
        </p:txBody>
      </p:sp>
      <p:sp>
        <p:nvSpPr>
          <p:cNvPr id="23" name="source"/>
          <p:cNvSpPr txBox="1"/>
          <p:nvPr/>
        </p:nvSpPr>
        <p:spPr>
          <a:xfrm>
            <a:off x="548640" y="605332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final_policies_5c_test.csv, final_policies_5b_test.csv, final_paired_vs_rthr_5c_test.csv, final_metadata.json</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SEALED TEST, OCTOBER 8, 2026  ·  SHOTS PER INFERENCE INCLUDING PROBES</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Cost–reliability findings</a:t>
            </a:r>
            <a:endParaRPr lang="en-US" sz="2800" dirty="0"/>
          </a:p>
        </p:txBody>
      </p:sp>
      <p:pic>
        <p:nvPicPr>
          <p:cNvPr id="4" name="cost_reliability_slide.png" descr="/Users/mayankpokhriyal/Workspaces/q-trace/deliverables/presentations/semester/_system/figures/cost_reliability_slide.png">    </p:cNvPr>
          <p:cNvPicPr>
            <a:picLocks noChangeAspect="1"/>
          </p:cNvPicPr>
          <p:nvPr/>
        </p:nvPicPr>
        <p:blipFill>
          <a:blip r:embed="rId1"/>
          <a:stretch>
            <a:fillRect/>
          </a:stretch>
        </p:blipFill>
        <p:spPr>
          <a:xfrm>
            <a:off x="1140043" y="1280160"/>
            <a:ext cx="5949513" cy="3794760"/>
          </a:xfrm>
          <a:prstGeom prst="rect">
            <a:avLst/>
          </a:prstGeom>
        </p:spPr>
      </p:pic>
      <p:sp>
        <p:nvSpPr>
          <p:cNvPr id="5" name="stat-value"/>
          <p:cNvSpPr txBox="1"/>
          <p:nvPr/>
        </p:nvSpPr>
        <p:spPr>
          <a:xfrm>
            <a:off x="8046720" y="1325880"/>
            <a:ext cx="3611880" cy="527538"/>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6" name="stat-label"/>
          <p:cNvSpPr txBox="1"/>
          <p:nvPr/>
        </p:nvSpPr>
        <p:spPr>
          <a:xfrm>
            <a:off x="8046720" y="1889994"/>
            <a:ext cx="3611880" cy="365760"/>
          </a:xfrm>
          <a:prstGeom prst="rect">
            <a:avLst/>
          </a:prstGeom>
          <a:noFill/>
          <a:ln/>
        </p:spPr>
        <p:txBody>
          <a:bodyPr wrap="square" lIns="0" tIns="0" rIns="0" bIns="0" rtlCol="0" anchor="t"/>
          <a:lstStyle/>
          <a:p>
            <a:pPr indent="0" marL="0">
              <a:buNone/>
            </a:pPr>
            <a:r>
              <a:rPr lang="en-US" sz="1250" dirty="0">
                <a:solidFill>
                  <a:schemeClr val="tx1"/>
                </a:solidFill>
              </a:rPr>
              <a:t>shots vs the Oracle (rule)</a:t>
            </a:r>
            <a:endParaRPr lang="en-US" sz="1250" dirty="0"/>
          </a:p>
        </p:txBody>
      </p:sp>
      <p:sp>
        <p:nvSpPr>
          <p:cNvPr id="7" name="stat-value"/>
          <p:cNvSpPr txBox="1"/>
          <p:nvPr/>
        </p:nvSpPr>
        <p:spPr>
          <a:xfrm>
            <a:off x="8046720" y="2331720"/>
            <a:ext cx="3611880" cy="52753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−3.4%</a:t>
            </a:r>
            <a:endParaRPr lang="en-US" sz="3000" dirty="0"/>
          </a:p>
        </p:txBody>
      </p:sp>
      <p:sp>
        <p:nvSpPr>
          <p:cNvPr id="8" name="stat-label"/>
          <p:cNvSpPr txBox="1"/>
          <p:nvPr/>
        </p:nvSpPr>
        <p:spPr>
          <a:xfrm>
            <a:off x="8046720" y="2895834"/>
            <a:ext cx="3611880" cy="365760"/>
          </a:xfrm>
          <a:prstGeom prst="rect">
            <a:avLst/>
          </a:prstGeom>
          <a:noFill/>
          <a:ln/>
        </p:spPr>
        <p:txBody>
          <a:bodyPr wrap="square" lIns="0" tIns="0" rIns="0" bIns="0" rtlCol="0" anchor="t"/>
          <a:lstStyle/>
          <a:p>
            <a:pPr indent="0" marL="0">
              <a:buNone/>
            </a:pPr>
            <a:r>
              <a:rPr lang="en-US" sz="1250" dirty="0">
                <a:solidFill>
                  <a:schemeClr val="tx1"/>
                </a:solidFill>
              </a:rPr>
              <a:t>shots vs always-combined</a:t>
            </a:r>
            <a:endParaRPr lang="en-US" sz="1250" dirty="0"/>
          </a:p>
        </p:txBody>
      </p:sp>
      <p:sp>
        <p:nvSpPr>
          <p:cNvPr id="9" name="stat-value"/>
          <p:cNvSpPr txBox="1"/>
          <p:nvPr/>
        </p:nvSpPr>
        <p:spPr>
          <a:xfrm>
            <a:off x="8046720" y="3337560"/>
            <a:ext cx="3611880" cy="527538"/>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0.35× · 96%</a:t>
            </a:r>
            <a:endParaRPr lang="en-US" sz="3000" dirty="0"/>
          </a:p>
        </p:txBody>
      </p:sp>
      <p:sp>
        <p:nvSpPr>
          <p:cNvPr id="10" name="stat-label"/>
          <p:cNvSpPr txBox="1"/>
          <p:nvPr/>
        </p:nvSpPr>
        <p:spPr>
          <a:xfrm>
            <a:off x="8046720" y="3901674"/>
            <a:ext cx="3611880" cy="365760"/>
          </a:xfrm>
          <a:prstGeom prst="rect">
            <a:avLst/>
          </a:prstGeom>
          <a:noFill/>
          <a:ln/>
        </p:spPr>
        <p:txBody>
          <a:bodyPr wrap="square" lIns="0" tIns="0" rIns="0" bIns="0" rtlCol="0" anchor="t"/>
          <a:lstStyle/>
          <a:p>
            <a:pPr indent="0" marL="0">
              <a:buNone/>
            </a:pPr>
            <a:r>
              <a:rPr lang="en-US" sz="1250" dirty="0">
                <a:solidFill>
                  <a:schemeClr val="tx1"/>
                </a:solidFill>
              </a:rPr>
              <a:t>never mitigate: shots · material errors</a:t>
            </a:r>
            <a:endParaRPr lang="en-US" sz="1250" dirty="0"/>
          </a:p>
        </p:txBody>
      </p:sp>
      <p:sp>
        <p:nvSpPr>
          <p:cNvPr id="11" name="card-bg"/>
          <p:cNvSpPr/>
          <p:nvPr/>
        </p:nvSpPr>
        <p:spPr>
          <a:xfrm>
            <a:off x="8046720" y="4343400"/>
            <a:ext cx="3611880" cy="777240"/>
          </a:xfrm>
          <a:prstGeom prst="roundRect">
            <a:avLst>
              <a:gd name="adj" fmla="val 8235"/>
            </a:avLst>
          </a:prstGeom>
          <a:solidFill>
            <a:srgbClr val="FBEFD9"/>
          </a:solidFill>
          <a:ln w="6350">
            <a:solidFill>
              <a:srgbClr val="FBEFD9"/>
            </a:solidFill>
            <a:prstDash val="solid"/>
          </a:ln>
        </p:spPr>
      </p:sp>
      <p:sp>
        <p:nvSpPr>
          <p:cNvPr id="12" name="card-text"/>
          <p:cNvSpPr txBox="1"/>
          <p:nvPr/>
        </p:nvSpPr>
        <p:spPr>
          <a:xfrm>
            <a:off x="8229600" y="4471416"/>
            <a:ext cx="3246120" cy="557784"/>
          </a:xfrm>
          <a:prstGeom prst="rect">
            <a:avLst/>
          </a:prstGeom>
          <a:noFill/>
          <a:ln/>
        </p:spPr>
        <p:txBody>
          <a:bodyPr wrap="square" lIns="0" tIns="0" rIns="0" bIns="0" rtlCol="0" anchor="t"/>
          <a:lstStyle/>
          <a:p>
            <a:pPr indent="0" marL="0">
              <a:spcAft>
                <a:spcPts val="400"/>
              </a:spcAft>
              <a:buNone/>
            </a:pPr>
            <a:r>
              <a:rPr lang="en-US" sz="1250" dirty="0">
                <a:solidFill>
                  <a:schemeClr val="tx1"/>
                </a:solidFill>
              </a:rPr>
              <a:t>Always-combined's 5.9% = 1 gate-free setting in 17</a:t>
            </a:r>
            <a:endParaRPr lang="en-US" sz="1250" dirty="0"/>
          </a:p>
        </p:txBody>
      </p:sp>
      <p:sp>
        <p:nvSpPr>
          <p:cNvPr id="13" name="takeaway-bg"/>
          <p:cNvSpPr/>
          <p:nvPr/>
        </p:nvSpPr>
        <p:spPr>
          <a:xfrm>
            <a:off x="548640" y="5349240"/>
            <a:ext cx="11094415" cy="512064"/>
          </a:xfrm>
          <a:prstGeom prst="roundRect">
            <a:avLst>
              <a:gd name="adj" fmla="val 12500"/>
            </a:avLst>
          </a:prstGeom>
          <a:solidFill>
            <a:srgbClr val="E3F2F1"/>
          </a:solidFill>
          <a:ln w="6350">
            <a:solidFill>
              <a:srgbClr val="E3F2F1"/>
            </a:solidFill>
            <a:prstDash val="solid"/>
          </a:ln>
        </p:spPr>
      </p:sp>
      <p:sp>
        <p:nvSpPr>
          <p:cNvPr id="14" name="takeaway-icon-circle"/>
          <p:cNvSpPr/>
          <p:nvPr/>
        </p:nvSpPr>
        <p:spPr>
          <a:xfrm>
            <a:off x="676656" y="5431536"/>
            <a:ext cx="347472" cy="347472"/>
          </a:xfrm>
          <a:prstGeom prst="ellipse">
            <a:avLst/>
          </a:prstGeom>
          <a:solidFill>
            <a:srgbClr val="0F8B8D"/>
          </a:solidFill>
          <a:ln w="12700">
            <a:solidFill>
              <a:srgbClr val="0F8B8D"/>
            </a:solidFill>
            <a:prstDash val="solid"/>
          </a:ln>
        </p:spPr>
      </p:sp>
      <p:pic>
        <p:nvPicPr>
          <p:cNvPr id="15" name="takeaway-icon" descr="preencoded.png">    </p:cNvPr>
          <p:cNvPicPr>
            <a:picLocks noChangeAspect="1"/>
          </p:cNvPicPr>
          <p:nvPr/>
        </p:nvPicPr>
        <p:blipFill>
          <a:blip r:embed="rId2"/>
          <a:stretch>
            <a:fillRect/>
          </a:stretch>
        </p:blipFill>
        <p:spPr>
          <a:xfrm>
            <a:off x="760049" y="5514929"/>
            <a:ext cx="180685" cy="180685"/>
          </a:xfrm>
          <a:prstGeom prst="rect">
            <a:avLst/>
          </a:prstGeom>
        </p:spPr>
      </p:pic>
      <p:sp>
        <p:nvSpPr>
          <p:cNvPr id="16" name="takeaway"/>
          <p:cNvSpPr txBox="1"/>
          <p:nvPr/>
        </p:nvSpPr>
        <p:spPr>
          <a:xfrm>
            <a:off x="1170432" y="534924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The saving over always-combined depends on how often batches are gate-free.</a:t>
            </a:r>
            <a:endParaRPr lang="en-US" sz="1550" dirty="0"/>
          </a:p>
        </p:txBody>
      </p:sp>
      <p:sp>
        <p:nvSpPr>
          <p:cNvPr id="17" name="source"/>
          <p:cNvSpPr txBox="1"/>
          <p:nvPr/>
        </p:nvSpPr>
        <p:spPr>
          <a:xfrm>
            <a:off x="548640" y="6016752"/>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final_policies_5c_test.csv, p5c_design.csv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WHAT THE EVIDENCE CANNOT SHOW</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Limitations and threats to validity</a:t>
            </a:r>
            <a:endParaRPr lang="en-US" sz="2800" dirty="0"/>
          </a:p>
        </p:txBody>
      </p:sp>
      <p:sp>
        <p:nvSpPr>
          <p:cNvPr id="4" name="lim-0-circle"/>
          <p:cNvSpPr/>
          <p:nvPr/>
        </p:nvSpPr>
        <p:spPr>
          <a:xfrm>
            <a:off x="548640" y="1371600"/>
            <a:ext cx="685800" cy="685800"/>
          </a:xfrm>
          <a:prstGeom prst="ellipse">
            <a:avLst/>
          </a:prstGeom>
          <a:solidFill>
            <a:srgbClr val="C0392B"/>
          </a:solidFill>
          <a:ln w="12700">
            <a:solidFill>
              <a:srgbClr val="C0392B"/>
            </a:solidFill>
            <a:prstDash val="solid"/>
          </a:ln>
        </p:spPr>
      </p:sp>
      <p:pic>
        <p:nvPicPr>
          <p:cNvPr id="5" name="lim-0"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6" name="Text 3"/>
          <p:cNvSpPr txBox="1"/>
          <p:nvPr/>
        </p:nvSpPr>
        <p:spPr>
          <a:xfrm>
            <a:off x="1417320" y="132588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Simulation only</a:t>
            </a:r>
            <a:endParaRPr lang="en-US" sz="1400" dirty="0"/>
          </a:p>
          <a:p>
            <a:pPr indent="0" marL="0">
              <a:buNone/>
            </a:pPr>
            <a:r>
              <a:rPr lang="en-US" sz="1300" dirty="0">
                <a:solidFill>
                  <a:schemeClr val="tx1"/>
                </a:solidFill>
              </a:rPr>
              <a:t>no hardware run; asymmetric readout synthetic; no crosstalk, drift or coherent errors</a:t>
            </a:r>
            <a:endParaRPr lang="en-US" sz="1400" dirty="0"/>
          </a:p>
        </p:txBody>
      </p:sp>
      <p:sp>
        <p:nvSpPr>
          <p:cNvPr id="7" name="lim-1-circle"/>
          <p:cNvSpPr/>
          <p:nvPr/>
        </p:nvSpPr>
        <p:spPr>
          <a:xfrm>
            <a:off x="6172200" y="1371600"/>
            <a:ext cx="685800" cy="685800"/>
          </a:xfrm>
          <a:prstGeom prst="ellipse">
            <a:avLst/>
          </a:prstGeom>
          <a:solidFill>
            <a:srgbClr val="C0392B"/>
          </a:solidFill>
          <a:ln w="12700">
            <a:solidFill>
              <a:srgbClr val="C0392B"/>
            </a:solidFill>
            <a:prstDash val="solid"/>
          </a:ln>
        </p:spPr>
      </p:sp>
      <p:pic>
        <p:nvPicPr>
          <p:cNvPr id="8" name="lim-1" descr="preencoded.png">    </p:cNvPr>
          <p:cNvPicPr>
            <a:picLocks noChangeAspect="1"/>
          </p:cNvPicPr>
          <p:nvPr/>
        </p:nvPicPr>
        <p:blipFill>
          <a:blip r:embed="rId2"/>
          <a:stretch>
            <a:fillRect/>
          </a:stretch>
        </p:blipFill>
        <p:spPr>
          <a:xfrm>
            <a:off x="6336792" y="1536192"/>
            <a:ext cx="356616" cy="356616"/>
          </a:xfrm>
          <a:prstGeom prst="rect">
            <a:avLst/>
          </a:prstGeom>
        </p:spPr>
      </p:pic>
      <p:sp>
        <p:nvSpPr>
          <p:cNvPr id="9" name="Text 5"/>
          <p:cNvSpPr txBox="1"/>
          <p:nvPr/>
        </p:nvSpPr>
        <p:spPr>
          <a:xfrm>
            <a:off x="7040880" y="132588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Small scale</a:t>
            </a:r>
            <a:endParaRPr lang="en-US" sz="1400" dirty="0"/>
          </a:p>
          <a:p>
            <a:pPr indent="0" marL="0">
              <a:buNone/>
            </a:pPr>
            <a:r>
              <a:rPr lang="en-US" sz="1300" dirty="0">
                <a:solidFill>
                  <a:schemeClr val="tx1"/>
                </a:solidFill>
              </a:rPr>
              <a:t>4 qubits, shallow circuits, one public dataset</a:t>
            </a:r>
            <a:endParaRPr lang="en-US" sz="1400" dirty="0"/>
          </a:p>
        </p:txBody>
      </p:sp>
      <p:sp>
        <p:nvSpPr>
          <p:cNvPr id="10" name="lim-2-circle"/>
          <p:cNvSpPr/>
          <p:nvPr/>
        </p:nvSpPr>
        <p:spPr>
          <a:xfrm>
            <a:off x="548640" y="2788920"/>
            <a:ext cx="685800" cy="685800"/>
          </a:xfrm>
          <a:prstGeom prst="ellipse">
            <a:avLst/>
          </a:prstGeom>
          <a:solidFill>
            <a:srgbClr val="C0392B"/>
          </a:solidFill>
          <a:ln w="12700">
            <a:solidFill>
              <a:srgbClr val="C0392B"/>
            </a:solidFill>
            <a:prstDash val="solid"/>
          </a:ln>
        </p:spPr>
      </p:sp>
      <p:pic>
        <p:nvPicPr>
          <p:cNvPr id="11" name="lim-2" descr="preencoded.png">    </p:cNvPr>
          <p:cNvPicPr>
            <a:picLocks noChangeAspect="1"/>
          </p:cNvPicPr>
          <p:nvPr/>
        </p:nvPicPr>
        <p:blipFill>
          <a:blip r:embed="rId3"/>
          <a:stretch>
            <a:fillRect/>
          </a:stretch>
        </p:blipFill>
        <p:spPr>
          <a:xfrm>
            <a:off x="713232" y="2953512"/>
            <a:ext cx="356616" cy="356616"/>
          </a:xfrm>
          <a:prstGeom prst="rect">
            <a:avLst/>
          </a:prstGeom>
        </p:spPr>
      </p:pic>
      <p:sp>
        <p:nvSpPr>
          <p:cNvPr id="12" name="Text 7"/>
          <p:cNvSpPr txBox="1"/>
          <p:nvPr/>
        </p:nvSpPr>
        <p:spPr>
          <a:xfrm>
            <a:off x="1417320" y="274320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No quantum advantage</a:t>
            </a:r>
            <a:endParaRPr lang="en-US" sz="1400" dirty="0"/>
          </a:p>
          <a:p>
            <a:pPr indent="0" marL="0">
              <a:buNone/>
            </a:pPr>
            <a:r>
              <a:rPr lang="en-US" sz="1300" dirty="0">
                <a:solidFill>
                  <a:schemeClr val="tx1"/>
                </a:solidFill>
              </a:rPr>
              <a:t>classical models score higher on the same inputs</a:t>
            </a:r>
            <a:endParaRPr lang="en-US" sz="1400" dirty="0"/>
          </a:p>
        </p:txBody>
      </p:sp>
      <p:sp>
        <p:nvSpPr>
          <p:cNvPr id="13" name="lim-3-circle"/>
          <p:cNvSpPr/>
          <p:nvPr/>
        </p:nvSpPr>
        <p:spPr>
          <a:xfrm>
            <a:off x="6172200" y="2788920"/>
            <a:ext cx="685800" cy="685800"/>
          </a:xfrm>
          <a:prstGeom prst="ellipse">
            <a:avLst/>
          </a:prstGeom>
          <a:solidFill>
            <a:srgbClr val="C0392B"/>
          </a:solidFill>
          <a:ln w="12700">
            <a:solidFill>
              <a:srgbClr val="C0392B"/>
            </a:solidFill>
            <a:prstDash val="solid"/>
          </a:ln>
        </p:spPr>
      </p:sp>
      <p:pic>
        <p:nvPicPr>
          <p:cNvPr id="14" name="lim-3" descr="preencoded.png">    </p:cNvPr>
          <p:cNvPicPr>
            <a:picLocks noChangeAspect="1"/>
          </p:cNvPicPr>
          <p:nvPr/>
        </p:nvPicPr>
        <p:blipFill>
          <a:blip r:embed="rId4"/>
          <a:stretch>
            <a:fillRect/>
          </a:stretch>
        </p:blipFill>
        <p:spPr>
          <a:xfrm>
            <a:off x="6336792" y="2953512"/>
            <a:ext cx="356616" cy="356616"/>
          </a:xfrm>
          <a:prstGeom prst="rect">
            <a:avLst/>
          </a:prstGeom>
        </p:spPr>
      </p:pic>
      <p:sp>
        <p:nvSpPr>
          <p:cNvPr id="15" name="Text 9"/>
          <p:cNvSpPr txBox="1"/>
          <p:nvPr/>
        </p:nvSpPr>
        <p:spPr>
          <a:xfrm>
            <a:off x="7040880" y="274320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Narrow mitigation set</a:t>
            </a:r>
            <a:endParaRPr lang="en-US" sz="1400" dirty="0"/>
          </a:p>
          <a:p>
            <a:pPr indent="0" marL="0">
              <a:buNone/>
            </a:pPr>
            <a:r>
              <a:rPr lang="en-US" sz="1300" dirty="0">
                <a:solidFill>
                  <a:schemeClr val="tx1"/>
                </a:solidFill>
              </a:rPr>
              <a:t>readout inversion and linear ZNE only; no PEC, CDR or DD</a:t>
            </a:r>
            <a:endParaRPr lang="en-US" sz="1400" dirty="0"/>
          </a:p>
        </p:txBody>
      </p:sp>
      <p:sp>
        <p:nvSpPr>
          <p:cNvPr id="16" name="lim-4-circle"/>
          <p:cNvSpPr/>
          <p:nvPr/>
        </p:nvSpPr>
        <p:spPr>
          <a:xfrm>
            <a:off x="548640" y="4206240"/>
            <a:ext cx="685800" cy="685800"/>
          </a:xfrm>
          <a:prstGeom prst="ellipse">
            <a:avLst/>
          </a:prstGeom>
          <a:solidFill>
            <a:srgbClr val="C0392B"/>
          </a:solidFill>
          <a:ln w="12700">
            <a:solidFill>
              <a:srgbClr val="C0392B"/>
            </a:solidFill>
            <a:prstDash val="solid"/>
          </a:ln>
        </p:spPr>
      </p:sp>
      <p:pic>
        <p:nvPicPr>
          <p:cNvPr id="17" name="lim-4" descr="preencoded.png">    </p:cNvPr>
          <p:cNvPicPr>
            <a:picLocks noChangeAspect="1"/>
          </p:cNvPicPr>
          <p:nvPr/>
        </p:nvPicPr>
        <p:blipFill>
          <a:blip r:embed="rId5"/>
          <a:stretch>
            <a:fillRect/>
          </a:stretch>
        </p:blipFill>
        <p:spPr>
          <a:xfrm>
            <a:off x="713232" y="4370832"/>
            <a:ext cx="356616" cy="356616"/>
          </a:xfrm>
          <a:prstGeom prst="rect">
            <a:avLst/>
          </a:prstGeom>
        </p:spPr>
      </p:pic>
      <p:sp>
        <p:nvSpPr>
          <p:cNvPr id="18" name="Text 11"/>
          <p:cNvSpPr txBox="1"/>
          <p:nvPr/>
        </p:nvSpPr>
        <p:spPr>
          <a:xfrm>
            <a:off x="1417320" y="416052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Few held-out structures</a:t>
            </a:r>
            <a:endParaRPr lang="en-US" sz="1400" dirty="0"/>
          </a:p>
          <a:p>
            <a:pPr indent="0" marL="0">
              <a:buNone/>
            </a:pPr>
            <a:r>
              <a:rPr lang="en-US" sz="1300" dirty="0">
                <a:solidFill>
                  <a:schemeClr val="tx1"/>
                </a:solidFill>
              </a:rPr>
              <a:t>only 4: intervals likely too narrow; H2 is non-superiority</a:t>
            </a:r>
            <a:endParaRPr lang="en-US" sz="1400" dirty="0"/>
          </a:p>
        </p:txBody>
      </p:sp>
      <p:sp>
        <p:nvSpPr>
          <p:cNvPr id="19" name="lim-5-circle"/>
          <p:cNvSpPr/>
          <p:nvPr/>
        </p:nvSpPr>
        <p:spPr>
          <a:xfrm>
            <a:off x="6172200" y="4206240"/>
            <a:ext cx="685800" cy="685800"/>
          </a:xfrm>
          <a:prstGeom prst="ellipse">
            <a:avLst/>
          </a:prstGeom>
          <a:solidFill>
            <a:srgbClr val="C0392B"/>
          </a:solidFill>
          <a:ln w="12700">
            <a:solidFill>
              <a:srgbClr val="C0392B"/>
            </a:solidFill>
            <a:prstDash val="solid"/>
          </a:ln>
        </p:spPr>
      </p:sp>
      <p:pic>
        <p:nvPicPr>
          <p:cNvPr id="20" name="lim-5" descr="preencoded.png">    </p:cNvPr>
          <p:cNvPicPr>
            <a:picLocks noChangeAspect="1"/>
          </p:cNvPicPr>
          <p:nvPr/>
        </p:nvPicPr>
        <p:blipFill>
          <a:blip r:embed="rId6"/>
          <a:stretch>
            <a:fillRect/>
          </a:stretch>
        </p:blipFill>
        <p:spPr>
          <a:xfrm>
            <a:off x="6336792" y="4370832"/>
            <a:ext cx="356616" cy="356616"/>
          </a:xfrm>
          <a:prstGeom prst="rect">
            <a:avLst/>
          </a:prstGeom>
        </p:spPr>
      </p:pic>
      <p:sp>
        <p:nvSpPr>
          <p:cNvPr id="21" name="Text 13"/>
          <p:cNvSpPr txBox="1"/>
          <p:nvPr/>
        </p:nvSpPr>
        <p:spPr>
          <a:xfrm>
            <a:off x="7040880" y="4160520"/>
            <a:ext cx="4526280" cy="1188720"/>
          </a:xfrm>
          <a:prstGeom prst="rect">
            <a:avLst/>
          </a:prstGeom>
          <a:noFill/>
          <a:ln/>
        </p:spPr>
        <p:txBody>
          <a:bodyPr wrap="square" lIns="0" tIns="0" rIns="0" bIns="0" rtlCol="0" anchor="t"/>
          <a:lstStyle/>
          <a:p>
            <a:pPr indent="0" marL="0">
              <a:buNone/>
            </a:pPr>
            <a:r>
              <a:rPr lang="en-US" sz="1550" b="1" dirty="0">
                <a:solidFill>
                  <a:schemeClr val="tx2"/>
                </a:solidFill>
              </a:rPr>
              <a:t>Probe, design and endpoint</a:t>
            </a:r>
            <a:endParaRPr lang="en-US" sz="1400" dirty="0"/>
          </a:p>
          <a:p>
            <a:pPr indent="0" marL="0">
              <a:buNone/>
            </a:pPr>
            <a:r>
              <a:rPr lang="en-US" sz="1300" dirty="0">
                <a:solidFill>
                  <a:schemeClr val="tx1"/>
                </a:solidFill>
              </a:rPr>
              <a:t>thermal blind spot; 16 of 17 gate settings noisy; learned better on raw agreement</a:t>
            </a:r>
            <a:endParaRPr lang="en-US" sz="1400" dirty="0"/>
          </a:p>
        </p:txBody>
      </p:sp>
      <p:sp>
        <p:nvSpPr>
          <p:cNvPr id="22" name="source"/>
          <p:cNvSpPr txBox="1"/>
          <p:nvPr/>
        </p:nvSpPr>
        <p:spPr>
          <a:xfrm>
            <a:off x="548640" y="603504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final_policies_5c_test.csv, final_paired_vs_rthr_5c_test.csv, p5c_probe_validity.csv, p3ar_validation_comparison.csv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WHAT THIS CAPSTONE ADDS, TO OUR KNOWLEDGE</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Research contribution</a:t>
            </a:r>
            <a:endParaRPr lang="en-US" sz="2800" dirty="0"/>
          </a:p>
        </p:txBody>
      </p:sp>
      <p:sp>
        <p:nvSpPr>
          <p:cNvPr id="4" name="c-0"/>
          <p:cNvSpPr/>
          <p:nvPr/>
        </p:nvSpPr>
        <p:spPr>
          <a:xfrm>
            <a:off x="548640" y="1371600"/>
            <a:ext cx="3566160" cy="3108960"/>
          </a:xfrm>
          <a:prstGeom prst="roundRect">
            <a:avLst>
              <a:gd name="adj" fmla="val 2059"/>
            </a:avLst>
          </a:prstGeom>
          <a:solidFill>
            <a:srgbClr val="EEF2F7"/>
          </a:solidFill>
          <a:ln w="6350">
            <a:solidFill>
              <a:srgbClr val="EEF2F7"/>
            </a:solidFill>
            <a:prstDash val="solid"/>
          </a:ln>
        </p:spPr>
      </p:sp>
      <p:sp>
        <p:nvSpPr>
          <p:cNvPr id="5" name="c-icon-0-circle"/>
          <p:cNvSpPr/>
          <p:nvPr/>
        </p:nvSpPr>
        <p:spPr>
          <a:xfrm>
            <a:off x="777240" y="1600200"/>
            <a:ext cx="731520" cy="731520"/>
          </a:xfrm>
          <a:prstGeom prst="ellipse">
            <a:avLst/>
          </a:prstGeom>
          <a:solidFill>
            <a:srgbClr val="1B2A49"/>
          </a:solidFill>
          <a:ln w="12700">
            <a:solidFill>
              <a:srgbClr val="1B2A49"/>
            </a:solidFill>
            <a:prstDash val="solid"/>
          </a:ln>
        </p:spPr>
      </p:sp>
      <p:pic>
        <p:nvPicPr>
          <p:cNvPr id="6" name="c-icon-0" descr="preencoded.png">    </p:cNvPr>
          <p:cNvPicPr>
            <a:picLocks noChangeAspect="1"/>
          </p:cNvPicPr>
          <p:nvPr/>
        </p:nvPicPr>
        <p:blipFill>
          <a:blip r:embed="rId1"/>
          <a:stretch>
            <a:fillRect/>
          </a:stretch>
        </p:blipFill>
        <p:spPr>
          <a:xfrm>
            <a:off x="952805" y="1775765"/>
            <a:ext cx="380390" cy="380390"/>
          </a:xfrm>
          <a:prstGeom prst="rect">
            <a:avLst/>
          </a:prstGeom>
        </p:spPr>
      </p:pic>
      <p:sp>
        <p:nvSpPr>
          <p:cNvPr id="7" name="Text 4"/>
          <p:cNvSpPr txBox="1"/>
          <p:nvPr/>
        </p:nvSpPr>
        <p:spPr>
          <a:xfrm>
            <a:off x="777240" y="2514600"/>
            <a:ext cx="3108960" cy="411480"/>
          </a:xfrm>
          <a:prstGeom prst="rect">
            <a:avLst/>
          </a:prstGeom>
          <a:noFill/>
          <a:ln/>
        </p:spPr>
        <p:txBody>
          <a:bodyPr wrap="square" lIns="0" tIns="0" rIns="0" bIns="0" rtlCol="0" anchor="t"/>
          <a:lstStyle/>
          <a:p>
            <a:pPr indent="0" marL="0">
              <a:buNone/>
            </a:pPr>
            <a:r>
              <a:rPr lang="en-US" sz="1700" b="1" dirty="0">
                <a:solidFill>
                  <a:schemeClr val="tx2"/>
                </a:solidFill>
              </a:rPr>
              <a:t>Characterization</a:t>
            </a:r>
            <a:endParaRPr lang="en-US" sz="1700" dirty="0"/>
          </a:p>
        </p:txBody>
      </p:sp>
      <p:sp>
        <p:nvSpPr>
          <p:cNvPr id="8" name="Text 5"/>
          <p:cNvSpPr txBox="1"/>
          <p:nvPr/>
        </p:nvSpPr>
        <p:spPr>
          <a:xfrm>
            <a:off x="777240" y="2971800"/>
            <a:ext cx="3154680" cy="1371600"/>
          </a:xfrm>
          <a:prstGeom prst="rect">
            <a:avLst/>
          </a:prstGeom>
          <a:noFill/>
          <a:ln/>
        </p:spPr>
        <p:txBody>
          <a:bodyPr wrap="square" lIns="0" tIns="0" rIns="0" bIns="0" rtlCol="0" anchor="t"/>
          <a:lstStyle/>
          <a:p>
            <a:pPr indent="0" marL="0">
              <a:buNone/>
            </a:pPr>
            <a:r>
              <a:rPr lang="en-US" sz="1350" dirty="0">
                <a:solidFill>
                  <a:schemeClr val="tx1"/>
                </a:solidFill>
              </a:rPr>
              <a:t>Noise damaged calibration, not discrimination; mitigation repaired calibration; extra shots did not.</a:t>
            </a:r>
            <a:endParaRPr lang="en-US" sz="1350" dirty="0"/>
          </a:p>
        </p:txBody>
      </p:sp>
      <p:sp>
        <p:nvSpPr>
          <p:cNvPr id="9" name="c-1"/>
          <p:cNvSpPr/>
          <p:nvPr/>
        </p:nvSpPr>
        <p:spPr>
          <a:xfrm>
            <a:off x="4297680" y="1371600"/>
            <a:ext cx="3566160" cy="3108960"/>
          </a:xfrm>
          <a:prstGeom prst="roundRect">
            <a:avLst>
              <a:gd name="adj" fmla="val 2059"/>
            </a:avLst>
          </a:prstGeom>
          <a:solidFill>
            <a:srgbClr val="EEF2F7"/>
          </a:solidFill>
          <a:ln w="6350">
            <a:solidFill>
              <a:srgbClr val="EEF2F7"/>
            </a:solidFill>
            <a:prstDash val="solid"/>
          </a:ln>
        </p:spPr>
      </p:sp>
      <p:sp>
        <p:nvSpPr>
          <p:cNvPr id="10" name="c-icon-1-circle"/>
          <p:cNvSpPr/>
          <p:nvPr/>
        </p:nvSpPr>
        <p:spPr>
          <a:xfrm>
            <a:off x="4526280" y="1600200"/>
            <a:ext cx="731520" cy="731520"/>
          </a:xfrm>
          <a:prstGeom prst="ellipse">
            <a:avLst/>
          </a:prstGeom>
          <a:solidFill>
            <a:srgbClr val="1B2A49"/>
          </a:solidFill>
          <a:ln w="12700">
            <a:solidFill>
              <a:srgbClr val="1B2A49"/>
            </a:solidFill>
            <a:prstDash val="solid"/>
          </a:ln>
        </p:spPr>
      </p:sp>
      <p:pic>
        <p:nvPicPr>
          <p:cNvPr id="11" name="c-icon-1" descr="preencoded.png">    </p:cNvPr>
          <p:cNvPicPr>
            <a:picLocks noChangeAspect="1"/>
          </p:cNvPicPr>
          <p:nvPr/>
        </p:nvPicPr>
        <p:blipFill>
          <a:blip r:embed="rId2"/>
          <a:stretch>
            <a:fillRect/>
          </a:stretch>
        </p:blipFill>
        <p:spPr>
          <a:xfrm>
            <a:off x="4701845" y="1775765"/>
            <a:ext cx="380390" cy="380390"/>
          </a:xfrm>
          <a:prstGeom prst="rect">
            <a:avLst/>
          </a:prstGeom>
        </p:spPr>
      </p:pic>
      <p:sp>
        <p:nvSpPr>
          <p:cNvPr id="12" name="Text 8"/>
          <p:cNvSpPr txBox="1"/>
          <p:nvPr/>
        </p:nvSpPr>
        <p:spPr>
          <a:xfrm>
            <a:off x="4526280" y="2514600"/>
            <a:ext cx="3108960" cy="411480"/>
          </a:xfrm>
          <a:prstGeom prst="rect">
            <a:avLst/>
          </a:prstGeom>
          <a:noFill/>
          <a:ln/>
        </p:spPr>
        <p:txBody>
          <a:bodyPr wrap="square" lIns="0" tIns="0" rIns="0" bIns="0" rtlCol="0" anchor="t"/>
          <a:lstStyle/>
          <a:p>
            <a:pPr indent="0" marL="0">
              <a:buNone/>
            </a:pPr>
            <a:r>
              <a:rPr lang="en-US" sz="1700" b="1" dirty="0">
                <a:solidFill>
                  <a:schemeClr val="tx2"/>
                </a:solidFill>
              </a:rPr>
              <a:t>Benchmark</a:t>
            </a:r>
            <a:endParaRPr lang="en-US" sz="1700" dirty="0"/>
          </a:p>
        </p:txBody>
      </p:sp>
      <p:sp>
        <p:nvSpPr>
          <p:cNvPr id="13" name="Text 9"/>
          <p:cNvSpPr txBox="1"/>
          <p:nvPr/>
        </p:nvSpPr>
        <p:spPr>
          <a:xfrm>
            <a:off x="4526280" y="2971800"/>
            <a:ext cx="3154680" cy="1371600"/>
          </a:xfrm>
          <a:prstGeom prst="rect">
            <a:avLst/>
          </a:prstGeom>
          <a:noFill/>
          <a:ln/>
        </p:spPr>
        <p:txBody>
          <a:bodyPr wrap="square" lIns="0" tIns="0" rIns="0" bIns="0" rtlCol="0" anchor="t"/>
          <a:lstStyle/>
          <a:p>
            <a:pPr indent="0" marL="0">
              <a:buNone/>
            </a:pPr>
            <a:r>
              <a:rPr lang="en-US" sz="1350" dirty="0">
                <a:solidFill>
                  <a:schemeClr val="tx1"/>
                </a:solidFill>
              </a:rPr>
              <a:t>Leakage-safe counterfactual benchmark: 64 VQCs × noise × budget × 5 actions, ≈ 1.4 M outcomes.</a:t>
            </a:r>
            <a:endParaRPr lang="en-US" sz="1350" dirty="0"/>
          </a:p>
        </p:txBody>
      </p:sp>
      <p:sp>
        <p:nvSpPr>
          <p:cNvPr id="14" name="c-2"/>
          <p:cNvSpPr/>
          <p:nvPr/>
        </p:nvSpPr>
        <p:spPr>
          <a:xfrm>
            <a:off x="8046720" y="1371600"/>
            <a:ext cx="3566160" cy="3108960"/>
          </a:xfrm>
          <a:prstGeom prst="roundRect">
            <a:avLst>
              <a:gd name="adj" fmla="val 2059"/>
            </a:avLst>
          </a:prstGeom>
          <a:solidFill>
            <a:srgbClr val="E3F2F1"/>
          </a:solidFill>
          <a:ln w="6350">
            <a:solidFill>
              <a:srgbClr val="E3F2F1"/>
            </a:solidFill>
            <a:prstDash val="solid"/>
          </a:ln>
        </p:spPr>
      </p:sp>
      <p:sp>
        <p:nvSpPr>
          <p:cNvPr id="15" name="c-icon-2-circle"/>
          <p:cNvSpPr/>
          <p:nvPr/>
        </p:nvSpPr>
        <p:spPr>
          <a:xfrm>
            <a:off x="8275320" y="1600200"/>
            <a:ext cx="731520" cy="731520"/>
          </a:xfrm>
          <a:prstGeom prst="ellipse">
            <a:avLst/>
          </a:prstGeom>
          <a:solidFill>
            <a:srgbClr val="0F8B8D"/>
          </a:solidFill>
          <a:ln w="12700">
            <a:solidFill>
              <a:srgbClr val="0F8B8D"/>
            </a:solidFill>
            <a:prstDash val="solid"/>
          </a:ln>
        </p:spPr>
      </p:sp>
      <p:pic>
        <p:nvPicPr>
          <p:cNvPr id="16" name="c-icon-2" descr="preencoded.png">    </p:cNvPr>
          <p:cNvPicPr>
            <a:picLocks noChangeAspect="1"/>
          </p:cNvPicPr>
          <p:nvPr/>
        </p:nvPicPr>
        <p:blipFill>
          <a:blip r:embed="rId3"/>
          <a:stretch>
            <a:fillRect/>
          </a:stretch>
        </p:blipFill>
        <p:spPr>
          <a:xfrm>
            <a:off x="8450885" y="1775765"/>
            <a:ext cx="380390" cy="380390"/>
          </a:xfrm>
          <a:prstGeom prst="rect">
            <a:avLst/>
          </a:prstGeom>
        </p:spPr>
      </p:pic>
      <p:sp>
        <p:nvSpPr>
          <p:cNvPr id="17" name="Text 12"/>
          <p:cNvSpPr txBox="1"/>
          <p:nvPr/>
        </p:nvSpPr>
        <p:spPr>
          <a:xfrm>
            <a:off x="8275320" y="2514600"/>
            <a:ext cx="3108960" cy="411480"/>
          </a:xfrm>
          <a:prstGeom prst="rect">
            <a:avLst/>
          </a:prstGeom>
          <a:noFill/>
          <a:ln/>
        </p:spPr>
        <p:txBody>
          <a:bodyPr wrap="square" lIns="0" tIns="0" rIns="0" bIns="0" rtlCol="0" anchor="t"/>
          <a:lstStyle/>
          <a:p>
            <a:pPr indent="0" marL="0">
              <a:buNone/>
            </a:pPr>
            <a:r>
              <a:rPr lang="en-US" sz="1700" b="1" dirty="0">
                <a:solidFill>
                  <a:schemeClr val="tx2"/>
                </a:solidFill>
              </a:rPr>
              <a:t>Pre-registered test</a:t>
            </a:r>
            <a:endParaRPr lang="en-US" sz="1700" dirty="0"/>
          </a:p>
        </p:txBody>
      </p:sp>
      <p:sp>
        <p:nvSpPr>
          <p:cNvPr id="18" name="Text 13"/>
          <p:cNvSpPr txBox="1"/>
          <p:nvPr/>
        </p:nvSpPr>
        <p:spPr>
          <a:xfrm>
            <a:off x="8275320" y="2971800"/>
            <a:ext cx="3154680" cy="1371600"/>
          </a:xfrm>
          <a:prstGeom prst="rect">
            <a:avLst/>
          </a:prstGeom>
          <a:noFill/>
          <a:ln/>
        </p:spPr>
        <p:txBody>
          <a:bodyPr wrap="square" lIns="0" tIns="0" rIns="0" bIns="0" rtlCol="0" anchor="t"/>
          <a:lstStyle/>
          <a:p>
            <a:pPr indent="0" marL="0">
              <a:buNone/>
            </a:pPr>
            <a:r>
              <a:rPr lang="en-US" sz="1350" dirty="0">
                <a:solidFill>
                  <a:schemeClr val="tx1"/>
                </a:solidFill>
              </a:rPr>
              <a:t>A held-out, one-time test of learned selection against simple rules: the rule was competitive.</a:t>
            </a:r>
            <a:endParaRPr lang="en-US" sz="1350" dirty="0"/>
          </a:p>
        </p:txBody>
      </p:sp>
      <p:sp>
        <p:nvSpPr>
          <p:cNvPr id="19" name="Text 14"/>
          <p:cNvSpPr txBox="1"/>
          <p:nvPr/>
        </p:nvSpPr>
        <p:spPr>
          <a:xfrm>
            <a:off x="548640" y="4663440"/>
            <a:ext cx="11064240" cy="457200"/>
          </a:xfrm>
          <a:prstGeom prst="rect">
            <a:avLst/>
          </a:prstGeom>
          <a:noFill/>
          <a:ln/>
        </p:spPr>
        <p:txBody>
          <a:bodyPr wrap="square" lIns="0" tIns="0" rIns="0" bIns="0" rtlCol="0" anchor="t"/>
          <a:lstStyle/>
          <a:p>
            <a:pPr indent="0" marL="0">
              <a:buNone/>
            </a:pPr>
            <a:r>
              <a:rPr lang="en-US" sz="1300" i="1" dirty="0">
                <a:solidFill>
                  <a:schemeClr val="accent5"/>
                </a:solidFill>
              </a:rPr>
              <a:t>Artifacts: manuscript (LaTeX), capstone report, pre-registrations, code and aggregate tables, 16 reproduction tests. Nothing has been submitted.</a:t>
            </a:r>
            <a:endParaRPr lang="en-US" sz="1300" dirty="0"/>
          </a:p>
        </p:txBody>
      </p:sp>
      <p:sp>
        <p:nvSpPr>
          <p:cNvPr id="20" name="takeaway-bg"/>
          <p:cNvSpPr/>
          <p:nvPr/>
        </p:nvSpPr>
        <p:spPr>
          <a:xfrm>
            <a:off x="548640" y="5257800"/>
            <a:ext cx="11094415" cy="512064"/>
          </a:xfrm>
          <a:prstGeom prst="roundRect">
            <a:avLst>
              <a:gd name="adj" fmla="val 12500"/>
            </a:avLst>
          </a:prstGeom>
          <a:solidFill>
            <a:srgbClr val="E3F2F1"/>
          </a:solidFill>
          <a:ln w="6350">
            <a:solidFill>
              <a:srgbClr val="E3F2F1"/>
            </a:solidFill>
            <a:prstDash val="solid"/>
          </a:ln>
        </p:spPr>
      </p:sp>
      <p:sp>
        <p:nvSpPr>
          <p:cNvPr id="21" name="takeaway-icon-circle"/>
          <p:cNvSpPr/>
          <p:nvPr/>
        </p:nvSpPr>
        <p:spPr>
          <a:xfrm>
            <a:off x="676656" y="5340096"/>
            <a:ext cx="347472" cy="347472"/>
          </a:xfrm>
          <a:prstGeom prst="ellipse">
            <a:avLst/>
          </a:prstGeom>
          <a:solidFill>
            <a:srgbClr val="0F8B8D"/>
          </a:solidFill>
          <a:ln w="12700">
            <a:solidFill>
              <a:srgbClr val="0F8B8D"/>
            </a:solidFill>
            <a:prstDash val="solid"/>
          </a:ln>
        </p:spPr>
      </p:sp>
      <p:pic>
        <p:nvPicPr>
          <p:cNvPr id="22" name="takeaway-icon" descr="preencoded.png">    </p:cNvPr>
          <p:cNvPicPr>
            <a:picLocks noChangeAspect="1"/>
          </p:cNvPicPr>
          <p:nvPr/>
        </p:nvPicPr>
        <p:blipFill>
          <a:blip r:embed="rId4"/>
          <a:stretch>
            <a:fillRect/>
          </a:stretch>
        </p:blipFill>
        <p:spPr>
          <a:xfrm>
            <a:off x="760049" y="5423489"/>
            <a:ext cx="180685" cy="180685"/>
          </a:xfrm>
          <a:prstGeom prst="rect">
            <a:avLst/>
          </a:prstGeom>
        </p:spPr>
      </p:pic>
      <p:sp>
        <p:nvSpPr>
          <p:cNvPr id="23" name="takeaway"/>
          <p:cNvSpPr txBox="1"/>
          <p:nvPr/>
        </p:nvSpPr>
        <p:spPr>
          <a:xfrm>
            <a:off x="1170432" y="5257800"/>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Evaluate adaptive mitigation against simple probe rules and a cost-aware Oracle, on held-out models.</a:t>
            </a:r>
            <a:endParaRPr lang="en-US" sz="1550" dirty="0"/>
          </a:p>
        </p:txBody>
      </p:sp>
      <p:sp>
        <p:nvSpPr>
          <p:cNvPr id="24" name="source"/>
          <p:cNvSpPr txBox="1"/>
          <p:nvPr/>
        </p:nvSpPr>
        <p:spPr>
          <a:xfrm>
            <a:off x="548640" y="59161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deliverables/README.md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rgbClr val="7FD6D3"/>
                </a:solidFill>
              </a:rPr>
              <a:t>ANSWER</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Conclusions and future work</a:t>
            </a:r>
            <a:endParaRPr lang="en-US" sz="2800" dirty="0"/>
          </a:p>
        </p:txBody>
      </p:sp>
      <p:sp>
        <p:nvSpPr>
          <p:cNvPr id="4" name="concl-icon-circle"/>
          <p:cNvSpPr/>
          <p:nvPr/>
        </p:nvSpPr>
        <p:spPr>
          <a:xfrm>
            <a:off x="548640" y="1417320"/>
            <a:ext cx="731520" cy="731520"/>
          </a:xfrm>
          <a:prstGeom prst="ellipse">
            <a:avLst/>
          </a:prstGeom>
          <a:solidFill>
            <a:srgbClr val="0F8B8D"/>
          </a:solidFill>
          <a:ln w="12700">
            <a:solidFill>
              <a:srgbClr val="0F8B8D"/>
            </a:solidFill>
            <a:prstDash val="solid"/>
          </a:ln>
        </p:spPr>
      </p:sp>
      <p:pic>
        <p:nvPicPr>
          <p:cNvPr id="5" name="concl-icon" descr="preencoded.png">    </p:cNvPr>
          <p:cNvPicPr>
            <a:picLocks noChangeAspect="1"/>
          </p:cNvPicPr>
          <p:nvPr/>
        </p:nvPicPr>
        <p:blipFill>
          <a:blip r:embed="rId1"/>
          <a:stretch>
            <a:fillRect/>
          </a:stretch>
        </p:blipFill>
        <p:spPr>
          <a:xfrm>
            <a:off x="724205" y="1592885"/>
            <a:ext cx="380390" cy="380390"/>
          </a:xfrm>
          <a:prstGeom prst="rect">
            <a:avLst/>
          </a:prstGeom>
        </p:spPr>
      </p:pic>
      <p:sp>
        <p:nvSpPr>
          <p:cNvPr id="6" name="Text 3"/>
          <p:cNvSpPr txBox="1"/>
          <p:nvPr/>
        </p:nvSpPr>
        <p:spPr>
          <a:xfrm>
            <a:off x="1463040" y="1371600"/>
            <a:ext cx="4937760" cy="384048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What we found</a:t>
            </a:r>
            <a:endParaRPr lang="en-US" sz="1550" dirty="0"/>
          </a:p>
          <a:p>
            <a:pPr marL="342900" indent="-342900">
              <a:spcAft>
                <a:spcPts val="800"/>
              </a:spcAft>
              <a:buSzPct val="100000"/>
              <a:buChar char="•"/>
            </a:pPr>
            <a:r>
              <a:rPr lang="en-US" sz="1550" dirty="0">
                <a:solidFill>
                  <a:srgbClr val="E6ECF5"/>
                </a:solidFill>
              </a:rPr>
              <a:t>Mitigation fixes calibration, not discrimination; extra shots never substitute.</a:t>
            </a:r>
            <a:endParaRPr lang="en-US" sz="1550" dirty="0"/>
          </a:p>
          <a:p>
            <a:pPr marL="342900" indent="-342900">
              <a:spcAft>
                <a:spcPts val="800"/>
              </a:spcAft>
              <a:buSzPct val="100000"/>
              <a:buChar char="•"/>
            </a:pPr>
            <a:r>
              <a:rPr lang="en-US" sz="1550" dirty="0">
                <a:solidFill>
                  <a:srgbClr val="E6ECF5"/>
                </a:solidFill>
              </a:rPr>
              <a:t>In our joint-noise design the material question is: is gate noise present?</a:t>
            </a:r>
            <a:endParaRPr lang="en-US" sz="1550" dirty="0"/>
          </a:p>
          <a:p>
            <a:pPr marL="342900" indent="-342900">
              <a:spcAft>
                <a:spcPts val="800"/>
              </a:spcAft>
              <a:buSzPct val="100000"/>
              <a:buChar char="•"/>
            </a:pPr>
            <a:r>
              <a:rPr lang="en-US" sz="1550" dirty="0">
                <a:solidFill>
                  <a:srgbClr val="E6ECF5"/>
                </a:solidFill>
              </a:rPr>
              <a:t>A two-threshold probe rule was near-Oracle on unseen models; fixed learned comparators did not reduce material errors.</a:t>
            </a:r>
            <a:endParaRPr lang="en-US" sz="1550" dirty="0"/>
          </a:p>
        </p:txBody>
      </p:sp>
      <p:sp>
        <p:nvSpPr>
          <p:cNvPr id="7" name="future-icon-circle"/>
          <p:cNvSpPr/>
          <p:nvPr/>
        </p:nvSpPr>
        <p:spPr>
          <a:xfrm>
            <a:off x="6766560" y="1417320"/>
            <a:ext cx="731520" cy="731520"/>
          </a:xfrm>
          <a:prstGeom prst="ellipse">
            <a:avLst/>
          </a:prstGeom>
          <a:solidFill>
            <a:srgbClr val="E8A33D"/>
          </a:solidFill>
          <a:ln w="12700">
            <a:solidFill>
              <a:srgbClr val="E8A33D"/>
            </a:solidFill>
            <a:prstDash val="solid"/>
          </a:ln>
        </p:spPr>
      </p:sp>
      <p:pic>
        <p:nvPicPr>
          <p:cNvPr id="8" name="future-icon" descr="preencoded.png">    </p:cNvPr>
          <p:cNvPicPr>
            <a:picLocks noChangeAspect="1"/>
          </p:cNvPicPr>
          <p:nvPr/>
        </p:nvPicPr>
        <p:blipFill>
          <a:blip r:embed="rId2"/>
          <a:stretch>
            <a:fillRect/>
          </a:stretch>
        </p:blipFill>
        <p:spPr>
          <a:xfrm>
            <a:off x="6942125" y="1592885"/>
            <a:ext cx="380390" cy="380390"/>
          </a:xfrm>
          <a:prstGeom prst="rect">
            <a:avLst/>
          </a:prstGeom>
        </p:spPr>
      </p:pic>
      <p:sp>
        <p:nvSpPr>
          <p:cNvPr id="9" name="Text 5"/>
          <p:cNvSpPr txBox="1"/>
          <p:nvPr/>
        </p:nvSpPr>
        <p:spPr>
          <a:xfrm>
            <a:off x="7680960" y="1371600"/>
            <a:ext cx="4023360" cy="3840480"/>
          </a:xfrm>
          <a:prstGeom prst="rect">
            <a:avLst/>
          </a:prstGeom>
          <a:noFill/>
          <a:ln/>
        </p:spPr>
        <p:txBody>
          <a:bodyPr wrap="square" lIns="0" tIns="0" rIns="0" bIns="0" rtlCol="0" anchor="t"/>
          <a:lstStyle/>
          <a:p>
            <a:pPr indent="0" marL="0">
              <a:spcAft>
                <a:spcPts val="800"/>
              </a:spcAft>
              <a:buNone/>
            </a:pPr>
            <a:r>
              <a:rPr lang="en-US" sz="1900" b="1" dirty="0">
                <a:solidFill>
                  <a:srgbClr val="FFFFFF"/>
                </a:solidFill>
              </a:rPr>
              <a:t>Future research</a:t>
            </a:r>
            <a:endParaRPr lang="en-US" sz="1550" dirty="0"/>
          </a:p>
          <a:p>
            <a:pPr marL="342900" indent="-342900">
              <a:spcAft>
                <a:spcPts val="800"/>
              </a:spcAft>
              <a:buSzPct val="100000"/>
              <a:buChar char="•"/>
            </a:pPr>
            <a:r>
              <a:rPr lang="en-US" sz="1550" dirty="0">
                <a:solidFill>
                  <a:srgbClr val="E6ECF5"/>
                </a:solidFill>
              </a:rPr>
              <a:t>Hardware validation with real readout asymmetry, drift and crosstalk.</a:t>
            </a:r>
            <a:endParaRPr lang="en-US" sz="1550" dirty="0"/>
          </a:p>
          <a:p>
            <a:pPr marL="342900" indent="-342900">
              <a:spcAft>
                <a:spcPts val="800"/>
              </a:spcAft>
              <a:buSzPct val="100000"/>
              <a:buChar char="•"/>
            </a:pPr>
            <a:r>
              <a:rPr lang="en-US" sz="1550" dirty="0">
                <a:solidFill>
                  <a:srgbClr val="E6ECF5"/>
                </a:solidFill>
              </a:rPr>
              <a:t>Richer mitigation (PEC, CDR, DD) and a thermal-sensitive gate probe.</a:t>
            </a:r>
            <a:endParaRPr lang="en-US" sz="1550" dirty="0"/>
          </a:p>
          <a:p>
            <a:pPr marL="342900" indent="-342900">
              <a:spcAft>
                <a:spcPts val="800"/>
              </a:spcAft>
              <a:buSzPct val="100000"/>
              <a:buChar char="•"/>
            </a:pPr>
            <a:r>
              <a:rPr lang="en-US" sz="1550" dirty="0">
                <a:solidFill>
                  <a:srgbClr val="E6ECF5"/>
                </a:solidFill>
              </a:rPr>
              <a:t>Larger circuits, where noise may also degrade discrimination.</a:t>
            </a:r>
            <a:endParaRPr lang="en-US" sz="1550" dirty="0"/>
          </a:p>
          <a:p>
            <a:pPr marL="342900" indent="-342900">
              <a:spcAft>
                <a:spcPts val="800"/>
              </a:spcAft>
              <a:buSzPct val="100000"/>
              <a:buChar char="•"/>
            </a:pPr>
            <a:r>
              <a:rPr lang="en-US" sz="1550" dirty="0">
                <a:solidFill>
                  <a:srgbClr val="E6ECF5"/>
                </a:solidFill>
              </a:rPr>
              <a:t>Endpoints that weight fraud-operations costs.</a:t>
            </a:r>
            <a:endParaRPr lang="en-US" sz="1550" dirty="0"/>
          </a:p>
        </p:txBody>
      </p:sp>
      <p:sp>
        <p:nvSpPr>
          <p:cNvPr id="10" name="Text 6"/>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800" b="1" i="1" dirty="0">
                <a:solidFill>
                  <a:srgbClr val="7FD6D3"/>
                </a:solidFill>
              </a:rPr>
              <a:t>In the studied setting, a simple observable probe rule performed competitively with learned comparators.</a:t>
            </a:r>
            <a:endParaRPr lang="en-US" sz="1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SEALED TEST, CONTINUOUS JOINT NOISE</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B1 · Per-structure held-out results</a:t>
            </a:r>
            <a:endParaRPr lang="en-US" sz="2800" dirty="0"/>
          </a:p>
        </p:txBody>
      </p:sp>
      <p:pic>
        <p:nvPicPr>
          <p:cNvPr id="4" name="final_b_structures.png" descr="/Users/mayankpokhriyal/Workspaces/q-trace/results/figures/final_b_structures.png">    </p:cNvPr>
          <p:cNvPicPr>
            <a:picLocks noChangeAspect="1"/>
          </p:cNvPicPr>
          <p:nvPr/>
        </p:nvPicPr>
        <p:blipFill>
          <a:blip r:embed="rId1"/>
          <a:stretch>
            <a:fillRect/>
          </a:stretch>
        </p:blipFill>
        <p:spPr>
          <a:xfrm>
            <a:off x="457200" y="1665788"/>
            <a:ext cx="11247120" cy="3526425"/>
          </a:xfrm>
          <a:prstGeom prst="rect">
            <a:avLst/>
          </a:prstGeom>
        </p:spPr>
      </p:pic>
      <p:sp>
        <p:nvSpPr>
          <p:cNvPr id="5" name="source"/>
          <p:cNvSpPr txBox="1"/>
          <p:nvPr/>
        </p:nvSpPr>
        <p:spPr>
          <a:xfrm>
            <a:off x="548640" y="585216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final_by_structure_5c_test.csv (results/figures/final_b_structures.png)</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PHASE 5C PREFERRED ACTION BY NOISE POINT</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B2 · Where ZNE versus combined mitigation wins</a:t>
            </a:r>
            <a:endParaRPr lang="en-US" sz="2800" dirty="0"/>
          </a:p>
        </p:txBody>
      </p:sp>
      <p:pic>
        <p:nvPicPr>
          <p:cNvPr id="4" name="p5c_b_preferred_map.png" descr="/Users/mayankpokhriyal/Workspaces/q-trace/results/figures/p5c_b_preferred_map.png">    </p:cNvPr>
          <p:cNvPicPr>
            <a:picLocks noChangeAspect="1"/>
          </p:cNvPicPr>
          <p:nvPr/>
        </p:nvPicPr>
        <p:blipFill>
          <a:blip r:embed="rId1"/>
          <a:stretch>
            <a:fillRect/>
          </a:stretch>
        </p:blipFill>
        <p:spPr>
          <a:xfrm>
            <a:off x="2310902" y="1234440"/>
            <a:ext cx="7539715" cy="4663440"/>
          </a:xfrm>
          <a:prstGeom prst="rect">
            <a:avLst/>
          </a:prstGeom>
        </p:spPr>
      </p:pic>
      <p:sp>
        <p:nvSpPr>
          <p:cNvPr id="5" name="source"/>
          <p:cNvSpPr txBox="1"/>
          <p:nvPr/>
        </p:nvSpPr>
        <p:spPr>
          <a:xfrm>
            <a:off x="548640" y="603504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p5c_preferred_by_point_train.csv, p5c_preferred_by_point_val.csv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VALIDATION DATA ONLY; THE SEALED TEST WAS NOT REUSED</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B3 · Probe ablation and probing break-even</a:t>
            </a:r>
            <a:endParaRPr lang="en-US" sz="2800" dirty="0"/>
          </a:p>
        </p:txBody>
      </p:sp>
      <p:pic>
        <p:nvPicPr>
          <p:cNvPr id="4" name="fig9_probe_ablation.png" descr="/Users/mayankpokhriyal/Workspaces/q-trace/deliverables/figures/fig9_probe_ablation.png">    </p:cNvPr>
          <p:cNvPicPr>
            <a:picLocks noChangeAspect="1"/>
          </p:cNvPicPr>
          <p:nvPr/>
        </p:nvPicPr>
        <p:blipFill>
          <a:blip r:embed="rId1"/>
          <a:stretch>
            <a:fillRect/>
          </a:stretch>
        </p:blipFill>
        <p:spPr>
          <a:xfrm>
            <a:off x="457200" y="1818208"/>
            <a:ext cx="7315200" cy="3038703"/>
          </a:xfrm>
          <a:prstGeom prst="rect">
            <a:avLst/>
          </a:prstGeom>
        </p:spPr>
      </p:pic>
      <p:sp>
        <p:nvSpPr>
          <p:cNvPr id="5" name="stat-value"/>
          <p:cNvSpPr txBox="1"/>
          <p:nvPr/>
        </p:nvSpPr>
        <p:spPr>
          <a:xfrm>
            <a:off x="8092440" y="1371600"/>
            <a:ext cx="3566160" cy="52753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1.8%</a:t>
            </a:r>
            <a:endParaRPr lang="en-US" sz="3000" dirty="0"/>
          </a:p>
        </p:txBody>
      </p:sp>
      <p:sp>
        <p:nvSpPr>
          <p:cNvPr id="6" name="stat-label"/>
          <p:cNvSpPr txBox="1"/>
          <p:nvPr/>
        </p:nvSpPr>
        <p:spPr>
          <a:xfrm>
            <a:off x="8092440" y="1935714"/>
            <a:ext cx="3566160" cy="457200"/>
          </a:xfrm>
          <a:prstGeom prst="rect">
            <a:avLst/>
          </a:prstGeom>
          <a:noFill/>
          <a:ln/>
        </p:spPr>
        <p:txBody>
          <a:bodyPr wrap="square" lIns="0" tIns="0" rIns="0" bIns="0" rtlCol="0" anchor="t"/>
          <a:lstStyle/>
          <a:p>
            <a:pPr indent="0" marL="0">
              <a:buNone/>
            </a:pPr>
            <a:r>
              <a:rPr lang="en-US" sz="1250" dirty="0">
                <a:solidFill>
                  <a:schemeClr val="tx1"/>
                </a:solidFill>
              </a:rPr>
              <a:t>material failure, gate probe alone (5C validation)</a:t>
            </a:r>
            <a:endParaRPr lang="en-US" sz="1250" dirty="0"/>
          </a:p>
        </p:txBody>
      </p:sp>
      <p:sp>
        <p:nvSpPr>
          <p:cNvPr id="7" name="stat-value"/>
          <p:cNvSpPr txBox="1"/>
          <p:nvPr/>
        </p:nvSpPr>
        <p:spPr>
          <a:xfrm>
            <a:off x="8092440" y="2606040"/>
            <a:ext cx="3566160" cy="527538"/>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 645–685</a:t>
            </a:r>
            <a:endParaRPr lang="en-US" sz="3000" dirty="0"/>
          </a:p>
        </p:txBody>
      </p:sp>
      <p:sp>
        <p:nvSpPr>
          <p:cNvPr id="8" name="stat-label"/>
          <p:cNvSpPr txBox="1"/>
          <p:nvPr/>
        </p:nvSpPr>
        <p:spPr>
          <a:xfrm>
            <a:off x="8092440" y="3170154"/>
            <a:ext cx="3566160" cy="457200"/>
          </a:xfrm>
          <a:prstGeom prst="rect">
            <a:avLst/>
          </a:prstGeom>
          <a:noFill/>
          <a:ln/>
        </p:spPr>
        <p:txBody>
          <a:bodyPr wrap="square" lIns="0" tIns="0" rIns="0" bIns="0" rtlCol="0" anchor="t"/>
          <a:lstStyle/>
          <a:p>
            <a:pPr indent="0" marL="0">
              <a:buNone/>
            </a:pPr>
            <a:r>
              <a:rPr lang="en-US" sz="1250" dirty="0">
                <a:solidFill>
                  <a:schemeClr val="tx1"/>
                </a:solidFill>
              </a:rPr>
              <a:t>transactions per batch to break even (≈ 80 categorical)</a:t>
            </a:r>
            <a:endParaRPr lang="en-US" sz="1250" dirty="0"/>
          </a:p>
        </p:txBody>
      </p:sp>
      <p:sp>
        <p:nvSpPr>
          <p:cNvPr id="9" name="Text 6"/>
          <p:cNvSpPr txBox="1"/>
          <p:nvPr/>
        </p:nvSpPr>
        <p:spPr>
          <a:xfrm>
            <a:off x="8092440" y="3886200"/>
            <a:ext cx="3566160" cy="1280160"/>
          </a:xfrm>
          <a:prstGeom prst="rect">
            <a:avLst/>
          </a:prstGeom>
          <a:noFill/>
          <a:ln/>
        </p:spPr>
        <p:txBody>
          <a:bodyPr wrap="square" lIns="0" tIns="0" rIns="0" bIns="0" rtlCol="0" anchor="t"/>
          <a:lstStyle/>
          <a:p>
            <a:pPr indent="0" marL="0">
              <a:buNone/>
            </a:pPr>
            <a:r>
              <a:rPr lang="en-US" sz="1200" i="1" dirty="0">
                <a:solidFill>
                  <a:schemeClr val="accent5"/>
                </a:solidFill>
              </a:rPr>
              <a:t>The 66·S probe includes the 2 calibration circuits always-combined already pays, so the break-even is conservative and depends on the gate-free share.</a:t>
            </a:r>
            <a:endParaRPr lang="en-US" sz="1200" dirty="0"/>
          </a:p>
        </p:txBody>
      </p:sp>
      <p:sp>
        <p:nvSpPr>
          <p:cNvPr id="10" name="source"/>
          <p:cNvSpPr txBox="1"/>
          <p:nvPr/>
        </p:nvSpPr>
        <p:spPr>
          <a:xfrm>
            <a:off x="548640" y="585216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ablation_probes.csv, ablation_probe_cost.csv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PHASES 2, 3A AND 3A-R</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B4 · Baselines and the encoding repair</a:t>
            </a:r>
            <a:endParaRPr lang="en-US" sz="2800" dirty="0"/>
          </a:p>
        </p:txBody>
      </p:sp>
      <p:pic>
        <p:nvPicPr>
          <p:cNvPr id="4" name="baselines_auprc.png" descr="/Users/mayankpokhriyal/Workspaces/q-trace/deliverables/presentations/semester/_system/figures/baselines_auprc.png">    </p:cNvPr>
          <p:cNvPicPr>
            <a:picLocks noChangeAspect="1"/>
          </p:cNvPicPr>
          <p:nvPr/>
        </p:nvPicPr>
        <p:blipFill>
          <a:blip r:embed="rId1"/>
          <a:stretch>
            <a:fillRect/>
          </a:stretch>
        </p:blipFill>
        <p:spPr>
          <a:xfrm>
            <a:off x="457200" y="2046213"/>
            <a:ext cx="5577840" cy="2674134"/>
          </a:xfrm>
          <a:prstGeom prst="rect">
            <a:avLst/>
          </a:prstGeom>
        </p:spPr>
      </p:pic>
      <p:pic>
        <p:nvPicPr>
          <p:cNvPr id="5" name="encoding_repair.png" descr="/Users/mayankpokhriyal/Workspaces/q-trace/deliverables/presentations/semester/_system/figures/encoding_repair.png">    </p:cNvPr>
          <p:cNvPicPr>
            <a:picLocks noChangeAspect="1"/>
          </p:cNvPicPr>
          <p:nvPr/>
        </p:nvPicPr>
        <p:blipFill>
          <a:blip r:embed="rId2"/>
          <a:stretch>
            <a:fillRect/>
          </a:stretch>
        </p:blipFill>
        <p:spPr>
          <a:xfrm>
            <a:off x="6217920" y="2240280"/>
            <a:ext cx="5486400" cy="2286000"/>
          </a:xfrm>
          <a:prstGeom prst="rect">
            <a:avLst/>
          </a:prstGeom>
        </p:spPr>
      </p:pic>
      <p:sp>
        <p:nvSpPr>
          <p:cNvPr id="6" name="source"/>
          <p:cNvSpPr txBox="1"/>
          <p:nvPr/>
        </p:nvSpPr>
        <p:spPr>
          <a:xfrm>
            <a:off x="548640" y="585216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phase2_classical_metrics.csv, p3ar_validation_comparison.csv, p3ar_encoding_diagnostics.csv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PAIRED DIFFERENCES ON THE SEALED TEST (R_THR − COMPARATOR; POSITIVE FAVOURS THE COMPARATOR)</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B5 · Statistical details</a:t>
            </a:r>
            <a:endParaRPr lang="en-US" sz="28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2743200"/>
                <a:gridCol w="2926080"/>
                <a:gridCol w="2560320"/>
              </a:tblGrid>
              <a:tr h="0">
                <a:tc>
                  <a:txBody>
                    <a:bodyPr/>
                    <a:lstStyle/>
                    <a:p>
                      <a:pPr indent="0" marL="0">
                        <a:buNone/>
                      </a:pPr>
                      <a:r>
                        <a:rPr lang="en-US" sz="1300" b="1" dirty="0">
                          <a:solidFill>
                            <a:srgbClr val="FFFFFF"/>
                          </a:solidFill>
                        </a:rPr>
                        <a:t>Comparator (5C test)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Material: R_thr − comp.</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Any disagreement: R_thr − comp.</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300" b="1" dirty="0">
                          <a:solidFill>
                            <a:srgbClr val="FFFFFF"/>
                          </a:solidFill>
                        </a:rPr>
                        <a:t>Material, validation → test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300" dirty="0">
                          <a:solidFill>
                            <a:srgbClr val="1A1F2B"/>
                          </a:solidFill>
                        </a:rPr>
                        <a:t>Gradient boosting</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−0.0005 [−0.027, +0.016]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+0.154 [+0.028, +0.391]</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0.107 → 0.021</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Tree, depth 3</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−0.006 [−0.026, +0.005]</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+0.133 [+0.003, +0.387]</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0.175 → 0.026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GBT benefit model</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−0.006 [−0.029, +0.011]</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+0.069 [+0.007, +0.173]</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0.037 → 0.026</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Logistic regression</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−0.074 [−0.213, +0.011]</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+0.046 [−0.023, +0.152]</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0.065 → 0.094</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dirty="0">
                          <a:solidFill>
                            <a:srgbClr val="1A1F2B"/>
                          </a:solidFill>
                        </a:rPr>
                        <a:t>R_obs (rule + readout type)</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−0.001 [−0.007, +0.002]</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+0.130 [+0.001, +0.384]</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300" b="1" dirty="0">
                          <a:solidFill>
                            <a:srgbClr val="1A1F2B"/>
                          </a:solidFill>
                        </a:rPr>
                        <a:t>R_thr (deployed rule)</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dirty="0">
                          <a:solidFill>
                            <a:srgbClr val="1A1F2B"/>
                          </a:solidFill>
                        </a:rPr>
                        <a:t>—</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300" b="1" dirty="0">
                          <a:solidFill>
                            <a:srgbClr val="1A1F2B"/>
                          </a:solidFill>
                        </a:rPr>
                        <a:t>0.020 → 0.020</a:t>
                      </a:r>
                      <a:endParaRPr lang="en-US" sz="130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sp>
        <p:nvSpPr>
          <p:cNvPr id="5" name="Text 2"/>
          <p:cNvSpPr txBox="1"/>
          <p:nvPr/>
        </p:nvSpPr>
        <p:spPr>
          <a:xfrm>
            <a:off x="548640" y="4343400"/>
            <a:ext cx="11064240" cy="365760"/>
          </a:xfrm>
          <a:prstGeom prst="rect">
            <a:avLst/>
          </a:prstGeom>
          <a:noFill/>
          <a:ln/>
        </p:spPr>
        <p:txBody>
          <a:bodyPr wrap="square" lIns="0" tIns="0" rIns="0" bIns="0" rtlCol="0" anchor="t"/>
          <a:lstStyle/>
          <a:p>
            <a:pPr indent="0" marL="0">
              <a:buNone/>
            </a:pPr>
            <a:r>
              <a:rPr lang="en-US" sz="1300" dirty="0">
                <a:solidFill>
                  <a:schemeClr val="tx1"/>
                </a:solidFill>
              </a:rPr>
              <a:t>5B categorical test: R_cat 0.064 vs R_thr 0.088 (paired 0.024 [0.011, 0.037]); learned comparators 0.118–0.439.</a:t>
            </a:r>
            <a:endParaRPr lang="en-US" sz="1300" dirty="0"/>
          </a:p>
        </p:txBody>
      </p:sp>
      <p:sp>
        <p:nvSpPr>
          <p:cNvPr id="6" name="Text 3"/>
          <p:cNvSpPr txBox="1"/>
          <p:nvPr/>
        </p:nvSpPr>
        <p:spPr>
          <a:xfrm>
            <a:off x="548640" y="4754880"/>
            <a:ext cx="11064240" cy="365760"/>
          </a:xfrm>
          <a:prstGeom prst="rect">
            <a:avLst/>
          </a:prstGeom>
          <a:noFill/>
          <a:ln/>
        </p:spPr>
        <p:txBody>
          <a:bodyPr wrap="square" lIns="0" tIns="0" rIns="0" bIns="0" rtlCol="0" anchor="t"/>
          <a:lstStyle/>
          <a:p>
            <a:pPr indent="0" marL="0">
              <a:buNone/>
            </a:pPr>
            <a:r>
              <a:rPr lang="en-US" sz="1300" i="1" dirty="0">
                <a:solidFill>
                  <a:schemeClr val="accent3"/>
                </a:solidFill>
              </a:rPr>
              <a:t>Intervals: two-stage cluster bootstrap over only 4 held-out structures (likely too narrow; always-A3's is degenerate).</a:t>
            </a:r>
            <a:endParaRPr lang="en-US" sz="1300" dirty="0"/>
          </a:p>
        </p:txBody>
      </p:sp>
      <p:sp>
        <p:nvSpPr>
          <p:cNvPr id="7" name="source"/>
          <p:cNvSpPr txBox="1"/>
          <p:nvPr/>
        </p:nvSpPr>
        <p:spPr>
          <a:xfrm>
            <a:off x="548640" y="585216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final_paired_vs_rthr_5c_test.csv, final_paired_vs_rthr_5b_test.csv, p7_policies_5c_val.csv, final_policies_5c_test.csv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BACKUP  ·  VERIFIED AGAINST PUBLISHER, ARXIV AND CROSSREF RECORDS (TEAM CONFIRMATION PENDING)</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B6 · References</a:t>
            </a:r>
            <a:endParaRPr lang="en-US" sz="2800" dirty="0"/>
          </a:p>
        </p:txBody>
      </p:sp>
      <p:sp>
        <p:nvSpPr>
          <p:cNvPr id="4" name="Text 2"/>
          <p:cNvSpPr txBox="1"/>
          <p:nvPr/>
        </p:nvSpPr>
        <p:spPr>
          <a:xfrm>
            <a:off x="548640" y="1371600"/>
            <a:ext cx="5440680" cy="448056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Bravyi et al. (2021) Phys. Rev. A 103:042605</a:t>
            </a:r>
            <a:endParaRPr lang="en-US" sz="1250" dirty="0"/>
          </a:p>
          <a:p>
            <a:pPr indent="0" marL="0">
              <a:spcAft>
                <a:spcPts val="500"/>
              </a:spcAft>
              <a:buNone/>
            </a:pPr>
            <a:r>
              <a:rPr lang="en-US" sz="1250" dirty="0">
                <a:solidFill>
                  <a:schemeClr val="tx1"/>
                </a:solidFill>
              </a:rPr>
              <a:t>Cai et al. (2023) Rev. Mod. Phys. 95:045005</a:t>
            </a:r>
            <a:endParaRPr lang="en-US" sz="1250" dirty="0"/>
          </a:p>
          <a:p>
            <a:pPr indent="0" marL="0">
              <a:spcAft>
                <a:spcPts val="500"/>
              </a:spcAft>
              <a:buNone/>
            </a:pPr>
            <a:r>
              <a:rPr lang="en-US" sz="1250" dirty="0">
                <a:solidFill>
                  <a:schemeClr val="tx1"/>
                </a:solidFill>
              </a:rPr>
              <a:t>Dal Pozzolo et al. (2015) IEEE SSCI, 159–166</a:t>
            </a:r>
            <a:endParaRPr lang="en-US" sz="1250" dirty="0"/>
          </a:p>
          <a:p>
            <a:pPr indent="0" marL="0">
              <a:spcAft>
                <a:spcPts val="500"/>
              </a:spcAft>
              <a:buNone/>
            </a:pPr>
            <a:r>
              <a:rPr lang="en-US" sz="1250" dirty="0">
                <a:solidFill>
                  <a:schemeClr val="tx1"/>
                </a:solidFill>
              </a:rPr>
              <a:t>Dinuț et al. (2026) Electronics 15(11):2489</a:t>
            </a:r>
            <a:endParaRPr lang="en-US" sz="1250" dirty="0"/>
          </a:p>
          <a:p>
            <a:pPr indent="0" marL="0">
              <a:spcAft>
                <a:spcPts val="500"/>
              </a:spcAft>
              <a:buNone/>
            </a:pPr>
            <a:r>
              <a:rPr lang="en-US" sz="1250" dirty="0">
                <a:solidFill>
                  <a:schemeClr val="tx1"/>
                </a:solidFill>
              </a:rPr>
              <a:t>El Alami et al. (2026) Appl. Intell. 56(3):83</a:t>
            </a:r>
            <a:endParaRPr lang="en-US" sz="1250" dirty="0"/>
          </a:p>
          <a:p>
            <a:pPr indent="0" marL="0">
              <a:spcAft>
                <a:spcPts val="500"/>
              </a:spcAft>
              <a:buNone/>
            </a:pPr>
            <a:r>
              <a:rPr lang="en-US" sz="1250" dirty="0">
                <a:solidFill>
                  <a:schemeClr val="tx1"/>
                </a:solidFill>
              </a:rPr>
              <a:t>Giurgica-Tiron et al. (2020) IEEE QCE, 306–316</a:t>
            </a:r>
            <a:endParaRPr lang="en-US" sz="1250" dirty="0"/>
          </a:p>
          <a:p>
            <a:pPr indent="0" marL="0">
              <a:spcAft>
                <a:spcPts val="500"/>
              </a:spcAft>
              <a:buNone/>
            </a:pPr>
            <a:r>
              <a:rPr lang="en-US" sz="1250" dirty="0">
                <a:solidFill>
                  <a:schemeClr val="tx1"/>
                </a:solidFill>
              </a:rPr>
              <a:t>Havlíček et al. (2019) Nature 567:209–212</a:t>
            </a:r>
            <a:endParaRPr lang="en-US" sz="1250" dirty="0"/>
          </a:p>
          <a:p>
            <a:pPr indent="0" marL="0">
              <a:spcAft>
                <a:spcPts val="500"/>
              </a:spcAft>
              <a:buNone/>
            </a:pPr>
            <a:r>
              <a:rPr lang="en-US" sz="1250" dirty="0">
                <a:solidFill>
                  <a:schemeClr val="tx1"/>
                </a:solidFill>
              </a:rPr>
              <a:t>Kandala et al. (2019) Nature 567:491–495</a:t>
            </a:r>
            <a:endParaRPr lang="en-US" sz="1250" dirty="0"/>
          </a:p>
          <a:p>
            <a:pPr indent="0" marL="0">
              <a:spcAft>
                <a:spcPts val="500"/>
              </a:spcAft>
              <a:buNone/>
            </a:pPr>
            <a:r>
              <a:rPr lang="en-US" sz="1250" dirty="0">
                <a:solidFill>
                  <a:schemeClr val="tx1"/>
                </a:solidFill>
              </a:rPr>
              <a:t>Kim et al. (2023) Nat. Phys. 19:752–759</a:t>
            </a:r>
            <a:endParaRPr lang="en-US" sz="1250" dirty="0"/>
          </a:p>
          <a:p>
            <a:pPr indent="0" marL="0">
              <a:spcAft>
                <a:spcPts val="500"/>
              </a:spcAft>
              <a:buNone/>
            </a:pPr>
            <a:r>
              <a:rPr lang="en-US" sz="1250" dirty="0">
                <a:solidFill>
                  <a:schemeClr val="tx1"/>
                </a:solidFill>
              </a:rPr>
              <a:t>Kyriienko &amp; Magnusson (2022) arXiv:2208.01203</a:t>
            </a:r>
            <a:endParaRPr lang="en-US" sz="1250" dirty="0"/>
          </a:p>
          <a:p>
            <a:pPr indent="0" marL="0">
              <a:spcAft>
                <a:spcPts val="500"/>
              </a:spcAft>
              <a:buNone/>
            </a:pPr>
            <a:r>
              <a:rPr lang="en-US" sz="1250" dirty="0">
                <a:solidFill>
                  <a:schemeClr val="tx1"/>
                </a:solidFill>
              </a:rPr>
              <a:t>Maciejewski et al. (2020) Quantum 4:257</a:t>
            </a:r>
            <a:endParaRPr lang="en-US" sz="1250" dirty="0"/>
          </a:p>
          <a:p>
            <a:pPr indent="0" marL="0">
              <a:spcAft>
                <a:spcPts val="500"/>
              </a:spcAft>
              <a:buNone/>
            </a:pPr>
            <a:r>
              <a:rPr lang="en-US" sz="1250" dirty="0">
                <a:solidFill>
                  <a:schemeClr val="tx1"/>
                </a:solidFill>
              </a:rPr>
              <a:t>Majid et al. (2026) arXiv:2610.01253</a:t>
            </a:r>
            <a:endParaRPr lang="en-US" sz="1250" dirty="0"/>
          </a:p>
        </p:txBody>
      </p:sp>
      <p:sp>
        <p:nvSpPr>
          <p:cNvPr id="5" name="Text 3"/>
          <p:cNvSpPr txBox="1"/>
          <p:nvPr/>
        </p:nvSpPr>
        <p:spPr>
          <a:xfrm>
            <a:off x="6172200" y="1371600"/>
            <a:ext cx="5440680" cy="4480560"/>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Preskill (2018) Quantum 2:79</a:t>
            </a:r>
            <a:endParaRPr lang="en-US" sz="1250" dirty="0"/>
          </a:p>
          <a:p>
            <a:pPr indent="0" marL="0">
              <a:spcAft>
                <a:spcPts val="500"/>
              </a:spcAft>
              <a:buNone/>
            </a:pPr>
            <a:r>
              <a:rPr lang="en-US" sz="1250" dirty="0">
                <a:solidFill>
                  <a:schemeClr val="tx1"/>
                </a:solidFill>
              </a:rPr>
              <a:t>Rahman &amp; Nguyen (2026) IEEE JSAC 44:5600–5614</a:t>
            </a:r>
            <a:endParaRPr lang="en-US" sz="1250" dirty="0"/>
          </a:p>
          <a:p>
            <a:pPr indent="0" marL="0">
              <a:spcAft>
                <a:spcPts val="500"/>
              </a:spcAft>
              <a:buNone/>
            </a:pPr>
            <a:r>
              <a:rPr lang="en-US" sz="1250" dirty="0">
                <a:solidFill>
                  <a:schemeClr val="tx1"/>
                </a:solidFill>
              </a:rPr>
              <a:t>Rao et al. (2026) IEEE I3CTCON, 1–6</a:t>
            </a:r>
            <a:endParaRPr lang="en-US" sz="1250" dirty="0"/>
          </a:p>
          <a:p>
            <a:pPr indent="0" marL="0">
              <a:spcAft>
                <a:spcPts val="500"/>
              </a:spcAft>
              <a:buNone/>
            </a:pPr>
            <a:r>
              <a:rPr lang="en-US" sz="1250" dirty="0">
                <a:solidFill>
                  <a:schemeClr val="tx1"/>
                </a:solidFill>
              </a:rPr>
              <a:t>Russo et al. (2023) IEEE TQE 4:1–18</a:t>
            </a:r>
            <a:endParaRPr lang="en-US" sz="1250" dirty="0"/>
          </a:p>
          <a:p>
            <a:pPr indent="0" marL="0">
              <a:spcAft>
                <a:spcPts val="500"/>
              </a:spcAft>
              <a:buNone/>
            </a:pPr>
            <a:r>
              <a:rPr lang="en-US" sz="1250" dirty="0">
                <a:solidFill>
                  <a:schemeClr val="tx1"/>
                </a:solidFill>
              </a:rPr>
              <a:t>Scavino (2026) arXiv:2607.02888</a:t>
            </a:r>
            <a:endParaRPr lang="en-US" sz="1250" dirty="0"/>
          </a:p>
          <a:p>
            <a:pPr indent="0" marL="0">
              <a:spcAft>
                <a:spcPts val="500"/>
              </a:spcAft>
              <a:buNone/>
            </a:pPr>
            <a:r>
              <a:rPr lang="en-US" sz="1250" dirty="0">
                <a:solidFill>
                  <a:schemeClr val="tx1"/>
                </a:solidFill>
              </a:rPr>
              <a:t>Schuld et al. (2020) Phys. Rev. A 101:032308</a:t>
            </a:r>
            <a:endParaRPr lang="en-US" sz="1250" dirty="0"/>
          </a:p>
          <a:p>
            <a:pPr indent="0" marL="0">
              <a:spcAft>
                <a:spcPts val="500"/>
              </a:spcAft>
              <a:buNone/>
            </a:pPr>
            <a:r>
              <a:rPr lang="en-US" sz="1250" dirty="0">
                <a:solidFill>
                  <a:schemeClr val="tx1"/>
                </a:solidFill>
              </a:rPr>
              <a:t>Szachara et al. (2026) arXiv:2604.24551</a:t>
            </a:r>
            <a:endParaRPr lang="en-US" sz="1250" dirty="0"/>
          </a:p>
          <a:p>
            <a:pPr indent="0" marL="0">
              <a:spcAft>
                <a:spcPts val="500"/>
              </a:spcAft>
              <a:buNone/>
            </a:pPr>
            <a:r>
              <a:rPr lang="en-US" sz="1250" dirty="0">
                <a:solidFill>
                  <a:schemeClr val="tx1"/>
                </a:solidFill>
              </a:rPr>
              <a:t>Temme et al. (2017) Phys. Rev. Lett. 119:180509</a:t>
            </a:r>
            <a:endParaRPr lang="en-US" sz="1250" dirty="0"/>
          </a:p>
          <a:p>
            <a:pPr indent="0" marL="0">
              <a:spcAft>
                <a:spcPts val="500"/>
              </a:spcAft>
              <a:buNone/>
            </a:pPr>
            <a:r>
              <a:rPr lang="en-US" sz="1250" dirty="0">
                <a:solidFill>
                  <a:schemeClr val="tx1"/>
                </a:solidFill>
              </a:rPr>
              <a:t>Tudisco et al. (2024) IEEE Access 12:102918</a:t>
            </a:r>
            <a:endParaRPr lang="en-US" sz="1250" dirty="0"/>
          </a:p>
          <a:p>
            <a:pPr indent="0" marL="0">
              <a:spcAft>
                <a:spcPts val="500"/>
              </a:spcAft>
              <a:buNone/>
            </a:pPr>
            <a:r>
              <a:rPr lang="en-US" sz="1250" dirty="0">
                <a:solidFill>
                  <a:schemeClr val="tx1"/>
                </a:solidFill>
              </a:rPr>
              <a:t>van den Berg et al. (2023) Nat. Phys. 19:1116–1121</a:t>
            </a:r>
            <a:endParaRPr lang="en-US" sz="1250" dirty="0"/>
          </a:p>
          <a:p>
            <a:pPr indent="0" marL="0">
              <a:spcAft>
                <a:spcPts val="500"/>
              </a:spcAft>
              <a:buNone/>
            </a:pPr>
            <a:r>
              <a:rPr lang="en-US" sz="1250" dirty="0">
                <a:solidFill>
                  <a:schemeClr val="tx1"/>
                </a:solidFill>
              </a:rPr>
              <a:t>Zhang et al. (2026) arXiv:2609.38713</a:t>
            </a:r>
            <a:endParaRPr lang="en-US" sz="1250" dirty="0"/>
          </a:p>
          <a:p>
            <a:pPr indent="0" marL="0">
              <a:spcAft>
                <a:spcPts val="500"/>
              </a:spcAft>
              <a:buNone/>
            </a:pPr>
            <a:r>
              <a:rPr lang="en-US" sz="1250" dirty="0">
                <a:solidFill>
                  <a:schemeClr val="tx1"/>
                </a:solidFill>
              </a:rPr>
              <a:t>ULB ML Group (2018) Kaggle: mlg-ulb/creditcardfraud</a:t>
            </a:r>
            <a:endParaRPr lang="en-US" sz="1250" dirty="0"/>
          </a:p>
        </p:txBody>
      </p:sp>
      <p:sp>
        <p:nvSpPr>
          <p:cNvPr id="6" name="source"/>
          <p:cNvSpPr txBox="1"/>
          <p:nvPr/>
        </p:nvSpPr>
        <p:spPr>
          <a:xfrm>
            <a:off x="548640" y="5989320"/>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deliverables/paper/references.bib, deliverables/paper/REFERENCES_VERIFICATION.md</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Final capstone defense (December 8, 2026)</dc:title>
  <dc:subject>Final capstone defense</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