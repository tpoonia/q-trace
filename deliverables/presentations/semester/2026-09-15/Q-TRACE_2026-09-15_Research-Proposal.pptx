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8e2449dd-15bb-8b8c-8d88-2be27133f227}">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0:00–0:33]
Good afternoon. We are Mayank and Tushar, and this is our research proposal. One note first: this version of the deck was reconstructed in October from our project record, so it shows the proposal stage and nothing later.
Quantum machine-learning models run on noisy hardware, and error mitigation can correct some of that noise, at a price. Our question is simple to state: when is that price worth paying, and can a decision layer tell the difference?
Key points: proposal stage: no results; noise → mitigation → cost; question: when is mitigation worth its cost, and can a decision layer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0:33–1:30]
Today's quantum processors are noisy, the so-called NISQ era described by Preskill.
A quantum machine-learning model produces its output from measured expectation values. Gate errors, decoherence and imperfect measurement pull those values toward zero, and the effect grows with circuit depth. The left panel shows this for a simple illustrative noise model.
For a classifier, the result is that its probabilities drift toward one half. A decision that depends on those probabilities, such as an alert above a threshold, can then change even if the underlying model is good. So noise is not only a hardware problem; it changes what the model tells us. And the damage is not the same everywhere: it depends on the circuit, the type of noise and its strength. That variation is what makes a context-dependent decision worth studying.
Key points: NISQ hardware is noisy (Preskill 2018); noise shrinks expectation values, more with depth; probabilities drift toward 0.5 → threshold decisions change.
Sources: Preskill (2018) Quantum 2:79. Figure: illustrative global-depolarizing model, not project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1:30–2:17]
Error mitigation reduces the bias that noise introduces, without full error correction. Two widely used techniques matter here.
Zero-noise extrapolation, or ZNE, runs the same circuit at several deliberately amplified noise levels, for example by folding gates, and extrapolates the results back to zero noise, as shown on the right. That means extra circuits: more shots, and more exposure to two-qubit gates. Readout mitigation is cheaper: it corrects measurement errors using a few calibration circuits.
And the benefit is not guaranteed. A resource-normalized evaluation across hardware platforms found mitigation beneficial on average but strongly platform-dependent. Applying it everywhere, every time, can waste resources. Tushar will describe what we propose.
Key points: ZNE: amplify noise, extrapolate to zero (Temme 2017; Kandala 2019; Giurgica-Tiron 2020); readout mitigation: calibration-based, cheaper (Bravyi 2021); benefit is platform-dependent (Russo 2023).
Sources: Temme et al. (2017) PRL 119:180509; Kandala et al. (2019) Nature 567:491; Giurgica-Tiron et al. (2020) IEEE QCE; Bravyi et al. (2021) PRA 103:042605; Russo et al. (2023) IEEE TQE 4:1–18. Figure: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2:17–2:57]
We propose Q-TRACE, a decision layer that sits on top of a quantum machine-learning model.
For each run, Q-TRACE decides whether mitigation is worth applying, using a simple principle: mitigate only when the expected benefit outweighs the extra cost. The mitigation techniques are zero-noise extrapolation and readout mitigation, and the models are simulated with Qiskit Aer.
As recorded, the benchmarks were standard tasks: Iris and the Wisconsin breast-cancer data for classification, and QM9 for molecular properties. And Q-TRACE would be compared with three simple policies: never mitigate, always mitigate, and a fixed rule.
Key points: decision layer on a QML model: mitigate only if benefit exceeds cost; mitigation: ZNE and readout; simulation: Qiskit Aer; benchmarks: Iris, WDBC, QM9; compared with Never / Always / Fixed.
Sources: docs/DECISIONS.md Q1; docs/PROJECT_SPEC.md §2; docs/research/deep-research-report.md (description of the pre-October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2:57–3:45]
We have two research questions. First, when does error mitigation improve a quantum model's output enough to justify its extra cost? Second, can Q-TRACE's benefit-versus-cost decision do better than never mitigating, always mitigating, or a fixed rule?
Our plan has four steps. We simulate noisy quantum models on the benchmark tasks. For each setting we measure what mitigation changes and what it costs. Q-TRACE then decides by weighing benefit against cost. And we compare it with the three simple policies.
For the record: this deck was reconstructed in October. The project was narrowed on October 6 to credit-card fraud detection with several mitigation actions, which is what the following meetings report. Thank you.
Key points: RQ1: when is mitigation worth its cost?; RQ2: can the benefit-vs-cost decision beat never / always / fixed?; plan: simulate → measure benefit and cost → decide → compare; note: scope narrowed Oct 6 (fraud, several actions).
Sources: Reconstructed from docs/DECISIONS.md Q1 and the research plan's description of the pre-October deck; wording is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9"/>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55664"/>
            <a:ext cx="10241280" cy="256032"/>
          </a:xfrm>
          <a:prstGeom prst="rect">
            <a:avLst/>
          </a:prstGeom>
          <a:noFill/>
          <a:ln/>
        </p:spPr>
        <p:txBody>
          <a:bodyPr wrap="square" lIns="0" tIns="0" rIns="0" bIns="0" rtlCol="0" anchor="ctr"/>
          <a:lstStyle/>
          <a:p>
            <a:pPr indent="0" marL="0">
              <a:buNone/>
            </a:pPr>
            <a:r>
              <a:rPr lang="en-US" sz="900" dirty="0">
                <a:solidFill>
                  <a:schemeClr val="accent5"/>
                </a:solidFill>
              </a:rPr>
              <a:t>Q-TRACE  ·  Research proposal  ·  September 15, 2026  ·  retrospective reconstruction, prepared Oct 2026</a:t>
            </a:r>
            <a:endParaRPr lang="en-US" sz="900" dirty="0"/>
          </a:p>
        </p:txBody>
      </p:sp>
      <p:sp>
        <p:nvSpPr>
          <p:cNvPr id="3" name="Text 1"/>
          <p:cNvSpPr/>
          <p:nvPr>
            <p:ph idx="101" type="title" hasCustomPrompt="1"/>
          </p:nvPr>
        </p:nvSpPr>
        <p:spPr>
          <a:xfrm>
            <a:off x="548640" y="457200"/>
            <a:ext cx="11094415" cy="731520"/>
          </a:xfrm>
          <a:prstGeom prst="rect">
            <a:avLst/>
          </a:prstGeom>
          <a:noFill/>
          <a:ln/>
        </p:spPr>
        <p:txBody>
          <a:bodyPr wrap="square" rtlCol="0"/>
          <a:lstStyle>
            <a:lvl1pPr indent="0" marL="0">
              <a:buNone/>
              <a:defRPr lang="en-US" sz="2800" b="1" dirty="0">
                <a:solidFill>
                  <a:schemeClr val="tx2"/>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1B2A49"/>
        </a:solidFill>
      </p:bgPr>
    </p:bg>
    <p:spTree>
      <p:nvGrpSpPr>
        <p:cNvPr id="1" name=""/>
        <p:cNvGrpSpPr/>
        <p:nvPr/>
      </p:nvGrpSpPr>
      <p:grpSpPr>
        <a:xfrm>
          <a:off x="0" y="0"/>
          <a:ext cx="0" cy="0"/>
          <a:chOff x="0" y="0"/>
          <a:chExt cx="0" cy="0"/>
        </a:xfrm>
      </p:grpSpPr>
      <p:sp>
        <p:nvSpPr>
          <p:cNvPr id="2" name="Text 0"/>
          <p:cNvSpPr/>
          <p:nvPr/>
        </p:nvSpPr>
        <p:spPr>
          <a:xfrm>
            <a:off x="548640" y="6455664"/>
            <a:ext cx="10241280" cy="256032"/>
          </a:xfrm>
          <a:prstGeom prst="rect">
            <a:avLst/>
          </a:prstGeom>
          <a:noFill/>
          <a:ln/>
        </p:spPr>
        <p:txBody>
          <a:bodyPr wrap="square" lIns="0" tIns="0" rIns="0" bIns="0" rtlCol="0" anchor="ctr"/>
          <a:lstStyle/>
          <a:p>
            <a:pPr indent="0" marL="0">
              <a:buNone/>
            </a:pPr>
            <a:r>
              <a:rPr lang="en-US" sz="900" dirty="0">
                <a:solidFill>
                  <a:srgbClr val="AFC2DC"/>
                </a:solidFill>
              </a:rPr>
              <a:t>Q-TRACE  ·  Research proposal  ·  September 15, 2026  ·  retrospective reconstruction, prepared Oct 2026</a:t>
            </a:r>
            <a:endParaRPr lang="en-US" sz="900" dirty="0"/>
          </a:p>
        </p:txBody>
      </p:sp>
      <p:sp>
        <p:nvSpPr>
          <p:cNvPr id="3" name="Text 1"/>
          <p:cNvSpPr/>
          <p:nvPr>
            <p:ph idx="101" type="title" hasCustomPrompt="1"/>
          </p:nvPr>
        </p:nvSpPr>
        <p:spPr>
          <a:xfrm>
            <a:off x="548640" y="457200"/>
            <a:ext cx="11094415" cy="731520"/>
          </a:xfrm>
          <a:prstGeom prst="rect">
            <a:avLst/>
          </a:prstGeom>
          <a:noFill/>
          <a:ln/>
        </p:spPr>
        <p:txBody>
          <a:bodyPr wrap="square" rtlCol="0"/>
          <a:lstStyle>
            <a:lvl1pPr indent="0" marL="0">
              <a:buNone/>
              <a:defRPr lang="en-US" sz="2800" b="1" dirty="0">
                <a:solidFill>
                  <a:schemeClr val="bg1"/>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AFC2D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hip-bg"/>
          <p:cNvSpPr/>
          <p:nvPr/>
        </p:nvSpPr>
        <p:spPr>
          <a:xfrm>
            <a:off x="548640" y="411480"/>
            <a:ext cx="3246120" cy="329184"/>
          </a:xfrm>
          <a:prstGeom prst="roundRect">
            <a:avLst>
              <a:gd name="adj" fmla="val 44444"/>
            </a:avLst>
          </a:prstGeom>
          <a:solidFill>
            <a:srgbClr val="0F8B8D"/>
          </a:solidFill>
          <a:ln w="12700">
            <a:solidFill>
              <a:srgbClr val="0F8B8D"/>
            </a:solidFill>
            <a:prstDash val="solid"/>
          </a:ln>
        </p:spPr>
      </p:sp>
      <p:sp>
        <p:nvSpPr>
          <p:cNvPr id="3" name="chip"/>
          <p:cNvSpPr txBox="1"/>
          <p:nvPr/>
        </p:nvSpPr>
        <p:spPr>
          <a:xfrm>
            <a:off x="548640" y="411480"/>
            <a:ext cx="3246120" cy="329184"/>
          </a:xfrm>
          <a:prstGeom prst="rect">
            <a:avLst/>
          </a:prstGeom>
          <a:noFill/>
          <a:ln/>
        </p:spPr>
        <p:txBody>
          <a:bodyPr wrap="square" lIns="0" tIns="0" rIns="0" bIns="0" rtlCol="0" anchor="ctr"/>
          <a:lstStyle/>
          <a:p>
            <a:pPr algn="ctr" indent="0" marL="0">
              <a:buNone/>
            </a:pPr>
            <a:r>
              <a:rPr lang="en-US" sz="1100" b="1" dirty="0">
                <a:solidFill>
                  <a:srgbClr val="FFFFFF"/>
                </a:solidFill>
              </a:rPr>
              <a:t>Meeting 1 of 7  ·  September 15, 2026</a:t>
            </a:r>
            <a:endParaRPr lang="en-US" sz="1100" dirty="0"/>
          </a:p>
        </p:txBody>
      </p:sp>
      <p:sp>
        <p:nvSpPr>
          <p:cNvPr id="4" name="chip-bg"/>
          <p:cNvSpPr/>
          <p:nvPr/>
        </p:nvSpPr>
        <p:spPr>
          <a:xfrm>
            <a:off x="7436815" y="411480"/>
            <a:ext cx="4206240" cy="329184"/>
          </a:xfrm>
          <a:prstGeom prst="roundRect">
            <a:avLst>
              <a:gd name="adj" fmla="val 44444"/>
            </a:avLst>
          </a:prstGeom>
          <a:solidFill>
            <a:srgbClr val="E8A33D"/>
          </a:solidFill>
          <a:ln w="12700">
            <a:solidFill>
              <a:srgbClr val="E8A33D"/>
            </a:solidFill>
            <a:prstDash val="solid"/>
          </a:ln>
        </p:spPr>
      </p:sp>
      <p:sp>
        <p:nvSpPr>
          <p:cNvPr id="5" name="chip"/>
          <p:cNvSpPr txBox="1"/>
          <p:nvPr/>
        </p:nvSpPr>
        <p:spPr>
          <a:xfrm>
            <a:off x="7436815" y="411480"/>
            <a:ext cx="4206240" cy="329184"/>
          </a:xfrm>
          <a:prstGeom prst="rect">
            <a:avLst/>
          </a:prstGeom>
          <a:noFill/>
          <a:ln/>
        </p:spPr>
        <p:txBody>
          <a:bodyPr wrap="square" lIns="0" tIns="0" rIns="0" bIns="0" rtlCol="0" anchor="ctr"/>
          <a:lstStyle/>
          <a:p>
            <a:pPr algn="ctr" indent="0" marL="0">
              <a:buNone/>
            </a:pPr>
            <a:r>
              <a:rPr lang="en-US" sz="1100" b="1" dirty="0">
                <a:solidFill>
                  <a:srgbClr val="1A1F2B"/>
                </a:solidFill>
              </a:rPr>
              <a:t>Retrospective reconstruction  ·  prepared October 2026</a:t>
            </a:r>
            <a:endParaRPr lang="en-US" sz="1100" dirty="0"/>
          </a:p>
        </p:txBody>
      </p:sp>
      <p:sp>
        <p:nvSpPr>
          <p:cNvPr id="6" name="topic"/>
          <p:cNvSpPr txBox="1"/>
          <p:nvPr/>
        </p:nvSpPr>
        <p:spPr>
          <a:xfrm>
            <a:off x="548640" y="1051560"/>
            <a:ext cx="10058400" cy="365760"/>
          </a:xfrm>
          <a:prstGeom prst="rect">
            <a:avLst/>
          </a:prstGeom>
          <a:noFill/>
          <a:ln/>
        </p:spPr>
        <p:txBody>
          <a:bodyPr wrap="square" lIns="0" tIns="0" rIns="0" bIns="0" rtlCol="0" anchor="t"/>
          <a:lstStyle/>
          <a:p>
            <a:pPr indent="0" marL="0">
              <a:buNone/>
            </a:pPr>
            <a:r>
              <a:rPr lang="en-US" sz="1300" b="1" spc="200" kern="0" dirty="0">
                <a:solidFill>
                  <a:srgbClr val="7FD6D3"/>
                </a:solidFill>
              </a:rPr>
              <a:t>RESEARCH PROPOSAL</a:t>
            </a:r>
            <a:endParaRPr lang="en-US" sz="1300" dirty="0"/>
          </a:p>
        </p:txBody>
      </p:sp>
      <p:sp>
        <p:nvSpPr>
          <p:cNvPr id="7" name="headline"/>
          <p:cNvSpPr txBox="1"/>
          <p:nvPr/>
        </p:nvSpPr>
        <p:spPr>
          <a:xfrm>
            <a:off x="548640" y="1417320"/>
            <a:ext cx="11064240" cy="566928"/>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When is quantum error mitigation worth its cost?</a:t>
            </a:r>
            <a:endParaRPr lang="en-US" sz="3400" dirty="0"/>
          </a:p>
        </p:txBody>
      </p:sp>
      <p:sp>
        <p:nvSpPr>
          <p:cNvPr id="8" name="subtitle"/>
          <p:cNvSpPr txBox="1"/>
          <p:nvPr/>
        </p:nvSpPr>
        <p:spPr>
          <a:xfrm>
            <a:off x="548640" y="2185416"/>
            <a:ext cx="10607040" cy="457200"/>
          </a:xfrm>
          <a:prstGeom prst="rect">
            <a:avLst/>
          </a:prstGeom>
          <a:noFill/>
          <a:ln/>
        </p:spPr>
        <p:txBody>
          <a:bodyPr wrap="square" lIns="0" tIns="0" rIns="0" bIns="0" rtlCol="0" anchor="t"/>
          <a:lstStyle/>
          <a:p>
            <a:pPr indent="0" marL="0">
              <a:buNone/>
            </a:pPr>
            <a:r>
              <a:rPr lang="en-US" sz="1700" dirty="0">
                <a:solidFill>
                  <a:srgbClr val="CADCFC"/>
                </a:solidFill>
              </a:rPr>
              <a:t>Research proposal: noise in quantum machine learning, the cost of mitigation, and a cost-aware decision layer</a:t>
            </a:r>
            <a:endParaRPr lang="en-US" sz="1700" dirty="0"/>
          </a:p>
        </p:txBody>
      </p:sp>
      <p:sp>
        <p:nvSpPr>
          <p:cNvPr id="9" name="message-bg"/>
          <p:cNvSpPr/>
          <p:nvPr/>
        </p:nvSpPr>
        <p:spPr>
          <a:xfrm>
            <a:off x="548640" y="3337560"/>
            <a:ext cx="11064240" cy="960120"/>
          </a:xfrm>
          <a:prstGeom prst="roundRect">
            <a:avLst>
              <a:gd name="adj" fmla="val 7619"/>
            </a:avLst>
          </a:prstGeom>
          <a:solidFill>
            <a:srgbClr val="243A63"/>
          </a:solidFill>
          <a:ln w="12700">
            <a:solidFill>
              <a:srgbClr val="3A5584"/>
            </a:solidFill>
            <a:prstDash val="solid"/>
          </a:ln>
        </p:spPr>
      </p:sp>
      <p:sp>
        <p:nvSpPr>
          <p:cNvPr id="10" name="message-icon-circle"/>
          <p:cNvSpPr/>
          <p:nvPr/>
        </p:nvSpPr>
        <p:spPr>
          <a:xfrm>
            <a:off x="749808" y="3547872"/>
            <a:ext cx="548640" cy="548640"/>
          </a:xfrm>
          <a:prstGeom prst="ellipse">
            <a:avLst/>
          </a:prstGeom>
          <a:solidFill>
            <a:srgbClr val="0F8B8D"/>
          </a:solidFill>
          <a:ln w="12700">
            <a:solidFill>
              <a:srgbClr val="0F8B8D"/>
            </a:solidFill>
            <a:prstDash val="solid"/>
          </a:ln>
        </p:spPr>
      </p:sp>
      <p:pic>
        <p:nvPicPr>
          <p:cNvPr id="11" name="message-icon" descr="preencoded.png">    </p:cNvPr>
          <p:cNvPicPr>
            <a:picLocks noChangeAspect="1"/>
          </p:cNvPicPr>
          <p:nvPr/>
        </p:nvPicPr>
        <p:blipFill>
          <a:blip r:embed="rId1"/>
          <a:stretch>
            <a:fillRect/>
          </a:stretch>
        </p:blipFill>
        <p:spPr>
          <a:xfrm>
            <a:off x="881482" y="3679546"/>
            <a:ext cx="285293" cy="285293"/>
          </a:xfrm>
          <a:prstGeom prst="rect">
            <a:avLst/>
          </a:prstGeom>
        </p:spPr>
      </p:pic>
      <p:sp>
        <p:nvSpPr>
          <p:cNvPr id="12" name="message"/>
          <p:cNvSpPr txBox="1"/>
          <p:nvPr/>
        </p:nvSpPr>
        <p:spPr>
          <a:xfrm>
            <a:off x="1463040" y="3337560"/>
            <a:ext cx="9921240" cy="960120"/>
          </a:xfrm>
          <a:prstGeom prst="rect">
            <a:avLst/>
          </a:prstGeom>
          <a:noFill/>
          <a:ln/>
        </p:spPr>
        <p:txBody>
          <a:bodyPr wrap="square" lIns="0" tIns="0" rIns="0" bIns="0" rtlCol="0" anchor="ctr"/>
          <a:lstStyle/>
          <a:p>
            <a:pPr indent="0" marL="0">
              <a:buNone/>
            </a:pPr>
            <a:r>
              <a:rPr lang="en-US" sz="1600" dirty="0">
                <a:solidFill>
                  <a:srgbClr val="FFFFFF"/>
                </a:solidFill>
              </a:rPr>
              <a:t>Reconstructed in Oct 2026 from the project record, which begins Oct 6. It preserves the pre-October project as a generic QML study (Iris, QM9, WDBC) with a mitigate-or-not decision. No results existed on this date.</a:t>
            </a:r>
            <a:endParaRPr lang="en-US" sz="1600" dirty="0"/>
          </a:p>
        </p:txBody>
      </p:sp>
      <p:sp>
        <p:nvSpPr>
          <p:cNvPr id="13" name="authors"/>
          <p:cNvSpPr txBox="1"/>
          <p:nvPr/>
        </p:nvSpPr>
        <p:spPr>
          <a:xfrm>
            <a:off x="548640" y="4526280"/>
            <a:ext cx="11064240" cy="868680"/>
          </a:xfrm>
          <a:prstGeom prst="rect">
            <a:avLst/>
          </a:prstGeom>
          <a:noFill/>
          <a:ln/>
        </p:spPr>
        <p:txBody>
          <a:bodyPr wrap="square" lIns="0" tIns="0" rIns="0" bIns="0" rtlCol="0" anchor="t"/>
          <a:lstStyle/>
          <a:p>
            <a:pPr indent="0" marL="0">
              <a:buNone/>
            </a:pPr>
            <a:r>
              <a:rPr lang="en-US" sz="1300" b="1" dirty="0">
                <a:solidFill>
                  <a:srgbClr val="E6ECF5"/>
                </a:solidFill>
              </a:rPr>
              <a:t>Mayank Kumar Pokhriyal  ·  Tushar Poonia</a:t>
            </a:r>
            <a:endParaRPr lang="en-US" sz="1300" dirty="0"/>
          </a:p>
          <a:p>
            <a:pPr indent="0" marL="0">
              <a:buNone/>
            </a:pPr>
            <a:r>
              <a:rPr lang="en-US" sz="1300" dirty="0">
                <a:solidFill>
                  <a:srgbClr val="E6ECF5"/>
                </a:solidFill>
              </a:rPr>
              <a:t>M.S. in Artificial Intelligence capstone  ·  Katz School of Science and Health, Yeshiva University</a:t>
            </a:r>
            <a:endParaRPr lang="en-US" sz="1300" dirty="0"/>
          </a:p>
          <a:p>
            <a:pPr indent="0" marL="0">
              <a:buNone/>
            </a:pPr>
            <a:r>
              <a:rPr lang="en-US" sz="1150" dirty="0">
                <a:solidFill>
                  <a:srgbClr val="AFC2DC"/>
                </a:solidFill>
              </a:rPr>
              <a:t>Retrospective deck · proposed split: Mayank (slides 1–3) · Tushar (slides 4–5) · about 5 minutes</a:t>
            </a:r>
            <a:endParaRPr lang="en-US" sz="1300" dirty="0"/>
          </a:p>
        </p:txBody>
      </p:sp>
      <p:sp>
        <p:nvSpPr>
          <p:cNvPr id="14" name="tracker-line"/>
          <p:cNvSpPr/>
          <p:nvPr/>
        </p:nvSpPr>
        <p:spPr>
          <a:xfrm>
            <a:off x="548640" y="5888736"/>
            <a:ext cx="11094415" cy="0"/>
          </a:xfrm>
          <a:prstGeom prst="line">
            <a:avLst/>
          </a:prstGeom>
          <a:noFill/>
          <a:ln w="19050">
            <a:solidFill>
              <a:srgbClr val="5B6C8F"/>
            </a:solidFill>
            <a:prstDash val="solid"/>
          </a:ln>
        </p:spPr>
      </p:sp>
      <p:sp>
        <p:nvSpPr>
          <p:cNvPr id="15" name="tracker-node-0"/>
          <p:cNvSpPr/>
          <p:nvPr/>
        </p:nvSpPr>
        <p:spPr>
          <a:xfrm>
            <a:off x="411480" y="5751576"/>
            <a:ext cx="274320" cy="274320"/>
          </a:xfrm>
          <a:prstGeom prst="ellipse">
            <a:avLst/>
          </a:prstGeom>
          <a:solidFill>
            <a:srgbClr val="E8A33D"/>
          </a:solidFill>
          <a:ln w="19050">
            <a:solidFill>
              <a:srgbClr val="E8A33D"/>
            </a:solidFill>
            <a:prstDash val="solid"/>
          </a:ln>
        </p:spPr>
      </p:sp>
      <p:sp>
        <p:nvSpPr>
          <p:cNvPr id="16" name="tracker-label-0"/>
          <p:cNvSpPr txBox="1"/>
          <p:nvPr/>
        </p:nvSpPr>
        <p:spPr>
          <a:xfrm>
            <a:off x="-228600" y="6071616"/>
            <a:ext cx="1554480" cy="457200"/>
          </a:xfrm>
          <a:prstGeom prst="rect">
            <a:avLst/>
          </a:prstGeom>
          <a:noFill/>
          <a:ln/>
        </p:spPr>
        <p:txBody>
          <a:bodyPr wrap="square" lIns="0" tIns="0" rIns="0" bIns="0" rtlCol="0" anchor="t"/>
          <a:lstStyle/>
          <a:p>
            <a:pPr algn="ctr" indent="0" marL="0">
              <a:buNone/>
            </a:pPr>
            <a:r>
              <a:rPr lang="en-US" sz="1050" b="1" dirty="0">
                <a:solidFill>
                  <a:srgbClr val="FFFFFF"/>
                </a:solidFill>
              </a:rPr>
              <a:t>Sep 15</a:t>
            </a:r>
            <a:endParaRPr lang="en-US" sz="1400" dirty="0"/>
          </a:p>
          <a:p>
            <a:pPr algn="ctr" indent="0" marL="0">
              <a:buNone/>
            </a:pPr>
            <a:r>
              <a:rPr lang="en-US" sz="950" dirty="0">
                <a:solidFill>
                  <a:srgbClr val="FFFFFF"/>
                </a:solidFill>
              </a:rPr>
              <a:t>Proposal</a:t>
            </a:r>
            <a:endParaRPr lang="en-US" sz="1400" dirty="0"/>
          </a:p>
        </p:txBody>
      </p:sp>
      <p:sp>
        <p:nvSpPr>
          <p:cNvPr id="17" name="tracker-node-1"/>
          <p:cNvSpPr/>
          <p:nvPr/>
        </p:nvSpPr>
        <p:spPr>
          <a:xfrm>
            <a:off x="2297125" y="5788152"/>
            <a:ext cx="201168" cy="201168"/>
          </a:xfrm>
          <a:prstGeom prst="ellipse">
            <a:avLst/>
          </a:prstGeom>
          <a:solidFill>
            <a:srgbClr val="1B2A49"/>
          </a:solidFill>
          <a:ln w="19050">
            <a:solidFill>
              <a:srgbClr val="5B6C8F"/>
            </a:solidFill>
            <a:prstDash val="solid"/>
          </a:ln>
        </p:spPr>
      </p:sp>
      <p:sp>
        <p:nvSpPr>
          <p:cNvPr id="18" name="tracker-label-1"/>
          <p:cNvSpPr txBox="1"/>
          <p:nvPr/>
        </p:nvSpPr>
        <p:spPr>
          <a:xfrm>
            <a:off x="1620469"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Sep 29</a:t>
            </a:r>
            <a:endParaRPr lang="en-US" sz="1400" dirty="0"/>
          </a:p>
          <a:p>
            <a:pPr algn="ctr" indent="0" marL="0">
              <a:buNone/>
            </a:pPr>
            <a:r>
              <a:rPr lang="en-US" sz="950" dirty="0">
                <a:solidFill>
                  <a:srgbClr val="AFC2DC"/>
                </a:solidFill>
              </a:rPr>
              <a:t>Design</a:t>
            </a:r>
            <a:endParaRPr lang="en-US" sz="1400" dirty="0"/>
          </a:p>
        </p:txBody>
      </p:sp>
      <p:sp>
        <p:nvSpPr>
          <p:cNvPr id="19" name="tracker-node-2"/>
          <p:cNvSpPr/>
          <p:nvPr/>
        </p:nvSpPr>
        <p:spPr>
          <a:xfrm>
            <a:off x="4146194" y="5788152"/>
            <a:ext cx="201168" cy="201168"/>
          </a:xfrm>
          <a:prstGeom prst="ellipse">
            <a:avLst/>
          </a:prstGeom>
          <a:solidFill>
            <a:srgbClr val="1B2A49"/>
          </a:solidFill>
          <a:ln w="19050">
            <a:solidFill>
              <a:srgbClr val="5B6C8F"/>
            </a:solidFill>
            <a:prstDash val="solid"/>
          </a:ln>
        </p:spPr>
      </p:sp>
      <p:sp>
        <p:nvSpPr>
          <p:cNvPr id="20" name="tracker-label-2"/>
          <p:cNvSpPr txBox="1"/>
          <p:nvPr/>
        </p:nvSpPr>
        <p:spPr>
          <a:xfrm>
            <a:off x="3469538"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Oct 13</a:t>
            </a:r>
            <a:endParaRPr lang="en-US" sz="1400" dirty="0"/>
          </a:p>
          <a:p>
            <a:pPr algn="ctr" indent="0" marL="0">
              <a:buNone/>
            </a:pPr>
            <a:r>
              <a:rPr lang="en-US" sz="950" dirty="0">
                <a:solidFill>
                  <a:srgbClr val="AFC2DC"/>
                </a:solidFill>
              </a:rPr>
              <a:t>Implementation</a:t>
            </a:r>
            <a:endParaRPr lang="en-US" sz="1400" dirty="0"/>
          </a:p>
        </p:txBody>
      </p:sp>
      <p:sp>
        <p:nvSpPr>
          <p:cNvPr id="21" name="tracker-node-3"/>
          <p:cNvSpPr/>
          <p:nvPr/>
        </p:nvSpPr>
        <p:spPr>
          <a:xfrm>
            <a:off x="5995264" y="5788152"/>
            <a:ext cx="201168" cy="201168"/>
          </a:xfrm>
          <a:prstGeom prst="ellipse">
            <a:avLst/>
          </a:prstGeom>
          <a:solidFill>
            <a:srgbClr val="1B2A49"/>
          </a:solidFill>
          <a:ln w="19050">
            <a:solidFill>
              <a:srgbClr val="5B6C8F"/>
            </a:solidFill>
            <a:prstDash val="solid"/>
          </a:ln>
        </p:spPr>
      </p:sp>
      <p:sp>
        <p:nvSpPr>
          <p:cNvPr id="22" name="tracker-label-3"/>
          <p:cNvSpPr txBox="1"/>
          <p:nvPr/>
        </p:nvSpPr>
        <p:spPr>
          <a:xfrm>
            <a:off x="5318608"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Oct 27</a:t>
            </a:r>
            <a:endParaRPr lang="en-US" sz="1400" dirty="0"/>
          </a:p>
          <a:p>
            <a:pPr algn="ctr" indent="0" marL="0">
              <a:buNone/>
            </a:pPr>
            <a:r>
              <a:rPr lang="en-US" sz="950" dirty="0">
                <a:solidFill>
                  <a:srgbClr val="AFC2DC"/>
                </a:solidFill>
              </a:rPr>
              <a:t>Noise &amp; mitigation</a:t>
            </a:r>
            <a:endParaRPr lang="en-US" sz="1400" dirty="0"/>
          </a:p>
        </p:txBody>
      </p:sp>
      <p:sp>
        <p:nvSpPr>
          <p:cNvPr id="23" name="tracker-node-4"/>
          <p:cNvSpPr/>
          <p:nvPr/>
        </p:nvSpPr>
        <p:spPr>
          <a:xfrm>
            <a:off x="7844333" y="5788152"/>
            <a:ext cx="201168" cy="201168"/>
          </a:xfrm>
          <a:prstGeom prst="ellipse">
            <a:avLst/>
          </a:prstGeom>
          <a:solidFill>
            <a:srgbClr val="1B2A49"/>
          </a:solidFill>
          <a:ln w="19050">
            <a:solidFill>
              <a:srgbClr val="5B6C8F"/>
            </a:solidFill>
            <a:prstDash val="solid"/>
          </a:ln>
        </p:spPr>
      </p:sp>
      <p:sp>
        <p:nvSpPr>
          <p:cNvPr id="24" name="tracker-label-4"/>
          <p:cNvSpPr txBox="1"/>
          <p:nvPr/>
        </p:nvSpPr>
        <p:spPr>
          <a:xfrm>
            <a:off x="7167677"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Nov 10</a:t>
            </a:r>
            <a:endParaRPr lang="en-US" sz="1400" dirty="0"/>
          </a:p>
          <a:p>
            <a:pPr algn="ctr" indent="0" marL="0">
              <a:buNone/>
            </a:pPr>
            <a:r>
              <a:rPr lang="en-US" sz="950" dirty="0">
                <a:solidFill>
                  <a:srgbClr val="AFC2DC"/>
                </a:solidFill>
              </a:rPr>
              <a:t>Policy selection</a:t>
            </a:r>
            <a:endParaRPr lang="en-US" sz="1400" dirty="0"/>
          </a:p>
        </p:txBody>
      </p:sp>
      <p:sp>
        <p:nvSpPr>
          <p:cNvPr id="25" name="tracker-node-5"/>
          <p:cNvSpPr/>
          <p:nvPr/>
        </p:nvSpPr>
        <p:spPr>
          <a:xfrm>
            <a:off x="9693402" y="5788152"/>
            <a:ext cx="201168" cy="201168"/>
          </a:xfrm>
          <a:prstGeom prst="ellipse">
            <a:avLst/>
          </a:prstGeom>
          <a:solidFill>
            <a:srgbClr val="1B2A49"/>
          </a:solidFill>
          <a:ln w="19050">
            <a:solidFill>
              <a:srgbClr val="5B6C8F"/>
            </a:solidFill>
            <a:prstDash val="solid"/>
          </a:ln>
        </p:spPr>
      </p:sp>
      <p:sp>
        <p:nvSpPr>
          <p:cNvPr id="26" name="tracker-label-5"/>
          <p:cNvSpPr txBox="1"/>
          <p:nvPr/>
        </p:nvSpPr>
        <p:spPr>
          <a:xfrm>
            <a:off x="9016746"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Nov 24</a:t>
            </a:r>
            <a:endParaRPr lang="en-US" sz="1400" dirty="0"/>
          </a:p>
          <a:p>
            <a:pPr algn="ctr" indent="0" marL="0">
              <a:buNone/>
            </a:pPr>
            <a:r>
              <a:rPr lang="en-US" sz="950" dirty="0">
                <a:solidFill>
                  <a:srgbClr val="AFC2DC"/>
                </a:solidFill>
              </a:rPr>
              <a:t>Final findings</a:t>
            </a:r>
            <a:endParaRPr lang="en-US" sz="1400" dirty="0"/>
          </a:p>
        </p:txBody>
      </p:sp>
      <p:sp>
        <p:nvSpPr>
          <p:cNvPr id="27" name="tracker-node-6"/>
          <p:cNvSpPr/>
          <p:nvPr/>
        </p:nvSpPr>
        <p:spPr>
          <a:xfrm>
            <a:off x="11542471" y="5788152"/>
            <a:ext cx="201168" cy="201168"/>
          </a:xfrm>
          <a:prstGeom prst="ellipse">
            <a:avLst/>
          </a:prstGeom>
          <a:solidFill>
            <a:srgbClr val="1B2A49"/>
          </a:solidFill>
          <a:ln w="19050">
            <a:solidFill>
              <a:srgbClr val="5B6C8F"/>
            </a:solidFill>
            <a:prstDash val="solid"/>
          </a:ln>
        </p:spPr>
      </p:sp>
      <p:sp>
        <p:nvSpPr>
          <p:cNvPr id="28" name="tracker-label-6"/>
          <p:cNvSpPr txBox="1"/>
          <p:nvPr/>
        </p:nvSpPr>
        <p:spPr>
          <a:xfrm>
            <a:off x="10865815"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Dec 8</a:t>
            </a:r>
            <a:endParaRPr lang="en-US" sz="1400" dirty="0"/>
          </a:p>
          <a:p>
            <a:pPr algn="ctr" indent="0" marL="0">
              <a:buNone/>
            </a:pPr>
            <a:r>
              <a:rPr lang="en-US" sz="950" dirty="0">
                <a:solidFill>
                  <a:srgbClr val="AFC2DC"/>
                </a:solidFill>
              </a:rPr>
              <a:t>Final defense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BACKGROUND FROM THE LITERATURE  ·  NO PROJECT DATA</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Why quantum noise matters</a:t>
            </a:r>
            <a:endParaRPr lang="en-US" sz="2800" dirty="0"/>
          </a:p>
        </p:txBody>
      </p:sp>
      <p:pic>
        <p:nvPicPr>
          <p:cNvPr id="4" name="noise_concept.png" descr="/Users/mayankpokhriyal/Workspaces/q-trace/deliverables/presentations/semester/_system/figures/noise_concept.png">    </p:cNvPr>
          <p:cNvPicPr>
            <a:picLocks noChangeAspect="1"/>
          </p:cNvPicPr>
          <p:nvPr/>
        </p:nvPicPr>
        <p:blipFill>
          <a:blip r:embed="rId1"/>
          <a:stretch>
            <a:fillRect/>
          </a:stretch>
        </p:blipFill>
        <p:spPr>
          <a:xfrm>
            <a:off x="457200" y="1863461"/>
            <a:ext cx="7680960" cy="2811038"/>
          </a:xfrm>
          <a:prstGeom prst="rect">
            <a:avLst/>
          </a:prstGeom>
        </p:spPr>
      </p:pic>
      <p:sp>
        <p:nvSpPr>
          <p:cNvPr id="5" name="card-bg"/>
          <p:cNvSpPr/>
          <p:nvPr/>
        </p:nvSpPr>
        <p:spPr>
          <a:xfrm>
            <a:off x="8366760" y="1325880"/>
            <a:ext cx="3291840" cy="3931920"/>
          </a:xfrm>
          <a:prstGeom prst="roundRect">
            <a:avLst>
              <a:gd name="adj" fmla="val 1944"/>
            </a:avLst>
          </a:prstGeom>
          <a:solidFill>
            <a:srgbClr val="EEF2F7"/>
          </a:solidFill>
          <a:ln w="6350">
            <a:solidFill>
              <a:srgbClr val="EEF2F7"/>
            </a:solidFill>
            <a:prstDash val="solid"/>
          </a:ln>
        </p:spPr>
      </p:sp>
      <p:sp>
        <p:nvSpPr>
          <p:cNvPr id="6" name="card-text"/>
          <p:cNvSpPr txBox="1"/>
          <p:nvPr/>
        </p:nvSpPr>
        <p:spPr>
          <a:xfrm>
            <a:off x="8549640" y="1453896"/>
            <a:ext cx="2926080" cy="37124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In brief</a:t>
            </a:r>
            <a:endParaRPr lang="en-US" sz="1550" dirty="0"/>
          </a:p>
          <a:p>
            <a:pPr marL="177800" indent="-177800">
              <a:spcAft>
                <a:spcPts val="400"/>
              </a:spcAft>
              <a:buSzPct val="100000"/>
              <a:buChar char="•"/>
            </a:pPr>
            <a:r>
              <a:rPr lang="en-US" sz="1400" dirty="0">
                <a:solidFill>
                  <a:schemeClr val="tx1"/>
                </a:solidFill>
              </a:rPr>
              <a:t>NISQ processors are noisy</a:t>
            </a:r>
            <a:endParaRPr lang="en-US" sz="1550" dirty="0"/>
          </a:p>
          <a:p>
            <a:pPr marL="177800" indent="-177800">
              <a:spcAft>
                <a:spcPts val="400"/>
              </a:spcAft>
              <a:buSzPct val="100000"/>
              <a:buChar char="•"/>
            </a:pPr>
            <a:r>
              <a:rPr lang="en-US" sz="1400" dirty="0">
                <a:solidFill>
                  <a:schemeClr val="tx1"/>
                </a:solidFill>
              </a:rPr>
              <a:t>Noise shrinks the expectation values a QML model outputs</a:t>
            </a:r>
            <a:endParaRPr lang="en-US" sz="1550" dirty="0"/>
          </a:p>
          <a:p>
            <a:pPr marL="177800" indent="-177800">
              <a:spcAft>
                <a:spcPts val="400"/>
              </a:spcAft>
              <a:buSzPct val="100000"/>
              <a:buChar char="•"/>
            </a:pPr>
            <a:r>
              <a:rPr lang="en-US" sz="1400" dirty="0">
                <a:solidFill>
                  <a:schemeClr val="tx1"/>
                </a:solidFill>
              </a:rPr>
              <a:t>Probabilities drift toward 0.5, so threshold decisions can flip</a:t>
            </a:r>
            <a:endParaRPr lang="en-US" sz="1550" dirty="0"/>
          </a:p>
        </p:txBody>
      </p:sp>
      <p:sp>
        <p:nvSpPr>
          <p:cNvPr id="7" name="takeaway-bg"/>
          <p:cNvSpPr/>
          <p:nvPr/>
        </p:nvSpPr>
        <p:spPr>
          <a:xfrm>
            <a:off x="548640" y="5486400"/>
            <a:ext cx="11094415" cy="512064"/>
          </a:xfrm>
          <a:prstGeom prst="roundRect">
            <a:avLst>
              <a:gd name="adj" fmla="val 12500"/>
            </a:avLst>
          </a:prstGeom>
          <a:solidFill>
            <a:srgbClr val="E3F2F1"/>
          </a:solidFill>
          <a:ln w="6350">
            <a:solidFill>
              <a:srgbClr val="E3F2F1"/>
            </a:solidFill>
            <a:prstDash val="solid"/>
          </a:ln>
        </p:spPr>
      </p:sp>
      <p:sp>
        <p:nvSpPr>
          <p:cNvPr id="8" name="takeaway-icon-circle"/>
          <p:cNvSpPr/>
          <p:nvPr/>
        </p:nvSpPr>
        <p:spPr>
          <a:xfrm>
            <a:off x="676656" y="5568696"/>
            <a:ext cx="347472" cy="347472"/>
          </a:xfrm>
          <a:prstGeom prst="ellipse">
            <a:avLst/>
          </a:prstGeom>
          <a:solidFill>
            <a:srgbClr val="0F8B8D"/>
          </a:solidFill>
          <a:ln w="12700">
            <a:solidFill>
              <a:srgbClr val="0F8B8D"/>
            </a:solidFill>
            <a:prstDash val="solid"/>
          </a:ln>
        </p:spPr>
      </p:sp>
      <p:pic>
        <p:nvPicPr>
          <p:cNvPr id="9" name="takeaway-icon" descr="preencoded.png">    </p:cNvPr>
          <p:cNvPicPr>
            <a:picLocks noChangeAspect="1"/>
          </p:cNvPicPr>
          <p:nvPr/>
        </p:nvPicPr>
        <p:blipFill>
          <a:blip r:embed="rId2"/>
          <a:stretch>
            <a:fillRect/>
          </a:stretch>
        </p:blipFill>
        <p:spPr>
          <a:xfrm>
            <a:off x="760049" y="5652089"/>
            <a:ext cx="180685" cy="180685"/>
          </a:xfrm>
          <a:prstGeom prst="rect">
            <a:avLst/>
          </a:prstGeom>
        </p:spPr>
      </p:pic>
      <p:sp>
        <p:nvSpPr>
          <p:cNvPr id="10" name="takeaway"/>
          <p:cNvSpPr txBox="1"/>
          <p:nvPr/>
        </p:nvSpPr>
        <p:spPr>
          <a:xfrm>
            <a:off x="1170432" y="548640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Noise changes what a quantum model tells us, not only how the hardware behaves.</a:t>
            </a:r>
            <a:endParaRPr lang="en-US" sz="1550" dirty="0"/>
          </a:p>
        </p:txBody>
      </p:sp>
      <p:sp>
        <p:nvSpPr>
          <p:cNvPr id="11" name="source"/>
          <p:cNvSpPr txBox="1"/>
          <p:nvPr/>
        </p:nvSpPr>
        <p:spPr>
          <a:xfrm>
            <a:off x="548640" y="61447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Preskill (2018), Quantum 2:79. Illustrative model only; no project data.</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BACKGROUND FROM THE LITERATURE  ·  NO PROJECT DATA</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Why error mitigation is expensive</a:t>
            </a:r>
            <a:endParaRPr lang="en-US" sz="2800" dirty="0"/>
          </a:p>
        </p:txBody>
      </p:sp>
      <p:sp>
        <p:nvSpPr>
          <p:cNvPr id="4" name="card-bg"/>
          <p:cNvSpPr/>
          <p:nvPr/>
        </p:nvSpPr>
        <p:spPr>
          <a:xfrm>
            <a:off x="548640" y="1325880"/>
            <a:ext cx="5120640" cy="1508760"/>
          </a:xfrm>
          <a:prstGeom prst="roundRect">
            <a:avLst>
              <a:gd name="adj" fmla="val 4242"/>
            </a:avLst>
          </a:prstGeom>
          <a:solidFill>
            <a:srgbClr val="EEF2F7"/>
          </a:solidFill>
          <a:ln w="6350">
            <a:solidFill>
              <a:srgbClr val="EEF2F7"/>
            </a:solidFill>
            <a:prstDash val="solid"/>
          </a:ln>
        </p:spPr>
      </p:sp>
      <p:sp>
        <p:nvSpPr>
          <p:cNvPr id="5" name="card-text"/>
          <p:cNvSpPr txBox="1"/>
          <p:nvPr/>
        </p:nvSpPr>
        <p:spPr>
          <a:xfrm>
            <a:off x="731520" y="1453896"/>
            <a:ext cx="4754880" cy="128930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Zero-noise extrapolation (ZNE)</a:t>
            </a:r>
            <a:endParaRPr lang="en-US" sz="1550" dirty="0"/>
          </a:p>
          <a:p>
            <a:pPr indent="0" marL="0">
              <a:spcAft>
                <a:spcPts val="400"/>
              </a:spcAft>
              <a:buNone/>
            </a:pPr>
            <a:r>
              <a:rPr lang="en-US" sz="1350" dirty="0">
                <a:solidFill>
                  <a:schemeClr val="tx1"/>
                </a:solidFill>
              </a:rPr>
              <a:t>Run the circuit at several amplified noise levels, then extrapolate to zero noise (Temme et al. 2017; Kandala et al. 2019; Giurgica-Tiron et al. 2020).</a:t>
            </a:r>
            <a:endParaRPr lang="en-US" sz="1550" dirty="0"/>
          </a:p>
        </p:txBody>
      </p:sp>
      <p:sp>
        <p:nvSpPr>
          <p:cNvPr id="6" name="card-bg"/>
          <p:cNvSpPr/>
          <p:nvPr/>
        </p:nvSpPr>
        <p:spPr>
          <a:xfrm>
            <a:off x="548640" y="2971800"/>
            <a:ext cx="5120640" cy="1143000"/>
          </a:xfrm>
          <a:prstGeom prst="roundRect">
            <a:avLst>
              <a:gd name="adj" fmla="val 5600"/>
            </a:avLst>
          </a:prstGeom>
          <a:solidFill>
            <a:srgbClr val="FBEFD9"/>
          </a:solidFill>
          <a:ln w="6350">
            <a:solidFill>
              <a:srgbClr val="FBEFD9"/>
            </a:solidFill>
            <a:prstDash val="solid"/>
          </a:ln>
        </p:spPr>
      </p:sp>
      <p:sp>
        <p:nvSpPr>
          <p:cNvPr id="7" name="card-text"/>
          <p:cNvSpPr txBox="1"/>
          <p:nvPr/>
        </p:nvSpPr>
        <p:spPr>
          <a:xfrm>
            <a:off x="731520" y="3099816"/>
            <a:ext cx="4754880" cy="923544"/>
          </a:xfrm>
          <a:prstGeom prst="rect">
            <a:avLst/>
          </a:prstGeom>
          <a:noFill/>
          <a:ln/>
        </p:spPr>
        <p:txBody>
          <a:bodyPr wrap="square" lIns="0" tIns="0" rIns="0" bIns="0" rtlCol="0" anchor="t"/>
          <a:lstStyle/>
          <a:p>
            <a:pPr indent="0" marL="0">
              <a:spcAft>
                <a:spcPts val="400"/>
              </a:spcAft>
              <a:buNone/>
            </a:pPr>
            <a:r>
              <a:rPr lang="en-US" sz="1550" b="1" dirty="0">
                <a:solidFill>
                  <a:srgbClr val="8A5A00"/>
                </a:solidFill>
              </a:rPr>
              <a:t>The cost</a:t>
            </a:r>
            <a:endParaRPr lang="en-US" sz="1550" dirty="0"/>
          </a:p>
          <a:p>
            <a:pPr indent="0" marL="0">
              <a:spcAft>
                <a:spcPts val="400"/>
              </a:spcAft>
              <a:buNone/>
            </a:pPr>
            <a:r>
              <a:rPr lang="en-US" sz="1350" dirty="0">
                <a:solidFill>
                  <a:schemeClr val="tx1"/>
                </a:solidFill>
              </a:rPr>
              <a:t>ZNE: several circuits instead of one. Readout mitigation: a few calibration circuits (Bravyi et al. 2021).</a:t>
            </a:r>
            <a:endParaRPr lang="en-US" sz="1550" dirty="0"/>
          </a:p>
        </p:txBody>
      </p:sp>
      <p:sp>
        <p:nvSpPr>
          <p:cNvPr id="8" name="card-bg"/>
          <p:cNvSpPr/>
          <p:nvPr/>
        </p:nvSpPr>
        <p:spPr>
          <a:xfrm>
            <a:off x="548640" y="4251960"/>
            <a:ext cx="5120640" cy="1143000"/>
          </a:xfrm>
          <a:prstGeom prst="roundRect">
            <a:avLst>
              <a:gd name="adj" fmla="val 5600"/>
            </a:avLst>
          </a:prstGeom>
          <a:solidFill>
            <a:srgbClr val="F7E3E1"/>
          </a:solidFill>
          <a:ln w="6350">
            <a:solidFill>
              <a:srgbClr val="F7E3E1"/>
            </a:solidFill>
            <a:prstDash val="solid"/>
          </a:ln>
        </p:spPr>
      </p:sp>
      <p:sp>
        <p:nvSpPr>
          <p:cNvPr id="9" name="card-text"/>
          <p:cNvSpPr txBox="1"/>
          <p:nvPr/>
        </p:nvSpPr>
        <p:spPr>
          <a:xfrm>
            <a:off x="731520" y="4379976"/>
            <a:ext cx="4754880" cy="923544"/>
          </a:xfrm>
          <a:prstGeom prst="rect">
            <a:avLst/>
          </a:prstGeom>
          <a:noFill/>
          <a:ln/>
        </p:spPr>
        <p:txBody>
          <a:bodyPr wrap="square" lIns="0" tIns="0" rIns="0" bIns="0" rtlCol="0" anchor="t"/>
          <a:lstStyle/>
          <a:p>
            <a:pPr indent="0" marL="0">
              <a:spcAft>
                <a:spcPts val="400"/>
              </a:spcAft>
              <a:buNone/>
            </a:pPr>
            <a:r>
              <a:rPr lang="en-US" sz="1550" b="1" dirty="0">
                <a:solidFill>
                  <a:schemeClr val="accent3"/>
                </a:solidFill>
              </a:rPr>
              <a:t>The benefit is not guaranteed</a:t>
            </a:r>
            <a:endParaRPr lang="en-US" sz="1550" dirty="0"/>
          </a:p>
          <a:p>
            <a:pPr indent="0" marL="0">
              <a:spcAft>
                <a:spcPts val="400"/>
              </a:spcAft>
              <a:buNone/>
            </a:pPr>
            <a:r>
              <a:rPr lang="en-US" sz="1350" dirty="0">
                <a:solidFill>
                  <a:schemeClr val="tx1"/>
                </a:solidFill>
              </a:rPr>
              <a:t>Beneficial on average but strongly platform-dependent (Russo et al. 2023).</a:t>
            </a:r>
            <a:endParaRPr lang="en-US" sz="1550" dirty="0"/>
          </a:p>
        </p:txBody>
      </p:sp>
      <p:pic>
        <p:nvPicPr>
          <p:cNvPr id="10" name="zne_schematic.png" descr="/Users/mayankpokhriyal/Workspaces/q-trace/deliverables/presentations/semester/_system/figures/zne_schematic.png">    </p:cNvPr>
          <p:cNvPicPr>
            <a:picLocks noChangeAspect="1"/>
          </p:cNvPicPr>
          <p:nvPr/>
        </p:nvPicPr>
        <p:blipFill>
          <a:blip r:embed="rId1"/>
          <a:stretch>
            <a:fillRect/>
          </a:stretch>
        </p:blipFill>
        <p:spPr>
          <a:xfrm>
            <a:off x="6138654" y="1280160"/>
            <a:ext cx="5279172" cy="4114800"/>
          </a:xfrm>
          <a:prstGeom prst="rect">
            <a:avLst/>
          </a:prstGeom>
        </p:spPr>
      </p:pic>
      <p:sp>
        <p:nvSpPr>
          <p:cNvPr id="11" name="takeaway-bg"/>
          <p:cNvSpPr/>
          <p:nvPr/>
        </p:nvSpPr>
        <p:spPr>
          <a:xfrm>
            <a:off x="548640" y="5532120"/>
            <a:ext cx="11094415" cy="512064"/>
          </a:xfrm>
          <a:prstGeom prst="roundRect">
            <a:avLst>
              <a:gd name="adj" fmla="val 12500"/>
            </a:avLst>
          </a:prstGeom>
          <a:solidFill>
            <a:srgbClr val="E3F2F1"/>
          </a:solidFill>
          <a:ln w="6350">
            <a:solidFill>
              <a:srgbClr val="E3F2F1"/>
            </a:solidFill>
            <a:prstDash val="solid"/>
          </a:ln>
        </p:spPr>
      </p:sp>
      <p:sp>
        <p:nvSpPr>
          <p:cNvPr id="12" name="takeaway-icon-circle"/>
          <p:cNvSpPr/>
          <p:nvPr/>
        </p:nvSpPr>
        <p:spPr>
          <a:xfrm>
            <a:off x="676656" y="5614416"/>
            <a:ext cx="347472" cy="347472"/>
          </a:xfrm>
          <a:prstGeom prst="ellipse">
            <a:avLst/>
          </a:prstGeom>
          <a:solidFill>
            <a:srgbClr val="0F8B8D"/>
          </a:solidFill>
          <a:ln w="12700">
            <a:solidFill>
              <a:srgbClr val="0F8B8D"/>
            </a:solidFill>
            <a:prstDash val="solid"/>
          </a:ln>
        </p:spPr>
      </p:sp>
      <p:pic>
        <p:nvPicPr>
          <p:cNvPr id="13" name="takeaway-icon" descr="preencoded.png">    </p:cNvPr>
          <p:cNvPicPr>
            <a:picLocks noChangeAspect="1"/>
          </p:cNvPicPr>
          <p:nvPr/>
        </p:nvPicPr>
        <p:blipFill>
          <a:blip r:embed="rId2"/>
          <a:stretch>
            <a:fillRect/>
          </a:stretch>
        </p:blipFill>
        <p:spPr>
          <a:xfrm>
            <a:off x="760049" y="5697809"/>
            <a:ext cx="180685" cy="180685"/>
          </a:xfrm>
          <a:prstGeom prst="rect">
            <a:avLst/>
          </a:prstGeom>
        </p:spPr>
      </p:pic>
      <p:sp>
        <p:nvSpPr>
          <p:cNvPr id="14" name="takeaway"/>
          <p:cNvSpPr txBox="1"/>
          <p:nvPr/>
        </p:nvSpPr>
        <p:spPr>
          <a:xfrm>
            <a:off x="1170432" y="553212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Mitigation buys accuracy with extra quantum resources, so whether to use it is a real decision.</a:t>
            </a:r>
            <a:endParaRPr lang="en-US" sz="1550" dirty="0"/>
          </a:p>
        </p:txBody>
      </p:sp>
      <p:sp>
        <p:nvSpPr>
          <p:cNvPr id="15" name="source"/>
          <p:cNvSpPr txBox="1"/>
          <p:nvPr/>
        </p:nvSpPr>
        <p:spPr>
          <a:xfrm>
            <a:off x="548640" y="61447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Temme 2017 · Kandala 2019 · Giurgica-Tiron 2020 · Bravyi 2021 (PRA 103:042605) · Russo 2023 (IEEE TQE 4). Curve illustrative.</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PROPOSAL AS RECORDED  ·  GENERIC QML BENCHMARKS, MITIGATE-OR-NOT DECISION</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Proposed approach: Q-TRACE</a:t>
            </a:r>
            <a:endParaRPr lang="en-US" sz="2800" dirty="0"/>
          </a:p>
        </p:txBody>
      </p:sp>
      <p:sp>
        <p:nvSpPr>
          <p:cNvPr id="4" name="flow-box-0"/>
          <p:cNvSpPr/>
          <p:nvPr/>
        </p:nvSpPr>
        <p:spPr>
          <a:xfrm>
            <a:off x="548640" y="1417320"/>
            <a:ext cx="2554148" cy="1234440"/>
          </a:xfrm>
          <a:prstGeom prst="roundRect">
            <a:avLst>
              <a:gd name="adj" fmla="val 5185"/>
            </a:avLst>
          </a:prstGeom>
          <a:solidFill>
            <a:srgbClr val="EEF2F7"/>
          </a:solidFill>
          <a:ln w="6350">
            <a:solidFill>
              <a:srgbClr val="EEF2F7"/>
            </a:solidFill>
            <a:prstDash val="solid"/>
          </a:ln>
        </p:spPr>
      </p:sp>
      <p:sp>
        <p:nvSpPr>
          <p:cNvPr id="5" name="flow-text-0"/>
          <p:cNvSpPr txBox="1"/>
          <p:nvPr/>
        </p:nvSpPr>
        <p:spPr>
          <a:xfrm>
            <a:off x="621792" y="1417320"/>
            <a:ext cx="2407844" cy="1234440"/>
          </a:xfrm>
          <a:prstGeom prst="rect">
            <a:avLst/>
          </a:prstGeom>
          <a:noFill/>
          <a:ln/>
        </p:spPr>
        <p:txBody>
          <a:bodyPr wrap="square" lIns="0" tIns="0" rIns="0" bIns="0" rtlCol="0" anchor="ctr"/>
          <a:lstStyle/>
          <a:p>
            <a:pPr algn="ctr" indent="0" marL="0">
              <a:buNone/>
            </a:pPr>
            <a:r>
              <a:rPr lang="en-US" sz="1500" b="1" dirty="0">
                <a:solidFill>
                  <a:schemeClr val="tx2"/>
                </a:solidFill>
              </a:rPr>
              <a:t>QML model</a:t>
            </a:r>
            <a:endParaRPr lang="en-US" sz="1500" dirty="0"/>
          </a:p>
          <a:p>
            <a:pPr algn="ctr" indent="0" marL="0">
              <a:buNone/>
            </a:pPr>
            <a:r>
              <a:rPr lang="en-US" sz="1300" dirty="0">
                <a:solidFill>
                  <a:schemeClr val="tx1"/>
                </a:solidFill>
              </a:rPr>
              <a:t>on a benchmark task</a:t>
            </a:r>
            <a:endParaRPr lang="en-US" sz="1500" dirty="0"/>
          </a:p>
        </p:txBody>
      </p:sp>
      <p:sp>
        <p:nvSpPr>
          <p:cNvPr id="6" name="flow-arrow-0"/>
          <p:cNvSpPr/>
          <p:nvPr/>
        </p:nvSpPr>
        <p:spPr>
          <a:xfrm>
            <a:off x="3139364" y="1933956"/>
            <a:ext cx="219456" cy="201168"/>
          </a:xfrm>
          <a:prstGeom prst="rightArrow">
            <a:avLst/>
          </a:prstGeom>
          <a:solidFill>
            <a:srgbClr val="6B7280"/>
          </a:solidFill>
          <a:ln w="12700">
            <a:solidFill>
              <a:srgbClr val="6B7280"/>
            </a:solidFill>
            <a:prstDash val="solid"/>
          </a:ln>
        </p:spPr>
      </p:sp>
      <p:sp>
        <p:nvSpPr>
          <p:cNvPr id="7" name="flow-box-1"/>
          <p:cNvSpPr/>
          <p:nvPr/>
        </p:nvSpPr>
        <p:spPr>
          <a:xfrm>
            <a:off x="3395396" y="1417320"/>
            <a:ext cx="2554148" cy="1234440"/>
          </a:xfrm>
          <a:prstGeom prst="roundRect">
            <a:avLst>
              <a:gd name="adj" fmla="val 5185"/>
            </a:avLst>
          </a:prstGeom>
          <a:solidFill>
            <a:srgbClr val="EEF2F7"/>
          </a:solidFill>
          <a:ln w="6350">
            <a:solidFill>
              <a:srgbClr val="EEF2F7"/>
            </a:solidFill>
            <a:prstDash val="solid"/>
          </a:ln>
        </p:spPr>
      </p:sp>
      <p:sp>
        <p:nvSpPr>
          <p:cNvPr id="8" name="flow-text-1"/>
          <p:cNvSpPr txBox="1"/>
          <p:nvPr/>
        </p:nvSpPr>
        <p:spPr>
          <a:xfrm>
            <a:off x="3468548" y="1417320"/>
            <a:ext cx="2407844" cy="1234440"/>
          </a:xfrm>
          <a:prstGeom prst="rect">
            <a:avLst/>
          </a:prstGeom>
          <a:noFill/>
          <a:ln/>
        </p:spPr>
        <p:txBody>
          <a:bodyPr wrap="square" lIns="0" tIns="0" rIns="0" bIns="0" rtlCol="0" anchor="ctr"/>
          <a:lstStyle/>
          <a:p>
            <a:pPr algn="ctr" indent="0" marL="0">
              <a:buNone/>
            </a:pPr>
            <a:r>
              <a:rPr lang="en-US" sz="1500" b="1" dirty="0">
                <a:solidFill>
                  <a:schemeClr val="tx2"/>
                </a:solidFill>
              </a:rPr>
              <a:t>Noisy execution</a:t>
            </a:r>
            <a:endParaRPr lang="en-US" sz="1500" dirty="0"/>
          </a:p>
          <a:p>
            <a:pPr algn="ctr" indent="0" marL="0">
              <a:buNone/>
            </a:pPr>
            <a:r>
              <a:rPr lang="en-US" sz="1300" dirty="0">
                <a:solidFill>
                  <a:schemeClr val="tx1"/>
                </a:solidFill>
              </a:rPr>
              <a:t>simulated with Qiskit Aer</a:t>
            </a:r>
            <a:endParaRPr lang="en-US" sz="1500" dirty="0"/>
          </a:p>
        </p:txBody>
      </p:sp>
      <p:sp>
        <p:nvSpPr>
          <p:cNvPr id="9" name="flow-arrow-1"/>
          <p:cNvSpPr/>
          <p:nvPr/>
        </p:nvSpPr>
        <p:spPr>
          <a:xfrm>
            <a:off x="5986120" y="1933956"/>
            <a:ext cx="219456" cy="201168"/>
          </a:xfrm>
          <a:prstGeom prst="rightArrow">
            <a:avLst/>
          </a:prstGeom>
          <a:solidFill>
            <a:srgbClr val="6B7280"/>
          </a:solidFill>
          <a:ln w="12700">
            <a:solidFill>
              <a:srgbClr val="6B7280"/>
            </a:solidFill>
            <a:prstDash val="solid"/>
          </a:ln>
        </p:spPr>
      </p:sp>
      <p:sp>
        <p:nvSpPr>
          <p:cNvPr id="10" name="flow-box-2"/>
          <p:cNvSpPr/>
          <p:nvPr/>
        </p:nvSpPr>
        <p:spPr>
          <a:xfrm>
            <a:off x="6242152" y="1417320"/>
            <a:ext cx="2554148" cy="1234440"/>
          </a:xfrm>
          <a:prstGeom prst="roundRect">
            <a:avLst>
              <a:gd name="adj" fmla="val 5185"/>
            </a:avLst>
          </a:prstGeom>
          <a:solidFill>
            <a:srgbClr val="D7EEEE"/>
          </a:solidFill>
          <a:ln w="6350">
            <a:solidFill>
              <a:srgbClr val="D7EEEE"/>
            </a:solidFill>
            <a:prstDash val="solid"/>
          </a:ln>
        </p:spPr>
      </p:sp>
      <p:sp>
        <p:nvSpPr>
          <p:cNvPr id="11" name="flow-text-2"/>
          <p:cNvSpPr txBox="1"/>
          <p:nvPr/>
        </p:nvSpPr>
        <p:spPr>
          <a:xfrm>
            <a:off x="6315304" y="1417320"/>
            <a:ext cx="2407844" cy="1234440"/>
          </a:xfrm>
          <a:prstGeom prst="rect">
            <a:avLst/>
          </a:prstGeom>
          <a:noFill/>
          <a:ln/>
        </p:spPr>
        <p:txBody>
          <a:bodyPr wrap="square" lIns="0" tIns="0" rIns="0" bIns="0" rtlCol="0" anchor="ctr"/>
          <a:lstStyle/>
          <a:p>
            <a:pPr algn="ctr" indent="0" marL="0">
              <a:buNone/>
            </a:pPr>
            <a:r>
              <a:rPr lang="en-US" sz="1500" b="1" dirty="0">
                <a:solidFill>
                  <a:schemeClr val="tx2"/>
                </a:solidFill>
              </a:rPr>
              <a:t>Q-TRACE decides</a:t>
            </a:r>
            <a:endParaRPr lang="en-US" sz="1500" dirty="0"/>
          </a:p>
          <a:p>
            <a:pPr algn="ctr" indent="0" marL="0">
              <a:buNone/>
            </a:pPr>
            <a:r>
              <a:rPr lang="en-US" sz="1300" dirty="0">
                <a:solidFill>
                  <a:schemeClr val="tx1"/>
                </a:solidFill>
              </a:rPr>
              <a:t>benefit − cost &gt; 0 ?</a:t>
            </a:r>
            <a:endParaRPr lang="en-US" sz="1500" dirty="0"/>
          </a:p>
        </p:txBody>
      </p:sp>
      <p:sp>
        <p:nvSpPr>
          <p:cNvPr id="12" name="flow-arrow-2"/>
          <p:cNvSpPr/>
          <p:nvPr/>
        </p:nvSpPr>
        <p:spPr>
          <a:xfrm>
            <a:off x="8832875" y="1933956"/>
            <a:ext cx="219456" cy="201168"/>
          </a:xfrm>
          <a:prstGeom prst="rightArrow">
            <a:avLst/>
          </a:prstGeom>
          <a:solidFill>
            <a:srgbClr val="6B7280"/>
          </a:solidFill>
          <a:ln w="12700">
            <a:solidFill>
              <a:srgbClr val="6B7280"/>
            </a:solidFill>
            <a:prstDash val="solid"/>
          </a:ln>
        </p:spPr>
      </p:sp>
      <p:sp>
        <p:nvSpPr>
          <p:cNvPr id="13" name="flow-box-3"/>
          <p:cNvSpPr/>
          <p:nvPr/>
        </p:nvSpPr>
        <p:spPr>
          <a:xfrm>
            <a:off x="9088907" y="1417320"/>
            <a:ext cx="2554148" cy="1234440"/>
          </a:xfrm>
          <a:prstGeom prst="roundRect">
            <a:avLst>
              <a:gd name="adj" fmla="val 5185"/>
            </a:avLst>
          </a:prstGeom>
          <a:solidFill>
            <a:srgbClr val="EEF2F7"/>
          </a:solidFill>
          <a:ln w="6350">
            <a:solidFill>
              <a:srgbClr val="EEF2F7"/>
            </a:solidFill>
            <a:prstDash val="solid"/>
          </a:ln>
        </p:spPr>
      </p:sp>
      <p:sp>
        <p:nvSpPr>
          <p:cNvPr id="14" name="flow-text-3"/>
          <p:cNvSpPr txBox="1"/>
          <p:nvPr/>
        </p:nvSpPr>
        <p:spPr>
          <a:xfrm>
            <a:off x="9162059" y="1417320"/>
            <a:ext cx="2407844" cy="1234440"/>
          </a:xfrm>
          <a:prstGeom prst="rect">
            <a:avLst/>
          </a:prstGeom>
          <a:noFill/>
          <a:ln/>
        </p:spPr>
        <p:txBody>
          <a:bodyPr wrap="square" lIns="0" tIns="0" rIns="0" bIns="0" rtlCol="0" anchor="ctr"/>
          <a:lstStyle/>
          <a:p>
            <a:pPr algn="ctr" indent="0" marL="0">
              <a:buNone/>
            </a:pPr>
            <a:r>
              <a:rPr lang="en-US" sz="1500" b="1" dirty="0">
                <a:solidFill>
                  <a:schemeClr val="tx2"/>
                </a:solidFill>
              </a:rPr>
              <a:t>Mitigate or not</a:t>
            </a:r>
            <a:endParaRPr lang="en-US" sz="1500" dirty="0"/>
          </a:p>
          <a:p>
            <a:pPr algn="ctr" indent="0" marL="0">
              <a:buNone/>
            </a:pPr>
            <a:r>
              <a:rPr lang="en-US" sz="1300" dirty="0">
                <a:solidFill>
                  <a:schemeClr val="tx1"/>
                </a:solidFill>
              </a:rPr>
              <a:t>ZNE / readout mitigation</a:t>
            </a:r>
            <a:endParaRPr lang="en-US" sz="1500" dirty="0"/>
          </a:p>
        </p:txBody>
      </p:sp>
      <p:sp>
        <p:nvSpPr>
          <p:cNvPr id="15" name="Text 13"/>
          <p:cNvSpPr txBox="1"/>
          <p:nvPr/>
        </p:nvSpPr>
        <p:spPr>
          <a:xfrm>
            <a:off x="548640" y="2926080"/>
            <a:ext cx="5486400" cy="365760"/>
          </a:xfrm>
          <a:prstGeom prst="rect">
            <a:avLst/>
          </a:prstGeom>
          <a:noFill/>
          <a:ln/>
        </p:spPr>
        <p:txBody>
          <a:bodyPr wrap="square" lIns="0" tIns="0" rIns="0" bIns="0" rtlCol="0" anchor="t"/>
          <a:lstStyle/>
          <a:p>
            <a:pPr indent="0" marL="0">
              <a:buNone/>
            </a:pPr>
            <a:r>
              <a:rPr lang="en-US" sz="1500" b="1" dirty="0">
                <a:solidFill>
                  <a:schemeClr val="tx2"/>
                </a:solidFill>
              </a:rPr>
              <a:t>Benchmarks named in the record</a:t>
            </a:r>
            <a:endParaRPr lang="en-US" sz="1500" dirty="0"/>
          </a:p>
        </p:txBody>
      </p:sp>
      <p:sp>
        <p:nvSpPr>
          <p:cNvPr id="16" name="card-bg"/>
          <p:cNvSpPr/>
          <p:nvPr/>
        </p:nvSpPr>
        <p:spPr>
          <a:xfrm>
            <a:off x="548640" y="3337560"/>
            <a:ext cx="3566160" cy="1188720"/>
          </a:xfrm>
          <a:prstGeom prst="roundRect">
            <a:avLst>
              <a:gd name="adj" fmla="val 5385"/>
            </a:avLst>
          </a:prstGeom>
          <a:solidFill>
            <a:srgbClr val="EEF2F7"/>
          </a:solidFill>
          <a:ln w="6350">
            <a:solidFill>
              <a:srgbClr val="EEF2F7"/>
            </a:solidFill>
            <a:prstDash val="solid"/>
          </a:ln>
        </p:spPr>
      </p:sp>
      <p:sp>
        <p:nvSpPr>
          <p:cNvPr id="17" name="card-text"/>
          <p:cNvSpPr txBox="1"/>
          <p:nvPr/>
        </p:nvSpPr>
        <p:spPr>
          <a:xfrm>
            <a:off x="731520" y="3465576"/>
            <a:ext cx="3200400" cy="9692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Iris</a:t>
            </a:r>
            <a:endParaRPr lang="en-US" sz="1550" dirty="0"/>
          </a:p>
          <a:p>
            <a:pPr indent="0" marL="0">
              <a:spcAft>
                <a:spcPts val="400"/>
              </a:spcAft>
              <a:buNone/>
            </a:pPr>
            <a:r>
              <a:rPr lang="en-US" sz="1400" dirty="0">
                <a:solidFill>
                  <a:schemeClr val="tx1"/>
                </a:solidFill>
              </a:rPr>
              <a:t>small classification benchmark</a:t>
            </a:r>
            <a:endParaRPr lang="en-US" sz="1550" dirty="0"/>
          </a:p>
        </p:txBody>
      </p:sp>
      <p:sp>
        <p:nvSpPr>
          <p:cNvPr id="18" name="card-bg"/>
          <p:cNvSpPr/>
          <p:nvPr/>
        </p:nvSpPr>
        <p:spPr>
          <a:xfrm>
            <a:off x="4297680" y="3337560"/>
            <a:ext cx="3566160" cy="1188720"/>
          </a:xfrm>
          <a:prstGeom prst="roundRect">
            <a:avLst>
              <a:gd name="adj" fmla="val 5385"/>
            </a:avLst>
          </a:prstGeom>
          <a:solidFill>
            <a:srgbClr val="EEF2F7"/>
          </a:solidFill>
          <a:ln w="6350">
            <a:solidFill>
              <a:srgbClr val="EEF2F7"/>
            </a:solidFill>
            <a:prstDash val="solid"/>
          </a:ln>
        </p:spPr>
      </p:sp>
      <p:sp>
        <p:nvSpPr>
          <p:cNvPr id="19" name="card-text"/>
          <p:cNvSpPr txBox="1"/>
          <p:nvPr/>
        </p:nvSpPr>
        <p:spPr>
          <a:xfrm>
            <a:off x="4480560" y="3465576"/>
            <a:ext cx="3200400" cy="9692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WDBC</a:t>
            </a:r>
            <a:endParaRPr lang="en-US" sz="1550" dirty="0"/>
          </a:p>
          <a:p>
            <a:pPr indent="0" marL="0">
              <a:spcAft>
                <a:spcPts val="400"/>
              </a:spcAft>
              <a:buNone/>
            </a:pPr>
            <a:r>
              <a:rPr lang="en-US" sz="1400" dirty="0">
                <a:solidFill>
                  <a:schemeClr val="tx1"/>
                </a:solidFill>
              </a:rPr>
              <a:t>breast-cancer classification</a:t>
            </a:r>
            <a:endParaRPr lang="en-US" sz="1550" dirty="0"/>
          </a:p>
        </p:txBody>
      </p:sp>
      <p:sp>
        <p:nvSpPr>
          <p:cNvPr id="20" name="card-bg"/>
          <p:cNvSpPr/>
          <p:nvPr/>
        </p:nvSpPr>
        <p:spPr>
          <a:xfrm>
            <a:off x="8046720" y="3337560"/>
            <a:ext cx="3566160" cy="1188720"/>
          </a:xfrm>
          <a:prstGeom prst="roundRect">
            <a:avLst>
              <a:gd name="adj" fmla="val 5385"/>
            </a:avLst>
          </a:prstGeom>
          <a:solidFill>
            <a:srgbClr val="EEF2F7"/>
          </a:solidFill>
          <a:ln w="6350">
            <a:solidFill>
              <a:srgbClr val="EEF2F7"/>
            </a:solidFill>
            <a:prstDash val="solid"/>
          </a:ln>
        </p:spPr>
      </p:sp>
      <p:sp>
        <p:nvSpPr>
          <p:cNvPr id="21" name="card-text"/>
          <p:cNvSpPr txBox="1"/>
          <p:nvPr/>
        </p:nvSpPr>
        <p:spPr>
          <a:xfrm>
            <a:off x="8229600" y="3465576"/>
            <a:ext cx="3200400" cy="9692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QM9</a:t>
            </a:r>
            <a:endParaRPr lang="en-US" sz="1550" dirty="0"/>
          </a:p>
          <a:p>
            <a:pPr indent="0" marL="0">
              <a:spcAft>
                <a:spcPts val="400"/>
              </a:spcAft>
              <a:buNone/>
            </a:pPr>
            <a:r>
              <a:rPr lang="en-US" sz="1400" dirty="0">
                <a:solidFill>
                  <a:schemeClr val="tx1"/>
                </a:solidFill>
              </a:rPr>
              <a:t>molecular-property regression</a:t>
            </a:r>
            <a:endParaRPr lang="en-US" sz="1550" dirty="0"/>
          </a:p>
        </p:txBody>
      </p:sp>
      <p:sp>
        <p:nvSpPr>
          <p:cNvPr id="22" name="takeaway-bg"/>
          <p:cNvSpPr/>
          <p:nvPr/>
        </p:nvSpPr>
        <p:spPr>
          <a:xfrm>
            <a:off x="548640" y="4846320"/>
            <a:ext cx="11094415" cy="512064"/>
          </a:xfrm>
          <a:prstGeom prst="roundRect">
            <a:avLst>
              <a:gd name="adj" fmla="val 12500"/>
            </a:avLst>
          </a:prstGeom>
          <a:solidFill>
            <a:srgbClr val="E3F2F1"/>
          </a:solidFill>
          <a:ln w="6350">
            <a:solidFill>
              <a:srgbClr val="E3F2F1"/>
            </a:solidFill>
            <a:prstDash val="solid"/>
          </a:ln>
        </p:spPr>
      </p:sp>
      <p:sp>
        <p:nvSpPr>
          <p:cNvPr id="23" name="takeaway-icon-circle"/>
          <p:cNvSpPr/>
          <p:nvPr/>
        </p:nvSpPr>
        <p:spPr>
          <a:xfrm>
            <a:off x="676656" y="4928616"/>
            <a:ext cx="347472" cy="347472"/>
          </a:xfrm>
          <a:prstGeom prst="ellipse">
            <a:avLst/>
          </a:prstGeom>
          <a:solidFill>
            <a:srgbClr val="0F8B8D"/>
          </a:solidFill>
          <a:ln w="12700">
            <a:solidFill>
              <a:srgbClr val="0F8B8D"/>
            </a:solidFill>
            <a:prstDash val="solid"/>
          </a:ln>
        </p:spPr>
      </p:sp>
      <p:pic>
        <p:nvPicPr>
          <p:cNvPr id="24" name="takeaway-icon" descr="preencoded.png">    </p:cNvPr>
          <p:cNvPicPr>
            <a:picLocks noChangeAspect="1"/>
          </p:cNvPicPr>
          <p:nvPr/>
        </p:nvPicPr>
        <p:blipFill>
          <a:blip r:embed="rId1"/>
          <a:stretch>
            <a:fillRect/>
          </a:stretch>
        </p:blipFill>
        <p:spPr>
          <a:xfrm>
            <a:off x="760049" y="5012009"/>
            <a:ext cx="180685" cy="180685"/>
          </a:xfrm>
          <a:prstGeom prst="rect">
            <a:avLst/>
          </a:prstGeom>
        </p:spPr>
      </p:pic>
      <p:sp>
        <p:nvSpPr>
          <p:cNvPr id="25" name="takeaway"/>
          <p:cNvSpPr txBox="1"/>
          <p:nvPr/>
        </p:nvSpPr>
        <p:spPr>
          <a:xfrm>
            <a:off x="1170432" y="484632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Compared with three simple policies: never mitigate, always mitigate, and a fixed rule.</a:t>
            </a:r>
            <a:endParaRPr lang="en-US" sz="1550" dirty="0"/>
          </a:p>
        </p:txBody>
      </p:sp>
      <p:sp>
        <p:nvSpPr>
          <p:cNvPr id="26" name="caption"/>
          <p:cNvSpPr txBox="1"/>
          <p:nvPr/>
        </p:nvSpPr>
        <p:spPr>
          <a:xfrm>
            <a:off x="548640" y="5532120"/>
            <a:ext cx="11064240" cy="457200"/>
          </a:xfrm>
          <a:prstGeom prst="rect">
            <a:avLst/>
          </a:prstGeom>
          <a:noFill/>
          <a:ln/>
        </p:spPr>
        <p:txBody>
          <a:bodyPr wrap="square" lIns="0" tIns="0" rIns="0" bIns="0" rtlCol="0" anchor="t"/>
          <a:lstStyle/>
          <a:p>
            <a:pPr indent="0" marL="0">
              <a:buNone/>
            </a:pPr>
            <a:r>
              <a:rPr lang="en-US" sz="1050" i="1" dirty="0">
                <a:solidFill>
                  <a:schemeClr val="accent5"/>
                </a:solidFill>
              </a:rPr>
              <a:t>Recorded in docs/DECISIONS.md (Q1) and the early-October research plan's description of the deck of that time. The fraud application came later, on Oct 6, 2026.</a:t>
            </a:r>
            <a:endParaRPr lang="en-US" sz="105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RECONSTRUCTED AT THE LEVEL THE RECORD SUPPORTS</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Research questions and planned method</a:t>
            </a:r>
            <a:endParaRPr lang="en-US" sz="2800" dirty="0"/>
          </a:p>
        </p:txBody>
      </p:sp>
      <p:sp>
        <p:nvSpPr>
          <p:cNvPr id="4" name="card-bg"/>
          <p:cNvSpPr/>
          <p:nvPr/>
        </p:nvSpPr>
        <p:spPr>
          <a:xfrm>
            <a:off x="548640" y="1325880"/>
            <a:ext cx="5486400" cy="1097280"/>
          </a:xfrm>
          <a:prstGeom prst="roundRect">
            <a:avLst>
              <a:gd name="adj" fmla="val 5833"/>
            </a:avLst>
          </a:prstGeom>
          <a:solidFill>
            <a:srgbClr val="E3F2F1"/>
          </a:solidFill>
          <a:ln w="6350">
            <a:solidFill>
              <a:srgbClr val="E3F2F1"/>
            </a:solidFill>
            <a:prstDash val="solid"/>
          </a:ln>
        </p:spPr>
      </p:sp>
      <p:sp>
        <p:nvSpPr>
          <p:cNvPr id="5" name="card-text"/>
          <p:cNvSpPr txBox="1"/>
          <p:nvPr/>
        </p:nvSpPr>
        <p:spPr>
          <a:xfrm>
            <a:off x="731520" y="1453896"/>
            <a:ext cx="5120640" cy="87782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RQ1</a:t>
            </a:r>
            <a:endParaRPr lang="en-US" sz="1550" dirty="0"/>
          </a:p>
          <a:p>
            <a:pPr indent="0" marL="0">
              <a:spcAft>
                <a:spcPts val="400"/>
              </a:spcAft>
              <a:buNone/>
            </a:pPr>
            <a:r>
              <a:rPr lang="en-US" sz="1400" dirty="0">
                <a:solidFill>
                  <a:schemeClr val="tx1"/>
                </a:solidFill>
              </a:rPr>
              <a:t>When does error mitigation improve a quantum model's output enough to justify its extra cost?</a:t>
            </a:r>
            <a:endParaRPr lang="en-US" sz="1550" dirty="0"/>
          </a:p>
        </p:txBody>
      </p:sp>
      <p:sp>
        <p:nvSpPr>
          <p:cNvPr id="6" name="card-bg"/>
          <p:cNvSpPr/>
          <p:nvPr/>
        </p:nvSpPr>
        <p:spPr>
          <a:xfrm>
            <a:off x="6172200" y="1325880"/>
            <a:ext cx="5486400" cy="1097280"/>
          </a:xfrm>
          <a:prstGeom prst="roundRect">
            <a:avLst>
              <a:gd name="adj" fmla="val 5833"/>
            </a:avLst>
          </a:prstGeom>
          <a:solidFill>
            <a:srgbClr val="E3F2F1"/>
          </a:solidFill>
          <a:ln w="6350">
            <a:solidFill>
              <a:srgbClr val="E3F2F1"/>
            </a:solidFill>
            <a:prstDash val="solid"/>
          </a:ln>
        </p:spPr>
      </p:sp>
      <p:sp>
        <p:nvSpPr>
          <p:cNvPr id="7" name="card-text"/>
          <p:cNvSpPr txBox="1"/>
          <p:nvPr/>
        </p:nvSpPr>
        <p:spPr>
          <a:xfrm>
            <a:off x="6355080" y="1453896"/>
            <a:ext cx="5120640" cy="87782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RQ2</a:t>
            </a:r>
            <a:endParaRPr lang="en-US" sz="1550" dirty="0"/>
          </a:p>
          <a:p>
            <a:pPr indent="0" marL="0">
              <a:spcAft>
                <a:spcPts val="400"/>
              </a:spcAft>
              <a:buNone/>
            </a:pPr>
            <a:r>
              <a:rPr lang="en-US" sz="1400" dirty="0">
                <a:solidFill>
                  <a:schemeClr val="tx1"/>
                </a:solidFill>
              </a:rPr>
              <a:t>Can Q-TRACE's benefit-versus-cost decision beat never, always, or a fixed rule?</a:t>
            </a:r>
            <a:endParaRPr lang="en-US" sz="1550" dirty="0"/>
          </a:p>
        </p:txBody>
      </p:sp>
      <p:sp>
        <p:nvSpPr>
          <p:cNvPr id="8" name="flow-box-0"/>
          <p:cNvSpPr/>
          <p:nvPr/>
        </p:nvSpPr>
        <p:spPr>
          <a:xfrm>
            <a:off x="548640" y="2697480"/>
            <a:ext cx="2554148" cy="1051560"/>
          </a:xfrm>
          <a:prstGeom prst="roundRect">
            <a:avLst>
              <a:gd name="adj" fmla="val 6087"/>
            </a:avLst>
          </a:prstGeom>
          <a:solidFill>
            <a:srgbClr val="EEF2F7"/>
          </a:solidFill>
          <a:ln w="6350">
            <a:solidFill>
              <a:srgbClr val="EEF2F7"/>
            </a:solidFill>
            <a:prstDash val="solid"/>
          </a:ln>
        </p:spPr>
      </p:sp>
      <p:sp>
        <p:nvSpPr>
          <p:cNvPr id="9" name="flow-text-0"/>
          <p:cNvSpPr txBox="1"/>
          <p:nvPr/>
        </p:nvSpPr>
        <p:spPr>
          <a:xfrm>
            <a:off x="621792" y="2697480"/>
            <a:ext cx="2407844" cy="1051560"/>
          </a:xfrm>
          <a:prstGeom prst="rect">
            <a:avLst/>
          </a:prstGeom>
          <a:noFill/>
          <a:ln/>
        </p:spPr>
        <p:txBody>
          <a:bodyPr wrap="square" lIns="0" tIns="0" rIns="0" bIns="0" rtlCol="0" anchor="ctr"/>
          <a:lstStyle/>
          <a:p>
            <a:pPr algn="ctr" indent="0" marL="0">
              <a:buNone/>
            </a:pPr>
            <a:r>
              <a:rPr lang="en-US" sz="1450" b="1" dirty="0">
                <a:solidFill>
                  <a:schemeClr val="tx2"/>
                </a:solidFill>
              </a:rPr>
              <a:t>1. Simulate</a:t>
            </a:r>
            <a:endParaRPr lang="en-US" sz="1450" dirty="0"/>
          </a:p>
          <a:p>
            <a:pPr algn="ctr" indent="0" marL="0">
              <a:buNone/>
            </a:pPr>
            <a:r>
              <a:rPr lang="en-US" sz="1250" dirty="0">
                <a:solidFill>
                  <a:schemeClr val="tx1"/>
                </a:solidFill>
              </a:rPr>
              <a:t>noisy QML models (Qiskit Aer)</a:t>
            </a:r>
            <a:endParaRPr lang="en-US" sz="1450" dirty="0"/>
          </a:p>
        </p:txBody>
      </p:sp>
      <p:sp>
        <p:nvSpPr>
          <p:cNvPr id="10" name="flow-arrow-0"/>
          <p:cNvSpPr/>
          <p:nvPr/>
        </p:nvSpPr>
        <p:spPr>
          <a:xfrm>
            <a:off x="3139364" y="3122676"/>
            <a:ext cx="219456" cy="201168"/>
          </a:xfrm>
          <a:prstGeom prst="rightArrow">
            <a:avLst/>
          </a:prstGeom>
          <a:solidFill>
            <a:srgbClr val="6B7280"/>
          </a:solidFill>
          <a:ln w="12700">
            <a:solidFill>
              <a:srgbClr val="6B7280"/>
            </a:solidFill>
            <a:prstDash val="solid"/>
          </a:ln>
        </p:spPr>
      </p:sp>
      <p:sp>
        <p:nvSpPr>
          <p:cNvPr id="11" name="flow-box-1"/>
          <p:cNvSpPr/>
          <p:nvPr/>
        </p:nvSpPr>
        <p:spPr>
          <a:xfrm>
            <a:off x="3395396" y="2697480"/>
            <a:ext cx="2554148" cy="1051560"/>
          </a:xfrm>
          <a:prstGeom prst="roundRect">
            <a:avLst>
              <a:gd name="adj" fmla="val 6087"/>
            </a:avLst>
          </a:prstGeom>
          <a:solidFill>
            <a:srgbClr val="EEF2F7"/>
          </a:solidFill>
          <a:ln w="6350">
            <a:solidFill>
              <a:srgbClr val="EEF2F7"/>
            </a:solidFill>
            <a:prstDash val="solid"/>
          </a:ln>
        </p:spPr>
      </p:sp>
      <p:sp>
        <p:nvSpPr>
          <p:cNvPr id="12" name="flow-text-1"/>
          <p:cNvSpPr txBox="1"/>
          <p:nvPr/>
        </p:nvSpPr>
        <p:spPr>
          <a:xfrm>
            <a:off x="3468548" y="2697480"/>
            <a:ext cx="2407844" cy="1051560"/>
          </a:xfrm>
          <a:prstGeom prst="rect">
            <a:avLst/>
          </a:prstGeom>
          <a:noFill/>
          <a:ln/>
        </p:spPr>
        <p:txBody>
          <a:bodyPr wrap="square" lIns="0" tIns="0" rIns="0" bIns="0" rtlCol="0" anchor="ctr"/>
          <a:lstStyle/>
          <a:p>
            <a:pPr algn="ctr" indent="0" marL="0">
              <a:buNone/>
            </a:pPr>
            <a:r>
              <a:rPr lang="en-US" sz="1450" b="1" dirty="0">
                <a:solidFill>
                  <a:schemeClr val="tx2"/>
                </a:solidFill>
              </a:rPr>
              <a:t>2. Measure</a:t>
            </a:r>
            <a:endParaRPr lang="en-US" sz="1450" dirty="0"/>
          </a:p>
          <a:p>
            <a:pPr algn="ctr" indent="0" marL="0">
              <a:buNone/>
            </a:pPr>
            <a:r>
              <a:rPr lang="en-US" sz="1250" dirty="0">
                <a:solidFill>
                  <a:schemeClr val="tx1"/>
                </a:solidFill>
              </a:rPr>
              <a:t>benefit and cost of mitigating vs not</a:t>
            </a:r>
            <a:endParaRPr lang="en-US" sz="1450" dirty="0"/>
          </a:p>
        </p:txBody>
      </p:sp>
      <p:sp>
        <p:nvSpPr>
          <p:cNvPr id="13" name="flow-arrow-1"/>
          <p:cNvSpPr/>
          <p:nvPr/>
        </p:nvSpPr>
        <p:spPr>
          <a:xfrm>
            <a:off x="5986120" y="3122676"/>
            <a:ext cx="219456" cy="201168"/>
          </a:xfrm>
          <a:prstGeom prst="rightArrow">
            <a:avLst/>
          </a:prstGeom>
          <a:solidFill>
            <a:srgbClr val="6B7280"/>
          </a:solidFill>
          <a:ln w="12700">
            <a:solidFill>
              <a:srgbClr val="6B7280"/>
            </a:solidFill>
            <a:prstDash val="solid"/>
          </a:ln>
        </p:spPr>
      </p:sp>
      <p:sp>
        <p:nvSpPr>
          <p:cNvPr id="14" name="flow-box-2"/>
          <p:cNvSpPr/>
          <p:nvPr/>
        </p:nvSpPr>
        <p:spPr>
          <a:xfrm>
            <a:off x="6242152" y="2697480"/>
            <a:ext cx="2554148" cy="1051560"/>
          </a:xfrm>
          <a:prstGeom prst="roundRect">
            <a:avLst>
              <a:gd name="adj" fmla="val 6087"/>
            </a:avLst>
          </a:prstGeom>
          <a:solidFill>
            <a:srgbClr val="EEF2F7"/>
          </a:solidFill>
          <a:ln w="6350">
            <a:solidFill>
              <a:srgbClr val="EEF2F7"/>
            </a:solidFill>
            <a:prstDash val="solid"/>
          </a:ln>
        </p:spPr>
      </p:sp>
      <p:sp>
        <p:nvSpPr>
          <p:cNvPr id="15" name="flow-text-2"/>
          <p:cNvSpPr txBox="1"/>
          <p:nvPr/>
        </p:nvSpPr>
        <p:spPr>
          <a:xfrm>
            <a:off x="6315304" y="2697480"/>
            <a:ext cx="2407844" cy="1051560"/>
          </a:xfrm>
          <a:prstGeom prst="rect">
            <a:avLst/>
          </a:prstGeom>
          <a:noFill/>
          <a:ln/>
        </p:spPr>
        <p:txBody>
          <a:bodyPr wrap="square" lIns="0" tIns="0" rIns="0" bIns="0" rtlCol="0" anchor="ctr"/>
          <a:lstStyle/>
          <a:p>
            <a:pPr algn="ctr" indent="0" marL="0">
              <a:buNone/>
            </a:pPr>
            <a:r>
              <a:rPr lang="en-US" sz="1450" b="1" dirty="0">
                <a:solidFill>
                  <a:schemeClr val="tx2"/>
                </a:solidFill>
              </a:rPr>
              <a:t>3. Decide</a:t>
            </a:r>
            <a:endParaRPr lang="en-US" sz="1450" dirty="0"/>
          </a:p>
          <a:p>
            <a:pPr algn="ctr" indent="0" marL="0">
              <a:buNone/>
            </a:pPr>
            <a:r>
              <a:rPr lang="en-US" sz="1250" dirty="0">
                <a:solidFill>
                  <a:schemeClr val="tx1"/>
                </a:solidFill>
              </a:rPr>
              <a:t>weigh benefit against cost</a:t>
            </a:r>
            <a:endParaRPr lang="en-US" sz="1450" dirty="0"/>
          </a:p>
        </p:txBody>
      </p:sp>
      <p:sp>
        <p:nvSpPr>
          <p:cNvPr id="16" name="flow-arrow-2"/>
          <p:cNvSpPr/>
          <p:nvPr/>
        </p:nvSpPr>
        <p:spPr>
          <a:xfrm>
            <a:off x="8832875" y="3122676"/>
            <a:ext cx="219456" cy="201168"/>
          </a:xfrm>
          <a:prstGeom prst="rightArrow">
            <a:avLst/>
          </a:prstGeom>
          <a:solidFill>
            <a:srgbClr val="6B7280"/>
          </a:solidFill>
          <a:ln w="12700">
            <a:solidFill>
              <a:srgbClr val="6B7280"/>
            </a:solidFill>
            <a:prstDash val="solid"/>
          </a:ln>
        </p:spPr>
      </p:sp>
      <p:sp>
        <p:nvSpPr>
          <p:cNvPr id="17" name="flow-box-3"/>
          <p:cNvSpPr/>
          <p:nvPr/>
        </p:nvSpPr>
        <p:spPr>
          <a:xfrm>
            <a:off x="9088907" y="2697480"/>
            <a:ext cx="2554148" cy="1051560"/>
          </a:xfrm>
          <a:prstGeom prst="roundRect">
            <a:avLst>
              <a:gd name="adj" fmla="val 6087"/>
            </a:avLst>
          </a:prstGeom>
          <a:solidFill>
            <a:srgbClr val="EEF2F7"/>
          </a:solidFill>
          <a:ln w="6350">
            <a:solidFill>
              <a:srgbClr val="EEF2F7"/>
            </a:solidFill>
            <a:prstDash val="solid"/>
          </a:ln>
        </p:spPr>
      </p:sp>
      <p:sp>
        <p:nvSpPr>
          <p:cNvPr id="18" name="flow-text-3"/>
          <p:cNvSpPr txBox="1"/>
          <p:nvPr/>
        </p:nvSpPr>
        <p:spPr>
          <a:xfrm>
            <a:off x="9162059" y="2697480"/>
            <a:ext cx="2407844" cy="1051560"/>
          </a:xfrm>
          <a:prstGeom prst="rect">
            <a:avLst/>
          </a:prstGeom>
          <a:noFill/>
          <a:ln/>
        </p:spPr>
        <p:txBody>
          <a:bodyPr wrap="square" lIns="0" tIns="0" rIns="0" bIns="0" rtlCol="0" anchor="ctr"/>
          <a:lstStyle/>
          <a:p>
            <a:pPr algn="ctr" indent="0" marL="0">
              <a:buNone/>
            </a:pPr>
            <a:r>
              <a:rPr lang="en-US" sz="1450" b="1" dirty="0">
                <a:solidFill>
                  <a:schemeClr val="tx2"/>
                </a:solidFill>
              </a:rPr>
              <a:t>4. Compare</a:t>
            </a:r>
            <a:endParaRPr lang="en-US" sz="1450" dirty="0"/>
          </a:p>
          <a:p>
            <a:pPr algn="ctr" indent="0" marL="0">
              <a:buNone/>
            </a:pPr>
            <a:r>
              <a:rPr lang="en-US" sz="1250" dirty="0">
                <a:solidFill>
                  <a:schemeClr val="tx1"/>
                </a:solidFill>
              </a:rPr>
              <a:t>vs never / always / fixed rule</a:t>
            </a:r>
            <a:endParaRPr lang="en-US" sz="1450" dirty="0"/>
          </a:p>
        </p:txBody>
      </p:sp>
      <p:sp>
        <p:nvSpPr>
          <p:cNvPr id="19" name="retro-note-bg"/>
          <p:cNvSpPr/>
          <p:nvPr/>
        </p:nvSpPr>
        <p:spPr>
          <a:xfrm>
            <a:off x="548640" y="4069080"/>
            <a:ext cx="11064240" cy="1143000"/>
          </a:xfrm>
          <a:prstGeom prst="roundRect">
            <a:avLst>
              <a:gd name="adj" fmla="val 5600"/>
            </a:avLst>
          </a:prstGeom>
          <a:solidFill>
            <a:srgbClr val="FBEFD9"/>
          </a:solidFill>
          <a:ln w="6350">
            <a:solidFill>
              <a:srgbClr val="FBEFD9"/>
            </a:solidFill>
            <a:prstDash val="solid"/>
          </a:ln>
        </p:spPr>
      </p:sp>
      <p:sp>
        <p:nvSpPr>
          <p:cNvPr id="20" name="Text 18"/>
          <p:cNvSpPr txBox="1"/>
          <p:nvPr/>
        </p:nvSpPr>
        <p:spPr>
          <a:xfrm>
            <a:off x="777240" y="4069080"/>
            <a:ext cx="10607040" cy="1143000"/>
          </a:xfrm>
          <a:prstGeom prst="rect">
            <a:avLst/>
          </a:prstGeom>
          <a:noFill/>
          <a:ln/>
        </p:spPr>
        <p:txBody>
          <a:bodyPr wrap="square" lIns="0" tIns="0" rIns="0" bIns="0" rtlCol="0" anchor="ctr"/>
          <a:lstStyle/>
          <a:p>
            <a:pPr indent="0" marL="0">
              <a:buNone/>
            </a:pPr>
            <a:r>
              <a:rPr lang="en-US" sz="1350" b="1" dirty="0">
                <a:solidFill>
                  <a:srgbClr val="8A5A00"/>
                </a:solidFill>
              </a:rPr>
              <a:t>Note added in October 2026.  </a:t>
            </a:r>
            <a:pPr indent="0" marL="0">
              <a:buNone/>
            </a:pPr>
            <a:r>
              <a:rPr lang="en-US" sz="1350" dirty="0">
                <a:solidFill>
                  <a:schemeClr val="tx1"/>
                </a:solidFill>
              </a:rPr>
              <a:t>On Oct 6 the scope was narrowed to credit-card fraud detection, with several mitigation actions, label-free decision inputs and pre-registered phases (docs/DECISIONS.md: Q1, A01, A12). Later meetings report that study.</a:t>
            </a:r>
            <a:endParaRPr lang="en-US" sz="1350" dirty="0"/>
          </a:p>
        </p:txBody>
      </p:sp>
      <p:sp>
        <p:nvSpPr>
          <p:cNvPr id="21" name="takeaway-bg"/>
          <p:cNvSpPr/>
          <p:nvPr/>
        </p:nvSpPr>
        <p:spPr>
          <a:xfrm>
            <a:off x="548640" y="5440680"/>
            <a:ext cx="11094415" cy="512064"/>
          </a:xfrm>
          <a:prstGeom prst="roundRect">
            <a:avLst>
              <a:gd name="adj" fmla="val 12500"/>
            </a:avLst>
          </a:prstGeom>
          <a:solidFill>
            <a:srgbClr val="E3F2F1"/>
          </a:solidFill>
          <a:ln w="6350">
            <a:solidFill>
              <a:srgbClr val="E3F2F1"/>
            </a:solidFill>
            <a:prstDash val="solid"/>
          </a:ln>
        </p:spPr>
      </p:sp>
      <p:sp>
        <p:nvSpPr>
          <p:cNvPr id="22" name="takeaway-icon-circle"/>
          <p:cNvSpPr/>
          <p:nvPr/>
        </p:nvSpPr>
        <p:spPr>
          <a:xfrm>
            <a:off x="676656" y="5522976"/>
            <a:ext cx="347472" cy="347472"/>
          </a:xfrm>
          <a:prstGeom prst="ellipse">
            <a:avLst/>
          </a:prstGeom>
          <a:solidFill>
            <a:srgbClr val="0F8B8D"/>
          </a:solidFill>
          <a:ln w="12700">
            <a:solidFill>
              <a:srgbClr val="0F8B8D"/>
            </a:solidFill>
            <a:prstDash val="solid"/>
          </a:ln>
        </p:spPr>
      </p:sp>
      <p:pic>
        <p:nvPicPr>
          <p:cNvPr id="23" name="takeaway-icon" descr="preencoded.png">    </p:cNvPr>
          <p:cNvPicPr>
            <a:picLocks noChangeAspect="1"/>
          </p:cNvPicPr>
          <p:nvPr/>
        </p:nvPicPr>
        <p:blipFill>
          <a:blip r:embed="rId1"/>
          <a:stretch>
            <a:fillRect/>
          </a:stretch>
        </p:blipFill>
        <p:spPr>
          <a:xfrm>
            <a:off x="760049" y="5606369"/>
            <a:ext cx="180685" cy="180685"/>
          </a:xfrm>
          <a:prstGeom prst="rect">
            <a:avLst/>
          </a:prstGeom>
        </p:spPr>
      </p:pic>
      <p:sp>
        <p:nvSpPr>
          <p:cNvPr id="24" name="takeaway"/>
          <p:cNvSpPr txBox="1"/>
          <p:nvPr/>
        </p:nvSpPr>
        <p:spPr>
          <a:xfrm>
            <a:off x="1170432" y="544068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A practical question: spend quantum resources on mitigation only when it pays.</a:t>
            </a:r>
            <a:endParaRPr lang="en-US" sz="1550" dirty="0"/>
          </a:p>
        </p:txBody>
      </p:sp>
      <p:sp>
        <p:nvSpPr>
          <p:cNvPr id="25" name="source"/>
          <p:cNvSpPr txBox="1"/>
          <p:nvPr/>
        </p:nvSpPr>
        <p:spPr>
          <a:xfrm>
            <a:off x="548640" y="61447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Reconstructed from docs/DECISIONS.md (Q1) and docs/research/deep-research-report.md (pre-October deck); wording is ours.</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Q-TRACE">
  <a:themeElements>
    <a:clrScheme name="Q-TRACE">
      <a:dk1>
        <a:srgbClr val="1A1F2B"/>
      </a:dk1>
      <a:lt1>
        <a:srgbClr val="FFFFFF"/>
      </a:lt1>
      <a:dk2>
        <a:srgbClr val="1B2A49"/>
      </a:dk2>
      <a:lt2>
        <a:srgbClr val="EEF2F7"/>
      </a:lt2>
      <a:accent1>
        <a:srgbClr val="0F8B8D"/>
      </a:accent1>
      <a:accent2>
        <a:srgbClr val="E8A33D"/>
      </a:accent2>
      <a:accent3>
        <a:srgbClr val="C0392B"/>
      </a:accent3>
      <a:accent4>
        <a:srgbClr val="56B4E9"/>
      </a:accent4>
      <a:accent5>
        <a:srgbClr val="6B7280"/>
      </a:accent5>
      <a:accent6>
        <a:srgbClr val="0072B2"/>
      </a:accent6>
      <a:hlink>
        <a:srgbClr val="0F8B8D"/>
      </a:hlink>
      <a:folHlink>
        <a:srgbClr val="1B2A49"/>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Katz School of Science and Health, Yeshiva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Q-TRACE — Research proposal (September 15, 2026)</dc:title>
  <dc:subject>Research proposal</dc:subject>
  <dc:creator>Mayank Kumar Pokhriyal; Tushar Poonia</dc:creator>
  <cp:lastModifiedBy>Mayank Kumar Pokhriyal; Tushar Poonia</cp:lastModifiedBy>
  <cp:revision>1</cp:revision>
  <dcterms:created xsi:type="dcterms:W3CDTF">2026-10-09T02:28:16Z</dcterms:created>
  <dcterms:modified xsi:type="dcterms:W3CDTF">2026-10-09T02:28:16Z</dcterms:modified>
</cp:coreProperties>
</file>