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id="{5ce4e171-46c7-a65d-21c7-4ef755feba27}">
          <p14:sldIdLst>
            <p14:sldId id="256"/>
            <p14:sldId id="257"/>
            <p14:sldId id="258"/>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0:00–0:33]
Good afternoon. We are Mayank and Tushar, and this is our implementation progress update for Q-TRACE.
Today we cover the implementation milestones: the data pipeline, the classical baselines, the frozen quantum classifier, a repair to its encoding, and our first noise characterization. All of this was completed on October 6 and 7. The full study, including the sealed held-out test, was completed on October 8, and we will present those results in depth at the next meetings.
Key points: implementation milestones, Phases 1–3B; completed Oct 6–7; full study completed Oct 8; later meetings go deeper.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0:33–1:26]
We use the public European credit-card fraud dataset: 284,807 transactions, of which 492 are frauds.
We removed exact duplicates, which leaves 283,726 rows and 473 frauds, or 0.17 percent. Rows that differ only in their timestamp are kept together, so they can never straddle partitions. That gives five disjoint partitions. All preprocessing is fitted on the training partition only, and the controller test partition is sealed from the start.
Classical models then set the bar. On all thirty features, random forest reaches an AUPRC of 0.805. On the same four inputs and training rows the quantum model uses, classical models reach about 0.59 to 0.62.
Key points: 284,807 → 283,726 rows, 473 frauds (0.17%); group-aware split, 0 groups cross partitions; classical AUPRC 0.805 (30 features); 0.59–0.62 on the VQC's inputs.
Sources: ulb_v1_dataset_summary.csv; ulb_v1_phase1_metadata.json; phase2_classical_metrics.csv (a-full, draw 0); p3ar_validation_comparison.csv.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[Mayank · 1:26–2:14]
This is the frozen classifier, which every later experiment uses as its reference model.
Four features, chosen on the training data, are encoded as angles on four qubits. A ZZ feature map entangles every pair of qubits, a two-layer RealAmplitudes ansatz carries the 12 trainable parameters, and we read out the four-qubit parity, which maps to a fraud probability. After transpilation the circuit has 18 two-qubit gates.
We train it with COBYLA on a balanced subset: all 213 training frauds plus four legitimate transactions for each fraud. Its parameters and circuit are hashed, and retraining reproduces it exactly. Tushar will now explain the repair that made it work.
Key points: 4 qubits: ZZ feature map + RealAmplitudes (reps 2), parity readout; 12 parameters, 18 CX after transpilation; COBYLA on 1,065 balanced training rows; frozen and hashed.
Sources: configs/vqc/vqc3a_top4_ra1.yaml; configs/repair/p3ar_v1.yaml; p5a_pool_metrics.csv (anchor p3a_r: 18 CX, 12 parameters).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2:14–3:16]
Our first quantum model learned almost nothing: its validation AUPRC was only 0.104.
Diagnostics on the training data showed why. The original encoding clipped values at three interquartile ranges and mapped them to the full minus pi to pi range. Most fraud values were clipped, 123 frauds were clipped on all four features, and only 91 of the 213 training frauds remained distinct inputs. The wide angle range also caused phase aliasing.
A pre-registered repair, selected by cross-validation on training data only, clips at fifteen interquartile ranges and uses a quarter of the angle range. Now 212 frauds stay distinct, and validation AUPRC rises to 0.507, with an AUROC of 0.957. Classical models on the same inputs still reach 0.59 to 0.62, so we make no quantum-advantage claim.
Key points: first encoding: saturation + aliasing; 91 of 213 fraud inputs distinct; pre-registered, training-only repair: 212 distinct; AUPRC 0.104 → 0.507 (AUROC 0.957); classical 0.59–0.62 on the same inputs.
Sources: p3ar_encoding_diagnostics.csv (e0, e3); p3ar_validation_comparison.csv.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[Tushar · 3:16–4:18]
Our first noise characterization used exact density-matrix simulation of the frozen model, under depolarizing, thermal and readout noise.
Discrimination barely moved: across the twelve anchor conditions, AUPRC changed by at most 0.003, and every interval contains zero. Calibration did not survive. Under combined high noise the Brier score rose from 0.0093 to 0.121, and precision at the frozen threshold fell from 0.53 to 0.03. So noise mainly damages calibrated probabilities and threshold decisions. That reframed the whole project.
On the right is where the project stands. Every experimental phase was completed by October 8, including the one-time sealed test, so nothing is still running. What remains is analysis, review and writing. The coming meetings present the noise and mitigation results, the policy study and the final findings in depth. Thank you.
Key points: AUPRC change ≤ 0.003, every CI contains 0; Brier 0.0093 → 0.121; precision 0.53 → 0.03 (combined-high); all phases complete by Oct 8; next meetings go deeper.
Sources: p3b_exact_metrics.csv; p4_exact_diagnostics.csv (clean precision 0.532); git history for completion 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1B2A49"/>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chemeClr val="accent5"/>
                </a:solidFill>
              </a:rPr>
              <a:t>Q-TRACE  ·  Implementation progress  ·  October 13,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tx2"/>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E">
    <p:bg>
      <p:bgPr>
        <a:solidFill>
          <a:srgbClr val="1B2A49"/>
        </a:solidFill>
      </p:bgPr>
    </p:bg>
    <p:spTree>
      <p:nvGrpSpPr>
        <p:cNvPr id="1" name=""/>
        <p:cNvGrpSpPr/>
        <p:nvPr/>
      </p:nvGrpSpPr>
      <p:grpSpPr>
        <a:xfrm>
          <a:off x="0" y="0"/>
          <a:ext cx="0" cy="0"/>
          <a:chOff x="0" y="0"/>
          <a:chExt cx="0" cy="0"/>
        </a:xfrm>
      </p:grpSpPr>
      <p:sp>
        <p:nvSpPr>
          <p:cNvPr id="2" name="Text 0"/>
          <p:cNvSpPr/>
          <p:nvPr/>
        </p:nvSpPr>
        <p:spPr>
          <a:xfrm>
            <a:off x="548640" y="6455664"/>
            <a:ext cx="10241280" cy="256032"/>
          </a:xfrm>
          <a:prstGeom prst="rect">
            <a:avLst/>
          </a:prstGeom>
          <a:noFill/>
          <a:ln/>
        </p:spPr>
        <p:txBody>
          <a:bodyPr wrap="square" lIns="0" tIns="0" rIns="0" bIns="0" rtlCol="0" anchor="ctr"/>
          <a:lstStyle/>
          <a:p>
            <a:pPr indent="0" marL="0">
              <a:buNone/>
            </a:pPr>
            <a:r>
              <a:rPr lang="en-US" sz="900" dirty="0">
                <a:solidFill>
                  <a:srgbClr val="AFC2DC"/>
                </a:solidFill>
              </a:rPr>
              <a:t>Q-TRACE  ·  Implementation progress  ·  October 13, 2026</a:t>
            </a:r>
            <a:endParaRPr lang="en-US" sz="900" dirty="0"/>
          </a:p>
        </p:txBody>
      </p:sp>
      <p:sp>
        <p:nvSpPr>
          <p:cNvPr id="3" name="Text 1"/>
          <p:cNvSpPr/>
          <p:nvPr>
            <p:ph idx="101" type="title" hasCustomPrompt="1"/>
          </p:nvPr>
        </p:nvSpPr>
        <p:spPr>
          <a:xfrm>
            <a:off x="548640" y="457200"/>
            <a:ext cx="11094415" cy="731520"/>
          </a:xfrm>
          <a:prstGeom prst="rect">
            <a:avLst/>
          </a:prstGeom>
          <a:noFill/>
          <a:ln/>
        </p:spPr>
        <p:txBody>
          <a:bodyPr wrap="square" rtlCol="0"/>
          <a:lstStyle>
            <a:lvl1pPr indent="0" marL="0">
              <a:buNone/>
              <a:defRPr lang="en-US" sz="2800" b="1" dirty="0">
                <a:solidFill>
                  <a:schemeClr val="bg1"/>
                </a:solidFill>
                <a:latin typeface="Cambria" pitchFamily="34" charset="0"/>
                <a:ea typeface="Cambria" pitchFamily="34" charset="-122"/>
                <a:cs typeface="Cambria" pitchFamily="34" charset="-120"/>
              </a:defRPr>
            </a:lvl1pPr>
          </a:lstStyle>
          <a:p>
            <a:pPr indent="0" marL="0">
              <a:buNone/>
            </a:pPr>
            <a:endParaRPr lang="en-US" sz="28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rgbClr val="AFC2DC"/>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3.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slideLayout" Target="../slideLayouts/slideLayout3.xml"/><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hip-bg"/>
          <p:cNvSpPr/>
          <p:nvPr/>
        </p:nvSpPr>
        <p:spPr>
          <a:xfrm>
            <a:off x="548640" y="411480"/>
            <a:ext cx="3246120" cy="329184"/>
          </a:xfrm>
          <a:prstGeom prst="roundRect">
            <a:avLst>
              <a:gd name="adj" fmla="val 44444"/>
            </a:avLst>
          </a:prstGeom>
          <a:solidFill>
            <a:srgbClr val="0F8B8D"/>
          </a:solidFill>
          <a:ln w="12700">
            <a:solidFill>
              <a:srgbClr val="0F8B8D"/>
            </a:solidFill>
            <a:prstDash val="solid"/>
          </a:ln>
        </p:spPr>
      </p:sp>
      <p:sp>
        <p:nvSpPr>
          <p:cNvPr id="3" name="chip"/>
          <p:cNvSpPr txBox="1"/>
          <p:nvPr/>
        </p:nvSpPr>
        <p:spPr>
          <a:xfrm>
            <a:off x="548640" y="411480"/>
            <a:ext cx="3246120" cy="329184"/>
          </a:xfrm>
          <a:prstGeom prst="rect">
            <a:avLst/>
          </a:prstGeom>
          <a:noFill/>
          <a:ln/>
        </p:spPr>
        <p:txBody>
          <a:bodyPr wrap="square" lIns="0" tIns="0" rIns="0" bIns="0" rtlCol="0" anchor="ctr"/>
          <a:lstStyle/>
          <a:p>
            <a:pPr algn="ctr" indent="0" marL="0">
              <a:buNone/>
            </a:pPr>
            <a:r>
              <a:rPr lang="en-US" sz="1100" b="1" dirty="0">
                <a:solidFill>
                  <a:srgbClr val="FFFFFF"/>
                </a:solidFill>
              </a:rPr>
              <a:t>Meeting 3 of 7  ·  October 13, 2026</a:t>
            </a:r>
            <a:endParaRPr lang="en-US" sz="1100" dirty="0"/>
          </a:p>
        </p:txBody>
      </p:sp>
      <p:sp>
        <p:nvSpPr>
          <p:cNvPr id="4" name="topic"/>
          <p:cNvSpPr txBox="1"/>
          <p:nvPr/>
        </p:nvSpPr>
        <p:spPr>
          <a:xfrm>
            <a:off x="548640" y="1051560"/>
            <a:ext cx="10058400" cy="365760"/>
          </a:xfrm>
          <a:prstGeom prst="rect">
            <a:avLst/>
          </a:prstGeom>
          <a:noFill/>
          <a:ln/>
        </p:spPr>
        <p:txBody>
          <a:bodyPr wrap="square" lIns="0" tIns="0" rIns="0" bIns="0" rtlCol="0" anchor="t"/>
          <a:lstStyle/>
          <a:p>
            <a:pPr indent="0" marL="0">
              <a:buNone/>
            </a:pPr>
            <a:r>
              <a:rPr lang="en-US" sz="1300" b="1" spc="200" kern="0" dirty="0">
                <a:solidFill>
                  <a:srgbClr val="7FD6D3"/>
                </a:solidFill>
              </a:rPr>
              <a:t>IMPLEMENTATION PROGRESS</a:t>
            </a:r>
            <a:endParaRPr lang="en-US" sz="1300" dirty="0"/>
          </a:p>
        </p:txBody>
      </p:sp>
      <p:sp>
        <p:nvSpPr>
          <p:cNvPr id="5" name="headline"/>
          <p:cNvSpPr txBox="1"/>
          <p:nvPr/>
        </p:nvSpPr>
        <p:spPr>
          <a:xfrm>
            <a:off x="548640" y="1417320"/>
            <a:ext cx="11064240" cy="566928"/>
          </a:xfrm>
          <a:prstGeom prst="rect">
            <a:avLst/>
          </a:prstGeom>
          <a:noFill/>
          <a:ln/>
        </p:spPr>
        <p:txBody>
          <a:bodyPr wrap="square" lIns="0" tIns="0" rIns="0" bIns="0" rtlCol="0" anchor="t"/>
          <a:lstStyle/>
          <a:p>
            <a:pPr indent="0" marL="0">
              <a:buNone/>
            </a:pPr>
            <a:r>
              <a:rPr lang="en-US" sz="3400" b="1" dirty="0">
                <a:solidFill>
                  <a:srgbClr val="FFFFFF"/>
                </a:solidFill>
                <a:latin typeface="Cambria" pitchFamily="34" charset="0"/>
                <a:ea typeface="Cambria" pitchFamily="34" charset="-122"/>
                <a:cs typeface="Cambria" pitchFamily="34" charset="-120"/>
              </a:rPr>
              <a:t>From data to a working quantum classifier</a:t>
            </a:r>
            <a:endParaRPr lang="en-US" sz="3400" dirty="0"/>
          </a:p>
        </p:txBody>
      </p:sp>
      <p:sp>
        <p:nvSpPr>
          <p:cNvPr id="6" name="subtitle"/>
          <p:cNvSpPr txBox="1"/>
          <p:nvPr/>
        </p:nvSpPr>
        <p:spPr>
          <a:xfrm>
            <a:off x="548640" y="2185416"/>
            <a:ext cx="10607040" cy="457200"/>
          </a:xfrm>
          <a:prstGeom prst="rect">
            <a:avLst/>
          </a:prstGeom>
          <a:noFill/>
          <a:ln/>
        </p:spPr>
        <p:txBody>
          <a:bodyPr wrap="square" lIns="0" tIns="0" rIns="0" bIns="0" rtlCol="0" anchor="t"/>
          <a:lstStyle/>
          <a:p>
            <a:pPr indent="0" marL="0">
              <a:buNone/>
            </a:pPr>
            <a:r>
              <a:rPr lang="en-US" sz="1700" dirty="0">
                <a:solidFill>
                  <a:srgbClr val="CADCFC"/>
                </a:solidFill>
              </a:rPr>
              <a:t>Data pipeline · classical baselines · frozen VQC · encoding repair · first noise characterization</a:t>
            </a:r>
            <a:endParaRPr lang="en-US" sz="1700" dirty="0"/>
          </a:p>
        </p:txBody>
      </p:sp>
      <p:sp>
        <p:nvSpPr>
          <p:cNvPr id="7" name="message-bg"/>
          <p:cNvSpPr/>
          <p:nvPr/>
        </p:nvSpPr>
        <p:spPr>
          <a:xfrm>
            <a:off x="548640" y="3337560"/>
            <a:ext cx="11064240" cy="960120"/>
          </a:xfrm>
          <a:prstGeom prst="roundRect">
            <a:avLst>
              <a:gd name="adj" fmla="val 7619"/>
            </a:avLst>
          </a:prstGeom>
          <a:solidFill>
            <a:srgbClr val="243A63"/>
          </a:solidFill>
          <a:ln w="12700">
            <a:solidFill>
              <a:srgbClr val="3A5584"/>
            </a:solidFill>
            <a:prstDash val="solid"/>
          </a:ln>
        </p:spPr>
      </p:sp>
      <p:sp>
        <p:nvSpPr>
          <p:cNvPr id="8" name="message-icon-circle"/>
          <p:cNvSpPr/>
          <p:nvPr/>
        </p:nvSpPr>
        <p:spPr>
          <a:xfrm>
            <a:off x="749808" y="3547872"/>
            <a:ext cx="548640" cy="548640"/>
          </a:xfrm>
          <a:prstGeom prst="ellipse">
            <a:avLst/>
          </a:prstGeom>
          <a:solidFill>
            <a:srgbClr val="0F8B8D"/>
          </a:solidFill>
          <a:ln w="12700">
            <a:solidFill>
              <a:srgbClr val="0F8B8D"/>
            </a:solidFill>
            <a:prstDash val="solid"/>
          </a:ln>
        </p:spPr>
      </p:sp>
      <p:pic>
        <p:nvPicPr>
          <p:cNvPr id="9" name="message-icon" descr="preencoded.png">    </p:cNvPr>
          <p:cNvPicPr>
            <a:picLocks noChangeAspect="1"/>
          </p:cNvPicPr>
          <p:nvPr/>
        </p:nvPicPr>
        <p:blipFill>
          <a:blip r:embed="rId1"/>
          <a:stretch>
            <a:fillRect/>
          </a:stretch>
        </p:blipFill>
        <p:spPr>
          <a:xfrm>
            <a:off x="881482" y="3679546"/>
            <a:ext cx="285293" cy="285293"/>
          </a:xfrm>
          <a:prstGeom prst="rect">
            <a:avLst/>
          </a:prstGeom>
        </p:spPr>
      </p:pic>
      <p:sp>
        <p:nvSpPr>
          <p:cNvPr id="10" name="message"/>
          <p:cNvSpPr txBox="1"/>
          <p:nvPr/>
        </p:nvSpPr>
        <p:spPr>
          <a:xfrm>
            <a:off x="1463040" y="3337560"/>
            <a:ext cx="9921240" cy="960120"/>
          </a:xfrm>
          <a:prstGeom prst="rect">
            <a:avLst/>
          </a:prstGeom>
          <a:noFill/>
          <a:ln/>
        </p:spPr>
        <p:txBody>
          <a:bodyPr wrap="square" lIns="0" tIns="0" rIns="0" bIns="0" rtlCol="0" anchor="ctr"/>
          <a:lstStyle/>
          <a:p>
            <a:pPr indent="0" marL="0">
              <a:buNone/>
            </a:pPr>
            <a:r>
              <a:rPr lang="en-US" sz="1600" dirty="0">
                <a:solidFill>
                  <a:srgbClr val="FFFFFF"/>
                </a:solidFill>
              </a:rPr>
              <a:t>Today: implementation milestones completed Oct 6–7, 2026 (Phases 1–3B). The whole study, including the one-time sealed test, was completed on Oct 8; later meetings present those results in depth.</a:t>
            </a:r>
            <a:endParaRPr lang="en-US" sz="1600" dirty="0"/>
          </a:p>
        </p:txBody>
      </p:sp>
      <p:sp>
        <p:nvSpPr>
          <p:cNvPr id="11" name="authors"/>
          <p:cNvSpPr txBox="1"/>
          <p:nvPr/>
        </p:nvSpPr>
        <p:spPr>
          <a:xfrm>
            <a:off x="548640" y="4526280"/>
            <a:ext cx="11064240" cy="868680"/>
          </a:xfrm>
          <a:prstGeom prst="rect">
            <a:avLst/>
          </a:prstGeom>
          <a:noFill/>
          <a:ln/>
        </p:spPr>
        <p:txBody>
          <a:bodyPr wrap="square" lIns="0" tIns="0" rIns="0" bIns="0" rtlCol="0" anchor="t"/>
          <a:lstStyle/>
          <a:p>
            <a:pPr indent="0" marL="0">
              <a:buNone/>
            </a:pPr>
            <a:r>
              <a:rPr lang="en-US" sz="1300" b="1" dirty="0">
                <a:solidFill>
                  <a:srgbClr val="E6ECF5"/>
                </a:solidFill>
              </a:rPr>
              <a:t>Mayank Kumar Pokhriyal  ·  Tushar Poonia</a:t>
            </a:r>
            <a:endParaRPr lang="en-US" sz="1300" dirty="0"/>
          </a:p>
          <a:p>
            <a:pPr indent="0" marL="0">
              <a:buNone/>
            </a:pPr>
            <a:r>
              <a:rPr lang="en-US" sz="1300" dirty="0">
                <a:solidFill>
                  <a:srgbClr val="E6ECF5"/>
                </a:solidFill>
              </a:rPr>
              <a:t>M.S. in Artificial Intelligence capstone  ·  Katz School of Science and Health, Yeshiva University</a:t>
            </a:r>
            <a:endParaRPr lang="en-US" sz="1300" dirty="0"/>
          </a:p>
          <a:p>
            <a:pPr indent="0" marL="0">
              <a:buNone/>
            </a:pPr>
            <a:r>
              <a:rPr lang="en-US" sz="1150" dirty="0">
                <a:solidFill>
                  <a:srgbClr val="AFC2DC"/>
                </a:solidFill>
              </a:rPr>
              <a:t>Proposed split: Mayank (slides 1–3) · Tushar (slides 4–5) · about 5 minutes</a:t>
            </a:r>
            <a:endParaRPr lang="en-US" sz="1300" dirty="0"/>
          </a:p>
        </p:txBody>
      </p:sp>
      <p:sp>
        <p:nvSpPr>
          <p:cNvPr id="12" name="tracker-line"/>
          <p:cNvSpPr/>
          <p:nvPr/>
        </p:nvSpPr>
        <p:spPr>
          <a:xfrm>
            <a:off x="548640" y="5888736"/>
            <a:ext cx="11094415" cy="0"/>
          </a:xfrm>
          <a:prstGeom prst="line">
            <a:avLst/>
          </a:prstGeom>
          <a:noFill/>
          <a:ln w="19050">
            <a:solidFill>
              <a:srgbClr val="5B6C8F"/>
            </a:solidFill>
            <a:prstDash val="solid"/>
          </a:ln>
        </p:spPr>
      </p:sp>
      <p:sp>
        <p:nvSpPr>
          <p:cNvPr id="13" name="tracker-node-0"/>
          <p:cNvSpPr/>
          <p:nvPr/>
        </p:nvSpPr>
        <p:spPr>
          <a:xfrm>
            <a:off x="448056" y="5788152"/>
            <a:ext cx="201168" cy="201168"/>
          </a:xfrm>
          <a:prstGeom prst="ellipse">
            <a:avLst/>
          </a:prstGeom>
          <a:solidFill>
            <a:srgbClr val="0F8B8D"/>
          </a:solidFill>
          <a:ln w="19050">
            <a:solidFill>
              <a:srgbClr val="0F8B8D"/>
            </a:solidFill>
            <a:prstDash val="solid"/>
          </a:ln>
        </p:spPr>
      </p:sp>
      <p:sp>
        <p:nvSpPr>
          <p:cNvPr id="14" name="tracker-label-0"/>
          <p:cNvSpPr txBox="1"/>
          <p:nvPr/>
        </p:nvSpPr>
        <p:spPr>
          <a:xfrm>
            <a:off x="-228600"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15</a:t>
            </a:r>
            <a:endParaRPr lang="en-US" sz="1400" dirty="0"/>
          </a:p>
          <a:p>
            <a:pPr algn="ctr" indent="0" marL="0">
              <a:buNone/>
            </a:pPr>
            <a:r>
              <a:rPr lang="en-US" sz="950" dirty="0">
                <a:solidFill>
                  <a:srgbClr val="AFC2DC"/>
                </a:solidFill>
              </a:rPr>
              <a:t>Proposal</a:t>
            </a:r>
            <a:endParaRPr lang="en-US" sz="1400" dirty="0"/>
          </a:p>
        </p:txBody>
      </p:sp>
      <p:sp>
        <p:nvSpPr>
          <p:cNvPr id="15" name="tracker-node-1"/>
          <p:cNvSpPr/>
          <p:nvPr/>
        </p:nvSpPr>
        <p:spPr>
          <a:xfrm>
            <a:off x="2297125" y="5788152"/>
            <a:ext cx="201168" cy="201168"/>
          </a:xfrm>
          <a:prstGeom prst="ellipse">
            <a:avLst/>
          </a:prstGeom>
          <a:solidFill>
            <a:srgbClr val="0F8B8D"/>
          </a:solidFill>
          <a:ln w="19050">
            <a:solidFill>
              <a:srgbClr val="0F8B8D"/>
            </a:solidFill>
            <a:prstDash val="solid"/>
          </a:ln>
        </p:spPr>
      </p:sp>
      <p:sp>
        <p:nvSpPr>
          <p:cNvPr id="16" name="tracker-label-1"/>
          <p:cNvSpPr txBox="1"/>
          <p:nvPr/>
        </p:nvSpPr>
        <p:spPr>
          <a:xfrm>
            <a:off x="1620469"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Sep 29</a:t>
            </a:r>
            <a:endParaRPr lang="en-US" sz="1400" dirty="0"/>
          </a:p>
          <a:p>
            <a:pPr algn="ctr" indent="0" marL="0">
              <a:buNone/>
            </a:pPr>
            <a:r>
              <a:rPr lang="en-US" sz="950" dirty="0">
                <a:solidFill>
                  <a:srgbClr val="AFC2DC"/>
                </a:solidFill>
              </a:rPr>
              <a:t>Design</a:t>
            </a:r>
            <a:endParaRPr lang="en-US" sz="1400" dirty="0"/>
          </a:p>
        </p:txBody>
      </p:sp>
      <p:sp>
        <p:nvSpPr>
          <p:cNvPr id="17" name="tracker-node-2"/>
          <p:cNvSpPr/>
          <p:nvPr/>
        </p:nvSpPr>
        <p:spPr>
          <a:xfrm>
            <a:off x="4109618" y="5751576"/>
            <a:ext cx="274320" cy="274320"/>
          </a:xfrm>
          <a:prstGeom prst="ellipse">
            <a:avLst/>
          </a:prstGeom>
          <a:solidFill>
            <a:srgbClr val="E8A33D"/>
          </a:solidFill>
          <a:ln w="19050">
            <a:solidFill>
              <a:srgbClr val="E8A33D"/>
            </a:solidFill>
            <a:prstDash val="solid"/>
          </a:ln>
        </p:spPr>
      </p:sp>
      <p:sp>
        <p:nvSpPr>
          <p:cNvPr id="18" name="tracker-label-2"/>
          <p:cNvSpPr txBox="1"/>
          <p:nvPr/>
        </p:nvSpPr>
        <p:spPr>
          <a:xfrm>
            <a:off x="3469538" y="6071616"/>
            <a:ext cx="1554480" cy="457200"/>
          </a:xfrm>
          <a:prstGeom prst="rect">
            <a:avLst/>
          </a:prstGeom>
          <a:noFill/>
          <a:ln/>
        </p:spPr>
        <p:txBody>
          <a:bodyPr wrap="square" lIns="0" tIns="0" rIns="0" bIns="0" rtlCol="0" anchor="t"/>
          <a:lstStyle/>
          <a:p>
            <a:pPr algn="ctr" indent="0" marL="0">
              <a:buNone/>
            </a:pPr>
            <a:r>
              <a:rPr lang="en-US" sz="1050" b="1" dirty="0">
                <a:solidFill>
                  <a:srgbClr val="FFFFFF"/>
                </a:solidFill>
              </a:rPr>
              <a:t>Oct 13</a:t>
            </a:r>
            <a:endParaRPr lang="en-US" sz="1400" dirty="0"/>
          </a:p>
          <a:p>
            <a:pPr algn="ctr" indent="0" marL="0">
              <a:buNone/>
            </a:pPr>
            <a:r>
              <a:rPr lang="en-US" sz="950" dirty="0">
                <a:solidFill>
                  <a:srgbClr val="FFFFFF"/>
                </a:solidFill>
              </a:rPr>
              <a:t>Implementation</a:t>
            </a:r>
            <a:endParaRPr lang="en-US" sz="1400" dirty="0"/>
          </a:p>
        </p:txBody>
      </p:sp>
      <p:sp>
        <p:nvSpPr>
          <p:cNvPr id="19" name="tracker-node-3"/>
          <p:cNvSpPr/>
          <p:nvPr/>
        </p:nvSpPr>
        <p:spPr>
          <a:xfrm>
            <a:off x="5995264" y="5788152"/>
            <a:ext cx="201168" cy="201168"/>
          </a:xfrm>
          <a:prstGeom prst="ellipse">
            <a:avLst/>
          </a:prstGeom>
          <a:solidFill>
            <a:srgbClr val="1B2A49"/>
          </a:solidFill>
          <a:ln w="19050">
            <a:solidFill>
              <a:srgbClr val="5B6C8F"/>
            </a:solidFill>
            <a:prstDash val="solid"/>
          </a:ln>
        </p:spPr>
      </p:sp>
      <p:sp>
        <p:nvSpPr>
          <p:cNvPr id="20" name="tracker-label-3"/>
          <p:cNvSpPr txBox="1"/>
          <p:nvPr/>
        </p:nvSpPr>
        <p:spPr>
          <a:xfrm>
            <a:off x="5318608"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Oct 27</a:t>
            </a:r>
            <a:endParaRPr lang="en-US" sz="1400" dirty="0"/>
          </a:p>
          <a:p>
            <a:pPr algn="ctr" indent="0" marL="0">
              <a:buNone/>
            </a:pPr>
            <a:r>
              <a:rPr lang="en-US" sz="950" dirty="0">
                <a:solidFill>
                  <a:srgbClr val="AFC2DC"/>
                </a:solidFill>
              </a:rPr>
              <a:t>Noise &amp; mitigation</a:t>
            </a:r>
            <a:endParaRPr lang="en-US" sz="1400" dirty="0"/>
          </a:p>
        </p:txBody>
      </p:sp>
      <p:sp>
        <p:nvSpPr>
          <p:cNvPr id="21" name="tracker-node-4"/>
          <p:cNvSpPr/>
          <p:nvPr/>
        </p:nvSpPr>
        <p:spPr>
          <a:xfrm>
            <a:off x="7844333" y="5788152"/>
            <a:ext cx="201168" cy="201168"/>
          </a:xfrm>
          <a:prstGeom prst="ellipse">
            <a:avLst/>
          </a:prstGeom>
          <a:solidFill>
            <a:srgbClr val="1B2A49"/>
          </a:solidFill>
          <a:ln w="19050">
            <a:solidFill>
              <a:srgbClr val="5B6C8F"/>
            </a:solidFill>
            <a:prstDash val="solid"/>
          </a:ln>
        </p:spPr>
      </p:sp>
      <p:sp>
        <p:nvSpPr>
          <p:cNvPr id="22" name="tracker-label-4"/>
          <p:cNvSpPr txBox="1"/>
          <p:nvPr/>
        </p:nvSpPr>
        <p:spPr>
          <a:xfrm>
            <a:off x="7167677"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10</a:t>
            </a:r>
            <a:endParaRPr lang="en-US" sz="1400" dirty="0"/>
          </a:p>
          <a:p>
            <a:pPr algn="ctr" indent="0" marL="0">
              <a:buNone/>
            </a:pPr>
            <a:r>
              <a:rPr lang="en-US" sz="950" dirty="0">
                <a:solidFill>
                  <a:srgbClr val="AFC2DC"/>
                </a:solidFill>
              </a:rPr>
              <a:t>Policy selection</a:t>
            </a:r>
            <a:endParaRPr lang="en-US" sz="1400" dirty="0"/>
          </a:p>
        </p:txBody>
      </p:sp>
      <p:sp>
        <p:nvSpPr>
          <p:cNvPr id="23" name="tracker-node-5"/>
          <p:cNvSpPr/>
          <p:nvPr/>
        </p:nvSpPr>
        <p:spPr>
          <a:xfrm>
            <a:off x="9693402" y="5788152"/>
            <a:ext cx="201168" cy="201168"/>
          </a:xfrm>
          <a:prstGeom prst="ellipse">
            <a:avLst/>
          </a:prstGeom>
          <a:solidFill>
            <a:srgbClr val="1B2A49"/>
          </a:solidFill>
          <a:ln w="19050">
            <a:solidFill>
              <a:srgbClr val="5B6C8F"/>
            </a:solidFill>
            <a:prstDash val="solid"/>
          </a:ln>
        </p:spPr>
      </p:sp>
      <p:sp>
        <p:nvSpPr>
          <p:cNvPr id="24" name="tracker-label-5"/>
          <p:cNvSpPr txBox="1"/>
          <p:nvPr/>
        </p:nvSpPr>
        <p:spPr>
          <a:xfrm>
            <a:off x="9016746"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Nov 24</a:t>
            </a:r>
            <a:endParaRPr lang="en-US" sz="1400" dirty="0"/>
          </a:p>
          <a:p>
            <a:pPr algn="ctr" indent="0" marL="0">
              <a:buNone/>
            </a:pPr>
            <a:r>
              <a:rPr lang="en-US" sz="950" dirty="0">
                <a:solidFill>
                  <a:srgbClr val="AFC2DC"/>
                </a:solidFill>
              </a:rPr>
              <a:t>Final findings</a:t>
            </a:r>
            <a:endParaRPr lang="en-US" sz="1400" dirty="0"/>
          </a:p>
        </p:txBody>
      </p:sp>
      <p:sp>
        <p:nvSpPr>
          <p:cNvPr id="25" name="tracker-node-6"/>
          <p:cNvSpPr/>
          <p:nvPr/>
        </p:nvSpPr>
        <p:spPr>
          <a:xfrm>
            <a:off x="11542471" y="5788152"/>
            <a:ext cx="201168" cy="201168"/>
          </a:xfrm>
          <a:prstGeom prst="ellipse">
            <a:avLst/>
          </a:prstGeom>
          <a:solidFill>
            <a:srgbClr val="1B2A49"/>
          </a:solidFill>
          <a:ln w="19050">
            <a:solidFill>
              <a:srgbClr val="5B6C8F"/>
            </a:solidFill>
            <a:prstDash val="solid"/>
          </a:ln>
        </p:spPr>
      </p:sp>
      <p:sp>
        <p:nvSpPr>
          <p:cNvPr id="26" name="tracker-label-6"/>
          <p:cNvSpPr txBox="1"/>
          <p:nvPr/>
        </p:nvSpPr>
        <p:spPr>
          <a:xfrm>
            <a:off x="10865815" y="6071616"/>
            <a:ext cx="1554480" cy="457200"/>
          </a:xfrm>
          <a:prstGeom prst="rect">
            <a:avLst/>
          </a:prstGeom>
          <a:noFill/>
          <a:ln/>
        </p:spPr>
        <p:txBody>
          <a:bodyPr wrap="square" lIns="0" tIns="0" rIns="0" bIns="0" rtlCol="0" anchor="t"/>
          <a:lstStyle/>
          <a:p>
            <a:pPr algn="ctr" indent="0" marL="0">
              <a:buNone/>
            </a:pPr>
            <a:r>
              <a:rPr lang="en-US" sz="1050" b="1" dirty="0">
                <a:solidFill>
                  <a:srgbClr val="AFC2DC"/>
                </a:solidFill>
              </a:rPr>
              <a:t>Dec 8</a:t>
            </a:r>
            <a:endParaRPr lang="en-US" sz="1400" dirty="0"/>
          </a:p>
          <a:p>
            <a:pPr algn="ctr" indent="0" marL="0">
              <a:buNone/>
            </a:pPr>
            <a:r>
              <a:rPr lang="en-US" sz="950" dirty="0">
                <a:solidFill>
                  <a:srgbClr val="AFC2DC"/>
                </a:solidFill>
              </a:rPr>
              <a:t>Final defense</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PHASES 1–2  ·  COMPLETED OCTOBER 6,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Leakage-safe data and strong classical baselines</a:t>
            </a:r>
            <a:endParaRPr lang="en-US" sz="2800" dirty="0"/>
          </a:p>
        </p:txBody>
      </p:sp>
      <p:sp>
        <p:nvSpPr>
          <p:cNvPr id="4" name="flow-box-0"/>
          <p:cNvSpPr/>
          <p:nvPr/>
        </p:nvSpPr>
        <p:spPr>
          <a:xfrm>
            <a:off x="548640" y="1325880"/>
            <a:ext cx="2554148" cy="868680"/>
          </a:xfrm>
          <a:prstGeom prst="roundRect">
            <a:avLst>
              <a:gd name="adj" fmla="val 7368"/>
            </a:avLst>
          </a:prstGeom>
          <a:solidFill>
            <a:srgbClr val="EEF2F7"/>
          </a:solidFill>
          <a:ln w="6350">
            <a:solidFill>
              <a:srgbClr val="EEF2F7"/>
            </a:solidFill>
            <a:prstDash val="solid"/>
          </a:ln>
        </p:spPr>
      </p:sp>
      <p:sp>
        <p:nvSpPr>
          <p:cNvPr id="5" name="flow-text-0"/>
          <p:cNvSpPr txBox="1"/>
          <p:nvPr/>
        </p:nvSpPr>
        <p:spPr>
          <a:xfrm>
            <a:off x="621792" y="1325880"/>
            <a:ext cx="2407844" cy="868680"/>
          </a:xfrm>
          <a:prstGeom prst="rect">
            <a:avLst/>
          </a:prstGeom>
          <a:noFill/>
          <a:ln/>
        </p:spPr>
        <p:txBody>
          <a:bodyPr wrap="square" lIns="0" tIns="0" rIns="0" bIns="0" rtlCol="0" anchor="ctr"/>
          <a:lstStyle/>
          <a:p>
            <a:pPr algn="ctr" indent="0" marL="0">
              <a:buNone/>
            </a:pPr>
            <a:r>
              <a:rPr lang="en-US" sz="1400" b="1" dirty="0">
                <a:solidFill>
                  <a:schemeClr val="tx2"/>
                </a:solidFill>
              </a:rPr>
              <a:t>284,807 transactions</a:t>
            </a:r>
            <a:endParaRPr lang="en-US" sz="1400" dirty="0"/>
          </a:p>
          <a:p>
            <a:pPr algn="ctr" indent="0" marL="0">
              <a:buNone/>
            </a:pPr>
            <a:r>
              <a:rPr lang="en-US" sz="1200" dirty="0">
                <a:solidFill>
                  <a:schemeClr val="tx1"/>
                </a:solidFill>
              </a:rPr>
              <a:t>492 frauds · public ULB data</a:t>
            </a:r>
            <a:endParaRPr lang="en-US" sz="1400" dirty="0"/>
          </a:p>
        </p:txBody>
      </p:sp>
      <p:sp>
        <p:nvSpPr>
          <p:cNvPr id="6" name="flow-arrow-0"/>
          <p:cNvSpPr/>
          <p:nvPr/>
        </p:nvSpPr>
        <p:spPr>
          <a:xfrm>
            <a:off x="3139364" y="1659636"/>
            <a:ext cx="219456" cy="201168"/>
          </a:xfrm>
          <a:prstGeom prst="rightArrow">
            <a:avLst/>
          </a:prstGeom>
          <a:solidFill>
            <a:srgbClr val="6B7280"/>
          </a:solidFill>
          <a:ln w="12700">
            <a:solidFill>
              <a:srgbClr val="6B7280"/>
            </a:solidFill>
            <a:prstDash val="solid"/>
          </a:ln>
        </p:spPr>
      </p:sp>
      <p:sp>
        <p:nvSpPr>
          <p:cNvPr id="7" name="flow-box-1"/>
          <p:cNvSpPr/>
          <p:nvPr/>
        </p:nvSpPr>
        <p:spPr>
          <a:xfrm>
            <a:off x="3395396" y="1325880"/>
            <a:ext cx="2554148" cy="868680"/>
          </a:xfrm>
          <a:prstGeom prst="roundRect">
            <a:avLst>
              <a:gd name="adj" fmla="val 7368"/>
            </a:avLst>
          </a:prstGeom>
          <a:solidFill>
            <a:srgbClr val="EEF2F7"/>
          </a:solidFill>
          <a:ln w="6350">
            <a:solidFill>
              <a:srgbClr val="EEF2F7"/>
            </a:solidFill>
            <a:prstDash val="solid"/>
          </a:ln>
        </p:spPr>
      </p:sp>
      <p:sp>
        <p:nvSpPr>
          <p:cNvPr id="8" name="flow-text-1"/>
          <p:cNvSpPr txBox="1"/>
          <p:nvPr/>
        </p:nvSpPr>
        <p:spPr>
          <a:xfrm>
            <a:off x="3468548" y="1325880"/>
            <a:ext cx="2407844" cy="868680"/>
          </a:xfrm>
          <a:prstGeom prst="rect">
            <a:avLst/>
          </a:prstGeom>
          <a:noFill/>
          <a:ln/>
        </p:spPr>
        <p:txBody>
          <a:bodyPr wrap="square" lIns="0" tIns="0" rIns="0" bIns="0" rtlCol="0" anchor="ctr"/>
          <a:lstStyle/>
          <a:p>
            <a:pPr algn="ctr" indent="0" marL="0">
              <a:buNone/>
            </a:pPr>
            <a:r>
              <a:rPr lang="en-US" sz="1400" b="1" dirty="0">
                <a:solidFill>
                  <a:schemeClr val="tx2"/>
                </a:solidFill>
              </a:rPr>
              <a:t>Exact deduplication</a:t>
            </a:r>
            <a:endParaRPr lang="en-US" sz="1400" dirty="0"/>
          </a:p>
          <a:p>
            <a:pPr algn="ctr" indent="0" marL="0">
              <a:buNone/>
            </a:pPr>
            <a:r>
              <a:rPr lang="en-US" sz="1200" dirty="0">
                <a:solidFill>
                  <a:schemeClr val="tx1"/>
                </a:solidFill>
              </a:rPr>
              <a:t>1,081 duplicate rows removed (773 groups)</a:t>
            </a:r>
            <a:endParaRPr lang="en-US" sz="1400" dirty="0"/>
          </a:p>
        </p:txBody>
      </p:sp>
      <p:sp>
        <p:nvSpPr>
          <p:cNvPr id="9" name="flow-arrow-1"/>
          <p:cNvSpPr/>
          <p:nvPr/>
        </p:nvSpPr>
        <p:spPr>
          <a:xfrm>
            <a:off x="5986120" y="1659636"/>
            <a:ext cx="219456" cy="201168"/>
          </a:xfrm>
          <a:prstGeom prst="rightArrow">
            <a:avLst/>
          </a:prstGeom>
          <a:solidFill>
            <a:srgbClr val="6B7280"/>
          </a:solidFill>
          <a:ln w="12700">
            <a:solidFill>
              <a:srgbClr val="6B7280"/>
            </a:solidFill>
            <a:prstDash val="solid"/>
          </a:ln>
        </p:spPr>
      </p:sp>
      <p:sp>
        <p:nvSpPr>
          <p:cNvPr id="10" name="flow-box-2"/>
          <p:cNvSpPr/>
          <p:nvPr/>
        </p:nvSpPr>
        <p:spPr>
          <a:xfrm>
            <a:off x="6242152" y="1325880"/>
            <a:ext cx="2554148" cy="868680"/>
          </a:xfrm>
          <a:prstGeom prst="roundRect">
            <a:avLst>
              <a:gd name="adj" fmla="val 7368"/>
            </a:avLst>
          </a:prstGeom>
          <a:solidFill>
            <a:srgbClr val="EEF2F7"/>
          </a:solidFill>
          <a:ln w="6350">
            <a:solidFill>
              <a:srgbClr val="EEF2F7"/>
            </a:solidFill>
            <a:prstDash val="solid"/>
          </a:ln>
        </p:spPr>
      </p:sp>
      <p:sp>
        <p:nvSpPr>
          <p:cNvPr id="11" name="flow-text-2"/>
          <p:cNvSpPr txBox="1"/>
          <p:nvPr/>
        </p:nvSpPr>
        <p:spPr>
          <a:xfrm>
            <a:off x="6315304" y="1325880"/>
            <a:ext cx="2407844" cy="868680"/>
          </a:xfrm>
          <a:prstGeom prst="rect">
            <a:avLst/>
          </a:prstGeom>
          <a:noFill/>
          <a:ln/>
        </p:spPr>
        <p:txBody>
          <a:bodyPr wrap="square" lIns="0" tIns="0" rIns="0" bIns="0" rtlCol="0" anchor="ctr"/>
          <a:lstStyle/>
          <a:p>
            <a:pPr algn="ctr" indent="0" marL="0">
              <a:buNone/>
            </a:pPr>
            <a:r>
              <a:rPr lang="en-US" sz="1400" b="1" dirty="0">
                <a:solidFill>
                  <a:schemeClr val="tx2"/>
                </a:solidFill>
              </a:rPr>
              <a:t>283,726 rows</a:t>
            </a:r>
            <a:endParaRPr lang="en-US" sz="1400" dirty="0"/>
          </a:p>
          <a:p>
            <a:pPr algn="ctr" indent="0" marL="0">
              <a:buNone/>
            </a:pPr>
            <a:r>
              <a:rPr lang="en-US" sz="1200" dirty="0">
                <a:solidFill>
                  <a:schemeClr val="tx1"/>
                </a:solidFill>
              </a:rPr>
              <a:t>473 frauds · 0.17% prevalence</a:t>
            </a:r>
            <a:endParaRPr lang="en-US" sz="1400" dirty="0"/>
          </a:p>
        </p:txBody>
      </p:sp>
      <p:sp>
        <p:nvSpPr>
          <p:cNvPr id="12" name="flow-arrow-2"/>
          <p:cNvSpPr/>
          <p:nvPr/>
        </p:nvSpPr>
        <p:spPr>
          <a:xfrm>
            <a:off x="8832875" y="1659636"/>
            <a:ext cx="219456" cy="201168"/>
          </a:xfrm>
          <a:prstGeom prst="rightArrow">
            <a:avLst/>
          </a:prstGeom>
          <a:solidFill>
            <a:srgbClr val="6B7280"/>
          </a:solidFill>
          <a:ln w="12700">
            <a:solidFill>
              <a:srgbClr val="6B7280"/>
            </a:solidFill>
            <a:prstDash val="solid"/>
          </a:ln>
        </p:spPr>
      </p:sp>
      <p:sp>
        <p:nvSpPr>
          <p:cNvPr id="13" name="flow-box-3"/>
          <p:cNvSpPr/>
          <p:nvPr/>
        </p:nvSpPr>
        <p:spPr>
          <a:xfrm>
            <a:off x="9088907" y="1325880"/>
            <a:ext cx="2554148" cy="868680"/>
          </a:xfrm>
          <a:prstGeom prst="roundRect">
            <a:avLst>
              <a:gd name="adj" fmla="val 7368"/>
            </a:avLst>
          </a:prstGeom>
          <a:solidFill>
            <a:srgbClr val="D7EEEE"/>
          </a:solidFill>
          <a:ln w="6350">
            <a:solidFill>
              <a:srgbClr val="D7EEEE"/>
            </a:solidFill>
            <a:prstDash val="solid"/>
          </a:ln>
        </p:spPr>
      </p:sp>
      <p:sp>
        <p:nvSpPr>
          <p:cNvPr id="14" name="flow-text-3"/>
          <p:cNvSpPr txBox="1"/>
          <p:nvPr/>
        </p:nvSpPr>
        <p:spPr>
          <a:xfrm>
            <a:off x="9162059" y="1325880"/>
            <a:ext cx="2407844" cy="868680"/>
          </a:xfrm>
          <a:prstGeom prst="rect">
            <a:avLst/>
          </a:prstGeom>
          <a:noFill/>
          <a:ln/>
        </p:spPr>
        <p:txBody>
          <a:bodyPr wrap="square" lIns="0" tIns="0" rIns="0" bIns="0" rtlCol="0" anchor="ctr"/>
          <a:lstStyle/>
          <a:p>
            <a:pPr algn="ctr" indent="0" marL="0">
              <a:buNone/>
            </a:pPr>
            <a:r>
              <a:rPr lang="en-US" sz="1400" b="1" dirty="0">
                <a:solidFill>
                  <a:schemeClr val="tx2"/>
                </a:solidFill>
              </a:rPr>
              <a:t>Group-aware split</a:t>
            </a:r>
            <a:endParaRPr lang="en-US" sz="1400" dirty="0"/>
          </a:p>
          <a:p>
            <a:pPr algn="ctr" indent="0" marL="0">
              <a:buNone/>
            </a:pPr>
            <a:r>
              <a:rPr lang="en-US" sz="1200" dirty="0">
                <a:solidFill>
                  <a:schemeClr val="tx1"/>
                </a:solidFill>
              </a:rPr>
              <a:t>timestamp-only duplicates kept together</a:t>
            </a:r>
            <a:endParaRPr lang="en-US" sz="1400" dirty="0"/>
          </a:p>
        </p:txBody>
      </p:sp>
      <p:graphicFrame>
        <p:nvGraphicFramePr>
          <p:cNvPr id="3" name="table"/>
          <p:cNvGraphicFramePr>
            <a:graphicFrameLocks noGrp="1"/>
          </p:cNvGraphicFramePr>
          <p:nvPr>
            <p:extLst>
              <p:ext uri="{D42A27DB-BD31-4B8C-83A1-F6EECF244321}">
                <p14:modId xmlns:p14="http://schemas.microsoft.com/office/powerpoint/2010/main" val="1579011935"/>
              </p:ext>
            </p:extLst>
          </p:nvPr>
        </p:nvGraphicFramePr>
        <p:xfrm>
          <a:off x="548640" y="2487168"/>
          <a:ext cx="5257800" cy="914400"/>
        </p:xfrm>
        <a:graphic>
          <a:graphicData uri="http://schemas.openxmlformats.org/drawingml/2006/table">
            <a:tbl>
              <a:tblPr/>
              <a:tblGrid>
                <a:gridCol w="1691640"/>
                <a:gridCol w="914400"/>
                <a:gridCol w="731520"/>
                <a:gridCol w="1920240"/>
              </a:tblGrid>
              <a:tr h="0">
                <a:tc>
                  <a:txBody>
                    <a:bodyPr/>
                    <a:lstStyle/>
                    <a:p>
                      <a:pPr indent="0" marL="0">
                        <a:buNone/>
                      </a:pPr>
                      <a:r>
                        <a:rPr lang="en-US" sz="1250" b="1" dirty="0">
                          <a:solidFill>
                            <a:srgbClr val="FFFFFF"/>
                          </a:solidFill>
                        </a:rPr>
                        <a:t>Partition</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50" b="1" dirty="0">
                          <a:solidFill>
                            <a:srgbClr val="FFFFFF"/>
                          </a:solidFill>
                        </a:rPr>
                        <a:t>Rows</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50" b="1" dirty="0">
                          <a:solidFill>
                            <a:srgbClr val="FFFFFF"/>
                          </a:solidFill>
                        </a:rPr>
                        <a:t>Frauds</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c>
                  <a:txBody>
                    <a:bodyPr/>
                    <a:lstStyle/>
                    <a:p>
                      <a:pPr indent="0" marL="0">
                        <a:buNone/>
                      </a:pPr>
                      <a:r>
                        <a:rPr lang="en-US" sz="1250" b="1" dirty="0">
                          <a:solidFill>
                            <a:srgbClr val="FFFFFF"/>
                          </a:solidFill>
                        </a:rPr>
                        <a:t>Role</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solidFill>
                      <a:srgbClr val="1B2A49"/>
                    </a:solidFill>
                  </a:tcPr>
                </a:tc>
              </a:tr>
              <a:tr h="0">
                <a:tc>
                  <a:txBody>
                    <a:bodyPr/>
                    <a:lstStyle/>
                    <a:p>
                      <a:pPr indent="0" marL="0">
                        <a:buNone/>
                      </a:pPr>
                      <a:r>
                        <a:rPr lang="en-US" sz="1250" dirty="0">
                          <a:solidFill>
                            <a:srgbClr val="1A1F2B"/>
                          </a:solidFill>
                        </a:rPr>
                        <a:t>VQC train</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127,677</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213</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fit every quantum model</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50" dirty="0">
                          <a:solidFill>
                            <a:srgbClr val="1A1F2B"/>
                          </a:solidFill>
                        </a:rPr>
                        <a:t>VQC validation</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28,372</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47</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qualification, thresholds</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50" dirty="0">
                          <a:solidFill>
                            <a:srgbClr val="1A1F2B"/>
                          </a:solidFill>
                        </a:rPr>
                        <a:t>Controller train</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42,559</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71</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fit mitigation policies</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50" dirty="0">
                          <a:solidFill>
                            <a:srgbClr val="1A1F2B"/>
                          </a:solidFill>
                        </a:rPr>
                        <a:t>Controller validation</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28,372</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47</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validate policies</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r h="0">
                <a:tc>
                  <a:txBody>
                    <a:bodyPr/>
                    <a:lstStyle/>
                    <a:p>
                      <a:pPr indent="0" marL="0">
                        <a:buNone/>
                      </a:pPr>
                      <a:r>
                        <a:rPr lang="en-US" sz="1250" b="1" dirty="0">
                          <a:solidFill>
                            <a:srgbClr val="1A1F2B"/>
                          </a:solidFill>
                        </a:rPr>
                        <a:t>Controller test</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56,746</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dirty="0">
                          <a:solidFill>
                            <a:srgbClr val="1A1F2B"/>
                          </a:solidFill>
                        </a:rPr>
                        <a:t>95</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c>
                  <a:txBody>
                    <a:bodyPr/>
                    <a:lstStyle/>
                    <a:p>
                      <a:pPr indent="0" marL="0">
                        <a:buNone/>
                      </a:pPr>
                      <a:r>
                        <a:rPr lang="en-US" sz="1250" b="1" dirty="0">
                          <a:solidFill>
                            <a:srgbClr val="1A1F2B"/>
                          </a:solidFill>
                        </a:rPr>
                        <a:t>sealed until the final test</a:t>
                      </a:r>
                      <a:endParaRPr lang="en-US" sz="1250" dirty="0"/>
                    </a:p>
                  </a:txBody>
                  <a:tcPr marL="64008" marR="64008" marT="32004" marB="32004" anchor="ctr">
                    <a:lnL w="6350" cap="flat" cmpd="sng" algn="ctr">
                      <a:solidFill>
                        <a:srgbClr val="D5DBE5"/>
                      </a:solidFill>
                      <a:prstDash val="solid"/>
                      <a:round/>
                      <a:headEnd type="none" w="med" len="med"/>
                      <a:tailEnd type="none" w="med" len="med"/>
                    </a:lnL>
                    <a:lnR w="6350" cap="flat" cmpd="sng" algn="ctr">
                      <a:solidFill>
                        <a:srgbClr val="D5DBE5"/>
                      </a:solidFill>
                      <a:prstDash val="solid"/>
                      <a:round/>
                      <a:headEnd type="none" w="med" len="med"/>
                      <a:tailEnd type="none" w="med" len="med"/>
                    </a:lnR>
                    <a:lnT w="6350" cap="flat" cmpd="sng" algn="ctr">
                      <a:solidFill>
                        <a:srgbClr val="D5DBE5"/>
                      </a:solidFill>
                      <a:prstDash val="solid"/>
                      <a:round/>
                      <a:headEnd type="none" w="med" len="med"/>
                      <a:tailEnd type="none" w="med" len="med"/>
                    </a:lnT>
                    <a:lnB w="6350" cap="flat" cmpd="sng" algn="ctr">
                      <a:solidFill>
                        <a:srgbClr val="D5DBE5"/>
                      </a:solidFill>
                      <a:prstDash val="solid"/>
                      <a:round/>
                      <a:headEnd type="none" w="med" len="med"/>
                      <a:tailEnd type="none" w="med" len="med"/>
                    </a:lnB>
                  </a:tcPr>
                </a:tc>
              </a:tr>
            </a:tbl>
          </a:graphicData>
        </a:graphic>
      </p:graphicFrame>
      <p:pic>
        <p:nvPicPr>
          <p:cNvPr id="16" name="baselines_auprc.png" descr="/Users/mayankpokhriyal/Workspaces/q-trace/deliverables/presentations/semester/_system/figures/baselines_auprc.png">    </p:cNvPr>
          <p:cNvPicPr>
            <a:picLocks noChangeAspect="1"/>
          </p:cNvPicPr>
          <p:nvPr/>
        </p:nvPicPr>
        <p:blipFill>
          <a:blip r:embed="rId1"/>
          <a:stretch>
            <a:fillRect/>
          </a:stretch>
        </p:blipFill>
        <p:spPr>
          <a:xfrm>
            <a:off x="5989320" y="2572934"/>
            <a:ext cx="5669280" cy="2717972"/>
          </a:xfrm>
          <a:prstGeom prst="rect">
            <a:avLst/>
          </a:prstGeom>
        </p:spPr>
      </p:pic>
      <p:sp>
        <p:nvSpPr>
          <p:cNvPr id="17" name="Text 13"/>
          <p:cNvSpPr txBox="1"/>
          <p:nvPr/>
        </p:nvSpPr>
        <p:spPr>
          <a:xfrm>
            <a:off x="548640" y="4983480"/>
            <a:ext cx="5257800" cy="457200"/>
          </a:xfrm>
          <a:prstGeom prst="rect">
            <a:avLst/>
          </a:prstGeom>
          <a:noFill/>
          <a:ln/>
        </p:spPr>
        <p:txBody>
          <a:bodyPr wrap="square" lIns="0" tIns="0" rIns="0" bIns="0" rtlCol="0" anchor="t"/>
          <a:lstStyle/>
          <a:p>
            <a:pPr indent="0" marL="0">
              <a:buNone/>
            </a:pPr>
            <a:r>
              <a:rPr lang="en-US" sz="1150" i="1" dirty="0">
                <a:solidFill>
                  <a:schemeClr val="accent5"/>
                </a:solidFill>
              </a:rPr>
              <a:t>VQC inputs = the same 4 features and 1,065 training rows the quantum model uses.</a:t>
            </a:r>
            <a:endParaRPr lang="en-US" sz="1150" dirty="0"/>
          </a:p>
        </p:txBody>
      </p:sp>
      <p:sp>
        <p:nvSpPr>
          <p:cNvPr id="18" name="takeaway-bg"/>
          <p:cNvSpPr/>
          <p:nvPr/>
        </p:nvSpPr>
        <p:spPr>
          <a:xfrm>
            <a:off x="548640" y="5559552"/>
            <a:ext cx="11094415" cy="512064"/>
          </a:xfrm>
          <a:prstGeom prst="roundRect">
            <a:avLst>
              <a:gd name="adj" fmla="val 12500"/>
            </a:avLst>
          </a:prstGeom>
          <a:solidFill>
            <a:srgbClr val="E3F2F1"/>
          </a:solidFill>
          <a:ln w="6350">
            <a:solidFill>
              <a:srgbClr val="E3F2F1"/>
            </a:solidFill>
            <a:prstDash val="solid"/>
          </a:ln>
        </p:spPr>
      </p:sp>
      <p:sp>
        <p:nvSpPr>
          <p:cNvPr id="19" name="takeaway-icon-circle"/>
          <p:cNvSpPr/>
          <p:nvPr/>
        </p:nvSpPr>
        <p:spPr>
          <a:xfrm>
            <a:off x="676656" y="5641848"/>
            <a:ext cx="347472" cy="347472"/>
          </a:xfrm>
          <a:prstGeom prst="ellipse">
            <a:avLst/>
          </a:prstGeom>
          <a:solidFill>
            <a:srgbClr val="0F8B8D"/>
          </a:solidFill>
          <a:ln w="12700">
            <a:solidFill>
              <a:srgbClr val="0F8B8D"/>
            </a:solidFill>
            <a:prstDash val="solid"/>
          </a:ln>
        </p:spPr>
      </p:sp>
      <p:pic>
        <p:nvPicPr>
          <p:cNvPr id="20" name="takeaway-icon" descr="preencoded.png">    </p:cNvPr>
          <p:cNvPicPr>
            <a:picLocks noChangeAspect="1"/>
          </p:cNvPicPr>
          <p:nvPr/>
        </p:nvPicPr>
        <p:blipFill>
          <a:blip r:embed="rId2"/>
          <a:stretch>
            <a:fillRect/>
          </a:stretch>
        </p:blipFill>
        <p:spPr>
          <a:xfrm>
            <a:off x="760049" y="5725241"/>
            <a:ext cx="180685" cy="180685"/>
          </a:xfrm>
          <a:prstGeom prst="rect">
            <a:avLst/>
          </a:prstGeom>
        </p:spPr>
      </p:pic>
      <p:sp>
        <p:nvSpPr>
          <p:cNvPr id="21" name="takeaway"/>
          <p:cNvSpPr txBox="1"/>
          <p:nvPr/>
        </p:nvSpPr>
        <p:spPr>
          <a:xfrm>
            <a:off x="1170432" y="5559552"/>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Classical models set the bar: AUPRC 0.805 on all 30 features, 0.59–0.62 on the quantum model's four inputs.</a:t>
            </a:r>
            <a:endParaRPr lang="en-US" sz="1550" dirty="0"/>
          </a:p>
        </p:txBody>
      </p:sp>
      <p:sp>
        <p:nvSpPr>
          <p:cNvPr id="22"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ulb_v1_dataset_summary.csv, ulb_v1_phase1_metadata.json, phase2_classical_metrics.csv, p3ar_validation_comparison.csv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 3A-R  ·  SELECTED AND FROZEN OCTOBER 6,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The frozen quantum classifier</a:t>
            </a:r>
            <a:endParaRPr lang="en-US" sz="2800" dirty="0"/>
          </a:p>
        </p:txBody>
      </p:sp>
      <p:pic>
        <p:nvPicPr>
          <p:cNvPr id="4" name="circuit_p3ar.png" descr="/Users/mayankpokhriyal/Workspaces/q-trace/deliverables/presentations/semester/_system/figures/circuit_p3ar.png">    </p:cNvPr>
          <p:cNvPicPr>
            <a:picLocks noChangeAspect="1"/>
          </p:cNvPicPr>
          <p:nvPr/>
        </p:nvPicPr>
        <p:blipFill>
          <a:blip r:embed="rId1"/>
          <a:stretch>
            <a:fillRect/>
          </a:stretch>
        </p:blipFill>
        <p:spPr>
          <a:xfrm>
            <a:off x="1459862" y="1280160"/>
            <a:ext cx="9241797" cy="3291840"/>
          </a:xfrm>
          <a:prstGeom prst="rect">
            <a:avLst/>
          </a:prstGeom>
        </p:spPr>
      </p:pic>
      <p:sp>
        <p:nvSpPr>
          <p:cNvPr id="5" name="card-bg"/>
          <p:cNvSpPr/>
          <p:nvPr/>
        </p:nvSpPr>
        <p:spPr>
          <a:xfrm>
            <a:off x="548640" y="4754880"/>
            <a:ext cx="3566160" cy="1234440"/>
          </a:xfrm>
          <a:prstGeom prst="roundRect">
            <a:avLst>
              <a:gd name="adj" fmla="val 5185"/>
            </a:avLst>
          </a:prstGeom>
          <a:solidFill>
            <a:srgbClr val="EEF2F7"/>
          </a:solidFill>
          <a:ln w="6350">
            <a:solidFill>
              <a:srgbClr val="EEF2F7"/>
            </a:solidFill>
            <a:prstDash val="solid"/>
          </a:ln>
        </p:spPr>
      </p:sp>
      <p:sp>
        <p:nvSpPr>
          <p:cNvPr id="6" name="card-text"/>
          <p:cNvSpPr txBox="1"/>
          <p:nvPr/>
        </p:nvSpPr>
        <p:spPr>
          <a:xfrm>
            <a:off x="731520" y="4882896"/>
            <a:ext cx="3200400" cy="10149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Inputs</a:t>
            </a:r>
            <a:endParaRPr lang="en-US" sz="1550" dirty="0"/>
          </a:p>
          <a:p>
            <a:pPr indent="0" marL="0">
              <a:spcAft>
                <a:spcPts val="400"/>
              </a:spcAft>
              <a:buNone/>
            </a:pPr>
            <a:r>
              <a:rPr lang="en-US" sz="1350" dirty="0">
                <a:solidFill>
                  <a:schemeClr val="tx1"/>
                </a:solidFill>
              </a:rPr>
              <a:t>Top-4 features by ANOVA F on training data (V17, V14, V12, V10), angle-encoded.</a:t>
            </a:r>
            <a:endParaRPr lang="en-US" sz="1550" dirty="0"/>
          </a:p>
        </p:txBody>
      </p:sp>
      <p:sp>
        <p:nvSpPr>
          <p:cNvPr id="7" name="card-bg"/>
          <p:cNvSpPr/>
          <p:nvPr/>
        </p:nvSpPr>
        <p:spPr>
          <a:xfrm>
            <a:off x="4297680" y="4754880"/>
            <a:ext cx="3566160" cy="1234440"/>
          </a:xfrm>
          <a:prstGeom prst="roundRect">
            <a:avLst>
              <a:gd name="adj" fmla="val 5185"/>
            </a:avLst>
          </a:prstGeom>
          <a:solidFill>
            <a:srgbClr val="EEF2F7"/>
          </a:solidFill>
          <a:ln w="6350">
            <a:solidFill>
              <a:srgbClr val="EEF2F7"/>
            </a:solidFill>
            <a:prstDash val="solid"/>
          </a:ln>
        </p:spPr>
      </p:sp>
      <p:sp>
        <p:nvSpPr>
          <p:cNvPr id="8" name="card-text"/>
          <p:cNvSpPr txBox="1"/>
          <p:nvPr/>
        </p:nvSpPr>
        <p:spPr>
          <a:xfrm>
            <a:off x="4480560" y="4882896"/>
            <a:ext cx="3200400" cy="10149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Training</a:t>
            </a:r>
            <a:endParaRPr lang="en-US" sz="1550" dirty="0"/>
          </a:p>
          <a:p>
            <a:pPr indent="0" marL="0">
              <a:spcAft>
                <a:spcPts val="400"/>
              </a:spcAft>
              <a:buNone/>
            </a:pPr>
            <a:r>
              <a:rPr lang="en-US" sz="1350" dirty="0">
                <a:solidFill>
                  <a:schemeClr val="tx1"/>
                </a:solidFill>
              </a:rPr>
              <a:t>COBYLA, exact simulation, 1,065 rows: all 213 training frauds + 4 legitimate per fraud.</a:t>
            </a:r>
            <a:endParaRPr lang="en-US" sz="1550" dirty="0"/>
          </a:p>
        </p:txBody>
      </p:sp>
      <p:sp>
        <p:nvSpPr>
          <p:cNvPr id="9" name="card-bg"/>
          <p:cNvSpPr/>
          <p:nvPr/>
        </p:nvSpPr>
        <p:spPr>
          <a:xfrm>
            <a:off x="8046720" y="4754880"/>
            <a:ext cx="3566160" cy="1234440"/>
          </a:xfrm>
          <a:prstGeom prst="roundRect">
            <a:avLst>
              <a:gd name="adj" fmla="val 5185"/>
            </a:avLst>
          </a:prstGeom>
          <a:solidFill>
            <a:srgbClr val="EEF2F7"/>
          </a:solidFill>
          <a:ln w="6350">
            <a:solidFill>
              <a:srgbClr val="EEF2F7"/>
            </a:solidFill>
            <a:prstDash val="solid"/>
          </a:ln>
        </p:spPr>
      </p:sp>
      <p:sp>
        <p:nvSpPr>
          <p:cNvPr id="10" name="card-text"/>
          <p:cNvSpPr txBox="1"/>
          <p:nvPr/>
        </p:nvSpPr>
        <p:spPr>
          <a:xfrm>
            <a:off x="8229600" y="4882896"/>
            <a:ext cx="3200400" cy="1014984"/>
          </a:xfrm>
          <a:prstGeom prst="rect">
            <a:avLst/>
          </a:prstGeom>
          <a:noFill/>
          <a:ln/>
        </p:spPr>
        <p:txBody>
          <a:bodyPr wrap="square" lIns="0" tIns="0" rIns="0" bIns="0" rtlCol="0" anchor="t"/>
          <a:lstStyle/>
          <a:p>
            <a:pPr indent="0" marL="0">
              <a:spcAft>
                <a:spcPts val="400"/>
              </a:spcAft>
              <a:buNone/>
            </a:pPr>
            <a:r>
              <a:rPr lang="en-US" sz="1550" b="1" dirty="0">
                <a:solidFill>
                  <a:schemeClr val="tx2"/>
                </a:solidFill>
              </a:rPr>
              <a:t>Frozen</a:t>
            </a:r>
            <a:endParaRPr lang="en-US" sz="1550" dirty="0"/>
          </a:p>
          <a:p>
            <a:pPr indent="0" marL="0">
              <a:spcAft>
                <a:spcPts val="400"/>
              </a:spcAft>
              <a:buNone/>
            </a:pPr>
            <a:r>
              <a:rPr lang="en-US" sz="1350" dirty="0">
                <a:solidFill>
                  <a:schemeClr val="tx1"/>
                </a:solidFill>
              </a:rPr>
              <a:t>Parameters and circuit hashed; retraining is bitwise identical.</a:t>
            </a:r>
            <a:endParaRPr lang="en-US" sz="1550" dirty="0"/>
          </a:p>
        </p:txBody>
      </p:sp>
      <p:sp>
        <p:nvSpPr>
          <p:cNvPr id="11"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configs/vqc/vqc3a_top4_ra1.yaml, configs/repair/p3ar_v1.yaml, p5a_pool_metrics.csv (anchor p3a_r)</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 3A → 3A-R  ·  COMPLETED OCTOBER 6,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Encoding repair: AUPRC 0.104 → 0.507</a:t>
            </a:r>
            <a:endParaRPr lang="en-US" sz="2800" dirty="0"/>
          </a:p>
        </p:txBody>
      </p:sp>
      <p:pic>
        <p:nvPicPr>
          <p:cNvPr id="4" name="encoding_repair.png" descr="/Users/mayankpokhriyal/Workspaces/q-trace/deliverables/presentations/semester/_system/figures/encoding_repair.png">    </p:cNvPr>
          <p:cNvPicPr>
            <a:picLocks noChangeAspect="1"/>
          </p:cNvPicPr>
          <p:nvPr/>
        </p:nvPicPr>
        <p:blipFill>
          <a:blip r:embed="rId1"/>
          <a:stretch>
            <a:fillRect/>
          </a:stretch>
        </p:blipFill>
        <p:spPr>
          <a:xfrm>
            <a:off x="457200" y="1676400"/>
            <a:ext cx="7863840" cy="3276600"/>
          </a:xfrm>
          <a:prstGeom prst="rect">
            <a:avLst/>
          </a:prstGeom>
        </p:spPr>
      </p:pic>
      <p:sp>
        <p:nvSpPr>
          <p:cNvPr id="5" name="stat-value"/>
          <p:cNvSpPr txBox="1"/>
          <p:nvPr/>
        </p:nvSpPr>
        <p:spPr>
          <a:xfrm>
            <a:off x="8641080" y="1371600"/>
            <a:ext cx="3017520" cy="527538"/>
          </a:xfrm>
          <a:prstGeom prst="rect">
            <a:avLst/>
          </a:prstGeom>
          <a:noFill/>
          <a:ln/>
        </p:spPr>
        <p:txBody>
          <a:bodyPr wrap="square" lIns="0" tIns="0" rIns="0" bIns="0" rtlCol="0" anchor="t"/>
          <a:lstStyle/>
          <a:p>
            <a:pPr indent="0" marL="0">
              <a:buNone/>
            </a:pPr>
            <a:r>
              <a:rPr lang="en-US" sz="3000" b="1" dirty="0">
                <a:solidFill>
                  <a:schemeClr val="accent1"/>
                </a:solidFill>
                <a:latin typeface="Cambria" pitchFamily="34" charset="0"/>
                <a:ea typeface="Cambria" pitchFamily="34" charset="-122"/>
                <a:cs typeface="Cambria" pitchFamily="34" charset="-120"/>
              </a:rPr>
              <a:t>0.104 → 0.507</a:t>
            </a:r>
            <a:endParaRPr lang="en-US" sz="3000" dirty="0"/>
          </a:p>
        </p:txBody>
      </p:sp>
      <p:sp>
        <p:nvSpPr>
          <p:cNvPr id="6" name="stat-label"/>
          <p:cNvSpPr txBox="1"/>
          <p:nvPr/>
        </p:nvSpPr>
        <p:spPr>
          <a:xfrm>
            <a:off x="8641080" y="1935714"/>
            <a:ext cx="3017520" cy="640080"/>
          </a:xfrm>
          <a:prstGeom prst="rect">
            <a:avLst/>
          </a:prstGeom>
          <a:noFill/>
          <a:ln/>
        </p:spPr>
        <p:txBody>
          <a:bodyPr wrap="square" lIns="0" tIns="0" rIns="0" bIns="0" rtlCol="0" anchor="t"/>
          <a:lstStyle/>
          <a:p>
            <a:pPr indent="0" marL="0">
              <a:buNone/>
            </a:pPr>
            <a:r>
              <a:rPr lang="en-US" sz="1250" dirty="0">
                <a:solidFill>
                  <a:schemeClr val="tx1"/>
                </a:solidFill>
              </a:rPr>
              <a:t>validation AUPRC (AUROC 0.957 after the repair)</a:t>
            </a:r>
            <a:endParaRPr lang="en-US" sz="1250" dirty="0"/>
          </a:p>
        </p:txBody>
      </p:sp>
      <p:sp>
        <p:nvSpPr>
          <p:cNvPr id="7" name="stat-value"/>
          <p:cNvSpPr txBox="1"/>
          <p:nvPr/>
        </p:nvSpPr>
        <p:spPr>
          <a:xfrm>
            <a:off x="8641080" y="2697480"/>
            <a:ext cx="3017520" cy="527538"/>
          </a:xfrm>
          <a:prstGeom prst="rect">
            <a:avLst/>
          </a:prstGeom>
          <a:noFill/>
          <a:ln/>
        </p:spPr>
        <p:txBody>
          <a:bodyPr wrap="square" lIns="0" tIns="0" rIns="0" bIns="0" rtlCol="0" anchor="t"/>
          <a:lstStyle/>
          <a:p>
            <a:pPr indent="0" marL="0">
              <a:buNone/>
            </a:pPr>
            <a:r>
              <a:rPr lang="en-US" sz="3000" b="1" dirty="0">
                <a:solidFill>
                  <a:schemeClr val="accent6"/>
                </a:solidFill>
                <a:latin typeface="Cambria" pitchFamily="34" charset="0"/>
                <a:ea typeface="Cambria" pitchFamily="34" charset="-122"/>
                <a:cs typeface="Cambria" pitchFamily="34" charset="-120"/>
              </a:rPr>
              <a:t>91 → 212</a:t>
            </a:r>
            <a:endParaRPr lang="en-US" sz="3000" dirty="0"/>
          </a:p>
        </p:txBody>
      </p:sp>
      <p:sp>
        <p:nvSpPr>
          <p:cNvPr id="8" name="stat-label"/>
          <p:cNvSpPr txBox="1"/>
          <p:nvPr/>
        </p:nvSpPr>
        <p:spPr>
          <a:xfrm>
            <a:off x="8641080" y="3261594"/>
            <a:ext cx="3017520" cy="640080"/>
          </a:xfrm>
          <a:prstGeom prst="rect">
            <a:avLst/>
          </a:prstGeom>
          <a:noFill/>
          <a:ln/>
        </p:spPr>
        <p:txBody>
          <a:bodyPr wrap="square" lIns="0" tIns="0" rIns="0" bIns="0" rtlCol="0" anchor="t"/>
          <a:lstStyle/>
          <a:p>
            <a:pPr indent="0" marL="0">
              <a:buNone/>
            </a:pPr>
            <a:r>
              <a:rPr lang="en-US" sz="1250" dirty="0">
                <a:solidFill>
                  <a:schemeClr val="tx1"/>
                </a:solidFill>
              </a:rPr>
              <a:t>distinct fraud inputs, of 213 training frauds</a:t>
            </a:r>
            <a:endParaRPr lang="en-US" sz="1250" dirty="0"/>
          </a:p>
        </p:txBody>
      </p:sp>
      <p:sp>
        <p:nvSpPr>
          <p:cNvPr id="9" name="stat-value"/>
          <p:cNvSpPr txBox="1"/>
          <p:nvPr/>
        </p:nvSpPr>
        <p:spPr>
          <a:xfrm>
            <a:off x="8641080" y="4023360"/>
            <a:ext cx="3017520" cy="527538"/>
          </a:xfrm>
          <a:prstGeom prst="rect">
            <a:avLst/>
          </a:prstGeom>
          <a:noFill/>
          <a:ln/>
        </p:spPr>
        <p:txBody>
          <a:bodyPr wrap="square" lIns="0" tIns="0" rIns="0" bIns="0" rtlCol="0" anchor="t"/>
          <a:lstStyle/>
          <a:p>
            <a:pPr indent="0" marL="0">
              <a:buNone/>
            </a:pPr>
            <a:r>
              <a:rPr lang="en-US" sz="3000" b="1" dirty="0">
                <a:solidFill>
                  <a:schemeClr val="accent3"/>
                </a:solidFill>
                <a:latin typeface="Cambria" pitchFamily="34" charset="0"/>
                <a:ea typeface="Cambria" pitchFamily="34" charset="-122"/>
                <a:cs typeface="Cambria" pitchFamily="34" charset="-120"/>
              </a:rPr>
              <a:t>0.59–0.62</a:t>
            </a:r>
            <a:endParaRPr lang="en-US" sz="3000" dirty="0"/>
          </a:p>
        </p:txBody>
      </p:sp>
      <p:sp>
        <p:nvSpPr>
          <p:cNvPr id="10" name="stat-label"/>
          <p:cNvSpPr txBox="1"/>
          <p:nvPr/>
        </p:nvSpPr>
        <p:spPr>
          <a:xfrm>
            <a:off x="8641080" y="4587474"/>
            <a:ext cx="3017520" cy="640080"/>
          </a:xfrm>
          <a:prstGeom prst="rect">
            <a:avLst/>
          </a:prstGeom>
          <a:noFill/>
          <a:ln/>
        </p:spPr>
        <p:txBody>
          <a:bodyPr wrap="square" lIns="0" tIns="0" rIns="0" bIns="0" rtlCol="0" anchor="t"/>
          <a:lstStyle/>
          <a:p>
            <a:pPr indent="0" marL="0">
              <a:buNone/>
            </a:pPr>
            <a:r>
              <a:rPr lang="en-US" sz="1250" dirty="0">
                <a:solidFill>
                  <a:schemeClr val="tx1"/>
                </a:solidFill>
              </a:rPr>
              <a:t>classical AUPRC on the same 4 inputs: no quantum advantage</a:t>
            </a:r>
            <a:endParaRPr lang="en-US" sz="1250" dirty="0"/>
          </a:p>
        </p:txBody>
      </p:sp>
      <p:sp>
        <p:nvSpPr>
          <p:cNvPr id="11" name="takeaway-bg"/>
          <p:cNvSpPr/>
          <p:nvPr/>
        </p:nvSpPr>
        <p:spPr>
          <a:xfrm>
            <a:off x="548640" y="5559552"/>
            <a:ext cx="11094415" cy="512064"/>
          </a:xfrm>
          <a:prstGeom prst="roundRect">
            <a:avLst>
              <a:gd name="adj" fmla="val 12500"/>
            </a:avLst>
          </a:prstGeom>
          <a:solidFill>
            <a:srgbClr val="E3F2F1"/>
          </a:solidFill>
          <a:ln w="6350">
            <a:solidFill>
              <a:srgbClr val="E3F2F1"/>
            </a:solidFill>
            <a:prstDash val="solid"/>
          </a:ln>
        </p:spPr>
      </p:sp>
      <p:sp>
        <p:nvSpPr>
          <p:cNvPr id="12" name="takeaway-icon-circle"/>
          <p:cNvSpPr/>
          <p:nvPr/>
        </p:nvSpPr>
        <p:spPr>
          <a:xfrm>
            <a:off x="676656" y="5641848"/>
            <a:ext cx="347472" cy="347472"/>
          </a:xfrm>
          <a:prstGeom prst="ellipse">
            <a:avLst/>
          </a:prstGeom>
          <a:solidFill>
            <a:srgbClr val="0F8B8D"/>
          </a:solidFill>
          <a:ln w="12700">
            <a:solidFill>
              <a:srgbClr val="0F8B8D"/>
            </a:solidFill>
            <a:prstDash val="solid"/>
          </a:ln>
        </p:spPr>
      </p:sp>
      <p:pic>
        <p:nvPicPr>
          <p:cNvPr id="13" name="takeaway-icon" descr="preencoded.png">    </p:cNvPr>
          <p:cNvPicPr>
            <a:picLocks noChangeAspect="1"/>
          </p:cNvPicPr>
          <p:nvPr/>
        </p:nvPicPr>
        <p:blipFill>
          <a:blip r:embed="rId2"/>
          <a:stretch>
            <a:fillRect/>
          </a:stretch>
        </p:blipFill>
        <p:spPr>
          <a:xfrm>
            <a:off x="760049" y="5725241"/>
            <a:ext cx="180685" cy="180685"/>
          </a:xfrm>
          <a:prstGeom prst="rect">
            <a:avLst/>
          </a:prstGeom>
        </p:spPr>
      </p:pic>
      <p:sp>
        <p:nvSpPr>
          <p:cNvPr id="14" name="takeaway"/>
          <p:cNvSpPr txBox="1"/>
          <p:nvPr/>
        </p:nvSpPr>
        <p:spPr>
          <a:xfrm>
            <a:off x="1170432" y="5559552"/>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A pre-registered, training-data-only repair fixed saturation and aliasing; the model works, but classical models stay ahead.</a:t>
            </a:r>
            <a:endParaRPr lang="en-US" sz="1550" dirty="0"/>
          </a:p>
        </p:txBody>
      </p:sp>
      <p:sp>
        <p:nvSpPr>
          <p:cNvPr id="15"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p3ar_encoding_diagnostics.csv (encodings e0, e3), p3ar_validation_comparison.csv</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kicker"/>
          <p:cNvSpPr txBox="1"/>
          <p:nvPr/>
        </p:nvSpPr>
        <p:spPr>
          <a:xfrm>
            <a:off x="548640" y="182880"/>
            <a:ext cx="11094415" cy="274320"/>
          </a:xfrm>
          <a:prstGeom prst="rect">
            <a:avLst/>
          </a:prstGeom>
          <a:noFill/>
          <a:ln/>
        </p:spPr>
        <p:txBody>
          <a:bodyPr wrap="square" lIns="0" tIns="0" rIns="0" bIns="0" rtlCol="0" anchor="t"/>
          <a:lstStyle/>
          <a:p>
            <a:pPr indent="0" marL="0">
              <a:buNone/>
            </a:pPr>
            <a:r>
              <a:rPr lang="en-US" sz="1050" b="1" spc="150" kern="0" dirty="0">
                <a:solidFill>
                  <a:schemeClr val="accent1"/>
                </a:solidFill>
              </a:rPr>
              <a:t>PHASE 3B  ·  COMPLETED OCTOBER 7, 2026  ·  FULL STUDY COMPLETED OCTOBER 8, 2026</a:t>
            </a:r>
            <a:endParaRPr lang="en-US" sz="1050" dirty="0"/>
          </a:p>
        </p:txBody>
      </p:sp>
      <p:sp>
        <p:nvSpPr>
          <p:cNvPr id="3" name="Text 1"/>
          <p:cNvSpPr/>
          <p:nvPr>
            <p:ph idx="101" type="title" hasCustomPrompt="1"/>
          </p:nvPr>
        </p:nvSpPr>
        <p:spPr>
          <a:xfrm>
            <a:off x="548640" y="457200"/>
            <a:ext cx="11094415" cy="731520"/>
          </a:xfrm>
          <a:prstGeom prst="rect">
            <a:avLst/>
          </a:prstGeom>
          <a:noFill/>
          <a:ln/>
        </p:spPr>
        <p:txBody>
          <a:bodyPr wrap="square" lIns="0" tIns="0" rIns="0" bIns="0" rtlCol="0" anchor="ctr"/>
          <a:lstStyle/>
          <a:p>
            <a:pPr indent="0" marL="0">
              <a:buNone/>
            </a:pPr>
            <a:r>
              <a:rPr lang="en-US" sz="2800" b="1" dirty="0">
                <a:solidFill>
                  <a:schemeClr val="tx2"/>
                </a:solidFill>
                <a:latin typeface="Cambria" pitchFamily="34" charset="0"/>
                <a:ea typeface="Cambria" pitchFamily="34" charset="-122"/>
                <a:cs typeface="Cambria" pitchFamily="34" charset="-120"/>
              </a:rPr>
              <a:t>First noise result, and where the project stands</a:t>
            </a:r>
            <a:endParaRPr lang="en-US" sz="2800" dirty="0"/>
          </a:p>
        </p:txBody>
      </p:sp>
      <p:pic>
        <p:nvPicPr>
          <p:cNvPr id="4" name="fig3_noise_effects.png" descr="/Users/mayankpokhriyal/Workspaces/q-trace/deliverables/figures/fig3_noise_effects.png">    </p:cNvPr>
          <p:cNvPicPr>
            <a:picLocks noChangeAspect="1"/>
          </p:cNvPicPr>
          <p:nvPr/>
        </p:nvPicPr>
        <p:blipFill>
          <a:blip r:embed="rId1"/>
          <a:stretch>
            <a:fillRect/>
          </a:stretch>
        </p:blipFill>
        <p:spPr>
          <a:xfrm>
            <a:off x="457200" y="1540111"/>
            <a:ext cx="6400800" cy="2543337"/>
          </a:xfrm>
          <a:prstGeom prst="rect">
            <a:avLst/>
          </a:prstGeom>
        </p:spPr>
      </p:pic>
      <p:sp>
        <p:nvSpPr>
          <p:cNvPr id="5" name="stat-value"/>
          <p:cNvSpPr txBox="1"/>
          <p:nvPr/>
        </p:nvSpPr>
        <p:spPr>
          <a:xfrm>
            <a:off x="548640" y="4434840"/>
            <a:ext cx="1737360" cy="422031"/>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 0.003</a:t>
            </a:r>
            <a:endParaRPr lang="en-US" sz="2400" dirty="0"/>
          </a:p>
        </p:txBody>
      </p:sp>
      <p:sp>
        <p:nvSpPr>
          <p:cNvPr id="6" name="stat-label"/>
          <p:cNvSpPr txBox="1"/>
          <p:nvPr/>
        </p:nvSpPr>
        <p:spPr>
          <a:xfrm>
            <a:off x="548640" y="4893447"/>
            <a:ext cx="1737360" cy="457200"/>
          </a:xfrm>
          <a:prstGeom prst="rect">
            <a:avLst/>
          </a:prstGeom>
          <a:noFill/>
          <a:ln/>
        </p:spPr>
        <p:txBody>
          <a:bodyPr wrap="square" lIns="0" tIns="0" rIns="0" bIns="0" rtlCol="0" anchor="t"/>
          <a:lstStyle/>
          <a:p>
            <a:pPr indent="0" marL="0">
              <a:buNone/>
            </a:pPr>
            <a:r>
              <a:rPr lang="en-US" sz="1250" dirty="0">
                <a:solidFill>
                  <a:schemeClr val="tx1"/>
                </a:solidFill>
              </a:rPr>
              <a:t>change in AUPRC</a:t>
            </a:r>
            <a:endParaRPr lang="en-US" sz="1250" dirty="0"/>
          </a:p>
        </p:txBody>
      </p:sp>
      <p:sp>
        <p:nvSpPr>
          <p:cNvPr id="7" name="stat-value"/>
          <p:cNvSpPr txBox="1"/>
          <p:nvPr/>
        </p:nvSpPr>
        <p:spPr>
          <a:xfrm>
            <a:off x="2331720" y="4434840"/>
            <a:ext cx="2514600" cy="422031"/>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0.009 → 0.121</a:t>
            </a:r>
            <a:endParaRPr lang="en-US" sz="2400" dirty="0"/>
          </a:p>
        </p:txBody>
      </p:sp>
      <p:sp>
        <p:nvSpPr>
          <p:cNvPr id="8" name="stat-label"/>
          <p:cNvSpPr txBox="1"/>
          <p:nvPr/>
        </p:nvSpPr>
        <p:spPr>
          <a:xfrm>
            <a:off x="2331720" y="4893447"/>
            <a:ext cx="2514600" cy="457200"/>
          </a:xfrm>
          <a:prstGeom prst="rect">
            <a:avLst/>
          </a:prstGeom>
          <a:noFill/>
          <a:ln/>
        </p:spPr>
        <p:txBody>
          <a:bodyPr wrap="square" lIns="0" tIns="0" rIns="0" bIns="0" rtlCol="0" anchor="t"/>
          <a:lstStyle/>
          <a:p>
            <a:pPr indent="0" marL="0">
              <a:buNone/>
            </a:pPr>
            <a:r>
              <a:rPr lang="en-US" sz="1250" dirty="0">
                <a:solidFill>
                  <a:schemeClr val="tx1"/>
                </a:solidFill>
              </a:rPr>
              <a:t>Brier, combined-high noise</a:t>
            </a:r>
            <a:endParaRPr lang="en-US" sz="1250" dirty="0"/>
          </a:p>
        </p:txBody>
      </p:sp>
      <p:sp>
        <p:nvSpPr>
          <p:cNvPr id="9" name="stat-value"/>
          <p:cNvSpPr txBox="1"/>
          <p:nvPr/>
        </p:nvSpPr>
        <p:spPr>
          <a:xfrm>
            <a:off x="4937760" y="4434840"/>
            <a:ext cx="2103120" cy="422031"/>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0.53 → 0.03</a:t>
            </a:r>
            <a:endParaRPr lang="en-US" sz="2400" dirty="0"/>
          </a:p>
        </p:txBody>
      </p:sp>
      <p:sp>
        <p:nvSpPr>
          <p:cNvPr id="10" name="stat-label"/>
          <p:cNvSpPr txBox="1"/>
          <p:nvPr/>
        </p:nvSpPr>
        <p:spPr>
          <a:xfrm>
            <a:off x="4937760" y="4893447"/>
            <a:ext cx="2103120" cy="457200"/>
          </a:xfrm>
          <a:prstGeom prst="rect">
            <a:avLst/>
          </a:prstGeom>
          <a:noFill/>
          <a:ln/>
        </p:spPr>
        <p:txBody>
          <a:bodyPr wrap="square" lIns="0" tIns="0" rIns="0" bIns="0" rtlCol="0" anchor="t"/>
          <a:lstStyle/>
          <a:p>
            <a:pPr indent="0" marL="0">
              <a:buNone/>
            </a:pPr>
            <a:r>
              <a:rPr lang="en-US" sz="1250" dirty="0">
                <a:solidFill>
                  <a:schemeClr val="tx1"/>
                </a:solidFill>
              </a:rPr>
              <a:t>precision at the frozen threshold</a:t>
            </a:r>
            <a:endParaRPr lang="en-US" sz="1250" dirty="0"/>
          </a:p>
        </p:txBody>
      </p:sp>
      <p:sp>
        <p:nvSpPr>
          <p:cNvPr id="11" name="status-bg"/>
          <p:cNvSpPr/>
          <p:nvPr/>
        </p:nvSpPr>
        <p:spPr>
          <a:xfrm>
            <a:off x="7178040" y="1280160"/>
            <a:ext cx="4480560" cy="4160520"/>
          </a:xfrm>
          <a:prstGeom prst="roundRect">
            <a:avLst>
              <a:gd name="adj" fmla="val 1538"/>
            </a:avLst>
          </a:prstGeom>
          <a:solidFill>
            <a:srgbClr val="F4F6FA"/>
          </a:solidFill>
          <a:ln w="6350">
            <a:solidFill>
              <a:srgbClr val="F4F6FA"/>
            </a:solidFill>
            <a:prstDash val="solid"/>
          </a:ln>
        </p:spPr>
      </p:sp>
      <p:sp>
        <p:nvSpPr>
          <p:cNvPr id="12" name="Text 9"/>
          <p:cNvSpPr txBox="1"/>
          <p:nvPr/>
        </p:nvSpPr>
        <p:spPr>
          <a:xfrm>
            <a:off x="7406640" y="1389888"/>
            <a:ext cx="4023360" cy="365760"/>
          </a:xfrm>
          <a:prstGeom prst="rect">
            <a:avLst/>
          </a:prstGeom>
          <a:noFill/>
          <a:ln/>
        </p:spPr>
        <p:txBody>
          <a:bodyPr wrap="square" lIns="0" tIns="0" rIns="0" bIns="0" rtlCol="0" anchor="t"/>
          <a:lstStyle/>
          <a:p>
            <a:pPr indent="0" marL="0">
              <a:buNone/>
            </a:pPr>
            <a:r>
              <a:rPr lang="en-US" sz="1600" b="1" dirty="0">
                <a:solidFill>
                  <a:schemeClr val="tx2"/>
                </a:solidFill>
              </a:rPr>
              <a:t>Project status</a:t>
            </a:r>
            <a:endParaRPr lang="en-US" sz="1600" dirty="0"/>
          </a:p>
        </p:txBody>
      </p:sp>
      <p:sp>
        <p:nvSpPr>
          <p:cNvPr id="13" name="chip-bg"/>
          <p:cNvSpPr/>
          <p:nvPr/>
        </p:nvSpPr>
        <p:spPr>
          <a:xfrm>
            <a:off x="7406640" y="1865376"/>
            <a:ext cx="868680" cy="310896"/>
          </a:xfrm>
          <a:prstGeom prst="roundRect">
            <a:avLst>
              <a:gd name="adj" fmla="val 47059"/>
            </a:avLst>
          </a:prstGeom>
          <a:solidFill>
            <a:srgbClr val="0F8B8D"/>
          </a:solidFill>
          <a:ln w="12700">
            <a:solidFill>
              <a:srgbClr val="0F8B8D"/>
            </a:solidFill>
            <a:prstDash val="solid"/>
          </a:ln>
        </p:spPr>
      </p:sp>
      <p:sp>
        <p:nvSpPr>
          <p:cNvPr id="14" name="chip"/>
          <p:cNvSpPr txBox="1"/>
          <p:nvPr/>
        </p:nvSpPr>
        <p:spPr>
          <a:xfrm>
            <a:off x="7406640" y="1865376"/>
            <a:ext cx="868680" cy="310896"/>
          </a:xfrm>
          <a:prstGeom prst="rect">
            <a:avLst/>
          </a:prstGeom>
          <a:noFill/>
          <a:ln/>
        </p:spPr>
        <p:txBody>
          <a:bodyPr wrap="square" lIns="0" tIns="0" rIns="0" bIns="0" rtlCol="0" anchor="ctr"/>
          <a:lstStyle/>
          <a:p>
            <a:pPr algn="ctr" indent="0" marL="0">
              <a:buNone/>
            </a:pPr>
            <a:r>
              <a:rPr lang="en-US" sz="1050" b="1" dirty="0">
                <a:solidFill>
                  <a:srgbClr val="FFFFFF"/>
                </a:solidFill>
              </a:rPr>
              <a:t>Oct 6</a:t>
            </a:r>
            <a:endParaRPr lang="en-US" sz="1050" dirty="0"/>
          </a:p>
        </p:txBody>
      </p:sp>
      <p:sp>
        <p:nvSpPr>
          <p:cNvPr id="15" name="Text 12"/>
          <p:cNvSpPr txBox="1"/>
          <p:nvPr/>
        </p:nvSpPr>
        <p:spPr>
          <a:xfrm>
            <a:off x="8412480" y="1828800"/>
            <a:ext cx="3154680" cy="438912"/>
          </a:xfrm>
          <a:prstGeom prst="rect">
            <a:avLst/>
          </a:prstGeom>
          <a:noFill/>
          <a:ln/>
        </p:spPr>
        <p:txBody>
          <a:bodyPr wrap="square" lIns="0" tIns="0" rIns="0" bIns="0" rtlCol="0" anchor="ctr"/>
          <a:lstStyle/>
          <a:p>
            <a:pPr indent="0" marL="0">
              <a:buNone/>
            </a:pPr>
            <a:r>
              <a:rPr lang="en-US" sz="1250" dirty="0">
                <a:solidFill>
                  <a:schemeClr val="tx1"/>
                </a:solidFill>
              </a:rPr>
              <a:t>Data, baselines, frozen VQC, repair</a:t>
            </a:r>
            <a:endParaRPr lang="en-US" sz="1250" dirty="0"/>
          </a:p>
        </p:txBody>
      </p:sp>
      <p:sp>
        <p:nvSpPr>
          <p:cNvPr id="16" name="chip-bg"/>
          <p:cNvSpPr/>
          <p:nvPr/>
        </p:nvSpPr>
        <p:spPr>
          <a:xfrm>
            <a:off x="7406640" y="2359152"/>
            <a:ext cx="868680" cy="310896"/>
          </a:xfrm>
          <a:prstGeom prst="roundRect">
            <a:avLst>
              <a:gd name="adj" fmla="val 47059"/>
            </a:avLst>
          </a:prstGeom>
          <a:solidFill>
            <a:srgbClr val="0F8B8D"/>
          </a:solidFill>
          <a:ln w="12700">
            <a:solidFill>
              <a:srgbClr val="0F8B8D"/>
            </a:solidFill>
            <a:prstDash val="solid"/>
          </a:ln>
        </p:spPr>
      </p:sp>
      <p:sp>
        <p:nvSpPr>
          <p:cNvPr id="17" name="chip"/>
          <p:cNvSpPr txBox="1"/>
          <p:nvPr/>
        </p:nvSpPr>
        <p:spPr>
          <a:xfrm>
            <a:off x="7406640" y="2359152"/>
            <a:ext cx="868680" cy="310896"/>
          </a:xfrm>
          <a:prstGeom prst="rect">
            <a:avLst/>
          </a:prstGeom>
          <a:noFill/>
          <a:ln/>
        </p:spPr>
        <p:txBody>
          <a:bodyPr wrap="square" lIns="0" tIns="0" rIns="0" bIns="0" rtlCol="0" anchor="ctr"/>
          <a:lstStyle/>
          <a:p>
            <a:pPr algn="ctr" indent="0" marL="0">
              <a:buNone/>
            </a:pPr>
            <a:r>
              <a:rPr lang="en-US" sz="1050" b="1" dirty="0">
                <a:solidFill>
                  <a:srgbClr val="FFFFFF"/>
                </a:solidFill>
              </a:rPr>
              <a:t>Oct 7</a:t>
            </a:r>
            <a:endParaRPr lang="en-US" sz="1050" dirty="0"/>
          </a:p>
        </p:txBody>
      </p:sp>
      <p:sp>
        <p:nvSpPr>
          <p:cNvPr id="18" name="Text 15"/>
          <p:cNvSpPr txBox="1"/>
          <p:nvPr/>
        </p:nvSpPr>
        <p:spPr>
          <a:xfrm>
            <a:off x="8412480" y="2322576"/>
            <a:ext cx="3154680" cy="438912"/>
          </a:xfrm>
          <a:prstGeom prst="rect">
            <a:avLst/>
          </a:prstGeom>
          <a:noFill/>
          <a:ln/>
        </p:spPr>
        <p:txBody>
          <a:bodyPr wrap="square" lIns="0" tIns="0" rIns="0" bIns="0" rtlCol="0" anchor="ctr"/>
          <a:lstStyle/>
          <a:p>
            <a:pPr indent="0" marL="0">
              <a:buNone/>
            </a:pPr>
            <a:r>
              <a:rPr lang="en-US" sz="1250" dirty="0">
                <a:solidFill>
                  <a:schemeClr val="tx1"/>
                </a:solidFill>
              </a:rPr>
              <a:t>Noise · mitigation · 64-model pool · categorical study</a:t>
            </a:r>
            <a:endParaRPr lang="en-US" sz="1250" dirty="0"/>
          </a:p>
        </p:txBody>
      </p:sp>
      <p:sp>
        <p:nvSpPr>
          <p:cNvPr id="19" name="chip-bg"/>
          <p:cNvSpPr/>
          <p:nvPr/>
        </p:nvSpPr>
        <p:spPr>
          <a:xfrm>
            <a:off x="7406640" y="2852928"/>
            <a:ext cx="868680" cy="310896"/>
          </a:xfrm>
          <a:prstGeom prst="roundRect">
            <a:avLst>
              <a:gd name="adj" fmla="val 47059"/>
            </a:avLst>
          </a:prstGeom>
          <a:solidFill>
            <a:srgbClr val="0F8B8D"/>
          </a:solidFill>
          <a:ln w="12700">
            <a:solidFill>
              <a:srgbClr val="0F8B8D"/>
            </a:solidFill>
            <a:prstDash val="solid"/>
          </a:ln>
        </p:spPr>
      </p:sp>
      <p:sp>
        <p:nvSpPr>
          <p:cNvPr id="20" name="chip"/>
          <p:cNvSpPr txBox="1"/>
          <p:nvPr/>
        </p:nvSpPr>
        <p:spPr>
          <a:xfrm>
            <a:off x="7406640" y="2852928"/>
            <a:ext cx="868680" cy="310896"/>
          </a:xfrm>
          <a:prstGeom prst="rect">
            <a:avLst/>
          </a:prstGeom>
          <a:noFill/>
          <a:ln/>
        </p:spPr>
        <p:txBody>
          <a:bodyPr wrap="square" lIns="0" tIns="0" rIns="0" bIns="0" rtlCol="0" anchor="ctr"/>
          <a:lstStyle/>
          <a:p>
            <a:pPr algn="ctr" indent="0" marL="0">
              <a:buNone/>
            </a:pPr>
            <a:r>
              <a:rPr lang="en-US" sz="1050" b="1" dirty="0">
                <a:solidFill>
                  <a:srgbClr val="FFFFFF"/>
                </a:solidFill>
              </a:rPr>
              <a:t>Oct 8</a:t>
            </a:r>
            <a:endParaRPr lang="en-US" sz="1050" dirty="0"/>
          </a:p>
        </p:txBody>
      </p:sp>
      <p:sp>
        <p:nvSpPr>
          <p:cNvPr id="21" name="Text 18"/>
          <p:cNvSpPr txBox="1"/>
          <p:nvPr/>
        </p:nvSpPr>
        <p:spPr>
          <a:xfrm>
            <a:off x="8412480" y="2816352"/>
            <a:ext cx="3154680" cy="438912"/>
          </a:xfrm>
          <a:prstGeom prst="rect">
            <a:avLst/>
          </a:prstGeom>
          <a:noFill/>
          <a:ln/>
        </p:spPr>
        <p:txBody>
          <a:bodyPr wrap="square" lIns="0" tIns="0" rIns="0" bIns="0" rtlCol="0" anchor="ctr"/>
          <a:lstStyle/>
          <a:p>
            <a:pPr indent="0" marL="0">
              <a:buNone/>
            </a:pPr>
            <a:r>
              <a:rPr lang="en-US" sz="1250" dirty="0">
                <a:solidFill>
                  <a:schemeClr val="tx1"/>
                </a:solidFill>
              </a:rPr>
              <a:t>Continuous-noise study · one-time sealed test</a:t>
            </a:r>
            <a:endParaRPr lang="en-US" sz="1250" dirty="0"/>
          </a:p>
        </p:txBody>
      </p:sp>
      <p:sp>
        <p:nvSpPr>
          <p:cNvPr id="22" name="chip-bg"/>
          <p:cNvSpPr/>
          <p:nvPr/>
        </p:nvSpPr>
        <p:spPr>
          <a:xfrm>
            <a:off x="7406640" y="3346704"/>
            <a:ext cx="868680" cy="310896"/>
          </a:xfrm>
          <a:prstGeom prst="roundRect">
            <a:avLst>
              <a:gd name="adj" fmla="val 47059"/>
            </a:avLst>
          </a:prstGeom>
          <a:solidFill>
            <a:srgbClr val="E8A33D"/>
          </a:solidFill>
          <a:ln w="12700">
            <a:solidFill>
              <a:srgbClr val="E8A33D"/>
            </a:solidFill>
            <a:prstDash val="solid"/>
          </a:ln>
        </p:spPr>
      </p:sp>
      <p:sp>
        <p:nvSpPr>
          <p:cNvPr id="23" name="chip"/>
          <p:cNvSpPr txBox="1"/>
          <p:nvPr/>
        </p:nvSpPr>
        <p:spPr>
          <a:xfrm>
            <a:off x="7406640" y="3346704"/>
            <a:ext cx="868680" cy="310896"/>
          </a:xfrm>
          <a:prstGeom prst="rect">
            <a:avLst/>
          </a:prstGeom>
          <a:noFill/>
          <a:ln/>
        </p:spPr>
        <p:txBody>
          <a:bodyPr wrap="square" lIns="0" tIns="0" rIns="0" bIns="0" rtlCol="0" anchor="ctr"/>
          <a:lstStyle/>
          <a:p>
            <a:pPr algn="ctr" indent="0" marL="0">
              <a:buNone/>
            </a:pPr>
            <a:r>
              <a:rPr lang="en-US" sz="1050" b="1" dirty="0">
                <a:solidFill>
                  <a:srgbClr val="1A1F2B"/>
                </a:solidFill>
              </a:rPr>
              <a:t>Oct 27</a:t>
            </a:r>
            <a:endParaRPr lang="en-US" sz="1050" dirty="0"/>
          </a:p>
        </p:txBody>
      </p:sp>
      <p:sp>
        <p:nvSpPr>
          <p:cNvPr id="24" name="Text 21"/>
          <p:cNvSpPr txBox="1"/>
          <p:nvPr/>
        </p:nvSpPr>
        <p:spPr>
          <a:xfrm>
            <a:off x="8412480" y="3310128"/>
            <a:ext cx="3154680" cy="438912"/>
          </a:xfrm>
          <a:prstGeom prst="rect">
            <a:avLst/>
          </a:prstGeom>
          <a:noFill/>
          <a:ln/>
        </p:spPr>
        <p:txBody>
          <a:bodyPr wrap="square" lIns="0" tIns="0" rIns="0" bIns="0" rtlCol="0" anchor="ctr"/>
          <a:lstStyle/>
          <a:p>
            <a:pPr indent="0" marL="0">
              <a:buNone/>
            </a:pPr>
            <a:r>
              <a:rPr lang="en-US" sz="1250" dirty="0">
                <a:solidFill>
                  <a:schemeClr val="tx1"/>
                </a:solidFill>
              </a:rPr>
              <a:t>Meeting: noise and mitigation in depth</a:t>
            </a:r>
            <a:endParaRPr lang="en-US" sz="1250" dirty="0"/>
          </a:p>
        </p:txBody>
      </p:sp>
      <p:sp>
        <p:nvSpPr>
          <p:cNvPr id="25" name="chip-bg"/>
          <p:cNvSpPr/>
          <p:nvPr/>
        </p:nvSpPr>
        <p:spPr>
          <a:xfrm>
            <a:off x="7406640" y="3840480"/>
            <a:ext cx="868680" cy="310896"/>
          </a:xfrm>
          <a:prstGeom prst="roundRect">
            <a:avLst>
              <a:gd name="adj" fmla="val 47059"/>
            </a:avLst>
          </a:prstGeom>
          <a:solidFill>
            <a:srgbClr val="E8A33D"/>
          </a:solidFill>
          <a:ln w="12700">
            <a:solidFill>
              <a:srgbClr val="E8A33D"/>
            </a:solidFill>
            <a:prstDash val="solid"/>
          </a:ln>
        </p:spPr>
      </p:sp>
      <p:sp>
        <p:nvSpPr>
          <p:cNvPr id="26" name="chip"/>
          <p:cNvSpPr txBox="1"/>
          <p:nvPr/>
        </p:nvSpPr>
        <p:spPr>
          <a:xfrm>
            <a:off x="7406640" y="3840480"/>
            <a:ext cx="868680" cy="310896"/>
          </a:xfrm>
          <a:prstGeom prst="rect">
            <a:avLst/>
          </a:prstGeom>
          <a:noFill/>
          <a:ln/>
        </p:spPr>
        <p:txBody>
          <a:bodyPr wrap="square" lIns="0" tIns="0" rIns="0" bIns="0" rtlCol="0" anchor="ctr"/>
          <a:lstStyle/>
          <a:p>
            <a:pPr algn="ctr" indent="0" marL="0">
              <a:buNone/>
            </a:pPr>
            <a:r>
              <a:rPr lang="en-US" sz="1050" b="1" dirty="0">
                <a:solidFill>
                  <a:srgbClr val="1A1F2B"/>
                </a:solidFill>
              </a:rPr>
              <a:t>Nov 10</a:t>
            </a:r>
            <a:endParaRPr lang="en-US" sz="1050" dirty="0"/>
          </a:p>
        </p:txBody>
      </p:sp>
      <p:sp>
        <p:nvSpPr>
          <p:cNvPr id="27" name="Text 24"/>
          <p:cNvSpPr txBox="1"/>
          <p:nvPr/>
        </p:nvSpPr>
        <p:spPr>
          <a:xfrm>
            <a:off x="8412480" y="3803904"/>
            <a:ext cx="3154680" cy="438912"/>
          </a:xfrm>
          <a:prstGeom prst="rect">
            <a:avLst/>
          </a:prstGeom>
          <a:noFill/>
          <a:ln/>
        </p:spPr>
        <p:txBody>
          <a:bodyPr wrap="square" lIns="0" tIns="0" rIns="0" bIns="0" rtlCol="0" anchor="ctr"/>
          <a:lstStyle/>
          <a:p>
            <a:pPr indent="0" marL="0">
              <a:buNone/>
            </a:pPr>
            <a:r>
              <a:rPr lang="en-US" sz="1250" dirty="0">
                <a:solidFill>
                  <a:schemeClr val="tx1"/>
                </a:solidFill>
              </a:rPr>
              <a:t>Meeting: policy selection</a:t>
            </a:r>
            <a:endParaRPr lang="en-US" sz="1250" dirty="0"/>
          </a:p>
        </p:txBody>
      </p:sp>
      <p:sp>
        <p:nvSpPr>
          <p:cNvPr id="28" name="chip-bg"/>
          <p:cNvSpPr/>
          <p:nvPr/>
        </p:nvSpPr>
        <p:spPr>
          <a:xfrm>
            <a:off x="7406640" y="4334256"/>
            <a:ext cx="868680" cy="310896"/>
          </a:xfrm>
          <a:prstGeom prst="roundRect">
            <a:avLst>
              <a:gd name="adj" fmla="val 47059"/>
            </a:avLst>
          </a:prstGeom>
          <a:solidFill>
            <a:srgbClr val="E8A33D"/>
          </a:solidFill>
          <a:ln w="12700">
            <a:solidFill>
              <a:srgbClr val="E8A33D"/>
            </a:solidFill>
            <a:prstDash val="solid"/>
          </a:ln>
        </p:spPr>
      </p:sp>
      <p:sp>
        <p:nvSpPr>
          <p:cNvPr id="29" name="chip"/>
          <p:cNvSpPr txBox="1"/>
          <p:nvPr/>
        </p:nvSpPr>
        <p:spPr>
          <a:xfrm>
            <a:off x="7406640" y="4334256"/>
            <a:ext cx="868680" cy="310896"/>
          </a:xfrm>
          <a:prstGeom prst="rect">
            <a:avLst/>
          </a:prstGeom>
          <a:noFill/>
          <a:ln/>
        </p:spPr>
        <p:txBody>
          <a:bodyPr wrap="square" lIns="0" tIns="0" rIns="0" bIns="0" rtlCol="0" anchor="ctr"/>
          <a:lstStyle/>
          <a:p>
            <a:pPr algn="ctr" indent="0" marL="0">
              <a:buNone/>
            </a:pPr>
            <a:r>
              <a:rPr lang="en-US" sz="1050" b="1" dirty="0">
                <a:solidFill>
                  <a:srgbClr val="1A1F2B"/>
                </a:solidFill>
              </a:rPr>
              <a:t>Nov 24</a:t>
            </a:r>
            <a:endParaRPr lang="en-US" sz="1050" dirty="0"/>
          </a:p>
        </p:txBody>
      </p:sp>
      <p:sp>
        <p:nvSpPr>
          <p:cNvPr id="30" name="Text 27"/>
          <p:cNvSpPr txBox="1"/>
          <p:nvPr/>
        </p:nvSpPr>
        <p:spPr>
          <a:xfrm>
            <a:off x="8412480" y="4297680"/>
            <a:ext cx="3154680" cy="438912"/>
          </a:xfrm>
          <a:prstGeom prst="rect">
            <a:avLst/>
          </a:prstGeom>
          <a:noFill/>
          <a:ln/>
        </p:spPr>
        <p:txBody>
          <a:bodyPr wrap="square" lIns="0" tIns="0" rIns="0" bIns="0" rtlCol="0" anchor="ctr"/>
          <a:lstStyle/>
          <a:p>
            <a:pPr indent="0" marL="0">
              <a:buNone/>
            </a:pPr>
            <a:r>
              <a:rPr lang="en-US" sz="1250" dirty="0">
                <a:solidFill>
                  <a:schemeClr val="tx1"/>
                </a:solidFill>
              </a:rPr>
              <a:t>Meeting: final findings, manuscript</a:t>
            </a:r>
            <a:endParaRPr lang="en-US" sz="1250" dirty="0"/>
          </a:p>
        </p:txBody>
      </p:sp>
      <p:sp>
        <p:nvSpPr>
          <p:cNvPr id="31" name="chip-bg"/>
          <p:cNvSpPr/>
          <p:nvPr/>
        </p:nvSpPr>
        <p:spPr>
          <a:xfrm>
            <a:off x="7406640" y="4828032"/>
            <a:ext cx="868680" cy="310896"/>
          </a:xfrm>
          <a:prstGeom prst="roundRect">
            <a:avLst>
              <a:gd name="adj" fmla="val 47059"/>
            </a:avLst>
          </a:prstGeom>
          <a:solidFill>
            <a:srgbClr val="E8A33D"/>
          </a:solidFill>
          <a:ln w="12700">
            <a:solidFill>
              <a:srgbClr val="E8A33D"/>
            </a:solidFill>
            <a:prstDash val="solid"/>
          </a:ln>
        </p:spPr>
      </p:sp>
      <p:sp>
        <p:nvSpPr>
          <p:cNvPr id="32" name="chip"/>
          <p:cNvSpPr txBox="1"/>
          <p:nvPr/>
        </p:nvSpPr>
        <p:spPr>
          <a:xfrm>
            <a:off x="7406640" y="4828032"/>
            <a:ext cx="868680" cy="310896"/>
          </a:xfrm>
          <a:prstGeom prst="rect">
            <a:avLst/>
          </a:prstGeom>
          <a:noFill/>
          <a:ln/>
        </p:spPr>
        <p:txBody>
          <a:bodyPr wrap="square" lIns="0" tIns="0" rIns="0" bIns="0" rtlCol="0" anchor="ctr"/>
          <a:lstStyle/>
          <a:p>
            <a:pPr algn="ctr" indent="0" marL="0">
              <a:buNone/>
            </a:pPr>
            <a:r>
              <a:rPr lang="en-US" sz="1050" b="1" dirty="0">
                <a:solidFill>
                  <a:srgbClr val="1A1F2B"/>
                </a:solidFill>
              </a:rPr>
              <a:t>Dec 8</a:t>
            </a:r>
            <a:endParaRPr lang="en-US" sz="1050" dirty="0"/>
          </a:p>
        </p:txBody>
      </p:sp>
      <p:sp>
        <p:nvSpPr>
          <p:cNvPr id="33" name="Text 30"/>
          <p:cNvSpPr txBox="1"/>
          <p:nvPr/>
        </p:nvSpPr>
        <p:spPr>
          <a:xfrm>
            <a:off x="8412480" y="4791456"/>
            <a:ext cx="3154680" cy="438912"/>
          </a:xfrm>
          <a:prstGeom prst="rect">
            <a:avLst/>
          </a:prstGeom>
          <a:noFill/>
          <a:ln/>
        </p:spPr>
        <p:txBody>
          <a:bodyPr wrap="square" lIns="0" tIns="0" rIns="0" bIns="0" rtlCol="0" anchor="ctr"/>
          <a:lstStyle/>
          <a:p>
            <a:pPr indent="0" marL="0">
              <a:buNone/>
            </a:pPr>
            <a:r>
              <a:rPr lang="en-US" sz="1250" dirty="0">
                <a:solidFill>
                  <a:schemeClr val="tx1"/>
                </a:solidFill>
              </a:rPr>
              <a:t>Final capstone defense</a:t>
            </a:r>
            <a:endParaRPr lang="en-US" sz="1250" dirty="0"/>
          </a:p>
        </p:txBody>
      </p:sp>
      <p:sp>
        <p:nvSpPr>
          <p:cNvPr id="34" name="takeaway-bg"/>
          <p:cNvSpPr/>
          <p:nvPr/>
        </p:nvSpPr>
        <p:spPr>
          <a:xfrm>
            <a:off x="548640" y="5559552"/>
            <a:ext cx="11094415" cy="512064"/>
          </a:xfrm>
          <a:prstGeom prst="roundRect">
            <a:avLst>
              <a:gd name="adj" fmla="val 12500"/>
            </a:avLst>
          </a:prstGeom>
          <a:solidFill>
            <a:srgbClr val="E3F2F1"/>
          </a:solidFill>
          <a:ln w="6350">
            <a:solidFill>
              <a:srgbClr val="E3F2F1"/>
            </a:solidFill>
            <a:prstDash val="solid"/>
          </a:ln>
        </p:spPr>
      </p:sp>
      <p:sp>
        <p:nvSpPr>
          <p:cNvPr id="35" name="takeaway-icon-circle"/>
          <p:cNvSpPr/>
          <p:nvPr/>
        </p:nvSpPr>
        <p:spPr>
          <a:xfrm>
            <a:off x="676656" y="5641848"/>
            <a:ext cx="347472" cy="347472"/>
          </a:xfrm>
          <a:prstGeom prst="ellipse">
            <a:avLst/>
          </a:prstGeom>
          <a:solidFill>
            <a:srgbClr val="0F8B8D"/>
          </a:solidFill>
          <a:ln w="12700">
            <a:solidFill>
              <a:srgbClr val="0F8B8D"/>
            </a:solidFill>
            <a:prstDash val="solid"/>
          </a:ln>
        </p:spPr>
      </p:sp>
      <p:pic>
        <p:nvPicPr>
          <p:cNvPr id="36" name="takeaway-icon" descr="preencoded.png">    </p:cNvPr>
          <p:cNvPicPr>
            <a:picLocks noChangeAspect="1"/>
          </p:cNvPicPr>
          <p:nvPr/>
        </p:nvPicPr>
        <p:blipFill>
          <a:blip r:embed="rId2"/>
          <a:stretch>
            <a:fillRect/>
          </a:stretch>
        </p:blipFill>
        <p:spPr>
          <a:xfrm>
            <a:off x="760049" y="5725241"/>
            <a:ext cx="180685" cy="180685"/>
          </a:xfrm>
          <a:prstGeom prst="rect">
            <a:avLst/>
          </a:prstGeom>
        </p:spPr>
      </p:pic>
      <p:sp>
        <p:nvSpPr>
          <p:cNvPr id="37" name="takeaway"/>
          <p:cNvSpPr txBox="1"/>
          <p:nvPr/>
        </p:nvSpPr>
        <p:spPr>
          <a:xfrm>
            <a:off x="1170432" y="5559552"/>
            <a:ext cx="10308031" cy="512064"/>
          </a:xfrm>
          <a:prstGeom prst="rect">
            <a:avLst/>
          </a:prstGeom>
          <a:noFill/>
          <a:ln/>
        </p:spPr>
        <p:txBody>
          <a:bodyPr wrap="square" lIns="0" tIns="0" rIns="0" bIns="0" rtlCol="0" anchor="ctr"/>
          <a:lstStyle/>
          <a:p>
            <a:pPr indent="0" marL="0">
              <a:buNone/>
            </a:pPr>
            <a:r>
              <a:rPr lang="en-US" sz="1550" b="1" dirty="0">
                <a:solidFill>
                  <a:schemeClr val="tx2"/>
                </a:solidFill>
              </a:rPr>
              <a:t>Noise mainly damaged calibration, not discrimination. Every experiment was complete by Oct 8; nothing is still running.</a:t>
            </a:r>
            <a:endParaRPr lang="en-US" sz="1550" dirty="0"/>
          </a:p>
        </p:txBody>
      </p:sp>
      <p:sp>
        <p:nvSpPr>
          <p:cNvPr id="38" name="source"/>
          <p:cNvSpPr txBox="1"/>
          <p:nvPr/>
        </p:nvSpPr>
        <p:spPr>
          <a:xfrm>
            <a:off x="548640" y="6144768"/>
            <a:ext cx="11094415" cy="237744"/>
          </a:xfrm>
          <a:prstGeom prst="rect">
            <a:avLst/>
          </a:prstGeom>
          <a:noFill/>
          <a:ln/>
        </p:spPr>
        <p:txBody>
          <a:bodyPr wrap="square" lIns="0" tIns="0" rIns="0" bIns="0" rtlCol="0" anchor="t"/>
          <a:lstStyle/>
          <a:p>
            <a:pPr indent="0" marL="0">
              <a:buNone/>
            </a:pPr>
            <a:r>
              <a:rPr lang="en-US" sz="900" dirty="0">
                <a:solidFill>
                  <a:schemeClr val="accent5"/>
                </a:solidFill>
              </a:rPr>
              <a:t>Source: p3b_exact_metrics.csv, p4_exact_diagnostics.csv; completion dates from the repository history</a:t>
            </a:r>
            <a:endParaRPr lang="en-US" sz="900" dirty="0"/>
          </a:p>
        </p:txBody>
      </p:sp>
      <p:sp>
        <p:nvSpPr>
          <p:cNvPr id="25" name="Slide Number Placeholder 0"/>
          <p:cNvSpPr>
            <a:spLocks noGrp="1"/>
          </p:cNvSpPr>
          <p:nvPr>
            <p:ph type="sldNum" sz="quarter" idx="4294967295"/>
          </p:nvPr>
        </p:nvSpPr>
        <p:spPr>
          <a:xfrm>
            <a:off x="11109960" y="6419088"/>
            <a:ext cx="548640" cy="292608"/>
          </a:xfrm>
          <a:prstGeom prst="rect">
            <a:avLst/>
          </a:prstGeom>
          <a:extLst>
            <a:ext uri="{C572A759-6A51-4108-AA02-DFA0A04FC94B}">
              <ma14:wrappingTextBoxFlag xmlns:ma14="http://schemas.microsoft.com/office/mac/drawingml/2011/main" val="0"/>
            </a:ext>
          </a:extLst>
        </p:spPr>
        <p:txBody>
          <a:bodyPr/>
          <a:lstStyle>
            <a:lvl1pPr>
              <a:defRPr sz="900">
                <a:solidFill>
                  <a:schemeClr val="accent5"/>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Q-TRACE">
  <a:themeElements>
    <a:clrScheme name="Q-TRACE">
      <a:dk1>
        <a:srgbClr val="1A1F2B"/>
      </a:dk1>
      <a:lt1>
        <a:srgbClr val="FFFFFF"/>
      </a:lt1>
      <a:dk2>
        <a:srgbClr val="1B2A49"/>
      </a:dk2>
      <a:lt2>
        <a:srgbClr val="EEF2F7"/>
      </a:lt2>
      <a:accent1>
        <a:srgbClr val="0F8B8D"/>
      </a:accent1>
      <a:accent2>
        <a:srgbClr val="E8A33D"/>
      </a:accent2>
      <a:accent3>
        <a:srgbClr val="C0392B"/>
      </a:accent3>
      <a:accent4>
        <a:srgbClr val="56B4E9"/>
      </a:accent4>
      <a:accent5>
        <a:srgbClr val="6B7280"/>
      </a:accent5>
      <a:accent6>
        <a:srgbClr val="0072B2"/>
      </a:accent6>
      <a:hlink>
        <a:srgbClr val="0F8B8D"/>
      </a:hlink>
      <a:folHlink>
        <a:srgbClr val="1B2A49"/>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Katz School of Science and Health, Yeshiva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Q-TRACE — Implementation progress (October 13, 2026)</dc:title>
  <dc:subject>Implementation progress</dc:subject>
  <dc:creator>Mayank Kumar Pokhriyal; Tushar Poonia</dc:creator>
  <cp:lastModifiedBy>Mayank Kumar Pokhriyal; Tushar Poonia</cp:lastModifiedBy>
  <cp:revision>1</cp:revision>
  <dcterms:created xsi:type="dcterms:W3CDTF">2026-10-09T02:28:16Z</dcterms:created>
  <dcterms:modified xsi:type="dcterms:W3CDTF">2026-10-09T02:28:16Z</dcterms:modified>
</cp:coreProperties>
</file>