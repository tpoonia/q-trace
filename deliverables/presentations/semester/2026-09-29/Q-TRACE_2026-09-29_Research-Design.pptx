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ad069fe6-0722-fe63-7c28-c9003d4209ac}">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0:00–0:30]
Good afternoon. This is the research-design stage of Q-TRACE: how we intended to build the study before any experiment ran. As with our proposal deck, this version was reconstructed in October from the project record, so it contains no results.
We cover the scope as it was recorded at this stage, the general shape of a variational quantum classifier, how zero-noise extrapolation works, and how the decision would be evaluated.
Key points: design stage, no results; scope as recorded, VQC template, ZNE, evaluation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0:30–1:20]
At this stage, as the record shows, the design was generic. The models were quantum machine-learning models on standard benchmarks: Iris and the Wisconsin breast-cancer data for classification, and QM9 for molecular properties, simulated with Qiskit Aer. The decision was whether to mitigate, with zero-noise extrapolation or readout mitigation. Q-TRACE would make that decision by weighing expected benefit against cost, and be compared with never mitigating, always mitigating and a fixed rule.
We want to be transparent about one point. The application to credit-card fraud detection, and a design with several mitigation actions, were adopted later, on October 6. They are not part of this stage, and we do not present them as if they were.
Key points: benchmarks: Iris, WDBC, QM9; Qiskit Aer; mitigate or not (ZNE / readout); benefit-minus-cost rule; compared with Never / Always / Fixed; fraud application + multi-action design adopted Oct 6 (not this stage).
Sources: docs/DECISIONS.md Q1 (answered 2026-10-06); docs/PROJECT_SPEC.md §2; docs/research/deep-research-report.md (description of the pre-October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1:20–2:14]
The classification models in the design are variational quantum classifiers, a well-established template.
Input data are first encoded into qubit rotations by an encoding circuit, U of x. A trainable circuit, V of theta, follows, repeated in layers. Measuring the qubits gives an expectation value that becomes the class score. A classical optimizer then adjusts theta to reduce the training loss. Because the output is estimated from repeated measurements, called shots, it always carries sampling noise as well as hardware noise.
The specific circuit, with its encoding, depth and readout, was chosen later, on the fraud data. What matters for our question is that the output is a measured expectation value, exactly the quantity noise distorts and mitigation tries to repair. Mayank will explain the mitigation side.
Key points: encoding U(x) → trainable ansatz V(θ) → measurement → score; hybrid loop: classical optimizer updates θ; output is an expectation value, the quantity noise distorts.
Sources: Havlíček et al. (2019) Nature 567:209; Schuld et al. (2020) PRA 101:032308. Figure: generic template, no project-specific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2:14–3:15]
The mitigation in this design is zero-noise extrapolation.
It works in two steps. First, amplify the noise on purpose, for example by folding the circuit: running a gate, its inverse and the gate again leaves the ideal result unchanged but multiplies the noise. Second, measure at several noise levels and extrapolate the trend back to zero noise. Folding adds a gate and its inverse in pairs, so common choices use odd scale factors, such as one, three and five.
The cost is the reason for our project. Each extra noise level is another circuit to run, so ZNE multiplies shots and gate exposure. The record also lists readout mitigation, which corrects measurement errors with a few calibration circuits and costs far less. The decision the design asks for is therefore whether the expected improvement is worth those extra resources in a given setting.
Key points: fold gates (G G† G) to amplify noise without changing the ideal result; measure at several levels, extrapolate to zero; extra circuits = extra shots and gate exposure → the decision.
Sources: Temme et al. (2017) PRL 119:180509; Giurgica-Tiron et al. (2020) IEEE QCE 306–316. Figure: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3:15–4:10]
Finally, the evaluation design.
For each benchmark and noise setting, we would run the model with and without mitigation, and record both the change in task quality and the extra resources used. Q-TRACE's benefit-minus-cost decision would then be compared with three simple policies: never mitigate, always mitigate, and a fixed rule. It is only worth building if it beats all three.
One detail from the record is instructive. The deck at the time used "current accuracy" as an example input. That needs labels a deployed system would not have, and it was removed on October 6.
The specific metrics and noise models were not recorded at this stage. They were fixed when the study was narrowed on October 6, and the following meetings report that study. Thank you.
Key points: per setting: with vs without mitigation → quality change and extra cost; compare Q-TRACE with Never / Always / Fixed; example input then: current accuracy (needs labels; removed Oct 6); metrics fixed later (Oct 6 onward).
Sources: docs/DECISIONS.md Q1, A12; docs/research/deep-research-report.md (pre-October deck: Never/Always/Fixed/Q-TRACE, current accuracy input); wording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Research design  ·  September 29, 2026  ·  retrospective reconstruction, prepared Oct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Research design  ·  September 29, 2026  ·  retrospective reconstruction, prepared Oct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2 of 7  ·  September 29, 2026</a:t>
            </a:r>
            <a:endParaRPr lang="en-US" sz="1100" dirty="0"/>
          </a:p>
        </p:txBody>
      </p:sp>
      <p:sp>
        <p:nvSpPr>
          <p:cNvPr id="4" name="chip-bg"/>
          <p:cNvSpPr/>
          <p:nvPr/>
        </p:nvSpPr>
        <p:spPr>
          <a:xfrm>
            <a:off x="7436815" y="411480"/>
            <a:ext cx="4206240" cy="329184"/>
          </a:xfrm>
          <a:prstGeom prst="roundRect">
            <a:avLst>
              <a:gd name="adj" fmla="val 44444"/>
            </a:avLst>
          </a:prstGeom>
          <a:solidFill>
            <a:srgbClr val="E8A33D"/>
          </a:solidFill>
          <a:ln w="12700">
            <a:solidFill>
              <a:srgbClr val="E8A33D"/>
            </a:solidFill>
            <a:prstDash val="solid"/>
          </a:ln>
        </p:spPr>
      </p:sp>
      <p:sp>
        <p:nvSpPr>
          <p:cNvPr id="5" name="chip"/>
          <p:cNvSpPr txBox="1"/>
          <p:nvPr/>
        </p:nvSpPr>
        <p:spPr>
          <a:xfrm>
            <a:off x="7436815" y="411480"/>
            <a:ext cx="4206240" cy="329184"/>
          </a:xfrm>
          <a:prstGeom prst="rect">
            <a:avLst/>
          </a:prstGeom>
          <a:noFill/>
          <a:ln/>
        </p:spPr>
        <p:txBody>
          <a:bodyPr wrap="square" lIns="0" tIns="0" rIns="0" bIns="0" rtlCol="0" anchor="ctr"/>
          <a:lstStyle/>
          <a:p>
            <a:pPr algn="ctr" indent="0" marL="0">
              <a:buNone/>
            </a:pPr>
            <a:r>
              <a:rPr lang="en-US" sz="1100" b="1" dirty="0">
                <a:solidFill>
                  <a:srgbClr val="1A1F2B"/>
                </a:solidFill>
              </a:rPr>
              <a:t>Retrospective reconstruction  ·  prepared October 2026</a:t>
            </a:r>
            <a:endParaRPr lang="en-US" sz="1100" dirty="0"/>
          </a:p>
        </p:txBody>
      </p:sp>
      <p:sp>
        <p:nvSpPr>
          <p:cNvPr id="6"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RESEARCH DESIGN</a:t>
            </a:r>
            <a:endParaRPr lang="en-US" sz="1300" dirty="0"/>
          </a:p>
        </p:txBody>
      </p:sp>
      <p:sp>
        <p:nvSpPr>
          <p:cNvPr id="7"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Designing the study: model, mitigation and evaluation</a:t>
            </a:r>
            <a:endParaRPr lang="en-US" sz="3400" dirty="0"/>
          </a:p>
        </p:txBody>
      </p:sp>
      <p:sp>
        <p:nvSpPr>
          <p:cNvPr id="8"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Research design: scope, variational classifier template, zero-noise extrapolation, evaluation plan</a:t>
            </a:r>
            <a:endParaRPr lang="en-US" sz="1700" dirty="0"/>
          </a:p>
        </p:txBody>
      </p:sp>
      <p:sp>
        <p:nvSpPr>
          <p:cNvPr id="9"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10"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11"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2"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Reconstructed in Oct 2026 from the project record, which begins Oct 6. It preserves this stage as a generic QML design (Iris, QM9, WDBC) with a mitigate-or-not decision. The fraud application came on Oct 6.</a:t>
            </a:r>
            <a:endParaRPr lang="en-US" sz="1600" dirty="0"/>
          </a:p>
        </p:txBody>
      </p:sp>
      <p:sp>
        <p:nvSpPr>
          <p:cNvPr id="13"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Retrospective deck · proposed split: Tushar (slides 1–3) · Mayank (slides 4–5) · about 5 minutes</a:t>
            </a:r>
            <a:endParaRPr lang="en-US" sz="1300" dirty="0"/>
          </a:p>
        </p:txBody>
      </p:sp>
      <p:sp>
        <p:nvSpPr>
          <p:cNvPr id="14" name="tracker-line"/>
          <p:cNvSpPr/>
          <p:nvPr/>
        </p:nvSpPr>
        <p:spPr>
          <a:xfrm>
            <a:off x="548640" y="5888736"/>
            <a:ext cx="11094415" cy="0"/>
          </a:xfrm>
          <a:prstGeom prst="line">
            <a:avLst/>
          </a:prstGeom>
          <a:noFill/>
          <a:ln w="19050">
            <a:solidFill>
              <a:srgbClr val="5B6C8F"/>
            </a:solidFill>
            <a:prstDash val="solid"/>
          </a:ln>
        </p:spPr>
      </p:sp>
      <p:sp>
        <p:nvSpPr>
          <p:cNvPr id="15" name="tracker-node-0"/>
          <p:cNvSpPr/>
          <p:nvPr/>
        </p:nvSpPr>
        <p:spPr>
          <a:xfrm>
            <a:off x="448056" y="5788152"/>
            <a:ext cx="201168" cy="201168"/>
          </a:xfrm>
          <a:prstGeom prst="ellipse">
            <a:avLst/>
          </a:prstGeom>
          <a:solidFill>
            <a:srgbClr val="0F8B8D"/>
          </a:solidFill>
          <a:ln w="19050">
            <a:solidFill>
              <a:srgbClr val="0F8B8D"/>
            </a:solidFill>
            <a:prstDash val="solid"/>
          </a:ln>
        </p:spPr>
      </p:sp>
      <p:sp>
        <p:nvSpPr>
          <p:cNvPr id="16"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15</a:t>
            </a:r>
            <a:endParaRPr lang="en-US" sz="1400" dirty="0"/>
          </a:p>
          <a:p>
            <a:pPr algn="ctr" indent="0" marL="0">
              <a:buNone/>
            </a:pPr>
            <a:r>
              <a:rPr lang="en-US" sz="950" dirty="0">
                <a:solidFill>
                  <a:srgbClr val="AFC2DC"/>
                </a:solidFill>
              </a:rPr>
              <a:t>Proposal</a:t>
            </a:r>
            <a:endParaRPr lang="en-US" sz="1400" dirty="0"/>
          </a:p>
        </p:txBody>
      </p:sp>
      <p:sp>
        <p:nvSpPr>
          <p:cNvPr id="17" name="tracker-node-1"/>
          <p:cNvSpPr/>
          <p:nvPr/>
        </p:nvSpPr>
        <p:spPr>
          <a:xfrm>
            <a:off x="2260549" y="5751576"/>
            <a:ext cx="274320" cy="274320"/>
          </a:xfrm>
          <a:prstGeom prst="ellipse">
            <a:avLst/>
          </a:prstGeom>
          <a:solidFill>
            <a:srgbClr val="E8A33D"/>
          </a:solidFill>
          <a:ln w="19050">
            <a:solidFill>
              <a:srgbClr val="E8A33D"/>
            </a:solidFill>
            <a:prstDash val="solid"/>
          </a:ln>
        </p:spPr>
      </p:sp>
      <p:sp>
        <p:nvSpPr>
          <p:cNvPr id="18"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Sep 29</a:t>
            </a:r>
            <a:endParaRPr lang="en-US" sz="1400" dirty="0"/>
          </a:p>
          <a:p>
            <a:pPr algn="ctr" indent="0" marL="0">
              <a:buNone/>
            </a:pPr>
            <a:r>
              <a:rPr lang="en-US" sz="950" dirty="0">
                <a:solidFill>
                  <a:srgbClr val="FFFFFF"/>
                </a:solidFill>
              </a:rPr>
              <a:t>Design</a:t>
            </a:r>
            <a:endParaRPr lang="en-US" sz="1400" dirty="0"/>
          </a:p>
        </p:txBody>
      </p:sp>
      <p:sp>
        <p:nvSpPr>
          <p:cNvPr id="19" name="tracker-node-2"/>
          <p:cNvSpPr/>
          <p:nvPr/>
        </p:nvSpPr>
        <p:spPr>
          <a:xfrm>
            <a:off x="4146194" y="5788152"/>
            <a:ext cx="201168" cy="201168"/>
          </a:xfrm>
          <a:prstGeom prst="ellipse">
            <a:avLst/>
          </a:prstGeom>
          <a:solidFill>
            <a:srgbClr val="1B2A49"/>
          </a:solidFill>
          <a:ln w="19050">
            <a:solidFill>
              <a:srgbClr val="5B6C8F"/>
            </a:solidFill>
            <a:prstDash val="solid"/>
          </a:ln>
        </p:spPr>
      </p:sp>
      <p:sp>
        <p:nvSpPr>
          <p:cNvPr id="20"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13</a:t>
            </a:r>
            <a:endParaRPr lang="en-US" sz="1400" dirty="0"/>
          </a:p>
          <a:p>
            <a:pPr algn="ctr" indent="0" marL="0">
              <a:buNone/>
            </a:pPr>
            <a:r>
              <a:rPr lang="en-US" sz="950" dirty="0">
                <a:solidFill>
                  <a:srgbClr val="AFC2DC"/>
                </a:solidFill>
              </a:rPr>
              <a:t>Implementation</a:t>
            </a:r>
            <a:endParaRPr lang="en-US" sz="1400" dirty="0"/>
          </a:p>
        </p:txBody>
      </p:sp>
      <p:sp>
        <p:nvSpPr>
          <p:cNvPr id="21" name="tracker-node-3"/>
          <p:cNvSpPr/>
          <p:nvPr/>
        </p:nvSpPr>
        <p:spPr>
          <a:xfrm>
            <a:off x="5995264" y="5788152"/>
            <a:ext cx="201168" cy="201168"/>
          </a:xfrm>
          <a:prstGeom prst="ellipse">
            <a:avLst/>
          </a:prstGeom>
          <a:solidFill>
            <a:srgbClr val="1B2A49"/>
          </a:solidFill>
          <a:ln w="19050">
            <a:solidFill>
              <a:srgbClr val="5B6C8F"/>
            </a:solidFill>
            <a:prstDash val="solid"/>
          </a:ln>
        </p:spPr>
      </p:sp>
      <p:sp>
        <p:nvSpPr>
          <p:cNvPr id="22"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27</a:t>
            </a:r>
            <a:endParaRPr lang="en-US" sz="1400" dirty="0"/>
          </a:p>
          <a:p>
            <a:pPr algn="ctr" indent="0" marL="0">
              <a:buNone/>
            </a:pPr>
            <a:r>
              <a:rPr lang="en-US" sz="950" dirty="0">
                <a:solidFill>
                  <a:srgbClr val="AFC2DC"/>
                </a:solidFill>
              </a:rPr>
              <a:t>Noise &amp; mitigation</a:t>
            </a:r>
            <a:endParaRPr lang="en-US" sz="1400" dirty="0"/>
          </a:p>
        </p:txBody>
      </p:sp>
      <p:sp>
        <p:nvSpPr>
          <p:cNvPr id="23" name="tracker-node-4"/>
          <p:cNvSpPr/>
          <p:nvPr/>
        </p:nvSpPr>
        <p:spPr>
          <a:xfrm>
            <a:off x="7844333" y="5788152"/>
            <a:ext cx="201168" cy="201168"/>
          </a:xfrm>
          <a:prstGeom prst="ellipse">
            <a:avLst/>
          </a:prstGeom>
          <a:solidFill>
            <a:srgbClr val="1B2A49"/>
          </a:solidFill>
          <a:ln w="19050">
            <a:solidFill>
              <a:srgbClr val="5B6C8F"/>
            </a:solidFill>
            <a:prstDash val="solid"/>
          </a:ln>
        </p:spPr>
      </p:sp>
      <p:sp>
        <p:nvSpPr>
          <p:cNvPr id="24"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10</a:t>
            </a:r>
            <a:endParaRPr lang="en-US" sz="1400" dirty="0"/>
          </a:p>
          <a:p>
            <a:pPr algn="ctr" indent="0" marL="0">
              <a:buNone/>
            </a:pPr>
            <a:r>
              <a:rPr lang="en-US" sz="950" dirty="0">
                <a:solidFill>
                  <a:srgbClr val="AFC2DC"/>
                </a:solidFill>
              </a:rPr>
              <a:t>Policy selection</a:t>
            </a:r>
            <a:endParaRPr lang="en-US" sz="1400" dirty="0"/>
          </a:p>
        </p:txBody>
      </p:sp>
      <p:sp>
        <p:nvSpPr>
          <p:cNvPr id="25" name="tracker-node-5"/>
          <p:cNvSpPr/>
          <p:nvPr/>
        </p:nvSpPr>
        <p:spPr>
          <a:xfrm>
            <a:off x="9693402" y="5788152"/>
            <a:ext cx="201168" cy="201168"/>
          </a:xfrm>
          <a:prstGeom prst="ellipse">
            <a:avLst/>
          </a:prstGeom>
          <a:solidFill>
            <a:srgbClr val="1B2A49"/>
          </a:solidFill>
          <a:ln w="19050">
            <a:solidFill>
              <a:srgbClr val="5B6C8F"/>
            </a:solidFill>
            <a:prstDash val="solid"/>
          </a:ln>
        </p:spPr>
      </p:sp>
      <p:sp>
        <p:nvSpPr>
          <p:cNvPr id="26"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24</a:t>
            </a:r>
            <a:endParaRPr lang="en-US" sz="1400" dirty="0"/>
          </a:p>
          <a:p>
            <a:pPr algn="ctr" indent="0" marL="0">
              <a:buNone/>
            </a:pPr>
            <a:r>
              <a:rPr lang="en-US" sz="950" dirty="0">
                <a:solidFill>
                  <a:srgbClr val="AFC2DC"/>
                </a:solidFill>
              </a:rPr>
              <a:t>Final findings</a:t>
            </a:r>
            <a:endParaRPr lang="en-US" sz="1400" dirty="0"/>
          </a:p>
        </p:txBody>
      </p:sp>
      <p:sp>
        <p:nvSpPr>
          <p:cNvPr id="27" name="tracker-node-6"/>
          <p:cNvSpPr/>
          <p:nvPr/>
        </p:nvSpPr>
        <p:spPr>
          <a:xfrm>
            <a:off x="11542471" y="5788152"/>
            <a:ext cx="201168" cy="201168"/>
          </a:xfrm>
          <a:prstGeom prst="ellipse">
            <a:avLst/>
          </a:prstGeom>
          <a:solidFill>
            <a:srgbClr val="1B2A49"/>
          </a:solidFill>
          <a:ln w="19050">
            <a:solidFill>
              <a:srgbClr val="5B6C8F"/>
            </a:solidFill>
            <a:prstDash val="solid"/>
          </a:ln>
        </p:spPr>
      </p:sp>
      <p:sp>
        <p:nvSpPr>
          <p:cNvPr id="28"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Dec 8</a:t>
            </a:r>
            <a:endParaRPr lang="en-US" sz="1400" dirty="0"/>
          </a:p>
          <a:p>
            <a:pPr algn="ctr" indent="0" marL="0">
              <a:buNone/>
            </a:pPr>
            <a:r>
              <a:rPr lang="en-US" sz="950" dirty="0">
                <a:solidFill>
                  <a:srgbClr val="AFC2DC"/>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DESIGN STAGE  ·  WHAT THE RECORD SHOWS, AND WHAT CAME LATER</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Scope as recorded before October 6</a:t>
            </a:r>
            <a:endParaRPr lang="en-US" sz="2800" dirty="0"/>
          </a:p>
        </p:txBody>
      </p:sp>
      <p:sp>
        <p:nvSpPr>
          <p:cNvPr id="4" name="Text 2"/>
          <p:cNvSpPr txBox="1"/>
          <p:nvPr/>
        </p:nvSpPr>
        <p:spPr>
          <a:xfrm>
            <a:off x="548640" y="1325880"/>
            <a:ext cx="6400800" cy="365760"/>
          </a:xfrm>
          <a:prstGeom prst="rect">
            <a:avLst/>
          </a:prstGeom>
          <a:noFill/>
          <a:ln/>
        </p:spPr>
        <p:txBody>
          <a:bodyPr wrap="square" lIns="0" tIns="0" rIns="0" bIns="0" rtlCol="0" anchor="t"/>
          <a:lstStyle/>
          <a:p>
            <a:pPr indent="0" marL="0">
              <a:buNone/>
            </a:pPr>
            <a:r>
              <a:rPr lang="en-US" sz="1550" b="1" dirty="0">
                <a:solidFill>
                  <a:schemeClr val="tx2"/>
                </a:solidFill>
              </a:rPr>
              <a:t>Recorded for this stage</a:t>
            </a:r>
            <a:endParaRPr lang="en-US" sz="1550" dirty="0"/>
          </a:p>
        </p:txBody>
      </p:sp>
      <p:sp>
        <p:nvSpPr>
          <p:cNvPr id="5" name="rec-0"/>
          <p:cNvSpPr/>
          <p:nvPr/>
        </p:nvSpPr>
        <p:spPr>
          <a:xfrm>
            <a:off x="548640" y="1783080"/>
            <a:ext cx="6583680" cy="896112"/>
          </a:xfrm>
          <a:prstGeom prst="roundRect">
            <a:avLst>
              <a:gd name="adj" fmla="val 7143"/>
            </a:avLst>
          </a:prstGeom>
          <a:solidFill>
            <a:srgbClr val="EEF2F7"/>
          </a:solidFill>
          <a:ln w="6350">
            <a:solidFill>
              <a:srgbClr val="EEF2F7"/>
            </a:solidFill>
            <a:prstDash val="solid"/>
          </a:ln>
        </p:spPr>
      </p:sp>
      <p:sp>
        <p:nvSpPr>
          <p:cNvPr id="6" name="rec-icon-0-circle"/>
          <p:cNvSpPr/>
          <p:nvPr/>
        </p:nvSpPr>
        <p:spPr>
          <a:xfrm>
            <a:off x="731520" y="1938528"/>
            <a:ext cx="585216" cy="585216"/>
          </a:xfrm>
          <a:prstGeom prst="ellipse">
            <a:avLst/>
          </a:prstGeom>
          <a:solidFill>
            <a:srgbClr val="1B2A49"/>
          </a:solidFill>
          <a:ln w="12700">
            <a:solidFill>
              <a:srgbClr val="1B2A49"/>
            </a:solidFill>
            <a:prstDash val="solid"/>
          </a:ln>
        </p:spPr>
      </p:sp>
      <p:pic>
        <p:nvPicPr>
          <p:cNvPr id="7" name="rec-icon-0" descr="preencoded.png">    </p:cNvPr>
          <p:cNvPicPr>
            <a:picLocks noChangeAspect="1"/>
          </p:cNvPicPr>
          <p:nvPr/>
        </p:nvPicPr>
        <p:blipFill>
          <a:blip r:embed="rId1"/>
          <a:stretch>
            <a:fillRect/>
          </a:stretch>
        </p:blipFill>
        <p:spPr>
          <a:xfrm>
            <a:off x="871972" y="2078980"/>
            <a:ext cx="304312" cy="304312"/>
          </a:xfrm>
          <a:prstGeom prst="rect">
            <a:avLst/>
          </a:prstGeom>
        </p:spPr>
      </p:pic>
      <p:sp>
        <p:nvSpPr>
          <p:cNvPr id="8" name="Text 5"/>
          <p:cNvSpPr txBox="1"/>
          <p:nvPr/>
        </p:nvSpPr>
        <p:spPr>
          <a:xfrm>
            <a:off x="1508760" y="1783080"/>
            <a:ext cx="5486400" cy="896112"/>
          </a:xfrm>
          <a:prstGeom prst="rect">
            <a:avLst/>
          </a:prstGeom>
          <a:noFill/>
          <a:ln/>
        </p:spPr>
        <p:txBody>
          <a:bodyPr wrap="square" lIns="0" tIns="0" rIns="0" bIns="0" rtlCol="0" anchor="ctr"/>
          <a:lstStyle/>
          <a:p>
            <a:pPr indent="0" marL="0">
              <a:buNone/>
            </a:pPr>
            <a:r>
              <a:rPr lang="en-US" sz="1500" b="1" dirty="0">
                <a:solidFill>
                  <a:schemeClr val="tx2"/>
                </a:solidFill>
              </a:rPr>
              <a:t>Benchmarks</a:t>
            </a:r>
            <a:endParaRPr lang="en-US" sz="1400" dirty="0"/>
          </a:p>
          <a:p>
            <a:pPr indent="0" marL="0">
              <a:buNone/>
            </a:pPr>
            <a:r>
              <a:rPr lang="en-US" sz="1350" dirty="0">
                <a:solidFill>
                  <a:schemeClr val="tx1"/>
                </a:solidFill>
              </a:rPr>
              <a:t>Iris and WDBC (classification), QM9 (molecular properties); Qiskit Aer</a:t>
            </a:r>
            <a:endParaRPr lang="en-US" sz="1400" dirty="0"/>
          </a:p>
        </p:txBody>
      </p:sp>
      <p:sp>
        <p:nvSpPr>
          <p:cNvPr id="9" name="rec-1"/>
          <p:cNvSpPr/>
          <p:nvPr/>
        </p:nvSpPr>
        <p:spPr>
          <a:xfrm>
            <a:off x="548640" y="2807208"/>
            <a:ext cx="6583680" cy="896112"/>
          </a:xfrm>
          <a:prstGeom prst="roundRect">
            <a:avLst>
              <a:gd name="adj" fmla="val 7143"/>
            </a:avLst>
          </a:prstGeom>
          <a:solidFill>
            <a:srgbClr val="EEF2F7"/>
          </a:solidFill>
          <a:ln w="6350">
            <a:solidFill>
              <a:srgbClr val="EEF2F7"/>
            </a:solidFill>
            <a:prstDash val="solid"/>
          </a:ln>
        </p:spPr>
      </p:sp>
      <p:sp>
        <p:nvSpPr>
          <p:cNvPr id="10" name="rec-icon-1-circle"/>
          <p:cNvSpPr/>
          <p:nvPr/>
        </p:nvSpPr>
        <p:spPr>
          <a:xfrm>
            <a:off x="731520" y="2962656"/>
            <a:ext cx="585216" cy="585216"/>
          </a:xfrm>
          <a:prstGeom prst="ellipse">
            <a:avLst/>
          </a:prstGeom>
          <a:solidFill>
            <a:srgbClr val="1B2A49"/>
          </a:solidFill>
          <a:ln w="12700">
            <a:solidFill>
              <a:srgbClr val="1B2A49"/>
            </a:solidFill>
            <a:prstDash val="solid"/>
          </a:ln>
        </p:spPr>
      </p:sp>
      <p:pic>
        <p:nvPicPr>
          <p:cNvPr id="11" name="rec-icon-1" descr="preencoded.png">    </p:cNvPr>
          <p:cNvPicPr>
            <a:picLocks noChangeAspect="1"/>
          </p:cNvPicPr>
          <p:nvPr/>
        </p:nvPicPr>
        <p:blipFill>
          <a:blip r:embed="rId2"/>
          <a:stretch>
            <a:fillRect/>
          </a:stretch>
        </p:blipFill>
        <p:spPr>
          <a:xfrm>
            <a:off x="871972" y="3103108"/>
            <a:ext cx="304312" cy="304312"/>
          </a:xfrm>
          <a:prstGeom prst="rect">
            <a:avLst/>
          </a:prstGeom>
        </p:spPr>
      </p:pic>
      <p:sp>
        <p:nvSpPr>
          <p:cNvPr id="12" name="Text 8"/>
          <p:cNvSpPr txBox="1"/>
          <p:nvPr/>
        </p:nvSpPr>
        <p:spPr>
          <a:xfrm>
            <a:off x="1508760" y="2807208"/>
            <a:ext cx="5486400" cy="896112"/>
          </a:xfrm>
          <a:prstGeom prst="rect">
            <a:avLst/>
          </a:prstGeom>
          <a:noFill/>
          <a:ln/>
        </p:spPr>
        <p:txBody>
          <a:bodyPr wrap="square" lIns="0" tIns="0" rIns="0" bIns="0" rtlCol="0" anchor="ctr"/>
          <a:lstStyle/>
          <a:p>
            <a:pPr indent="0" marL="0">
              <a:buNone/>
            </a:pPr>
            <a:r>
              <a:rPr lang="en-US" sz="1500" b="1" dirty="0">
                <a:solidFill>
                  <a:schemeClr val="tx2"/>
                </a:solidFill>
              </a:rPr>
              <a:t>Decision</a:t>
            </a:r>
            <a:endParaRPr lang="en-US" sz="1400" dirty="0"/>
          </a:p>
          <a:p>
            <a:pPr indent="0" marL="0">
              <a:buNone/>
            </a:pPr>
            <a:r>
              <a:rPr lang="en-US" sz="1350" dirty="0">
                <a:solidFill>
                  <a:schemeClr val="tx1"/>
                </a:solidFill>
              </a:rPr>
              <a:t>mitigate or not (ZNE / readout mitigation)</a:t>
            </a:r>
            <a:endParaRPr lang="en-US" sz="1400" dirty="0"/>
          </a:p>
        </p:txBody>
      </p:sp>
      <p:sp>
        <p:nvSpPr>
          <p:cNvPr id="13" name="rec-2"/>
          <p:cNvSpPr/>
          <p:nvPr/>
        </p:nvSpPr>
        <p:spPr>
          <a:xfrm>
            <a:off x="548640" y="3831336"/>
            <a:ext cx="6583680" cy="896112"/>
          </a:xfrm>
          <a:prstGeom prst="roundRect">
            <a:avLst>
              <a:gd name="adj" fmla="val 7143"/>
            </a:avLst>
          </a:prstGeom>
          <a:solidFill>
            <a:srgbClr val="EEF2F7"/>
          </a:solidFill>
          <a:ln w="6350">
            <a:solidFill>
              <a:srgbClr val="EEF2F7"/>
            </a:solidFill>
            <a:prstDash val="solid"/>
          </a:ln>
        </p:spPr>
      </p:sp>
      <p:sp>
        <p:nvSpPr>
          <p:cNvPr id="14" name="rec-icon-2-circle"/>
          <p:cNvSpPr/>
          <p:nvPr/>
        </p:nvSpPr>
        <p:spPr>
          <a:xfrm>
            <a:off x="731520" y="3986784"/>
            <a:ext cx="585216" cy="585216"/>
          </a:xfrm>
          <a:prstGeom prst="ellipse">
            <a:avLst/>
          </a:prstGeom>
          <a:solidFill>
            <a:srgbClr val="1B2A49"/>
          </a:solidFill>
          <a:ln w="12700">
            <a:solidFill>
              <a:srgbClr val="1B2A49"/>
            </a:solidFill>
            <a:prstDash val="solid"/>
          </a:ln>
        </p:spPr>
      </p:sp>
      <p:pic>
        <p:nvPicPr>
          <p:cNvPr id="15" name="rec-icon-2" descr="preencoded.png">    </p:cNvPr>
          <p:cNvPicPr>
            <a:picLocks noChangeAspect="1"/>
          </p:cNvPicPr>
          <p:nvPr/>
        </p:nvPicPr>
        <p:blipFill>
          <a:blip r:embed="rId3"/>
          <a:stretch>
            <a:fillRect/>
          </a:stretch>
        </p:blipFill>
        <p:spPr>
          <a:xfrm>
            <a:off x="871972" y="4127236"/>
            <a:ext cx="304312" cy="304312"/>
          </a:xfrm>
          <a:prstGeom prst="rect">
            <a:avLst/>
          </a:prstGeom>
        </p:spPr>
      </p:pic>
      <p:sp>
        <p:nvSpPr>
          <p:cNvPr id="16" name="Text 11"/>
          <p:cNvSpPr txBox="1"/>
          <p:nvPr/>
        </p:nvSpPr>
        <p:spPr>
          <a:xfrm>
            <a:off x="1508760" y="3831336"/>
            <a:ext cx="5486400" cy="896112"/>
          </a:xfrm>
          <a:prstGeom prst="rect">
            <a:avLst/>
          </a:prstGeom>
          <a:noFill/>
          <a:ln/>
        </p:spPr>
        <p:txBody>
          <a:bodyPr wrap="square" lIns="0" tIns="0" rIns="0" bIns="0" rtlCol="0" anchor="ctr"/>
          <a:lstStyle/>
          <a:p>
            <a:pPr indent="0" marL="0">
              <a:buNone/>
            </a:pPr>
            <a:r>
              <a:rPr lang="en-US" sz="1500" b="1" dirty="0">
                <a:solidFill>
                  <a:schemeClr val="tx2"/>
                </a:solidFill>
              </a:rPr>
              <a:t>Approach</a:t>
            </a:r>
            <a:endParaRPr lang="en-US" sz="1400" dirty="0"/>
          </a:p>
          <a:p>
            <a:pPr indent="0" marL="0">
              <a:buNone/>
            </a:pPr>
            <a:r>
              <a:rPr lang="en-US" sz="1350" dirty="0">
                <a:solidFill>
                  <a:schemeClr val="tx1"/>
                </a:solidFill>
              </a:rPr>
              <a:t>Q-TRACE: benefit-minus-cost rule vs Never / Always / Fixed</a:t>
            </a:r>
            <a:endParaRPr lang="en-US" sz="1400" dirty="0"/>
          </a:p>
        </p:txBody>
      </p:sp>
      <p:sp>
        <p:nvSpPr>
          <p:cNvPr id="17" name="card-bg"/>
          <p:cNvSpPr/>
          <p:nvPr/>
        </p:nvSpPr>
        <p:spPr>
          <a:xfrm>
            <a:off x="7452360" y="1325880"/>
            <a:ext cx="4206240" cy="3520440"/>
          </a:xfrm>
          <a:prstGeom prst="roundRect">
            <a:avLst>
              <a:gd name="adj" fmla="val 1818"/>
            </a:avLst>
          </a:prstGeom>
          <a:solidFill>
            <a:srgbClr val="FBEFD9"/>
          </a:solidFill>
          <a:ln w="6350">
            <a:solidFill>
              <a:srgbClr val="FBEFD9"/>
            </a:solidFill>
            <a:prstDash val="solid"/>
          </a:ln>
        </p:spPr>
      </p:sp>
      <p:sp>
        <p:nvSpPr>
          <p:cNvPr id="18" name="card-text"/>
          <p:cNvSpPr txBox="1"/>
          <p:nvPr/>
        </p:nvSpPr>
        <p:spPr>
          <a:xfrm>
            <a:off x="7635240" y="1453896"/>
            <a:ext cx="3840480" cy="3300984"/>
          </a:xfrm>
          <a:prstGeom prst="rect">
            <a:avLst/>
          </a:prstGeom>
          <a:noFill/>
          <a:ln/>
        </p:spPr>
        <p:txBody>
          <a:bodyPr wrap="square" lIns="0" tIns="0" rIns="0" bIns="0" rtlCol="0" anchor="t"/>
          <a:lstStyle/>
          <a:p>
            <a:pPr indent="0" marL="0">
              <a:spcAft>
                <a:spcPts val="400"/>
              </a:spcAft>
              <a:buNone/>
            </a:pPr>
            <a:r>
              <a:rPr lang="en-US" sz="1550" b="1" dirty="0">
                <a:solidFill>
                  <a:srgbClr val="8A5A00"/>
                </a:solidFill>
              </a:rPr>
              <a:t>Adopted later, on Oct 6, 2026</a:t>
            </a:r>
            <a:endParaRPr lang="en-US" sz="1550" dirty="0"/>
          </a:p>
          <a:p>
            <a:pPr marL="177800" indent="-177800">
              <a:spcAft>
                <a:spcPts val="400"/>
              </a:spcAft>
              <a:buSzPct val="100000"/>
              <a:buChar char="•"/>
            </a:pPr>
            <a:r>
              <a:rPr lang="en-US" sz="1350" dirty="0">
                <a:solidFill>
                  <a:schemeClr val="tx1"/>
                </a:solidFill>
              </a:rPr>
              <a:t>Application: credit-card fraud detection</a:t>
            </a:r>
            <a:endParaRPr lang="en-US" sz="1550" dirty="0"/>
          </a:p>
          <a:p>
            <a:pPr marL="177800" indent="-177800">
              <a:spcAft>
                <a:spcPts val="400"/>
              </a:spcAft>
              <a:buSzPct val="100000"/>
              <a:buChar char="•"/>
            </a:pPr>
            <a:r>
              <a:rPr lang="en-US" sz="1350" dirty="0">
                <a:solidFill>
                  <a:schemeClr val="tx1"/>
                </a:solidFill>
              </a:rPr>
              <a:t>Several mitigation actions instead of a binary choice</a:t>
            </a:r>
            <a:endParaRPr lang="en-US" sz="1550" dirty="0"/>
          </a:p>
          <a:p>
            <a:pPr marL="177800" indent="-177800">
              <a:spcAft>
                <a:spcPts val="400"/>
              </a:spcAft>
              <a:buSzPct val="100000"/>
              <a:buChar char="•"/>
            </a:pPr>
            <a:r>
              <a:rPr lang="en-US" sz="1350" dirty="0">
                <a:solidFill>
                  <a:schemeClr val="tx1"/>
                </a:solidFill>
              </a:rPr>
              <a:t>Label-free decision inputs only (A01, A12)</a:t>
            </a:r>
            <a:endParaRPr lang="en-US" sz="1550" dirty="0"/>
          </a:p>
          <a:p>
            <a:pPr marL="177800" indent="-177800">
              <a:spcAft>
                <a:spcPts val="400"/>
              </a:spcAft>
              <a:buSzPct val="100000"/>
              <a:buChar char="•"/>
            </a:pPr>
            <a:r>
              <a:rPr lang="en-US" sz="1350" dirty="0">
                <a:solidFill>
                  <a:schemeClr val="tx1"/>
                </a:solidFill>
              </a:rPr>
              <a:t>Pre-registered, gated phases</a:t>
            </a:r>
            <a:endParaRPr lang="en-US" sz="1550" dirty="0"/>
          </a:p>
          <a:p>
            <a:pPr indent="0" marL="0">
              <a:spcAft>
                <a:spcPts val="400"/>
              </a:spcAft>
              <a:buNone/>
            </a:pPr>
            <a:r>
              <a:rPr lang="en-US" sz="1150" dirty="0">
                <a:solidFill>
                  <a:schemeClr val="accent5"/>
                </a:solidFill>
              </a:rPr>
              <a:t>Source: docs/DECISIONS.md (Q1, A01, A12), docs/PROJECT_SPEC.md</a:t>
            </a:r>
            <a:endParaRPr lang="en-US" sz="1550" dirty="0"/>
          </a:p>
        </p:txBody>
      </p:sp>
      <p:sp>
        <p:nvSpPr>
          <p:cNvPr id="19" name="takeaway-bg"/>
          <p:cNvSpPr/>
          <p:nvPr/>
        </p:nvSpPr>
        <p:spPr>
          <a:xfrm>
            <a:off x="548640" y="5120640"/>
            <a:ext cx="11094415" cy="512064"/>
          </a:xfrm>
          <a:prstGeom prst="roundRect">
            <a:avLst>
              <a:gd name="adj" fmla="val 12500"/>
            </a:avLst>
          </a:prstGeom>
          <a:solidFill>
            <a:srgbClr val="E3F2F1"/>
          </a:solidFill>
          <a:ln w="6350">
            <a:solidFill>
              <a:srgbClr val="E3F2F1"/>
            </a:solidFill>
            <a:prstDash val="solid"/>
          </a:ln>
        </p:spPr>
      </p:sp>
      <p:sp>
        <p:nvSpPr>
          <p:cNvPr id="20" name="takeaway-icon-circle"/>
          <p:cNvSpPr/>
          <p:nvPr/>
        </p:nvSpPr>
        <p:spPr>
          <a:xfrm>
            <a:off x="676656" y="5202936"/>
            <a:ext cx="347472" cy="347472"/>
          </a:xfrm>
          <a:prstGeom prst="ellipse">
            <a:avLst/>
          </a:prstGeom>
          <a:solidFill>
            <a:srgbClr val="0F8B8D"/>
          </a:solidFill>
          <a:ln w="12700">
            <a:solidFill>
              <a:srgbClr val="0F8B8D"/>
            </a:solidFill>
            <a:prstDash val="solid"/>
          </a:ln>
        </p:spPr>
      </p:sp>
      <p:pic>
        <p:nvPicPr>
          <p:cNvPr id="21" name="takeaway-icon" descr="preencoded.png">    </p:cNvPr>
          <p:cNvPicPr>
            <a:picLocks noChangeAspect="1"/>
          </p:cNvPicPr>
          <p:nvPr/>
        </p:nvPicPr>
        <p:blipFill>
          <a:blip r:embed="rId4"/>
          <a:stretch>
            <a:fillRect/>
          </a:stretch>
        </p:blipFill>
        <p:spPr>
          <a:xfrm>
            <a:off x="760049" y="5286329"/>
            <a:ext cx="180685" cy="180685"/>
          </a:xfrm>
          <a:prstGeom prst="rect">
            <a:avLst/>
          </a:prstGeom>
        </p:spPr>
      </p:pic>
      <p:sp>
        <p:nvSpPr>
          <p:cNvPr id="22" name="takeaway"/>
          <p:cNvSpPr txBox="1"/>
          <p:nvPr/>
        </p:nvSpPr>
        <p:spPr>
          <a:xfrm>
            <a:off x="1170432" y="51206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We present this stage as recorded; the fraud application is a later decision, not part of it.</a:t>
            </a:r>
            <a:endParaRPr lang="en-US" sz="1550" dirty="0"/>
          </a:p>
        </p:txBody>
      </p:sp>
      <p:sp>
        <p:nvSpPr>
          <p:cNvPr id="23" name="source"/>
          <p:cNvSpPr txBox="1"/>
          <p:nvPr/>
        </p:nvSpPr>
        <p:spPr>
          <a:xfrm>
            <a:off x="548640" y="57607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docs/DECISIONS.md (Q1, answered 2026-10-06), docs/PROJECT_SPEC.md §2, docs/research/deep-research-report.md</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DESIGN STAGE  ·  GENERAL TEMPLATE FROM THE LITERATURE</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variational quantum classifier template</a:t>
            </a:r>
            <a:endParaRPr lang="en-US" sz="2800" dirty="0"/>
          </a:p>
        </p:txBody>
      </p:sp>
      <p:pic>
        <p:nvPicPr>
          <p:cNvPr id="4" name="circuit_generic.png" descr="/Users/mayankpokhriyal/Workspaces/q-trace/deliverables/presentations/semester/_system/figures/circuit_generic.png">    </p:cNvPr>
          <p:cNvPicPr>
            <a:picLocks noChangeAspect="1"/>
          </p:cNvPicPr>
          <p:nvPr/>
        </p:nvPicPr>
        <p:blipFill>
          <a:blip r:embed="rId1"/>
          <a:stretch>
            <a:fillRect/>
          </a:stretch>
        </p:blipFill>
        <p:spPr>
          <a:xfrm>
            <a:off x="457200" y="1567819"/>
            <a:ext cx="7589520" cy="2853683"/>
          </a:xfrm>
          <a:prstGeom prst="rect">
            <a:avLst/>
          </a:prstGeom>
        </p:spPr>
      </p:pic>
      <p:sp>
        <p:nvSpPr>
          <p:cNvPr id="5" name="card-bg"/>
          <p:cNvSpPr/>
          <p:nvPr/>
        </p:nvSpPr>
        <p:spPr>
          <a:xfrm>
            <a:off x="8275320" y="1325880"/>
            <a:ext cx="3383280" cy="3429000"/>
          </a:xfrm>
          <a:prstGeom prst="roundRect">
            <a:avLst>
              <a:gd name="adj" fmla="val 1892"/>
            </a:avLst>
          </a:prstGeom>
          <a:solidFill>
            <a:srgbClr val="EEF2F7"/>
          </a:solidFill>
          <a:ln w="6350">
            <a:solidFill>
              <a:srgbClr val="EEF2F7"/>
            </a:solidFill>
            <a:prstDash val="solid"/>
          </a:ln>
        </p:spPr>
      </p:sp>
      <p:sp>
        <p:nvSpPr>
          <p:cNvPr id="6" name="card-text"/>
          <p:cNvSpPr txBox="1"/>
          <p:nvPr/>
        </p:nvSpPr>
        <p:spPr>
          <a:xfrm>
            <a:off x="8458200" y="1453896"/>
            <a:ext cx="3017520" cy="320954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Why it matters here</a:t>
            </a:r>
            <a:endParaRPr lang="en-US" sz="1550" dirty="0"/>
          </a:p>
          <a:p>
            <a:pPr marL="177800" indent="-177800">
              <a:spcAft>
                <a:spcPts val="400"/>
              </a:spcAft>
              <a:buSzPct val="100000"/>
              <a:buChar char="•"/>
            </a:pPr>
            <a:r>
              <a:rPr lang="en-US" sz="1350" dirty="0">
                <a:solidFill>
                  <a:schemeClr val="tx1"/>
                </a:solidFill>
              </a:rPr>
              <a:t>The model's output is a measured expectation value</a:t>
            </a:r>
            <a:endParaRPr lang="en-US" sz="1550" dirty="0"/>
          </a:p>
          <a:p>
            <a:pPr marL="177800" indent="-177800">
              <a:spcAft>
                <a:spcPts val="400"/>
              </a:spcAft>
              <a:buSzPct val="100000"/>
              <a:buChar char="•"/>
            </a:pPr>
            <a:r>
              <a:rPr lang="en-US" sz="1350" dirty="0">
                <a:solidFill>
                  <a:schemeClr val="tx1"/>
                </a:solidFill>
              </a:rPr>
              <a:t>Noise distorts exactly that quantity</a:t>
            </a:r>
            <a:endParaRPr lang="en-US" sz="1550" dirty="0"/>
          </a:p>
          <a:p>
            <a:pPr marL="177800" indent="-177800">
              <a:spcAft>
                <a:spcPts val="400"/>
              </a:spcAft>
              <a:buSzPct val="100000"/>
              <a:buChar char="•"/>
            </a:pPr>
            <a:r>
              <a:rPr lang="en-US" sz="1350" dirty="0">
                <a:solidFill>
                  <a:schemeClr val="tx1"/>
                </a:solidFill>
              </a:rPr>
              <a:t>Mitigation tries to repair it, at a cost</a:t>
            </a:r>
            <a:endParaRPr lang="en-US" sz="1550" dirty="0"/>
          </a:p>
        </p:txBody>
      </p:sp>
      <p:sp>
        <p:nvSpPr>
          <p:cNvPr id="7" name="takeaway-bg"/>
          <p:cNvSpPr/>
          <p:nvPr/>
        </p:nvSpPr>
        <p:spPr>
          <a:xfrm>
            <a:off x="548640" y="4983480"/>
            <a:ext cx="11094415" cy="512064"/>
          </a:xfrm>
          <a:prstGeom prst="roundRect">
            <a:avLst>
              <a:gd name="adj" fmla="val 12500"/>
            </a:avLst>
          </a:prstGeom>
          <a:solidFill>
            <a:srgbClr val="E3F2F1"/>
          </a:solidFill>
          <a:ln w="6350">
            <a:solidFill>
              <a:srgbClr val="E3F2F1"/>
            </a:solidFill>
            <a:prstDash val="solid"/>
          </a:ln>
        </p:spPr>
      </p:sp>
      <p:sp>
        <p:nvSpPr>
          <p:cNvPr id="8" name="takeaway-icon-circle"/>
          <p:cNvSpPr/>
          <p:nvPr/>
        </p:nvSpPr>
        <p:spPr>
          <a:xfrm>
            <a:off x="676656" y="5065776"/>
            <a:ext cx="347472" cy="347472"/>
          </a:xfrm>
          <a:prstGeom prst="ellipse">
            <a:avLst/>
          </a:prstGeom>
          <a:solidFill>
            <a:srgbClr val="0F8B8D"/>
          </a:solidFill>
          <a:ln w="12700">
            <a:solidFill>
              <a:srgbClr val="0F8B8D"/>
            </a:solidFill>
            <a:prstDash val="solid"/>
          </a:ln>
        </p:spPr>
      </p:sp>
      <p:pic>
        <p:nvPicPr>
          <p:cNvPr id="9" name="takeaway-icon" descr="preencoded.png">    </p:cNvPr>
          <p:cNvPicPr>
            <a:picLocks noChangeAspect="1"/>
          </p:cNvPicPr>
          <p:nvPr/>
        </p:nvPicPr>
        <p:blipFill>
          <a:blip r:embed="rId2"/>
          <a:stretch>
            <a:fillRect/>
          </a:stretch>
        </p:blipFill>
        <p:spPr>
          <a:xfrm>
            <a:off x="760049" y="5149169"/>
            <a:ext cx="180685" cy="180685"/>
          </a:xfrm>
          <a:prstGeom prst="rect">
            <a:avLst/>
          </a:prstGeom>
        </p:spPr>
      </p:pic>
      <p:sp>
        <p:nvSpPr>
          <p:cNvPr id="10" name="takeaway"/>
          <p:cNvSpPr txBox="1"/>
          <p:nvPr/>
        </p:nvSpPr>
        <p:spPr>
          <a:xfrm>
            <a:off x="1170432" y="498348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 standard, well-studied model template, so the study is about the mitigation decision, not a new classifier.</a:t>
            </a:r>
            <a:endParaRPr lang="en-US" sz="1550" dirty="0"/>
          </a:p>
        </p:txBody>
      </p:sp>
      <p:sp>
        <p:nvSpPr>
          <p:cNvPr id="11" name="source"/>
          <p:cNvSpPr txBox="1"/>
          <p:nvPr/>
        </p:nvSpPr>
        <p:spPr>
          <a:xfrm>
            <a:off x="548640" y="562356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Havlíček et al. 2019 (Nature 567:209) · Schuld et al. 2020 (PRA 101:032308). Generic template.</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DESIGN STAGE  ·  METHOD FROM THE LITERATURE</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Mitigation strategy: zero-noise extrapolation</a:t>
            </a:r>
            <a:endParaRPr lang="en-US" sz="2800" dirty="0"/>
          </a:p>
        </p:txBody>
      </p:sp>
      <p:sp>
        <p:nvSpPr>
          <p:cNvPr id="4" name="flow-box-0"/>
          <p:cNvSpPr/>
          <p:nvPr/>
        </p:nvSpPr>
        <p:spPr>
          <a:xfrm>
            <a:off x="548640" y="1371600"/>
            <a:ext cx="1694688" cy="1143000"/>
          </a:xfrm>
          <a:prstGeom prst="roundRect">
            <a:avLst>
              <a:gd name="adj" fmla="val 5600"/>
            </a:avLst>
          </a:prstGeom>
          <a:solidFill>
            <a:srgbClr val="EEF2F7"/>
          </a:solidFill>
          <a:ln w="6350">
            <a:solidFill>
              <a:srgbClr val="EEF2F7"/>
            </a:solidFill>
            <a:prstDash val="solid"/>
          </a:ln>
        </p:spPr>
      </p:sp>
      <p:sp>
        <p:nvSpPr>
          <p:cNvPr id="5" name="flow-text-0"/>
          <p:cNvSpPr txBox="1"/>
          <p:nvPr/>
        </p:nvSpPr>
        <p:spPr>
          <a:xfrm>
            <a:off x="621792" y="1371600"/>
            <a:ext cx="1548384" cy="1143000"/>
          </a:xfrm>
          <a:prstGeom prst="rect">
            <a:avLst/>
          </a:prstGeom>
          <a:noFill/>
          <a:ln/>
        </p:spPr>
        <p:txBody>
          <a:bodyPr wrap="square" lIns="0" tIns="0" rIns="0" bIns="0" rtlCol="0" anchor="ctr"/>
          <a:lstStyle/>
          <a:p>
            <a:pPr algn="ctr" indent="0" marL="0">
              <a:buNone/>
            </a:pPr>
            <a:r>
              <a:rPr lang="en-US" sz="1350" b="1" dirty="0">
                <a:solidFill>
                  <a:schemeClr val="tx2"/>
                </a:solidFill>
              </a:rPr>
              <a:t>1. Amplify</a:t>
            </a:r>
            <a:endParaRPr lang="en-US" sz="1350" dirty="0"/>
          </a:p>
          <a:p>
            <a:pPr algn="ctr" indent="0" marL="0">
              <a:buNone/>
            </a:pPr>
            <a:r>
              <a:rPr lang="en-US" sz="1150" dirty="0">
                <a:solidFill>
                  <a:schemeClr val="tx1"/>
                </a:solidFill>
              </a:rPr>
              <a:t>fold: U → U U† U (same ideal result, more noise)</a:t>
            </a:r>
            <a:endParaRPr lang="en-US" sz="1350" dirty="0"/>
          </a:p>
        </p:txBody>
      </p:sp>
      <p:sp>
        <p:nvSpPr>
          <p:cNvPr id="6" name="flow-arrow-0"/>
          <p:cNvSpPr/>
          <p:nvPr/>
        </p:nvSpPr>
        <p:spPr>
          <a:xfrm>
            <a:off x="2279904" y="1842516"/>
            <a:ext cx="219456" cy="201168"/>
          </a:xfrm>
          <a:prstGeom prst="rightArrow">
            <a:avLst/>
          </a:prstGeom>
          <a:solidFill>
            <a:srgbClr val="6B7280"/>
          </a:solidFill>
          <a:ln w="12700">
            <a:solidFill>
              <a:srgbClr val="6B7280"/>
            </a:solidFill>
            <a:prstDash val="solid"/>
          </a:ln>
        </p:spPr>
      </p:sp>
      <p:sp>
        <p:nvSpPr>
          <p:cNvPr id="7" name="flow-box-1"/>
          <p:cNvSpPr/>
          <p:nvPr/>
        </p:nvSpPr>
        <p:spPr>
          <a:xfrm>
            <a:off x="2535936" y="1371600"/>
            <a:ext cx="1694688" cy="1143000"/>
          </a:xfrm>
          <a:prstGeom prst="roundRect">
            <a:avLst>
              <a:gd name="adj" fmla="val 5600"/>
            </a:avLst>
          </a:prstGeom>
          <a:solidFill>
            <a:srgbClr val="EEF2F7"/>
          </a:solidFill>
          <a:ln w="6350">
            <a:solidFill>
              <a:srgbClr val="EEF2F7"/>
            </a:solidFill>
            <a:prstDash val="solid"/>
          </a:ln>
        </p:spPr>
      </p:sp>
      <p:sp>
        <p:nvSpPr>
          <p:cNvPr id="8" name="flow-text-1"/>
          <p:cNvSpPr txBox="1"/>
          <p:nvPr/>
        </p:nvSpPr>
        <p:spPr>
          <a:xfrm>
            <a:off x="2609088" y="1371600"/>
            <a:ext cx="1548384" cy="1143000"/>
          </a:xfrm>
          <a:prstGeom prst="rect">
            <a:avLst/>
          </a:prstGeom>
          <a:noFill/>
          <a:ln/>
        </p:spPr>
        <p:txBody>
          <a:bodyPr wrap="square" lIns="0" tIns="0" rIns="0" bIns="0" rtlCol="0" anchor="ctr"/>
          <a:lstStyle/>
          <a:p>
            <a:pPr algn="ctr" indent="0" marL="0">
              <a:buNone/>
            </a:pPr>
            <a:r>
              <a:rPr lang="en-US" sz="1350" b="1" dirty="0">
                <a:solidFill>
                  <a:schemeClr val="tx2"/>
                </a:solidFill>
              </a:rPr>
              <a:t>2. Measure</a:t>
            </a:r>
            <a:endParaRPr lang="en-US" sz="1350" dirty="0"/>
          </a:p>
          <a:p>
            <a:pPr algn="ctr" indent="0" marL="0">
              <a:buNone/>
            </a:pPr>
            <a:r>
              <a:rPr lang="en-US" sz="1150" dirty="0">
                <a:solidFill>
                  <a:schemeClr val="tx1"/>
                </a:solidFill>
              </a:rPr>
              <a:t>at several noise levels</a:t>
            </a:r>
            <a:endParaRPr lang="en-US" sz="1350" dirty="0"/>
          </a:p>
        </p:txBody>
      </p:sp>
      <p:sp>
        <p:nvSpPr>
          <p:cNvPr id="9" name="flow-arrow-1"/>
          <p:cNvSpPr/>
          <p:nvPr/>
        </p:nvSpPr>
        <p:spPr>
          <a:xfrm>
            <a:off x="4267200" y="1842516"/>
            <a:ext cx="219456" cy="201168"/>
          </a:xfrm>
          <a:prstGeom prst="rightArrow">
            <a:avLst/>
          </a:prstGeom>
          <a:solidFill>
            <a:srgbClr val="6B7280"/>
          </a:solidFill>
          <a:ln w="12700">
            <a:solidFill>
              <a:srgbClr val="6B7280"/>
            </a:solidFill>
            <a:prstDash val="solid"/>
          </a:ln>
        </p:spPr>
      </p:sp>
      <p:sp>
        <p:nvSpPr>
          <p:cNvPr id="10" name="flow-box-2"/>
          <p:cNvSpPr/>
          <p:nvPr/>
        </p:nvSpPr>
        <p:spPr>
          <a:xfrm>
            <a:off x="4523232" y="1371600"/>
            <a:ext cx="1694688" cy="1143000"/>
          </a:xfrm>
          <a:prstGeom prst="roundRect">
            <a:avLst>
              <a:gd name="adj" fmla="val 5600"/>
            </a:avLst>
          </a:prstGeom>
          <a:solidFill>
            <a:srgbClr val="D7EEEE"/>
          </a:solidFill>
          <a:ln w="6350">
            <a:solidFill>
              <a:srgbClr val="D7EEEE"/>
            </a:solidFill>
            <a:prstDash val="solid"/>
          </a:ln>
        </p:spPr>
      </p:sp>
      <p:sp>
        <p:nvSpPr>
          <p:cNvPr id="11" name="flow-text-2"/>
          <p:cNvSpPr txBox="1"/>
          <p:nvPr/>
        </p:nvSpPr>
        <p:spPr>
          <a:xfrm>
            <a:off x="4596384" y="1371600"/>
            <a:ext cx="1548384" cy="1143000"/>
          </a:xfrm>
          <a:prstGeom prst="rect">
            <a:avLst/>
          </a:prstGeom>
          <a:noFill/>
          <a:ln/>
        </p:spPr>
        <p:txBody>
          <a:bodyPr wrap="square" lIns="0" tIns="0" rIns="0" bIns="0" rtlCol="0" anchor="ctr"/>
          <a:lstStyle/>
          <a:p>
            <a:pPr algn="ctr" indent="0" marL="0">
              <a:buNone/>
            </a:pPr>
            <a:r>
              <a:rPr lang="en-US" sz="1350" b="1" dirty="0">
                <a:solidFill>
                  <a:schemeClr val="tx2"/>
                </a:solidFill>
              </a:rPr>
              <a:t>3. Extrapolate</a:t>
            </a:r>
            <a:endParaRPr lang="en-US" sz="1350" dirty="0"/>
          </a:p>
          <a:p>
            <a:pPr algn="ctr" indent="0" marL="0">
              <a:buNone/>
            </a:pPr>
            <a:r>
              <a:rPr lang="en-US" sz="1150" dirty="0">
                <a:solidFill>
                  <a:schemeClr val="tx1"/>
                </a:solidFill>
              </a:rPr>
              <a:t>fit the trend back to zero noise</a:t>
            </a:r>
            <a:endParaRPr lang="en-US" sz="1350" dirty="0"/>
          </a:p>
        </p:txBody>
      </p:sp>
      <p:pic>
        <p:nvPicPr>
          <p:cNvPr id="12" name="zne_schematic.png" descr="/Users/mayankpokhriyal/Workspaces/q-trace/deliverables/presentations/semester/_system/figures/zne_schematic.png">    </p:cNvPr>
          <p:cNvPicPr>
            <a:picLocks noChangeAspect="1"/>
          </p:cNvPicPr>
          <p:nvPr/>
        </p:nvPicPr>
        <p:blipFill>
          <a:blip r:embed="rId1"/>
          <a:stretch>
            <a:fillRect/>
          </a:stretch>
        </p:blipFill>
        <p:spPr>
          <a:xfrm>
            <a:off x="6742059" y="1280160"/>
            <a:ext cx="4575282" cy="3566160"/>
          </a:xfrm>
          <a:prstGeom prst="rect">
            <a:avLst/>
          </a:prstGeom>
        </p:spPr>
      </p:pic>
      <p:sp>
        <p:nvSpPr>
          <p:cNvPr id="13" name="card-bg"/>
          <p:cNvSpPr/>
          <p:nvPr/>
        </p:nvSpPr>
        <p:spPr>
          <a:xfrm>
            <a:off x="548640" y="2788920"/>
            <a:ext cx="5669280" cy="1874520"/>
          </a:xfrm>
          <a:prstGeom prst="roundRect">
            <a:avLst>
              <a:gd name="adj" fmla="val 3415"/>
            </a:avLst>
          </a:prstGeom>
          <a:solidFill>
            <a:srgbClr val="FBEFD9"/>
          </a:solidFill>
          <a:ln w="6350">
            <a:solidFill>
              <a:srgbClr val="FBEFD9"/>
            </a:solidFill>
            <a:prstDash val="solid"/>
          </a:ln>
        </p:spPr>
      </p:sp>
      <p:sp>
        <p:nvSpPr>
          <p:cNvPr id="14" name="card-text"/>
          <p:cNvSpPr txBox="1"/>
          <p:nvPr/>
        </p:nvSpPr>
        <p:spPr>
          <a:xfrm>
            <a:off x="731520" y="2916936"/>
            <a:ext cx="5303520" cy="1655064"/>
          </a:xfrm>
          <a:prstGeom prst="rect">
            <a:avLst/>
          </a:prstGeom>
          <a:noFill/>
          <a:ln/>
        </p:spPr>
        <p:txBody>
          <a:bodyPr wrap="square" lIns="0" tIns="0" rIns="0" bIns="0" rtlCol="0" anchor="t"/>
          <a:lstStyle/>
          <a:p>
            <a:pPr indent="0" marL="0">
              <a:spcAft>
                <a:spcPts val="400"/>
              </a:spcAft>
              <a:buNone/>
            </a:pPr>
            <a:r>
              <a:rPr lang="en-US" sz="1550" b="1" dirty="0">
                <a:solidFill>
                  <a:srgbClr val="8A5A00"/>
                </a:solidFill>
              </a:rPr>
              <a:t>The cost behind the decision</a:t>
            </a:r>
            <a:endParaRPr lang="en-US" sz="1550" dirty="0"/>
          </a:p>
          <a:p>
            <a:pPr marL="177800" indent="-177800">
              <a:spcAft>
                <a:spcPts val="400"/>
              </a:spcAft>
              <a:buSzPct val="100000"/>
              <a:buChar char="•"/>
            </a:pPr>
            <a:r>
              <a:rPr lang="en-US" sz="1350" dirty="0">
                <a:solidFill>
                  <a:schemeClr val="tx1"/>
                </a:solidFill>
              </a:rPr>
              <a:t>Every extra noise level is another circuit to run</a:t>
            </a:r>
            <a:endParaRPr lang="en-US" sz="1550" dirty="0"/>
          </a:p>
          <a:p>
            <a:pPr marL="177800" indent="-177800">
              <a:spcAft>
                <a:spcPts val="400"/>
              </a:spcAft>
              <a:buSzPct val="100000"/>
              <a:buChar char="•"/>
            </a:pPr>
            <a:r>
              <a:rPr lang="en-US" sz="1350" dirty="0">
                <a:solidFill>
                  <a:schemeClr val="tx1"/>
                </a:solidFill>
              </a:rPr>
              <a:t>More shots and more two-qubit-gate exposure</a:t>
            </a:r>
            <a:endParaRPr lang="en-US" sz="1550" dirty="0"/>
          </a:p>
          <a:p>
            <a:pPr marL="177800" indent="-177800">
              <a:spcAft>
                <a:spcPts val="400"/>
              </a:spcAft>
              <a:buSzPct val="100000"/>
              <a:buChar char="•"/>
            </a:pPr>
            <a:r>
              <a:rPr lang="en-US" sz="1350" dirty="0">
                <a:solidFill>
                  <a:schemeClr val="tx1"/>
                </a:solidFill>
              </a:rPr>
              <a:t>So: is the expected improvement worth it here?</a:t>
            </a:r>
            <a:endParaRPr lang="en-US" sz="1550" dirty="0"/>
          </a:p>
        </p:txBody>
      </p:sp>
      <p:sp>
        <p:nvSpPr>
          <p:cNvPr id="15" name="takeaway-bg"/>
          <p:cNvSpPr/>
          <p:nvPr/>
        </p:nvSpPr>
        <p:spPr>
          <a:xfrm>
            <a:off x="548640" y="5120640"/>
            <a:ext cx="11094415" cy="512064"/>
          </a:xfrm>
          <a:prstGeom prst="roundRect">
            <a:avLst>
              <a:gd name="adj" fmla="val 12500"/>
            </a:avLst>
          </a:prstGeom>
          <a:solidFill>
            <a:srgbClr val="E3F2F1"/>
          </a:solidFill>
          <a:ln w="6350">
            <a:solidFill>
              <a:srgbClr val="E3F2F1"/>
            </a:solidFill>
            <a:prstDash val="solid"/>
          </a:ln>
        </p:spPr>
      </p:sp>
      <p:sp>
        <p:nvSpPr>
          <p:cNvPr id="16" name="takeaway-icon-circle"/>
          <p:cNvSpPr/>
          <p:nvPr/>
        </p:nvSpPr>
        <p:spPr>
          <a:xfrm>
            <a:off x="676656" y="5202936"/>
            <a:ext cx="347472" cy="347472"/>
          </a:xfrm>
          <a:prstGeom prst="ellipse">
            <a:avLst/>
          </a:prstGeom>
          <a:solidFill>
            <a:srgbClr val="0F8B8D"/>
          </a:solidFill>
          <a:ln w="12700">
            <a:solidFill>
              <a:srgbClr val="0F8B8D"/>
            </a:solidFill>
            <a:prstDash val="solid"/>
          </a:ln>
        </p:spPr>
      </p:sp>
      <p:pic>
        <p:nvPicPr>
          <p:cNvPr id="17" name="takeaway-icon" descr="preencoded.png">    </p:cNvPr>
          <p:cNvPicPr>
            <a:picLocks noChangeAspect="1"/>
          </p:cNvPicPr>
          <p:nvPr/>
        </p:nvPicPr>
        <p:blipFill>
          <a:blip r:embed="rId2"/>
          <a:stretch>
            <a:fillRect/>
          </a:stretch>
        </p:blipFill>
        <p:spPr>
          <a:xfrm>
            <a:off x="760049" y="5286329"/>
            <a:ext cx="180685" cy="180685"/>
          </a:xfrm>
          <a:prstGeom prst="rect">
            <a:avLst/>
          </a:prstGeom>
        </p:spPr>
      </p:pic>
      <p:sp>
        <p:nvSpPr>
          <p:cNvPr id="18" name="takeaway"/>
          <p:cNvSpPr txBox="1"/>
          <p:nvPr/>
        </p:nvSpPr>
        <p:spPr>
          <a:xfrm>
            <a:off x="1170432" y="51206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ZNE can remove noise-induced bias, but always at a resource cost.</a:t>
            </a:r>
            <a:endParaRPr lang="en-US" sz="1550" dirty="0"/>
          </a:p>
        </p:txBody>
      </p:sp>
      <p:sp>
        <p:nvSpPr>
          <p:cNvPr id="19" name="source"/>
          <p:cNvSpPr txBox="1"/>
          <p:nvPr/>
        </p:nvSpPr>
        <p:spPr>
          <a:xfrm>
            <a:off x="548640" y="57607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Temme et al. 2017 (PRL 119:180509) · Giurgica-Tiron et al. 2020 (IEEE QCE). Curve illustrative.</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DESIGN STAGE  ·  RECONSTRUCTED AT THE LEVEL THE RECORD SUPPORTS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How the decision would be evaluated</a:t>
            </a:r>
            <a:endParaRPr lang="en-US" sz="2800" dirty="0"/>
          </a:p>
        </p:txBody>
      </p:sp>
      <p:sp>
        <p:nvSpPr>
          <p:cNvPr id="4" name="flow-box-0"/>
          <p:cNvSpPr/>
          <p:nvPr/>
        </p:nvSpPr>
        <p:spPr>
          <a:xfrm>
            <a:off x="548640" y="1371600"/>
            <a:ext cx="2554148" cy="1051560"/>
          </a:xfrm>
          <a:prstGeom prst="roundRect">
            <a:avLst>
              <a:gd name="adj" fmla="val 6087"/>
            </a:avLst>
          </a:prstGeom>
          <a:solidFill>
            <a:srgbClr val="EEF2F7"/>
          </a:solidFill>
          <a:ln w="6350">
            <a:solidFill>
              <a:srgbClr val="EEF2F7"/>
            </a:solidFill>
            <a:prstDash val="solid"/>
          </a:ln>
        </p:spPr>
      </p:sp>
      <p:sp>
        <p:nvSpPr>
          <p:cNvPr id="5" name="flow-text-0"/>
          <p:cNvSpPr txBox="1"/>
          <p:nvPr/>
        </p:nvSpPr>
        <p:spPr>
          <a:xfrm>
            <a:off x="621792" y="137160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Settings</a:t>
            </a:r>
            <a:endParaRPr lang="en-US" sz="1450" dirty="0"/>
          </a:p>
          <a:p>
            <a:pPr algn="ctr" indent="0" marL="0">
              <a:buNone/>
            </a:pPr>
            <a:r>
              <a:rPr lang="en-US" sz="1250" dirty="0">
                <a:solidFill>
                  <a:schemeClr val="tx1"/>
                </a:solidFill>
              </a:rPr>
              <a:t>benchmark × noise level</a:t>
            </a:r>
            <a:endParaRPr lang="en-US" sz="1450" dirty="0"/>
          </a:p>
        </p:txBody>
      </p:sp>
      <p:sp>
        <p:nvSpPr>
          <p:cNvPr id="6" name="flow-arrow-0"/>
          <p:cNvSpPr/>
          <p:nvPr/>
        </p:nvSpPr>
        <p:spPr>
          <a:xfrm>
            <a:off x="3139364" y="1796796"/>
            <a:ext cx="219456" cy="201168"/>
          </a:xfrm>
          <a:prstGeom prst="rightArrow">
            <a:avLst/>
          </a:prstGeom>
          <a:solidFill>
            <a:srgbClr val="6B7280"/>
          </a:solidFill>
          <a:ln w="12700">
            <a:solidFill>
              <a:srgbClr val="6B7280"/>
            </a:solidFill>
            <a:prstDash val="solid"/>
          </a:ln>
        </p:spPr>
      </p:sp>
      <p:sp>
        <p:nvSpPr>
          <p:cNvPr id="7" name="flow-box-1"/>
          <p:cNvSpPr/>
          <p:nvPr/>
        </p:nvSpPr>
        <p:spPr>
          <a:xfrm>
            <a:off x="3395396" y="1371600"/>
            <a:ext cx="2554148" cy="1051560"/>
          </a:xfrm>
          <a:prstGeom prst="roundRect">
            <a:avLst>
              <a:gd name="adj" fmla="val 6087"/>
            </a:avLst>
          </a:prstGeom>
          <a:solidFill>
            <a:srgbClr val="EEF2F7"/>
          </a:solidFill>
          <a:ln w="6350">
            <a:solidFill>
              <a:srgbClr val="EEF2F7"/>
            </a:solidFill>
            <a:prstDash val="solid"/>
          </a:ln>
        </p:spPr>
      </p:sp>
      <p:sp>
        <p:nvSpPr>
          <p:cNvPr id="8" name="flow-text-1"/>
          <p:cNvSpPr txBox="1"/>
          <p:nvPr/>
        </p:nvSpPr>
        <p:spPr>
          <a:xfrm>
            <a:off x="3468548" y="137160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Run twice</a:t>
            </a:r>
            <a:endParaRPr lang="en-US" sz="1450" dirty="0"/>
          </a:p>
          <a:p>
            <a:pPr algn="ctr" indent="0" marL="0">
              <a:buNone/>
            </a:pPr>
            <a:r>
              <a:rPr lang="en-US" sz="1250" dirty="0">
                <a:solidFill>
                  <a:schemeClr val="tx1"/>
                </a:solidFill>
              </a:rPr>
              <a:t>with and without mitigation</a:t>
            </a:r>
            <a:endParaRPr lang="en-US" sz="1450" dirty="0"/>
          </a:p>
        </p:txBody>
      </p:sp>
      <p:sp>
        <p:nvSpPr>
          <p:cNvPr id="9" name="flow-arrow-1"/>
          <p:cNvSpPr/>
          <p:nvPr/>
        </p:nvSpPr>
        <p:spPr>
          <a:xfrm>
            <a:off x="5986120" y="1796796"/>
            <a:ext cx="219456" cy="201168"/>
          </a:xfrm>
          <a:prstGeom prst="rightArrow">
            <a:avLst/>
          </a:prstGeom>
          <a:solidFill>
            <a:srgbClr val="6B7280"/>
          </a:solidFill>
          <a:ln w="12700">
            <a:solidFill>
              <a:srgbClr val="6B7280"/>
            </a:solidFill>
            <a:prstDash val="solid"/>
          </a:ln>
        </p:spPr>
      </p:sp>
      <p:sp>
        <p:nvSpPr>
          <p:cNvPr id="10" name="flow-box-2"/>
          <p:cNvSpPr/>
          <p:nvPr/>
        </p:nvSpPr>
        <p:spPr>
          <a:xfrm>
            <a:off x="6242152" y="1371600"/>
            <a:ext cx="2554148" cy="1051560"/>
          </a:xfrm>
          <a:prstGeom prst="roundRect">
            <a:avLst>
              <a:gd name="adj" fmla="val 6087"/>
            </a:avLst>
          </a:prstGeom>
          <a:solidFill>
            <a:srgbClr val="EEF2F7"/>
          </a:solidFill>
          <a:ln w="6350">
            <a:solidFill>
              <a:srgbClr val="EEF2F7"/>
            </a:solidFill>
            <a:prstDash val="solid"/>
          </a:ln>
        </p:spPr>
      </p:sp>
      <p:sp>
        <p:nvSpPr>
          <p:cNvPr id="11" name="flow-text-2"/>
          <p:cNvSpPr txBox="1"/>
          <p:nvPr/>
        </p:nvSpPr>
        <p:spPr>
          <a:xfrm>
            <a:off x="6315304" y="137160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Record</a:t>
            </a:r>
            <a:endParaRPr lang="en-US" sz="1450" dirty="0"/>
          </a:p>
          <a:p>
            <a:pPr algn="ctr" indent="0" marL="0">
              <a:buNone/>
            </a:pPr>
            <a:r>
              <a:rPr lang="en-US" sz="1250" dirty="0">
                <a:solidFill>
                  <a:schemeClr val="tx1"/>
                </a:solidFill>
              </a:rPr>
              <a:t>quality change + extra resources</a:t>
            </a:r>
            <a:endParaRPr lang="en-US" sz="1450" dirty="0"/>
          </a:p>
        </p:txBody>
      </p:sp>
      <p:sp>
        <p:nvSpPr>
          <p:cNvPr id="12" name="flow-arrow-2"/>
          <p:cNvSpPr/>
          <p:nvPr/>
        </p:nvSpPr>
        <p:spPr>
          <a:xfrm>
            <a:off x="8832875" y="1796796"/>
            <a:ext cx="219456" cy="201168"/>
          </a:xfrm>
          <a:prstGeom prst="rightArrow">
            <a:avLst/>
          </a:prstGeom>
          <a:solidFill>
            <a:srgbClr val="6B7280"/>
          </a:solidFill>
          <a:ln w="12700">
            <a:solidFill>
              <a:srgbClr val="6B7280"/>
            </a:solidFill>
            <a:prstDash val="solid"/>
          </a:ln>
        </p:spPr>
      </p:sp>
      <p:sp>
        <p:nvSpPr>
          <p:cNvPr id="13" name="flow-box-3"/>
          <p:cNvSpPr/>
          <p:nvPr/>
        </p:nvSpPr>
        <p:spPr>
          <a:xfrm>
            <a:off x="9088907" y="1371600"/>
            <a:ext cx="2554148" cy="1051560"/>
          </a:xfrm>
          <a:prstGeom prst="roundRect">
            <a:avLst>
              <a:gd name="adj" fmla="val 6087"/>
            </a:avLst>
          </a:prstGeom>
          <a:solidFill>
            <a:srgbClr val="D7EEEE"/>
          </a:solidFill>
          <a:ln w="6350">
            <a:solidFill>
              <a:srgbClr val="D7EEEE"/>
            </a:solidFill>
            <a:prstDash val="solid"/>
          </a:ln>
        </p:spPr>
      </p:sp>
      <p:sp>
        <p:nvSpPr>
          <p:cNvPr id="14" name="flow-text-3"/>
          <p:cNvSpPr txBox="1"/>
          <p:nvPr/>
        </p:nvSpPr>
        <p:spPr>
          <a:xfrm>
            <a:off x="9162059" y="1371600"/>
            <a:ext cx="2407844" cy="1051560"/>
          </a:xfrm>
          <a:prstGeom prst="rect">
            <a:avLst/>
          </a:prstGeom>
          <a:noFill/>
          <a:ln/>
        </p:spPr>
        <p:txBody>
          <a:bodyPr wrap="square" lIns="0" tIns="0" rIns="0" bIns="0" rtlCol="0" anchor="ctr"/>
          <a:lstStyle/>
          <a:p>
            <a:pPr algn="ctr" indent="0" marL="0">
              <a:buNone/>
            </a:pPr>
            <a:r>
              <a:rPr lang="en-US" sz="1450" b="1" dirty="0">
                <a:solidFill>
                  <a:schemeClr val="tx2"/>
                </a:solidFill>
              </a:rPr>
              <a:t>Compare policies</a:t>
            </a:r>
            <a:endParaRPr lang="en-US" sz="1450" dirty="0"/>
          </a:p>
          <a:p>
            <a:pPr algn="ctr" indent="0" marL="0">
              <a:buNone/>
            </a:pPr>
            <a:r>
              <a:rPr lang="en-US" sz="1250" dirty="0">
                <a:solidFill>
                  <a:schemeClr val="tx1"/>
                </a:solidFill>
              </a:rPr>
              <a:t>Never · Always · Fixed · Q-TRACE</a:t>
            </a:r>
            <a:endParaRPr lang="en-US" sz="1450" dirty="0"/>
          </a:p>
        </p:txBody>
      </p:sp>
      <p:sp>
        <p:nvSpPr>
          <p:cNvPr id="15" name="card-bg"/>
          <p:cNvSpPr/>
          <p:nvPr/>
        </p:nvSpPr>
        <p:spPr>
          <a:xfrm>
            <a:off x="548640" y="2697480"/>
            <a:ext cx="2651760" cy="1463040"/>
          </a:xfrm>
          <a:prstGeom prst="roundRect">
            <a:avLst>
              <a:gd name="adj" fmla="val 4375"/>
            </a:avLst>
          </a:prstGeom>
          <a:solidFill>
            <a:srgbClr val="EEF2F7"/>
          </a:solidFill>
          <a:ln w="6350">
            <a:solidFill>
              <a:srgbClr val="EEF2F7"/>
            </a:solidFill>
            <a:prstDash val="solid"/>
          </a:ln>
        </p:spPr>
      </p:sp>
      <p:sp>
        <p:nvSpPr>
          <p:cNvPr id="16" name="card-text"/>
          <p:cNvSpPr txBox="1"/>
          <p:nvPr/>
        </p:nvSpPr>
        <p:spPr>
          <a:xfrm>
            <a:off x="731520" y="2825496"/>
            <a:ext cx="228600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Never</a:t>
            </a:r>
            <a:endParaRPr lang="en-US" sz="1550" dirty="0"/>
          </a:p>
          <a:p>
            <a:pPr indent="0" marL="0">
              <a:spcAft>
                <a:spcPts val="400"/>
              </a:spcAft>
              <a:buNone/>
            </a:pPr>
            <a:r>
              <a:rPr lang="en-US" sz="1300" dirty="0">
                <a:solidFill>
                  <a:schemeClr val="tx1"/>
                </a:solidFill>
              </a:rPr>
              <a:t>cheapest; leaves noise-induced bias</a:t>
            </a:r>
            <a:endParaRPr lang="en-US" sz="1550" dirty="0"/>
          </a:p>
        </p:txBody>
      </p:sp>
      <p:sp>
        <p:nvSpPr>
          <p:cNvPr id="17" name="card-bg"/>
          <p:cNvSpPr/>
          <p:nvPr/>
        </p:nvSpPr>
        <p:spPr>
          <a:xfrm>
            <a:off x="3337560" y="2697480"/>
            <a:ext cx="2651760" cy="1463040"/>
          </a:xfrm>
          <a:prstGeom prst="roundRect">
            <a:avLst>
              <a:gd name="adj" fmla="val 4375"/>
            </a:avLst>
          </a:prstGeom>
          <a:solidFill>
            <a:srgbClr val="EEF2F7"/>
          </a:solidFill>
          <a:ln w="6350">
            <a:solidFill>
              <a:srgbClr val="EEF2F7"/>
            </a:solidFill>
            <a:prstDash val="solid"/>
          </a:ln>
        </p:spPr>
      </p:sp>
      <p:sp>
        <p:nvSpPr>
          <p:cNvPr id="18" name="card-text"/>
          <p:cNvSpPr txBox="1"/>
          <p:nvPr/>
        </p:nvSpPr>
        <p:spPr>
          <a:xfrm>
            <a:off x="3520440" y="2825496"/>
            <a:ext cx="228600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Always</a:t>
            </a:r>
            <a:endParaRPr lang="en-US" sz="1550" dirty="0"/>
          </a:p>
          <a:p>
            <a:pPr indent="0" marL="0">
              <a:spcAft>
                <a:spcPts val="400"/>
              </a:spcAft>
              <a:buNone/>
            </a:pPr>
            <a:r>
              <a:rPr lang="en-US" sz="1300" dirty="0">
                <a:solidFill>
                  <a:schemeClr val="tx1"/>
                </a:solidFill>
              </a:rPr>
              <a:t>pays the full cost every time</a:t>
            </a:r>
            <a:endParaRPr lang="en-US" sz="1550" dirty="0"/>
          </a:p>
        </p:txBody>
      </p:sp>
      <p:sp>
        <p:nvSpPr>
          <p:cNvPr id="19" name="card-bg"/>
          <p:cNvSpPr/>
          <p:nvPr/>
        </p:nvSpPr>
        <p:spPr>
          <a:xfrm>
            <a:off x="6126480" y="2697480"/>
            <a:ext cx="2651760" cy="1463040"/>
          </a:xfrm>
          <a:prstGeom prst="roundRect">
            <a:avLst>
              <a:gd name="adj" fmla="val 4375"/>
            </a:avLst>
          </a:prstGeom>
          <a:solidFill>
            <a:srgbClr val="EEF2F7"/>
          </a:solidFill>
          <a:ln w="6350">
            <a:solidFill>
              <a:srgbClr val="EEF2F7"/>
            </a:solidFill>
            <a:prstDash val="solid"/>
          </a:ln>
        </p:spPr>
      </p:sp>
      <p:sp>
        <p:nvSpPr>
          <p:cNvPr id="20" name="card-text"/>
          <p:cNvSpPr txBox="1"/>
          <p:nvPr/>
        </p:nvSpPr>
        <p:spPr>
          <a:xfrm>
            <a:off x="6309360" y="2825496"/>
            <a:ext cx="228600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Fixed rule</a:t>
            </a:r>
            <a:endParaRPr lang="en-US" sz="1550" dirty="0"/>
          </a:p>
          <a:p>
            <a:pPr indent="0" marL="0">
              <a:spcAft>
                <a:spcPts val="400"/>
              </a:spcAft>
              <a:buNone/>
            </a:pPr>
            <a:r>
              <a:rPr lang="en-US" sz="1300" dirty="0">
                <a:solidFill>
                  <a:schemeClr val="tx1"/>
                </a:solidFill>
              </a:rPr>
              <a:t>one preset threshold</a:t>
            </a:r>
            <a:endParaRPr lang="en-US" sz="1550" dirty="0"/>
          </a:p>
        </p:txBody>
      </p:sp>
      <p:sp>
        <p:nvSpPr>
          <p:cNvPr id="21" name="card-bg"/>
          <p:cNvSpPr/>
          <p:nvPr/>
        </p:nvSpPr>
        <p:spPr>
          <a:xfrm>
            <a:off x="8915400" y="2697480"/>
            <a:ext cx="2743200" cy="1463040"/>
          </a:xfrm>
          <a:prstGeom prst="roundRect">
            <a:avLst>
              <a:gd name="adj" fmla="val 4375"/>
            </a:avLst>
          </a:prstGeom>
          <a:solidFill>
            <a:srgbClr val="E3F2F1"/>
          </a:solidFill>
          <a:ln w="6350">
            <a:solidFill>
              <a:srgbClr val="E3F2F1"/>
            </a:solidFill>
            <a:prstDash val="solid"/>
          </a:ln>
        </p:spPr>
      </p:sp>
      <p:sp>
        <p:nvSpPr>
          <p:cNvPr id="22" name="card-text"/>
          <p:cNvSpPr txBox="1"/>
          <p:nvPr/>
        </p:nvSpPr>
        <p:spPr>
          <a:xfrm>
            <a:off x="9098280" y="2825496"/>
            <a:ext cx="2377440" cy="12435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Q-TRACE</a:t>
            </a:r>
            <a:endParaRPr lang="en-US" sz="1550" dirty="0"/>
          </a:p>
          <a:p>
            <a:pPr indent="0" marL="0">
              <a:spcAft>
                <a:spcPts val="400"/>
              </a:spcAft>
              <a:buNone/>
            </a:pPr>
            <a:r>
              <a:rPr lang="en-US" sz="1300" dirty="0">
                <a:solidFill>
                  <a:schemeClr val="tx1"/>
                </a:solidFill>
              </a:rPr>
              <a:t>mitigate when expected benefit exceeds cost</a:t>
            </a:r>
            <a:endParaRPr lang="en-US" sz="1550" dirty="0"/>
          </a:p>
        </p:txBody>
      </p:sp>
      <p:sp>
        <p:nvSpPr>
          <p:cNvPr id="23" name="retro-note-bg"/>
          <p:cNvSpPr/>
          <p:nvPr/>
        </p:nvSpPr>
        <p:spPr>
          <a:xfrm>
            <a:off x="548640" y="4389120"/>
            <a:ext cx="11064240" cy="777240"/>
          </a:xfrm>
          <a:prstGeom prst="roundRect">
            <a:avLst>
              <a:gd name="adj" fmla="val 8235"/>
            </a:avLst>
          </a:prstGeom>
          <a:solidFill>
            <a:srgbClr val="FBEFD9"/>
          </a:solidFill>
          <a:ln w="6350">
            <a:solidFill>
              <a:srgbClr val="FBEFD9"/>
            </a:solidFill>
            <a:prstDash val="solid"/>
          </a:ln>
        </p:spPr>
      </p:sp>
      <p:sp>
        <p:nvSpPr>
          <p:cNvPr id="24" name="Text 22"/>
          <p:cNvSpPr txBox="1"/>
          <p:nvPr/>
        </p:nvSpPr>
        <p:spPr>
          <a:xfrm>
            <a:off x="777240" y="4389120"/>
            <a:ext cx="10607040" cy="777240"/>
          </a:xfrm>
          <a:prstGeom prst="rect">
            <a:avLst/>
          </a:prstGeom>
          <a:noFill/>
          <a:ln/>
        </p:spPr>
        <p:txBody>
          <a:bodyPr wrap="square" lIns="0" tIns="0" rIns="0" bIns="0" rtlCol="0" anchor="ctr"/>
          <a:lstStyle/>
          <a:p>
            <a:pPr indent="0" marL="0">
              <a:buNone/>
            </a:pPr>
            <a:r>
              <a:rPr lang="en-US" sz="1350" b="1" dirty="0">
                <a:solidFill>
                  <a:srgbClr val="8A5A00"/>
                </a:solidFill>
              </a:rPr>
              <a:t>Not recorded at this stage:  </a:t>
            </a:r>
            <a:pPr indent="0" marL="0">
              <a:buNone/>
            </a:pPr>
            <a:r>
              <a:rPr lang="en-US" sz="1350" dirty="0">
                <a:solidFill>
                  <a:schemeClr val="tx1"/>
                </a:solidFill>
              </a:rPr>
              <a:t>exact metrics, noise models and thresholds (fixed from Oct 6). The example input then, "current accuracy", needs labels and was removed on Oct 6 (A12).</a:t>
            </a:r>
            <a:endParaRPr lang="en-US" sz="1350" dirty="0"/>
          </a:p>
        </p:txBody>
      </p:sp>
      <p:sp>
        <p:nvSpPr>
          <p:cNvPr id="25" name="takeaway-bg"/>
          <p:cNvSpPr/>
          <p:nvPr/>
        </p:nvSpPr>
        <p:spPr>
          <a:xfrm>
            <a:off x="548640" y="5394960"/>
            <a:ext cx="11094415" cy="512064"/>
          </a:xfrm>
          <a:prstGeom prst="roundRect">
            <a:avLst>
              <a:gd name="adj" fmla="val 12500"/>
            </a:avLst>
          </a:prstGeom>
          <a:solidFill>
            <a:srgbClr val="E3F2F1"/>
          </a:solidFill>
          <a:ln w="6350">
            <a:solidFill>
              <a:srgbClr val="E3F2F1"/>
            </a:solidFill>
            <a:prstDash val="solid"/>
          </a:ln>
        </p:spPr>
      </p:sp>
      <p:sp>
        <p:nvSpPr>
          <p:cNvPr id="26" name="takeaway-icon-circle"/>
          <p:cNvSpPr/>
          <p:nvPr/>
        </p:nvSpPr>
        <p:spPr>
          <a:xfrm>
            <a:off x="676656" y="5477256"/>
            <a:ext cx="347472" cy="347472"/>
          </a:xfrm>
          <a:prstGeom prst="ellipse">
            <a:avLst/>
          </a:prstGeom>
          <a:solidFill>
            <a:srgbClr val="0F8B8D"/>
          </a:solidFill>
          <a:ln w="12700">
            <a:solidFill>
              <a:srgbClr val="0F8B8D"/>
            </a:solidFill>
            <a:prstDash val="solid"/>
          </a:ln>
        </p:spPr>
      </p:sp>
      <p:pic>
        <p:nvPicPr>
          <p:cNvPr id="27" name="takeaway-icon" descr="preencoded.png">    </p:cNvPr>
          <p:cNvPicPr>
            <a:picLocks noChangeAspect="1"/>
          </p:cNvPicPr>
          <p:nvPr/>
        </p:nvPicPr>
        <p:blipFill>
          <a:blip r:embed="rId1"/>
          <a:stretch>
            <a:fillRect/>
          </a:stretch>
        </p:blipFill>
        <p:spPr>
          <a:xfrm>
            <a:off x="760049" y="5560649"/>
            <a:ext cx="180685" cy="180685"/>
          </a:xfrm>
          <a:prstGeom prst="rect">
            <a:avLst/>
          </a:prstGeom>
        </p:spPr>
      </p:pic>
      <p:sp>
        <p:nvSpPr>
          <p:cNvPr id="28" name="takeaway"/>
          <p:cNvSpPr txBox="1"/>
          <p:nvPr/>
        </p:nvSpPr>
        <p:spPr>
          <a:xfrm>
            <a:off x="1170432" y="539496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Evaluate Q-TRACE against never, always and a fixed rule.</a:t>
            </a:r>
            <a:endParaRPr lang="en-US" sz="1550" dirty="0"/>
          </a:p>
        </p:txBody>
      </p:sp>
      <p:sp>
        <p:nvSpPr>
          <p:cNvPr id="29" name="source"/>
          <p:cNvSpPr txBox="1"/>
          <p:nvPr/>
        </p:nvSpPr>
        <p:spPr>
          <a:xfrm>
            <a:off x="548640" y="603504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docs/DECISIONS.md (Q1, A12), docs/research/deep-research-report.md (pre-October deck); wording is ours.</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Research design (September 29, 2026)</dc:title>
  <dc:subject>Research design</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