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d9e342e9-cd5a-d2a7-0332-1d8fb96ceafb}">
          <p14:sldIdLst>
            <p14:sldId id="256"/>
            <p14:sldId id="257"/>
            <p14:sldId id="258"/>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 0:00–0:24]
Good afternoon. Today's question is the heart of our original proposal: does deciding when and how to mitigate need a learned controller?
This covers Phases 5A to 5C, completed on October 7 and 8. Two pre-registered gates found no material structure left for a learned controller, so none was trained. A simple two-threshold probe rule emerged instead.
Key points: Phases 5A–5C, completed Oct 7–8; two gates found no material residual; no controller trained; a two-threshold rule emerged.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 0:24–1:28]
For every context, meaning a model, a noise environment and a shot budget, the system must pick one of five actions: nothing, readout mitigation, ZNE, both, or three times the shots.
Our original hypothesis was that a learned controller, Q-TRACE, could make this choice from cheap label-free probes better than fixed policies and a fairly tuned threshold rule. From the start we committed to report it as a result if a simple threshold rule matched the learned controller.
The Oracle is evaluation-only. It picks the cheapest action whose Brier score is within ten percent of the best. A failure is any disagreement with it. A failure is material when the Brier score is more than twenty percent above the best, or when it costs at least one extra shot-set. And we committed to train a controller only if a gate found material structure that a simple rule missed.
Key points: context → probes → policy → one of A0–A4; H-control vs the committed alternative (a simple rule suffices); Oracle: cheapest within 10% of best Brier; material failure defined in advance; train a controller only if the gate passes.
Sources: docs/PREREG_P5B.md, docs/PREREG_P5C.md; configs/mixed_noise_study/p5c_v1.yaml (ε = 0.10, material multiple 2, overspend 1·S).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 1:28–2:25]
To make models, not transactions, the unit of analysis, we trained 64 quantum classifiers: 16 structures times four seeds. Structures vary the features, the encoding, the ansatz and the readout. All 64 qualified on clean data, with a median AUPRC of 0.235. Structures were split eight, four and four into training, validation and sealed test models.
A policy sees only static model descriptors and two label-free probes. The readout probe is the pair of calibration circuits that readout mitigation needs anyway. The gate probe runs 32 fixed synthetic inputs at fold factors one and three. Together they cost 66 circuits per batch. The readout probe tracks the true readout error almost perfectly, and the gate probe tracks depolarizing noise, but it barely sees thermal noise.
Key points: 64 VQCs = 16 structures × 4 seeds; median AUPRC 0.235 (0.047–0.538); split 8/4/4 by structure; test sealed; readout probe ρ = 0.999; gate probe ρ = −0.89 (depolarizing), −0.12 (thermal); 66 circuits per batch.
Sources: p5a_pool_metrics.csv; p5b_split.csv; p5b_feature_definitions.csv; p5c_probe_validity.csv (train, all budgets).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 2:25–3:25]
We ran every model under every action in two noise environments.
In Phase 5B, with eight near-categorical noise conditions, the best action was simply a lookup on the noise type, and a four-cell probe rule was wrong in only 0.33 percent of validation cases.
We then asked whether that was too easy, and in Phase 5C varied readout, depolarizing and thermal noise continuously and jointly, across 68 noise points and three shot budgets. That removed most of the choice. In our design, 16 of 17 gate settings carry gate noise, and combined mitigation was the Oracle's choice in 67 to 71 percent of contexts and ZNE in 23 to 27 percent. The shot budget changed the choice in fewer than three percent of cases, and three times the shots was never chosen.
Key points: 5B: best action = lookup on noise type; 4-cell rule wrong in 0.33% (best single action wrong in 62.5%); 5C: 68 points × 3 budgets; A3 67–71%, A2 23–27%; budget changes choice &lt; 3%; A4 never preferred; 16 of 17 gate settings carry gate noise (design).
Sources: p5b_metadata.json (category rule val failure 0.00332, best single 0.625); p5c_metadata.json (preferred_shares); p5c_budget_effect.csv; p5c_design.csv.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 3:25–4:27]
Both gates failed, as defined in advance.
Under categorical noise the category rule was nearly perfect. Under continuous noise the best rule, shown here, disagreed with the Oracle in 9.6 percent of validation decisions, but only 2.0 percent were material, well below the five percent gate. The remaining structure, mostly from mean-Z readouts, was statistically detectable but small.
The rule is two thresholds per shot budget. If the gate probe detects gate noise, use ZNE, and add readout mitigation when the readout probe exceeds about 0.4 percent error. Otherwise use readout mitigation alone. It works because mitigation removes a bias that shots cannot, and because in our design the material question is simply whether gate noise is present.
As registered, we trained no controller. Next time: the sealed-test results, from the test we ran on October 8. Thank you.
Key points: G3B: 0.33% &lt; 5% → fail; G3C: material 2.0% [1.6, 2.7] &lt; 5% → fail; residual detectable (MI 0.08 / 0.04 nats) but not material; rule: gate probe → ZNE; readout probe ≥ ~0.4% → add readout mitigation; no controller trained; fixed comparators evaluated on the sealed test (run Oct 8; presented Nov 24).
Sources: p5b_metadata.json (g3b); p5c_metadata.json (g3c, rules/R_thr, structure_association); p5c_policy_eval.csv.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9"/>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55664"/>
            <a:ext cx="10241280" cy="256032"/>
          </a:xfrm>
          <a:prstGeom prst="rect">
            <a:avLst/>
          </a:prstGeom>
          <a:noFill/>
          <a:ln/>
        </p:spPr>
        <p:txBody>
          <a:bodyPr wrap="square" lIns="0" tIns="0" rIns="0" bIns="0" rtlCol="0" anchor="ctr"/>
          <a:lstStyle/>
          <a:p>
            <a:pPr indent="0" marL="0">
              <a:buNone/>
            </a:pPr>
            <a:r>
              <a:rPr lang="en-US" sz="900" dirty="0">
                <a:solidFill>
                  <a:schemeClr val="accent5"/>
                </a:solidFill>
              </a:rPr>
              <a:t>Q-TRACE  ·  Policy selection  ·  November 10, 2026</a:t>
            </a:r>
            <a:endParaRPr lang="en-US" sz="900" dirty="0"/>
          </a:p>
        </p:txBody>
      </p:sp>
      <p:sp>
        <p:nvSpPr>
          <p:cNvPr id="3" name="Text 1"/>
          <p:cNvSpPr/>
          <p:nvPr>
            <p:ph idx="101" type="title" hasCustomPrompt="1"/>
          </p:nvPr>
        </p:nvSpPr>
        <p:spPr>
          <a:xfrm>
            <a:off x="548640" y="457200"/>
            <a:ext cx="11094415" cy="731520"/>
          </a:xfrm>
          <a:prstGeom prst="rect">
            <a:avLst/>
          </a:prstGeom>
          <a:noFill/>
          <a:ln/>
        </p:spPr>
        <p:txBody>
          <a:bodyPr wrap="square" rtlCol="0"/>
          <a:lstStyle>
            <a:lvl1pPr indent="0" marL="0">
              <a:buNone/>
              <a:defRPr lang="en-US" sz="2800" b="1" dirty="0">
                <a:solidFill>
                  <a:schemeClr val="tx2"/>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rgbClr val="1B2A49"/>
        </a:solidFill>
      </p:bgPr>
    </p:bg>
    <p:spTree>
      <p:nvGrpSpPr>
        <p:cNvPr id="1" name=""/>
        <p:cNvGrpSpPr/>
        <p:nvPr/>
      </p:nvGrpSpPr>
      <p:grpSpPr>
        <a:xfrm>
          <a:off x="0" y="0"/>
          <a:ext cx="0" cy="0"/>
          <a:chOff x="0" y="0"/>
          <a:chExt cx="0" cy="0"/>
        </a:xfrm>
      </p:grpSpPr>
      <p:sp>
        <p:nvSpPr>
          <p:cNvPr id="2" name="Text 0"/>
          <p:cNvSpPr/>
          <p:nvPr/>
        </p:nvSpPr>
        <p:spPr>
          <a:xfrm>
            <a:off x="548640" y="6455664"/>
            <a:ext cx="10241280" cy="256032"/>
          </a:xfrm>
          <a:prstGeom prst="rect">
            <a:avLst/>
          </a:prstGeom>
          <a:noFill/>
          <a:ln/>
        </p:spPr>
        <p:txBody>
          <a:bodyPr wrap="square" lIns="0" tIns="0" rIns="0" bIns="0" rtlCol="0" anchor="ctr"/>
          <a:lstStyle/>
          <a:p>
            <a:pPr indent="0" marL="0">
              <a:buNone/>
            </a:pPr>
            <a:r>
              <a:rPr lang="en-US" sz="900" dirty="0">
                <a:solidFill>
                  <a:srgbClr val="AFC2DC"/>
                </a:solidFill>
              </a:rPr>
              <a:t>Q-TRACE  ·  Policy selection  ·  November 10, 2026</a:t>
            </a:r>
            <a:endParaRPr lang="en-US" sz="900" dirty="0"/>
          </a:p>
        </p:txBody>
      </p:sp>
      <p:sp>
        <p:nvSpPr>
          <p:cNvPr id="3" name="Text 1"/>
          <p:cNvSpPr/>
          <p:nvPr>
            <p:ph idx="101" type="title" hasCustomPrompt="1"/>
          </p:nvPr>
        </p:nvSpPr>
        <p:spPr>
          <a:xfrm>
            <a:off x="548640" y="457200"/>
            <a:ext cx="11094415" cy="731520"/>
          </a:xfrm>
          <a:prstGeom prst="rect">
            <a:avLst/>
          </a:prstGeom>
          <a:noFill/>
          <a:ln/>
        </p:spPr>
        <p:txBody>
          <a:bodyPr wrap="square" rtlCol="0"/>
          <a:lstStyle>
            <a:lvl1pPr indent="0" marL="0">
              <a:buNone/>
              <a:defRPr lang="en-US" sz="2800" b="1" dirty="0">
                <a:solidFill>
                  <a:schemeClr val="bg1"/>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AFC2D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hip-bg"/>
          <p:cNvSpPr/>
          <p:nvPr/>
        </p:nvSpPr>
        <p:spPr>
          <a:xfrm>
            <a:off x="548640" y="411480"/>
            <a:ext cx="3246120" cy="329184"/>
          </a:xfrm>
          <a:prstGeom prst="roundRect">
            <a:avLst>
              <a:gd name="adj" fmla="val 44444"/>
            </a:avLst>
          </a:prstGeom>
          <a:solidFill>
            <a:srgbClr val="0F8B8D"/>
          </a:solidFill>
          <a:ln w="12700">
            <a:solidFill>
              <a:srgbClr val="0F8B8D"/>
            </a:solidFill>
            <a:prstDash val="solid"/>
          </a:ln>
        </p:spPr>
      </p:sp>
      <p:sp>
        <p:nvSpPr>
          <p:cNvPr id="3" name="chip"/>
          <p:cNvSpPr txBox="1"/>
          <p:nvPr/>
        </p:nvSpPr>
        <p:spPr>
          <a:xfrm>
            <a:off x="548640" y="411480"/>
            <a:ext cx="3246120" cy="329184"/>
          </a:xfrm>
          <a:prstGeom prst="rect">
            <a:avLst/>
          </a:prstGeom>
          <a:noFill/>
          <a:ln/>
        </p:spPr>
        <p:txBody>
          <a:bodyPr wrap="square" lIns="0" tIns="0" rIns="0" bIns="0" rtlCol="0" anchor="ctr"/>
          <a:lstStyle/>
          <a:p>
            <a:pPr algn="ctr" indent="0" marL="0">
              <a:buNone/>
            </a:pPr>
            <a:r>
              <a:rPr lang="en-US" sz="1100" b="1" dirty="0">
                <a:solidFill>
                  <a:srgbClr val="FFFFFF"/>
                </a:solidFill>
              </a:rPr>
              <a:t>Meeting 5 of 7  ·  November 10, 2026</a:t>
            </a:r>
            <a:endParaRPr lang="en-US" sz="1100" dirty="0"/>
          </a:p>
        </p:txBody>
      </p:sp>
      <p:sp>
        <p:nvSpPr>
          <p:cNvPr id="4" name="topic"/>
          <p:cNvSpPr txBox="1"/>
          <p:nvPr/>
        </p:nvSpPr>
        <p:spPr>
          <a:xfrm>
            <a:off x="548640" y="1051560"/>
            <a:ext cx="10058400" cy="365760"/>
          </a:xfrm>
          <a:prstGeom prst="rect">
            <a:avLst/>
          </a:prstGeom>
          <a:noFill/>
          <a:ln/>
        </p:spPr>
        <p:txBody>
          <a:bodyPr wrap="square" lIns="0" tIns="0" rIns="0" bIns="0" rtlCol="0" anchor="t"/>
          <a:lstStyle/>
          <a:p>
            <a:pPr indent="0" marL="0">
              <a:buNone/>
            </a:pPr>
            <a:r>
              <a:rPr lang="en-US" sz="1300" b="1" spc="200" kern="0" dirty="0">
                <a:solidFill>
                  <a:srgbClr val="7FD6D3"/>
                </a:solidFill>
              </a:rPr>
              <a:t>POLICY SELECTION</a:t>
            </a:r>
            <a:endParaRPr lang="en-US" sz="1300" dirty="0"/>
          </a:p>
        </p:txBody>
      </p:sp>
      <p:sp>
        <p:nvSpPr>
          <p:cNvPr id="5" name="headline"/>
          <p:cNvSpPr txBox="1"/>
          <p:nvPr/>
        </p:nvSpPr>
        <p:spPr>
          <a:xfrm>
            <a:off x="548640" y="1417320"/>
            <a:ext cx="11064240" cy="566928"/>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Does choosing mitigation need a learned controller?</a:t>
            </a:r>
            <a:endParaRPr lang="en-US" sz="3400" dirty="0"/>
          </a:p>
        </p:txBody>
      </p:sp>
      <p:sp>
        <p:nvSpPr>
          <p:cNvPr id="6" name="subtitle"/>
          <p:cNvSpPr txBox="1"/>
          <p:nvPr/>
        </p:nvSpPr>
        <p:spPr>
          <a:xfrm>
            <a:off x="548640" y="2185416"/>
            <a:ext cx="10607040" cy="457200"/>
          </a:xfrm>
          <a:prstGeom prst="rect">
            <a:avLst/>
          </a:prstGeom>
          <a:noFill/>
          <a:ln/>
        </p:spPr>
        <p:txBody>
          <a:bodyPr wrap="square" lIns="0" tIns="0" rIns="0" bIns="0" rtlCol="0" anchor="t"/>
          <a:lstStyle/>
          <a:p>
            <a:pPr indent="0" marL="0">
              <a:buNone/>
            </a:pPr>
            <a:r>
              <a:rPr lang="en-US" sz="1700" dirty="0">
                <a:solidFill>
                  <a:srgbClr val="CADCFC"/>
                </a:solidFill>
              </a:rPr>
              <a:t>Learned-controller hypothesis · 64-model pool · label-free probes · categorical and continuous noise · gates</a:t>
            </a:r>
            <a:endParaRPr lang="en-US" sz="1700" dirty="0"/>
          </a:p>
        </p:txBody>
      </p:sp>
      <p:sp>
        <p:nvSpPr>
          <p:cNvPr id="7" name="message-bg"/>
          <p:cNvSpPr/>
          <p:nvPr/>
        </p:nvSpPr>
        <p:spPr>
          <a:xfrm>
            <a:off x="548640" y="3337560"/>
            <a:ext cx="11064240" cy="960120"/>
          </a:xfrm>
          <a:prstGeom prst="roundRect">
            <a:avLst>
              <a:gd name="adj" fmla="val 7619"/>
            </a:avLst>
          </a:prstGeom>
          <a:solidFill>
            <a:srgbClr val="243A63"/>
          </a:solidFill>
          <a:ln w="12700">
            <a:solidFill>
              <a:srgbClr val="3A5584"/>
            </a:solidFill>
            <a:prstDash val="solid"/>
          </a:ln>
        </p:spPr>
      </p:sp>
      <p:sp>
        <p:nvSpPr>
          <p:cNvPr id="8" name="message-icon-circle"/>
          <p:cNvSpPr/>
          <p:nvPr/>
        </p:nvSpPr>
        <p:spPr>
          <a:xfrm>
            <a:off x="749808" y="3547872"/>
            <a:ext cx="548640" cy="548640"/>
          </a:xfrm>
          <a:prstGeom prst="ellipse">
            <a:avLst/>
          </a:prstGeom>
          <a:solidFill>
            <a:srgbClr val="0F8B8D"/>
          </a:solidFill>
          <a:ln w="12700">
            <a:solidFill>
              <a:srgbClr val="0F8B8D"/>
            </a:solidFill>
            <a:prstDash val="solid"/>
          </a:ln>
        </p:spPr>
      </p:sp>
      <p:pic>
        <p:nvPicPr>
          <p:cNvPr id="9" name="message-icon" descr="preencoded.png">    </p:cNvPr>
          <p:cNvPicPr>
            <a:picLocks noChangeAspect="1"/>
          </p:cNvPicPr>
          <p:nvPr/>
        </p:nvPicPr>
        <p:blipFill>
          <a:blip r:embed="rId1"/>
          <a:stretch>
            <a:fillRect/>
          </a:stretch>
        </p:blipFill>
        <p:spPr>
          <a:xfrm>
            <a:off x="881482" y="3679546"/>
            <a:ext cx="285293" cy="285293"/>
          </a:xfrm>
          <a:prstGeom prst="rect">
            <a:avLst/>
          </a:prstGeom>
        </p:spPr>
      </p:pic>
      <p:sp>
        <p:nvSpPr>
          <p:cNvPr id="10" name="message"/>
          <p:cNvSpPr txBox="1"/>
          <p:nvPr/>
        </p:nvSpPr>
        <p:spPr>
          <a:xfrm>
            <a:off x="1463040" y="3337560"/>
            <a:ext cx="9921240" cy="960120"/>
          </a:xfrm>
          <a:prstGeom prst="rect">
            <a:avLst/>
          </a:prstGeom>
          <a:noFill/>
          <a:ln/>
        </p:spPr>
        <p:txBody>
          <a:bodyPr wrap="square" lIns="0" tIns="0" rIns="0" bIns="0" rtlCol="0" anchor="ctr"/>
          <a:lstStyle/>
          <a:p>
            <a:pPr indent="0" marL="0">
              <a:buNone/>
            </a:pPr>
            <a:r>
              <a:rPr lang="en-US" sz="1600" dirty="0">
                <a:solidFill>
                  <a:srgbClr val="FFFFFF"/>
                </a:solidFill>
              </a:rPr>
              <a:t>Phases 5A–5C (completed Oct 7–8, 2026). Two pre-registered gates found no material structure left for a learned controller, so none was trained. A two-threshold probe rule emerged instead.</a:t>
            </a:r>
            <a:endParaRPr lang="en-US" sz="1600" dirty="0"/>
          </a:p>
        </p:txBody>
      </p:sp>
      <p:sp>
        <p:nvSpPr>
          <p:cNvPr id="11" name="authors"/>
          <p:cNvSpPr txBox="1"/>
          <p:nvPr/>
        </p:nvSpPr>
        <p:spPr>
          <a:xfrm>
            <a:off x="548640" y="4526280"/>
            <a:ext cx="11064240" cy="868680"/>
          </a:xfrm>
          <a:prstGeom prst="rect">
            <a:avLst/>
          </a:prstGeom>
          <a:noFill/>
          <a:ln/>
        </p:spPr>
        <p:txBody>
          <a:bodyPr wrap="square" lIns="0" tIns="0" rIns="0" bIns="0" rtlCol="0" anchor="t"/>
          <a:lstStyle/>
          <a:p>
            <a:pPr indent="0" marL="0">
              <a:buNone/>
            </a:pPr>
            <a:r>
              <a:rPr lang="en-US" sz="1300" b="1" dirty="0">
                <a:solidFill>
                  <a:srgbClr val="E6ECF5"/>
                </a:solidFill>
              </a:rPr>
              <a:t>Mayank Kumar Pokhriyal  ·  Tushar Poonia</a:t>
            </a:r>
            <a:endParaRPr lang="en-US" sz="1300" dirty="0"/>
          </a:p>
          <a:p>
            <a:pPr indent="0" marL="0">
              <a:buNone/>
            </a:pPr>
            <a:r>
              <a:rPr lang="en-US" sz="1300" dirty="0">
                <a:solidFill>
                  <a:srgbClr val="E6ECF5"/>
                </a:solidFill>
              </a:rPr>
              <a:t>M.S. in Artificial Intelligence capstone  ·  Katz School of Science and Health, Yeshiva University</a:t>
            </a:r>
            <a:endParaRPr lang="en-US" sz="1300" dirty="0"/>
          </a:p>
          <a:p>
            <a:pPr indent="0" marL="0">
              <a:buNone/>
            </a:pPr>
            <a:r>
              <a:rPr lang="en-US" sz="1150" dirty="0">
                <a:solidFill>
                  <a:srgbClr val="AFC2DC"/>
                </a:solidFill>
              </a:rPr>
              <a:t>Proposed split: Mayank (slides 1–3) · Tushar (slides 4–5) · about 5 minutes</a:t>
            </a:r>
            <a:endParaRPr lang="en-US" sz="1300" dirty="0"/>
          </a:p>
        </p:txBody>
      </p:sp>
      <p:sp>
        <p:nvSpPr>
          <p:cNvPr id="12" name="tracker-line"/>
          <p:cNvSpPr/>
          <p:nvPr/>
        </p:nvSpPr>
        <p:spPr>
          <a:xfrm>
            <a:off x="548640" y="5888736"/>
            <a:ext cx="11094415" cy="0"/>
          </a:xfrm>
          <a:prstGeom prst="line">
            <a:avLst/>
          </a:prstGeom>
          <a:noFill/>
          <a:ln w="19050">
            <a:solidFill>
              <a:srgbClr val="5B6C8F"/>
            </a:solidFill>
            <a:prstDash val="solid"/>
          </a:ln>
        </p:spPr>
      </p:sp>
      <p:sp>
        <p:nvSpPr>
          <p:cNvPr id="13" name="tracker-node-0"/>
          <p:cNvSpPr/>
          <p:nvPr/>
        </p:nvSpPr>
        <p:spPr>
          <a:xfrm>
            <a:off x="448056" y="5788152"/>
            <a:ext cx="201168" cy="201168"/>
          </a:xfrm>
          <a:prstGeom prst="ellipse">
            <a:avLst/>
          </a:prstGeom>
          <a:solidFill>
            <a:srgbClr val="0F8B8D"/>
          </a:solidFill>
          <a:ln w="19050">
            <a:solidFill>
              <a:srgbClr val="0F8B8D"/>
            </a:solidFill>
            <a:prstDash val="solid"/>
          </a:ln>
        </p:spPr>
      </p:sp>
      <p:sp>
        <p:nvSpPr>
          <p:cNvPr id="14" name="tracker-label-0"/>
          <p:cNvSpPr txBox="1"/>
          <p:nvPr/>
        </p:nvSpPr>
        <p:spPr>
          <a:xfrm>
            <a:off x="-228600"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Sep 15</a:t>
            </a:r>
            <a:endParaRPr lang="en-US" sz="1400" dirty="0"/>
          </a:p>
          <a:p>
            <a:pPr algn="ctr" indent="0" marL="0">
              <a:buNone/>
            </a:pPr>
            <a:r>
              <a:rPr lang="en-US" sz="950" dirty="0">
                <a:solidFill>
                  <a:srgbClr val="AFC2DC"/>
                </a:solidFill>
              </a:rPr>
              <a:t>Proposal</a:t>
            </a:r>
            <a:endParaRPr lang="en-US" sz="1400" dirty="0"/>
          </a:p>
        </p:txBody>
      </p:sp>
      <p:sp>
        <p:nvSpPr>
          <p:cNvPr id="15" name="tracker-node-1"/>
          <p:cNvSpPr/>
          <p:nvPr/>
        </p:nvSpPr>
        <p:spPr>
          <a:xfrm>
            <a:off x="2297125" y="5788152"/>
            <a:ext cx="201168" cy="201168"/>
          </a:xfrm>
          <a:prstGeom prst="ellipse">
            <a:avLst/>
          </a:prstGeom>
          <a:solidFill>
            <a:srgbClr val="0F8B8D"/>
          </a:solidFill>
          <a:ln w="19050">
            <a:solidFill>
              <a:srgbClr val="0F8B8D"/>
            </a:solidFill>
            <a:prstDash val="solid"/>
          </a:ln>
        </p:spPr>
      </p:sp>
      <p:sp>
        <p:nvSpPr>
          <p:cNvPr id="16" name="tracker-label-1"/>
          <p:cNvSpPr txBox="1"/>
          <p:nvPr/>
        </p:nvSpPr>
        <p:spPr>
          <a:xfrm>
            <a:off x="1620469"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Sep 29</a:t>
            </a:r>
            <a:endParaRPr lang="en-US" sz="1400" dirty="0"/>
          </a:p>
          <a:p>
            <a:pPr algn="ctr" indent="0" marL="0">
              <a:buNone/>
            </a:pPr>
            <a:r>
              <a:rPr lang="en-US" sz="950" dirty="0">
                <a:solidFill>
                  <a:srgbClr val="AFC2DC"/>
                </a:solidFill>
              </a:rPr>
              <a:t>Design</a:t>
            </a:r>
            <a:endParaRPr lang="en-US" sz="1400" dirty="0"/>
          </a:p>
        </p:txBody>
      </p:sp>
      <p:sp>
        <p:nvSpPr>
          <p:cNvPr id="17" name="tracker-node-2"/>
          <p:cNvSpPr/>
          <p:nvPr/>
        </p:nvSpPr>
        <p:spPr>
          <a:xfrm>
            <a:off x="4146194" y="5788152"/>
            <a:ext cx="201168" cy="201168"/>
          </a:xfrm>
          <a:prstGeom prst="ellipse">
            <a:avLst/>
          </a:prstGeom>
          <a:solidFill>
            <a:srgbClr val="0F8B8D"/>
          </a:solidFill>
          <a:ln w="19050">
            <a:solidFill>
              <a:srgbClr val="0F8B8D"/>
            </a:solidFill>
            <a:prstDash val="solid"/>
          </a:ln>
        </p:spPr>
      </p:sp>
      <p:sp>
        <p:nvSpPr>
          <p:cNvPr id="18" name="tracker-label-2"/>
          <p:cNvSpPr txBox="1"/>
          <p:nvPr/>
        </p:nvSpPr>
        <p:spPr>
          <a:xfrm>
            <a:off x="3469538"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Oct 13</a:t>
            </a:r>
            <a:endParaRPr lang="en-US" sz="1400" dirty="0"/>
          </a:p>
          <a:p>
            <a:pPr algn="ctr" indent="0" marL="0">
              <a:buNone/>
            </a:pPr>
            <a:r>
              <a:rPr lang="en-US" sz="950" dirty="0">
                <a:solidFill>
                  <a:srgbClr val="AFC2DC"/>
                </a:solidFill>
              </a:rPr>
              <a:t>Implementation</a:t>
            </a:r>
            <a:endParaRPr lang="en-US" sz="1400" dirty="0"/>
          </a:p>
        </p:txBody>
      </p:sp>
      <p:sp>
        <p:nvSpPr>
          <p:cNvPr id="19" name="tracker-node-3"/>
          <p:cNvSpPr/>
          <p:nvPr/>
        </p:nvSpPr>
        <p:spPr>
          <a:xfrm>
            <a:off x="5995264" y="5788152"/>
            <a:ext cx="201168" cy="201168"/>
          </a:xfrm>
          <a:prstGeom prst="ellipse">
            <a:avLst/>
          </a:prstGeom>
          <a:solidFill>
            <a:srgbClr val="0F8B8D"/>
          </a:solidFill>
          <a:ln w="19050">
            <a:solidFill>
              <a:srgbClr val="0F8B8D"/>
            </a:solidFill>
            <a:prstDash val="solid"/>
          </a:ln>
        </p:spPr>
      </p:sp>
      <p:sp>
        <p:nvSpPr>
          <p:cNvPr id="20" name="tracker-label-3"/>
          <p:cNvSpPr txBox="1"/>
          <p:nvPr/>
        </p:nvSpPr>
        <p:spPr>
          <a:xfrm>
            <a:off x="5318608"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Oct 27</a:t>
            </a:r>
            <a:endParaRPr lang="en-US" sz="1400" dirty="0"/>
          </a:p>
          <a:p>
            <a:pPr algn="ctr" indent="0" marL="0">
              <a:buNone/>
            </a:pPr>
            <a:r>
              <a:rPr lang="en-US" sz="950" dirty="0">
                <a:solidFill>
                  <a:srgbClr val="AFC2DC"/>
                </a:solidFill>
              </a:rPr>
              <a:t>Noise &amp; mitigation</a:t>
            </a:r>
            <a:endParaRPr lang="en-US" sz="1400" dirty="0"/>
          </a:p>
        </p:txBody>
      </p:sp>
      <p:sp>
        <p:nvSpPr>
          <p:cNvPr id="21" name="tracker-node-4"/>
          <p:cNvSpPr/>
          <p:nvPr/>
        </p:nvSpPr>
        <p:spPr>
          <a:xfrm>
            <a:off x="7807757" y="5751576"/>
            <a:ext cx="274320" cy="274320"/>
          </a:xfrm>
          <a:prstGeom prst="ellipse">
            <a:avLst/>
          </a:prstGeom>
          <a:solidFill>
            <a:srgbClr val="E8A33D"/>
          </a:solidFill>
          <a:ln w="19050">
            <a:solidFill>
              <a:srgbClr val="E8A33D"/>
            </a:solidFill>
            <a:prstDash val="solid"/>
          </a:ln>
        </p:spPr>
      </p:sp>
      <p:sp>
        <p:nvSpPr>
          <p:cNvPr id="22" name="tracker-label-4"/>
          <p:cNvSpPr txBox="1"/>
          <p:nvPr/>
        </p:nvSpPr>
        <p:spPr>
          <a:xfrm>
            <a:off x="7167677" y="6071616"/>
            <a:ext cx="1554480" cy="457200"/>
          </a:xfrm>
          <a:prstGeom prst="rect">
            <a:avLst/>
          </a:prstGeom>
          <a:noFill/>
          <a:ln/>
        </p:spPr>
        <p:txBody>
          <a:bodyPr wrap="square" lIns="0" tIns="0" rIns="0" bIns="0" rtlCol="0" anchor="t"/>
          <a:lstStyle/>
          <a:p>
            <a:pPr algn="ctr" indent="0" marL="0">
              <a:buNone/>
            </a:pPr>
            <a:r>
              <a:rPr lang="en-US" sz="1050" b="1" dirty="0">
                <a:solidFill>
                  <a:srgbClr val="FFFFFF"/>
                </a:solidFill>
              </a:rPr>
              <a:t>Nov 10</a:t>
            </a:r>
            <a:endParaRPr lang="en-US" sz="1400" dirty="0"/>
          </a:p>
          <a:p>
            <a:pPr algn="ctr" indent="0" marL="0">
              <a:buNone/>
            </a:pPr>
            <a:r>
              <a:rPr lang="en-US" sz="950" dirty="0">
                <a:solidFill>
                  <a:srgbClr val="FFFFFF"/>
                </a:solidFill>
              </a:rPr>
              <a:t>Policy selection</a:t>
            </a:r>
            <a:endParaRPr lang="en-US" sz="1400" dirty="0"/>
          </a:p>
        </p:txBody>
      </p:sp>
      <p:sp>
        <p:nvSpPr>
          <p:cNvPr id="23" name="tracker-node-5"/>
          <p:cNvSpPr/>
          <p:nvPr/>
        </p:nvSpPr>
        <p:spPr>
          <a:xfrm>
            <a:off x="9693402" y="5788152"/>
            <a:ext cx="201168" cy="201168"/>
          </a:xfrm>
          <a:prstGeom prst="ellipse">
            <a:avLst/>
          </a:prstGeom>
          <a:solidFill>
            <a:srgbClr val="1B2A49"/>
          </a:solidFill>
          <a:ln w="19050">
            <a:solidFill>
              <a:srgbClr val="5B6C8F"/>
            </a:solidFill>
            <a:prstDash val="solid"/>
          </a:ln>
        </p:spPr>
      </p:sp>
      <p:sp>
        <p:nvSpPr>
          <p:cNvPr id="24" name="tracker-label-5"/>
          <p:cNvSpPr txBox="1"/>
          <p:nvPr/>
        </p:nvSpPr>
        <p:spPr>
          <a:xfrm>
            <a:off x="9016746"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Nov 24</a:t>
            </a:r>
            <a:endParaRPr lang="en-US" sz="1400" dirty="0"/>
          </a:p>
          <a:p>
            <a:pPr algn="ctr" indent="0" marL="0">
              <a:buNone/>
            </a:pPr>
            <a:r>
              <a:rPr lang="en-US" sz="950" dirty="0">
                <a:solidFill>
                  <a:srgbClr val="AFC2DC"/>
                </a:solidFill>
              </a:rPr>
              <a:t>Final findings</a:t>
            </a:r>
            <a:endParaRPr lang="en-US" sz="1400" dirty="0"/>
          </a:p>
        </p:txBody>
      </p:sp>
      <p:sp>
        <p:nvSpPr>
          <p:cNvPr id="25" name="tracker-node-6"/>
          <p:cNvSpPr/>
          <p:nvPr/>
        </p:nvSpPr>
        <p:spPr>
          <a:xfrm>
            <a:off x="11542471" y="5788152"/>
            <a:ext cx="201168" cy="201168"/>
          </a:xfrm>
          <a:prstGeom prst="ellipse">
            <a:avLst/>
          </a:prstGeom>
          <a:solidFill>
            <a:srgbClr val="1B2A49"/>
          </a:solidFill>
          <a:ln w="19050">
            <a:solidFill>
              <a:srgbClr val="5B6C8F"/>
            </a:solidFill>
            <a:prstDash val="solid"/>
          </a:ln>
        </p:spPr>
      </p:sp>
      <p:sp>
        <p:nvSpPr>
          <p:cNvPr id="26" name="tracker-label-6"/>
          <p:cNvSpPr txBox="1"/>
          <p:nvPr/>
        </p:nvSpPr>
        <p:spPr>
          <a:xfrm>
            <a:off x="10865815"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Dec 8</a:t>
            </a:r>
            <a:endParaRPr lang="en-US" sz="1400" dirty="0"/>
          </a:p>
          <a:p>
            <a:pPr algn="ctr" indent="0" marL="0">
              <a:buNone/>
            </a:pPr>
            <a:r>
              <a:rPr lang="en-US" sz="950" dirty="0">
                <a:solidFill>
                  <a:srgbClr val="AFC2DC"/>
                </a:solidFill>
              </a:rPr>
              <a:t>Final defense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ORIGINAL HYPOTHESIS  ·  EACH STAGE REGISTERED BEFORE ITS OWN OUTCOMES  ·  OCTOBER 6–8, 2026</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The decision we proposed to learn</a:t>
            </a:r>
            <a:endParaRPr lang="en-US" sz="2800" dirty="0"/>
          </a:p>
        </p:txBody>
      </p:sp>
      <p:sp>
        <p:nvSpPr>
          <p:cNvPr id="4" name="flow-box-0"/>
          <p:cNvSpPr/>
          <p:nvPr/>
        </p:nvSpPr>
        <p:spPr>
          <a:xfrm>
            <a:off x="548640" y="1371600"/>
            <a:ext cx="2554148" cy="914400"/>
          </a:xfrm>
          <a:prstGeom prst="roundRect">
            <a:avLst>
              <a:gd name="adj" fmla="val 7000"/>
            </a:avLst>
          </a:prstGeom>
          <a:solidFill>
            <a:srgbClr val="EEF2F7"/>
          </a:solidFill>
          <a:ln w="6350">
            <a:solidFill>
              <a:srgbClr val="EEF2F7"/>
            </a:solidFill>
            <a:prstDash val="solid"/>
          </a:ln>
        </p:spPr>
      </p:sp>
      <p:sp>
        <p:nvSpPr>
          <p:cNvPr id="5" name="flow-text-0"/>
          <p:cNvSpPr txBox="1"/>
          <p:nvPr/>
        </p:nvSpPr>
        <p:spPr>
          <a:xfrm>
            <a:off x="621792" y="1371600"/>
            <a:ext cx="2407844" cy="914400"/>
          </a:xfrm>
          <a:prstGeom prst="rect">
            <a:avLst/>
          </a:prstGeom>
          <a:noFill/>
          <a:ln/>
        </p:spPr>
        <p:txBody>
          <a:bodyPr wrap="square" lIns="0" tIns="0" rIns="0" bIns="0" rtlCol="0" anchor="ctr"/>
          <a:lstStyle/>
          <a:p>
            <a:pPr algn="ctr" indent="0" marL="0">
              <a:buNone/>
            </a:pPr>
            <a:r>
              <a:rPr lang="en-US" sz="1400" b="1" dirty="0">
                <a:solidFill>
                  <a:schemeClr val="tx2"/>
                </a:solidFill>
              </a:rPr>
              <a:t>Context</a:t>
            </a:r>
            <a:endParaRPr lang="en-US" sz="1400" dirty="0"/>
          </a:p>
          <a:p>
            <a:pPr algn="ctr" indent="0" marL="0">
              <a:buNone/>
            </a:pPr>
            <a:r>
              <a:rPr lang="en-US" sz="1200" dirty="0">
                <a:solidFill>
                  <a:schemeClr val="tx1"/>
                </a:solidFill>
              </a:rPr>
              <a:t>model · noise · shot budget · batch</a:t>
            </a:r>
            <a:endParaRPr lang="en-US" sz="1400" dirty="0"/>
          </a:p>
        </p:txBody>
      </p:sp>
      <p:sp>
        <p:nvSpPr>
          <p:cNvPr id="6" name="flow-arrow-0"/>
          <p:cNvSpPr/>
          <p:nvPr/>
        </p:nvSpPr>
        <p:spPr>
          <a:xfrm>
            <a:off x="3139364" y="1728216"/>
            <a:ext cx="219456" cy="201168"/>
          </a:xfrm>
          <a:prstGeom prst="rightArrow">
            <a:avLst/>
          </a:prstGeom>
          <a:solidFill>
            <a:srgbClr val="6B7280"/>
          </a:solidFill>
          <a:ln w="12700">
            <a:solidFill>
              <a:srgbClr val="6B7280"/>
            </a:solidFill>
            <a:prstDash val="solid"/>
          </a:ln>
        </p:spPr>
      </p:sp>
      <p:sp>
        <p:nvSpPr>
          <p:cNvPr id="7" name="flow-box-1"/>
          <p:cNvSpPr/>
          <p:nvPr/>
        </p:nvSpPr>
        <p:spPr>
          <a:xfrm>
            <a:off x="3395396" y="1371600"/>
            <a:ext cx="2554148" cy="914400"/>
          </a:xfrm>
          <a:prstGeom prst="roundRect">
            <a:avLst>
              <a:gd name="adj" fmla="val 7000"/>
            </a:avLst>
          </a:prstGeom>
          <a:solidFill>
            <a:srgbClr val="EEF2F7"/>
          </a:solidFill>
          <a:ln w="6350">
            <a:solidFill>
              <a:srgbClr val="EEF2F7"/>
            </a:solidFill>
            <a:prstDash val="solid"/>
          </a:ln>
        </p:spPr>
      </p:sp>
      <p:sp>
        <p:nvSpPr>
          <p:cNvPr id="8" name="flow-text-1"/>
          <p:cNvSpPr txBox="1"/>
          <p:nvPr/>
        </p:nvSpPr>
        <p:spPr>
          <a:xfrm>
            <a:off x="3468548" y="1371600"/>
            <a:ext cx="2407844" cy="914400"/>
          </a:xfrm>
          <a:prstGeom prst="rect">
            <a:avLst/>
          </a:prstGeom>
          <a:noFill/>
          <a:ln/>
        </p:spPr>
        <p:txBody>
          <a:bodyPr wrap="square" lIns="0" tIns="0" rIns="0" bIns="0" rtlCol="0" anchor="ctr"/>
          <a:lstStyle/>
          <a:p>
            <a:pPr algn="ctr" indent="0" marL="0">
              <a:buNone/>
            </a:pPr>
            <a:r>
              <a:rPr lang="en-US" sz="1400" b="1" dirty="0">
                <a:solidFill>
                  <a:schemeClr val="tx2"/>
                </a:solidFill>
              </a:rPr>
              <a:t>Label-free probes</a:t>
            </a:r>
            <a:endParaRPr lang="en-US" sz="1400" dirty="0"/>
          </a:p>
          <a:p>
            <a:pPr algn="ctr" indent="0" marL="0">
              <a:buNone/>
            </a:pPr>
            <a:r>
              <a:rPr lang="en-US" sz="1200" dirty="0">
                <a:solidFill>
                  <a:schemeClr val="tx1"/>
                </a:solidFill>
              </a:rPr>
              <a:t>measured every batch</a:t>
            </a:r>
            <a:endParaRPr lang="en-US" sz="1400" dirty="0"/>
          </a:p>
        </p:txBody>
      </p:sp>
      <p:sp>
        <p:nvSpPr>
          <p:cNvPr id="9" name="flow-arrow-1"/>
          <p:cNvSpPr/>
          <p:nvPr/>
        </p:nvSpPr>
        <p:spPr>
          <a:xfrm>
            <a:off x="5986120" y="1728216"/>
            <a:ext cx="219456" cy="201168"/>
          </a:xfrm>
          <a:prstGeom prst="rightArrow">
            <a:avLst/>
          </a:prstGeom>
          <a:solidFill>
            <a:srgbClr val="6B7280"/>
          </a:solidFill>
          <a:ln w="12700">
            <a:solidFill>
              <a:srgbClr val="6B7280"/>
            </a:solidFill>
            <a:prstDash val="solid"/>
          </a:ln>
        </p:spPr>
      </p:sp>
      <p:sp>
        <p:nvSpPr>
          <p:cNvPr id="10" name="flow-box-2"/>
          <p:cNvSpPr/>
          <p:nvPr/>
        </p:nvSpPr>
        <p:spPr>
          <a:xfrm>
            <a:off x="6242152" y="1371600"/>
            <a:ext cx="2554148" cy="914400"/>
          </a:xfrm>
          <a:prstGeom prst="roundRect">
            <a:avLst>
              <a:gd name="adj" fmla="val 7000"/>
            </a:avLst>
          </a:prstGeom>
          <a:solidFill>
            <a:srgbClr val="D7EEEE"/>
          </a:solidFill>
          <a:ln w="6350">
            <a:solidFill>
              <a:srgbClr val="D7EEEE"/>
            </a:solidFill>
            <a:prstDash val="solid"/>
          </a:ln>
        </p:spPr>
      </p:sp>
      <p:sp>
        <p:nvSpPr>
          <p:cNvPr id="11" name="flow-text-2"/>
          <p:cNvSpPr txBox="1"/>
          <p:nvPr/>
        </p:nvSpPr>
        <p:spPr>
          <a:xfrm>
            <a:off x="6315304" y="1371600"/>
            <a:ext cx="2407844" cy="914400"/>
          </a:xfrm>
          <a:prstGeom prst="rect">
            <a:avLst/>
          </a:prstGeom>
          <a:noFill/>
          <a:ln/>
        </p:spPr>
        <p:txBody>
          <a:bodyPr wrap="square" lIns="0" tIns="0" rIns="0" bIns="0" rtlCol="0" anchor="ctr"/>
          <a:lstStyle/>
          <a:p>
            <a:pPr algn="ctr" indent="0" marL="0">
              <a:buNone/>
            </a:pPr>
            <a:r>
              <a:rPr lang="en-US" sz="1400" b="1" dirty="0">
                <a:solidFill>
                  <a:schemeClr val="tx2"/>
                </a:solidFill>
              </a:rPr>
              <a:t>Policy</a:t>
            </a:r>
            <a:endParaRPr lang="en-US" sz="1400" dirty="0"/>
          </a:p>
          <a:p>
            <a:pPr algn="ctr" indent="0" marL="0">
              <a:buNone/>
            </a:pPr>
            <a:r>
              <a:rPr lang="en-US" sz="1200" dirty="0">
                <a:solidFill>
                  <a:schemeClr val="tx1"/>
                </a:solidFill>
              </a:rPr>
              <a:t>learned controller or simple rule</a:t>
            </a:r>
            <a:endParaRPr lang="en-US" sz="1400" dirty="0"/>
          </a:p>
        </p:txBody>
      </p:sp>
      <p:sp>
        <p:nvSpPr>
          <p:cNvPr id="12" name="flow-arrow-2"/>
          <p:cNvSpPr/>
          <p:nvPr/>
        </p:nvSpPr>
        <p:spPr>
          <a:xfrm>
            <a:off x="8832875" y="1728216"/>
            <a:ext cx="219456" cy="201168"/>
          </a:xfrm>
          <a:prstGeom prst="rightArrow">
            <a:avLst/>
          </a:prstGeom>
          <a:solidFill>
            <a:srgbClr val="6B7280"/>
          </a:solidFill>
          <a:ln w="12700">
            <a:solidFill>
              <a:srgbClr val="6B7280"/>
            </a:solidFill>
            <a:prstDash val="solid"/>
          </a:ln>
        </p:spPr>
      </p:sp>
      <p:sp>
        <p:nvSpPr>
          <p:cNvPr id="13" name="flow-box-3"/>
          <p:cNvSpPr/>
          <p:nvPr/>
        </p:nvSpPr>
        <p:spPr>
          <a:xfrm>
            <a:off x="9088907" y="1371600"/>
            <a:ext cx="2554148" cy="914400"/>
          </a:xfrm>
          <a:prstGeom prst="roundRect">
            <a:avLst>
              <a:gd name="adj" fmla="val 7000"/>
            </a:avLst>
          </a:prstGeom>
          <a:solidFill>
            <a:srgbClr val="EEF2F7"/>
          </a:solidFill>
          <a:ln w="6350">
            <a:solidFill>
              <a:srgbClr val="EEF2F7"/>
            </a:solidFill>
            <a:prstDash val="solid"/>
          </a:ln>
        </p:spPr>
      </p:sp>
      <p:sp>
        <p:nvSpPr>
          <p:cNvPr id="14" name="flow-text-3"/>
          <p:cNvSpPr txBox="1"/>
          <p:nvPr/>
        </p:nvSpPr>
        <p:spPr>
          <a:xfrm>
            <a:off x="9162059" y="1371600"/>
            <a:ext cx="2407844" cy="914400"/>
          </a:xfrm>
          <a:prstGeom prst="rect">
            <a:avLst/>
          </a:prstGeom>
          <a:noFill/>
          <a:ln/>
        </p:spPr>
        <p:txBody>
          <a:bodyPr wrap="square" lIns="0" tIns="0" rIns="0" bIns="0" rtlCol="0" anchor="ctr"/>
          <a:lstStyle/>
          <a:p>
            <a:pPr algn="ctr" indent="0" marL="0">
              <a:buNone/>
            </a:pPr>
            <a:r>
              <a:rPr lang="en-US" sz="1400" b="1" dirty="0">
                <a:solidFill>
                  <a:schemeClr val="tx2"/>
                </a:solidFill>
              </a:rPr>
              <a:t>Action A0–A4</a:t>
            </a:r>
            <a:endParaRPr lang="en-US" sz="1400" dirty="0"/>
          </a:p>
          <a:p>
            <a:pPr algn="ctr" indent="0" marL="0">
              <a:buNone/>
            </a:pPr>
            <a:r>
              <a:rPr lang="en-US" sz="1200" dirty="0">
                <a:solidFill>
                  <a:schemeClr val="tx1"/>
                </a:solidFill>
              </a:rPr>
              <a:t>none · readout · ZNE · both · 3× shots</a:t>
            </a:r>
            <a:endParaRPr lang="en-US" sz="1400" dirty="0"/>
          </a:p>
        </p:txBody>
      </p:sp>
      <p:sp>
        <p:nvSpPr>
          <p:cNvPr id="15" name="card-bg"/>
          <p:cNvSpPr/>
          <p:nvPr/>
        </p:nvSpPr>
        <p:spPr>
          <a:xfrm>
            <a:off x="548640" y="2606040"/>
            <a:ext cx="3566160" cy="2331720"/>
          </a:xfrm>
          <a:prstGeom prst="roundRect">
            <a:avLst>
              <a:gd name="adj" fmla="val 2745"/>
            </a:avLst>
          </a:prstGeom>
          <a:solidFill>
            <a:srgbClr val="EEF2F7"/>
          </a:solidFill>
          <a:ln w="6350">
            <a:solidFill>
              <a:srgbClr val="EEF2F7"/>
            </a:solidFill>
            <a:prstDash val="solid"/>
          </a:ln>
        </p:spPr>
      </p:sp>
      <p:sp>
        <p:nvSpPr>
          <p:cNvPr id="16" name="card-text"/>
          <p:cNvSpPr txBox="1"/>
          <p:nvPr/>
        </p:nvSpPr>
        <p:spPr>
          <a:xfrm>
            <a:off x="731520" y="2734056"/>
            <a:ext cx="3200400" cy="211226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H-control (original)</a:t>
            </a:r>
            <a:endParaRPr lang="en-US" sz="1550" dirty="0"/>
          </a:p>
          <a:p>
            <a:pPr indent="0" marL="0">
              <a:spcAft>
                <a:spcPts val="400"/>
              </a:spcAft>
              <a:buNone/>
            </a:pPr>
            <a:r>
              <a:rPr lang="en-US" sz="1350" dirty="0">
                <a:solidFill>
                  <a:schemeClr val="tx1"/>
                </a:solidFill>
              </a:rPr>
              <a:t>A learned controller (Q-TRACE) using only label-free probes beats fixed policies and a fairly tuned threshold rule.</a:t>
            </a:r>
            <a:endParaRPr lang="en-US" sz="1550" dirty="0"/>
          </a:p>
        </p:txBody>
      </p:sp>
      <p:sp>
        <p:nvSpPr>
          <p:cNvPr id="17" name="card-bg"/>
          <p:cNvSpPr/>
          <p:nvPr/>
        </p:nvSpPr>
        <p:spPr>
          <a:xfrm>
            <a:off x="4297680" y="2606040"/>
            <a:ext cx="3566160" cy="2331720"/>
          </a:xfrm>
          <a:prstGeom prst="roundRect">
            <a:avLst>
              <a:gd name="adj" fmla="val 2745"/>
            </a:avLst>
          </a:prstGeom>
          <a:solidFill>
            <a:srgbClr val="E3F2F1"/>
          </a:solidFill>
          <a:ln w="6350">
            <a:solidFill>
              <a:srgbClr val="E3F2F1"/>
            </a:solidFill>
            <a:prstDash val="solid"/>
          </a:ln>
        </p:spPr>
      </p:sp>
      <p:sp>
        <p:nvSpPr>
          <p:cNvPr id="18" name="card-text"/>
          <p:cNvSpPr txBox="1"/>
          <p:nvPr/>
        </p:nvSpPr>
        <p:spPr>
          <a:xfrm>
            <a:off x="4480560" y="2734056"/>
            <a:ext cx="3200400" cy="211226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The alternative we committed to report</a:t>
            </a:r>
            <a:endParaRPr lang="en-US" sz="1550" dirty="0"/>
          </a:p>
          <a:p>
            <a:pPr indent="0" marL="0">
              <a:spcAft>
                <a:spcPts val="400"/>
              </a:spcAft>
              <a:buNone/>
            </a:pPr>
            <a:r>
              <a:rPr lang="en-US" sz="1350" dirty="0">
                <a:solidFill>
                  <a:schemeClr val="tx1"/>
                </a:solidFill>
              </a:rPr>
              <a:t>A simple threshold rule matches the learned controller. Formalized for the sealed test as: the rule is near the cost-aware Oracle.</a:t>
            </a:r>
            <a:endParaRPr lang="en-US" sz="1550" dirty="0"/>
          </a:p>
        </p:txBody>
      </p:sp>
      <p:sp>
        <p:nvSpPr>
          <p:cNvPr id="19" name="card-bg"/>
          <p:cNvSpPr/>
          <p:nvPr/>
        </p:nvSpPr>
        <p:spPr>
          <a:xfrm>
            <a:off x="8046720" y="2606040"/>
            <a:ext cx="3611880" cy="2331720"/>
          </a:xfrm>
          <a:prstGeom prst="roundRect">
            <a:avLst>
              <a:gd name="adj" fmla="val 2745"/>
            </a:avLst>
          </a:prstGeom>
          <a:solidFill>
            <a:srgbClr val="EEF2F7"/>
          </a:solidFill>
          <a:ln w="6350">
            <a:solidFill>
              <a:srgbClr val="EEF2F7"/>
            </a:solidFill>
            <a:prstDash val="solid"/>
          </a:ln>
        </p:spPr>
      </p:sp>
      <p:sp>
        <p:nvSpPr>
          <p:cNvPr id="20" name="card-text"/>
          <p:cNvSpPr txBox="1"/>
          <p:nvPr/>
        </p:nvSpPr>
        <p:spPr>
          <a:xfrm>
            <a:off x="8229600" y="2734056"/>
            <a:ext cx="3246120" cy="211226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Oracle and failure (evaluation only)</a:t>
            </a:r>
            <a:endParaRPr lang="en-US" sz="1550" dirty="0"/>
          </a:p>
          <a:p>
            <a:pPr marL="177800" indent="-177800">
              <a:spcAft>
                <a:spcPts val="400"/>
              </a:spcAft>
              <a:buSzPct val="100000"/>
              <a:buChar char="•"/>
            </a:pPr>
            <a:r>
              <a:rPr lang="en-US" sz="1250" dirty="0">
                <a:solidFill>
                  <a:schemeClr val="tx1"/>
                </a:solidFill>
              </a:rPr>
              <a:t>Oracle: cheapest action within 10% of the best Brier</a:t>
            </a:r>
            <a:endParaRPr lang="en-US" sz="1550" dirty="0"/>
          </a:p>
          <a:p>
            <a:pPr marL="177800" indent="-177800">
              <a:spcAft>
                <a:spcPts val="400"/>
              </a:spcAft>
              <a:buSzPct val="100000"/>
              <a:buChar char="•"/>
            </a:pPr>
            <a:r>
              <a:rPr lang="en-US" sz="1250" dirty="0">
                <a:solidFill>
                  <a:schemeClr val="tx1"/>
                </a:solidFill>
              </a:rPr>
              <a:t>Failure: any disagreement with the Oracle</a:t>
            </a:r>
            <a:endParaRPr lang="en-US" sz="1550" dirty="0"/>
          </a:p>
          <a:p>
            <a:pPr marL="177800" indent="-177800">
              <a:spcAft>
                <a:spcPts val="400"/>
              </a:spcAft>
              <a:buSzPct val="100000"/>
              <a:buChar char="•"/>
            </a:pPr>
            <a:r>
              <a:rPr lang="en-US" sz="1250" dirty="0">
                <a:solidFill>
                  <a:schemeClr val="tx1"/>
                </a:solidFill>
              </a:rPr>
              <a:t>Material: Brier &gt; 1.2 × best, or ≥ 1 extra shot-set</a:t>
            </a:r>
            <a:endParaRPr lang="en-US" sz="1550" dirty="0"/>
          </a:p>
        </p:txBody>
      </p:sp>
      <p:sp>
        <p:nvSpPr>
          <p:cNvPr id="21" name="takeaway-bg"/>
          <p:cNvSpPr/>
          <p:nvPr/>
        </p:nvSpPr>
        <p:spPr>
          <a:xfrm>
            <a:off x="548640" y="5212080"/>
            <a:ext cx="11094415" cy="512064"/>
          </a:xfrm>
          <a:prstGeom prst="roundRect">
            <a:avLst>
              <a:gd name="adj" fmla="val 12500"/>
            </a:avLst>
          </a:prstGeom>
          <a:solidFill>
            <a:srgbClr val="E3F2F1"/>
          </a:solidFill>
          <a:ln w="6350">
            <a:solidFill>
              <a:srgbClr val="E3F2F1"/>
            </a:solidFill>
            <a:prstDash val="solid"/>
          </a:ln>
        </p:spPr>
      </p:sp>
      <p:sp>
        <p:nvSpPr>
          <p:cNvPr id="22" name="takeaway-icon-circle"/>
          <p:cNvSpPr/>
          <p:nvPr/>
        </p:nvSpPr>
        <p:spPr>
          <a:xfrm>
            <a:off x="676656" y="5294376"/>
            <a:ext cx="347472" cy="347472"/>
          </a:xfrm>
          <a:prstGeom prst="ellipse">
            <a:avLst/>
          </a:prstGeom>
          <a:solidFill>
            <a:srgbClr val="0F8B8D"/>
          </a:solidFill>
          <a:ln w="12700">
            <a:solidFill>
              <a:srgbClr val="0F8B8D"/>
            </a:solidFill>
            <a:prstDash val="solid"/>
          </a:ln>
        </p:spPr>
      </p:sp>
      <p:pic>
        <p:nvPicPr>
          <p:cNvPr id="23" name="takeaway-icon" descr="preencoded.png">    </p:cNvPr>
          <p:cNvPicPr>
            <a:picLocks noChangeAspect="1"/>
          </p:cNvPicPr>
          <p:nvPr/>
        </p:nvPicPr>
        <p:blipFill>
          <a:blip r:embed="rId1"/>
          <a:stretch>
            <a:fillRect/>
          </a:stretch>
        </p:blipFill>
        <p:spPr>
          <a:xfrm>
            <a:off x="760049" y="5377769"/>
            <a:ext cx="180685" cy="180685"/>
          </a:xfrm>
          <a:prstGeom prst="rect">
            <a:avLst/>
          </a:prstGeom>
        </p:spPr>
      </p:pic>
      <p:sp>
        <p:nvSpPr>
          <p:cNvPr id="24" name="takeaway"/>
          <p:cNvSpPr txBox="1"/>
          <p:nvPr/>
        </p:nvSpPr>
        <p:spPr>
          <a:xfrm>
            <a:off x="1170432" y="521208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Registered rule: train a controller only if a gate finds material structure that a simple rule misses.</a:t>
            </a:r>
            <a:endParaRPr lang="en-US" sz="1550" dirty="0"/>
          </a:p>
        </p:txBody>
      </p:sp>
      <p:sp>
        <p:nvSpPr>
          <p:cNvPr id="25" name="source"/>
          <p:cNvSpPr txBox="1"/>
          <p:nvPr/>
        </p:nvSpPr>
        <p:spPr>
          <a:xfrm>
            <a:off x="548640" y="5870448"/>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docs/PREREG_P5B.md, docs/PREREG_P5C.md, configs/mixed_noise_study/p5c_v1.yaml</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PHASES 5A–5C  ·  POOL FROZEN OCTOBER 7, 2026</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64 independent models and two cheap probes</a:t>
            </a:r>
            <a:endParaRPr lang="en-US" sz="2800" dirty="0"/>
          </a:p>
        </p:txBody>
      </p:sp>
      <p:pic>
        <p:nvPicPr>
          <p:cNvPr id="4" name="pool_auprc.png" descr="/Users/mayankpokhriyal/Workspaces/q-trace/deliverables/presentations/semester/_system/figures/pool_auprc.png">    </p:cNvPr>
          <p:cNvPicPr>
            <a:picLocks noChangeAspect="1"/>
          </p:cNvPicPr>
          <p:nvPr/>
        </p:nvPicPr>
        <p:blipFill>
          <a:blip r:embed="rId1"/>
          <a:stretch>
            <a:fillRect/>
          </a:stretch>
        </p:blipFill>
        <p:spPr>
          <a:xfrm>
            <a:off x="457200" y="1393349"/>
            <a:ext cx="6309360" cy="3979863"/>
          </a:xfrm>
          <a:prstGeom prst="rect">
            <a:avLst/>
          </a:prstGeom>
        </p:spPr>
      </p:pic>
      <p:sp>
        <p:nvSpPr>
          <p:cNvPr id="5" name="card-bg"/>
          <p:cNvSpPr/>
          <p:nvPr/>
        </p:nvSpPr>
        <p:spPr>
          <a:xfrm>
            <a:off x="6995160" y="1325880"/>
            <a:ext cx="4663440" cy="1463040"/>
          </a:xfrm>
          <a:prstGeom prst="roundRect">
            <a:avLst>
              <a:gd name="adj" fmla="val 4375"/>
            </a:avLst>
          </a:prstGeom>
          <a:solidFill>
            <a:srgbClr val="EEF2F7"/>
          </a:solidFill>
          <a:ln w="6350">
            <a:solidFill>
              <a:srgbClr val="EEF2F7"/>
            </a:solidFill>
            <a:prstDash val="solid"/>
          </a:ln>
        </p:spPr>
      </p:sp>
      <p:sp>
        <p:nvSpPr>
          <p:cNvPr id="6" name="card-text"/>
          <p:cNvSpPr txBox="1"/>
          <p:nvPr/>
        </p:nvSpPr>
        <p:spPr>
          <a:xfrm>
            <a:off x="7178040" y="1453896"/>
            <a:ext cx="4297680" cy="124358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Readout probe</a:t>
            </a:r>
            <a:endParaRPr lang="en-US" sz="1550" dirty="0"/>
          </a:p>
          <a:p>
            <a:pPr indent="0" marL="0">
              <a:spcAft>
                <a:spcPts val="400"/>
              </a:spcAft>
              <a:buNone/>
            </a:pPr>
            <a:r>
              <a:rPr lang="en-US" sz="1300" dirty="0">
                <a:solidFill>
                  <a:schemeClr val="tx1"/>
                </a:solidFill>
              </a:rPr>
              <a:t>The 2 calibration circuits readout mitigation already needs. Tracks the true mean readout error: Spearman ρ = 0.999.</a:t>
            </a:r>
            <a:endParaRPr lang="en-US" sz="1550" dirty="0"/>
          </a:p>
        </p:txBody>
      </p:sp>
      <p:sp>
        <p:nvSpPr>
          <p:cNvPr id="7" name="card-bg"/>
          <p:cNvSpPr/>
          <p:nvPr/>
        </p:nvSpPr>
        <p:spPr>
          <a:xfrm>
            <a:off x="6995160" y="2926080"/>
            <a:ext cx="4663440" cy="1463040"/>
          </a:xfrm>
          <a:prstGeom prst="roundRect">
            <a:avLst>
              <a:gd name="adj" fmla="val 4375"/>
            </a:avLst>
          </a:prstGeom>
          <a:solidFill>
            <a:srgbClr val="EEF2F7"/>
          </a:solidFill>
          <a:ln w="6350">
            <a:solidFill>
              <a:srgbClr val="EEF2F7"/>
            </a:solidFill>
            <a:prstDash val="solid"/>
          </a:ln>
        </p:spPr>
      </p:sp>
      <p:sp>
        <p:nvSpPr>
          <p:cNvPr id="8" name="card-text"/>
          <p:cNvSpPr txBox="1"/>
          <p:nvPr/>
        </p:nvSpPr>
        <p:spPr>
          <a:xfrm>
            <a:off x="7178040" y="3054096"/>
            <a:ext cx="4297680" cy="124358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Gate probe</a:t>
            </a:r>
            <a:endParaRPr lang="en-US" sz="1550" dirty="0"/>
          </a:p>
          <a:p>
            <a:pPr indent="0" marL="0">
              <a:spcAft>
                <a:spcPts val="400"/>
              </a:spcAft>
              <a:buNone/>
            </a:pPr>
            <a:r>
              <a:rPr lang="en-US" sz="1300" dirty="0">
                <a:solidFill>
                  <a:schemeClr val="tx1"/>
                </a:solidFill>
              </a:rPr>
              <a:t>32 fixed synthetic inputs at fold factors 1 and 3. Contraction tracks depolarizing noise (ρ = −0.89) but barely thermal noise (ρ = −0.12).</a:t>
            </a:r>
            <a:endParaRPr lang="en-US" sz="1550" dirty="0"/>
          </a:p>
        </p:txBody>
      </p:sp>
      <p:sp>
        <p:nvSpPr>
          <p:cNvPr id="9" name="card-bg"/>
          <p:cNvSpPr/>
          <p:nvPr/>
        </p:nvSpPr>
        <p:spPr>
          <a:xfrm>
            <a:off x="6995160" y="4526280"/>
            <a:ext cx="4663440" cy="960120"/>
          </a:xfrm>
          <a:prstGeom prst="roundRect">
            <a:avLst>
              <a:gd name="adj" fmla="val 6667"/>
            </a:avLst>
          </a:prstGeom>
          <a:solidFill>
            <a:srgbClr val="EEF2F7"/>
          </a:solidFill>
          <a:ln w="6350">
            <a:solidFill>
              <a:srgbClr val="EEF2F7"/>
            </a:solidFill>
            <a:prstDash val="solid"/>
          </a:ln>
        </p:spPr>
      </p:sp>
      <p:sp>
        <p:nvSpPr>
          <p:cNvPr id="10" name="card-text"/>
          <p:cNvSpPr txBox="1"/>
          <p:nvPr/>
        </p:nvSpPr>
        <p:spPr>
          <a:xfrm>
            <a:off x="7178040" y="4654296"/>
            <a:ext cx="4297680" cy="74066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Cost and inputs</a:t>
            </a:r>
            <a:endParaRPr lang="en-US" sz="1550" dirty="0"/>
          </a:p>
          <a:p>
            <a:pPr indent="0" marL="0">
              <a:spcAft>
                <a:spcPts val="400"/>
              </a:spcAft>
              <a:buNone/>
            </a:pPr>
            <a:r>
              <a:rPr lang="en-US" sz="1300" dirty="0">
                <a:solidFill>
                  <a:schemeClr val="tx1"/>
                </a:solidFill>
              </a:rPr>
              <a:t>66 circuits (66·S shots) per batch · 16 static descriptors + 11 probe features</a:t>
            </a:r>
            <a:endParaRPr lang="en-US" sz="1550" dirty="0"/>
          </a:p>
        </p:txBody>
      </p:sp>
      <p:sp>
        <p:nvSpPr>
          <p:cNvPr id="11" name="takeaway-bg"/>
          <p:cNvSpPr/>
          <p:nvPr/>
        </p:nvSpPr>
        <p:spPr>
          <a:xfrm>
            <a:off x="548640" y="5596128"/>
            <a:ext cx="11094415" cy="512064"/>
          </a:xfrm>
          <a:prstGeom prst="roundRect">
            <a:avLst>
              <a:gd name="adj" fmla="val 12500"/>
            </a:avLst>
          </a:prstGeom>
          <a:solidFill>
            <a:srgbClr val="E3F2F1"/>
          </a:solidFill>
          <a:ln w="6350">
            <a:solidFill>
              <a:srgbClr val="E3F2F1"/>
            </a:solidFill>
            <a:prstDash val="solid"/>
          </a:ln>
        </p:spPr>
      </p:sp>
      <p:sp>
        <p:nvSpPr>
          <p:cNvPr id="12" name="takeaway-icon-circle"/>
          <p:cNvSpPr/>
          <p:nvPr/>
        </p:nvSpPr>
        <p:spPr>
          <a:xfrm>
            <a:off x="676656" y="5678424"/>
            <a:ext cx="347472" cy="347472"/>
          </a:xfrm>
          <a:prstGeom prst="ellipse">
            <a:avLst/>
          </a:prstGeom>
          <a:solidFill>
            <a:srgbClr val="0F8B8D"/>
          </a:solidFill>
          <a:ln w="12700">
            <a:solidFill>
              <a:srgbClr val="0F8B8D"/>
            </a:solidFill>
            <a:prstDash val="solid"/>
          </a:ln>
        </p:spPr>
      </p:sp>
      <p:pic>
        <p:nvPicPr>
          <p:cNvPr id="13" name="takeaway-icon" descr="preencoded.png">    </p:cNvPr>
          <p:cNvPicPr>
            <a:picLocks noChangeAspect="1"/>
          </p:cNvPicPr>
          <p:nvPr/>
        </p:nvPicPr>
        <p:blipFill>
          <a:blip r:embed="rId2"/>
          <a:stretch>
            <a:fillRect/>
          </a:stretch>
        </p:blipFill>
        <p:spPr>
          <a:xfrm>
            <a:off x="760049" y="5761817"/>
            <a:ext cx="180685" cy="180685"/>
          </a:xfrm>
          <a:prstGeom prst="rect">
            <a:avLst/>
          </a:prstGeom>
        </p:spPr>
      </p:pic>
      <p:sp>
        <p:nvSpPr>
          <p:cNvPr id="14" name="takeaway"/>
          <p:cNvSpPr txBox="1"/>
          <p:nvPr/>
        </p:nvSpPr>
        <p:spPr>
          <a:xfrm>
            <a:off x="1170432" y="5596128"/>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True noise parameters, labels and identifiers never enter a policy, as enforced by a feature registry and tests.</a:t>
            </a:r>
            <a:endParaRPr lang="en-US" sz="1550" dirty="0"/>
          </a:p>
        </p:txBody>
      </p:sp>
      <p:sp>
        <p:nvSpPr>
          <p:cNvPr id="15" name="source"/>
          <p:cNvSpPr txBox="1"/>
          <p:nvPr/>
        </p:nvSpPr>
        <p:spPr>
          <a:xfrm>
            <a:off x="548640" y="6181344"/>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p5a_pool_metrics.csv, p5b_split.csv, p5b_feature_definitions.csv, p5c_probe_validity.csv</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PHASE 5B (COMPLETED OCT 7)  ·  PHASE 5C (COMPLETED OCT 8, 2026)</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Categorical, then continuous joint noise</a:t>
            </a:r>
            <a:endParaRPr lang="en-US" sz="2800" dirty="0"/>
          </a:p>
        </p:txBody>
      </p:sp>
      <p:pic>
        <p:nvPicPr>
          <p:cNvPr id="4" name="fig5_preferred_actions.png" descr="/Users/mayankpokhriyal/Workspaces/q-trace/deliverables/figures/fig5_preferred_actions.png">    </p:cNvPr>
          <p:cNvPicPr>
            <a:picLocks noChangeAspect="1"/>
          </p:cNvPicPr>
          <p:nvPr/>
        </p:nvPicPr>
        <p:blipFill>
          <a:blip r:embed="rId1"/>
          <a:stretch>
            <a:fillRect/>
          </a:stretch>
        </p:blipFill>
        <p:spPr>
          <a:xfrm>
            <a:off x="574455" y="1280160"/>
            <a:ext cx="7263570" cy="3291840"/>
          </a:xfrm>
          <a:prstGeom prst="rect">
            <a:avLst/>
          </a:prstGeom>
        </p:spPr>
      </p:pic>
      <p:sp>
        <p:nvSpPr>
          <p:cNvPr id="5" name="card-bg"/>
          <p:cNvSpPr/>
          <p:nvPr/>
        </p:nvSpPr>
        <p:spPr>
          <a:xfrm>
            <a:off x="8183880" y="1325880"/>
            <a:ext cx="3474720" cy="1463040"/>
          </a:xfrm>
          <a:prstGeom prst="roundRect">
            <a:avLst>
              <a:gd name="adj" fmla="val 4375"/>
            </a:avLst>
          </a:prstGeom>
          <a:solidFill>
            <a:srgbClr val="EEF2F7"/>
          </a:solidFill>
          <a:ln w="6350">
            <a:solidFill>
              <a:srgbClr val="EEF2F7"/>
            </a:solidFill>
            <a:prstDash val="solid"/>
          </a:ln>
        </p:spPr>
      </p:sp>
      <p:sp>
        <p:nvSpPr>
          <p:cNvPr id="6" name="card-text"/>
          <p:cNvSpPr txBox="1"/>
          <p:nvPr/>
        </p:nvSpPr>
        <p:spPr>
          <a:xfrm>
            <a:off x="8366760" y="1453896"/>
            <a:ext cx="3108960" cy="124358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Phase 5B design</a:t>
            </a:r>
            <a:endParaRPr lang="en-US" sz="1550" dirty="0"/>
          </a:p>
          <a:p>
            <a:pPr indent="0" marL="0">
              <a:spcAft>
                <a:spcPts val="400"/>
              </a:spcAft>
              <a:buNone/>
            </a:pPr>
            <a:r>
              <a:rPr lang="en-US" sz="1300" dirty="0">
                <a:solidFill>
                  <a:schemeClr val="tx1"/>
                </a:solidFill>
              </a:rPr>
              <a:t>8 near-categorical conditions · 1,024 and 4,096 shots · 20 replicates</a:t>
            </a:r>
            <a:endParaRPr lang="en-US" sz="1550" dirty="0"/>
          </a:p>
        </p:txBody>
      </p:sp>
      <p:sp>
        <p:nvSpPr>
          <p:cNvPr id="7" name="card-bg"/>
          <p:cNvSpPr/>
          <p:nvPr/>
        </p:nvSpPr>
        <p:spPr>
          <a:xfrm>
            <a:off x="8183880" y="2926080"/>
            <a:ext cx="3474720" cy="1600200"/>
          </a:xfrm>
          <a:prstGeom prst="roundRect">
            <a:avLst>
              <a:gd name="adj" fmla="val 4000"/>
            </a:avLst>
          </a:prstGeom>
          <a:solidFill>
            <a:srgbClr val="E3F2F1"/>
          </a:solidFill>
          <a:ln w="6350">
            <a:solidFill>
              <a:srgbClr val="E3F2F1"/>
            </a:solidFill>
            <a:prstDash val="solid"/>
          </a:ln>
        </p:spPr>
      </p:sp>
      <p:sp>
        <p:nvSpPr>
          <p:cNvPr id="8" name="card-text"/>
          <p:cNvSpPr txBox="1"/>
          <p:nvPr/>
        </p:nvSpPr>
        <p:spPr>
          <a:xfrm>
            <a:off x="8366760" y="3054096"/>
            <a:ext cx="3108960" cy="138074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Phase 5C design</a:t>
            </a:r>
            <a:endParaRPr lang="en-US" sz="1550" dirty="0"/>
          </a:p>
          <a:p>
            <a:pPr indent="0" marL="0">
              <a:spcAft>
                <a:spcPts val="400"/>
              </a:spcAft>
              <a:buNone/>
            </a:pPr>
            <a:r>
              <a:rPr lang="en-US" sz="1300" dirty="0">
                <a:solidFill>
                  <a:schemeClr val="tx1"/>
                </a:solidFill>
              </a:rPr>
              <a:t>17 gate settings (one gate-free) × 4 readout settings = 68 points · 256–4,096 shots</a:t>
            </a:r>
            <a:endParaRPr lang="en-US" sz="1550" dirty="0"/>
          </a:p>
        </p:txBody>
      </p:sp>
      <p:sp>
        <p:nvSpPr>
          <p:cNvPr id="9" name="stat-value"/>
          <p:cNvSpPr txBox="1"/>
          <p:nvPr/>
        </p:nvSpPr>
        <p:spPr>
          <a:xfrm>
            <a:off x="548640" y="4617720"/>
            <a:ext cx="265176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0.33%</a:t>
            </a:r>
            <a:endParaRPr lang="en-US" sz="2600" dirty="0"/>
          </a:p>
        </p:txBody>
      </p:sp>
      <p:sp>
        <p:nvSpPr>
          <p:cNvPr id="10" name="stat-label"/>
          <p:cNvSpPr txBox="1"/>
          <p:nvPr/>
        </p:nvSpPr>
        <p:spPr>
          <a:xfrm>
            <a:off x="548640" y="5111496"/>
            <a:ext cx="2651760" cy="411480"/>
          </a:xfrm>
          <a:prstGeom prst="rect">
            <a:avLst/>
          </a:prstGeom>
          <a:noFill/>
          <a:ln/>
        </p:spPr>
        <p:txBody>
          <a:bodyPr wrap="square" lIns="0" tIns="0" rIns="0" bIns="0" rtlCol="0" anchor="t"/>
          <a:lstStyle/>
          <a:p>
            <a:pPr indent="0" marL="0">
              <a:buNone/>
            </a:pPr>
            <a:r>
              <a:rPr lang="en-US" sz="1250" dirty="0">
                <a:solidFill>
                  <a:schemeClr val="tx1"/>
                </a:solidFill>
              </a:rPr>
              <a:t>5B: category rule wrong (validation)</a:t>
            </a:r>
            <a:endParaRPr lang="en-US" sz="1250" dirty="0"/>
          </a:p>
        </p:txBody>
      </p:sp>
      <p:sp>
        <p:nvSpPr>
          <p:cNvPr id="11" name="stat-value"/>
          <p:cNvSpPr txBox="1"/>
          <p:nvPr/>
        </p:nvSpPr>
        <p:spPr>
          <a:xfrm>
            <a:off x="3291840" y="4617720"/>
            <a:ext cx="2743200" cy="457200"/>
          </a:xfrm>
          <a:prstGeom prst="rect">
            <a:avLst/>
          </a:prstGeom>
          <a:noFill/>
          <a:ln/>
        </p:spPr>
        <p:txBody>
          <a:bodyPr wrap="square" lIns="0" tIns="0" rIns="0" bIns="0"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67–71%</a:t>
            </a:r>
            <a:endParaRPr lang="en-US" sz="2600" dirty="0"/>
          </a:p>
        </p:txBody>
      </p:sp>
      <p:sp>
        <p:nvSpPr>
          <p:cNvPr id="12" name="stat-label"/>
          <p:cNvSpPr txBox="1"/>
          <p:nvPr/>
        </p:nvSpPr>
        <p:spPr>
          <a:xfrm>
            <a:off x="3291840" y="5111496"/>
            <a:ext cx="2743200" cy="411480"/>
          </a:xfrm>
          <a:prstGeom prst="rect">
            <a:avLst/>
          </a:prstGeom>
          <a:noFill/>
          <a:ln/>
        </p:spPr>
        <p:txBody>
          <a:bodyPr wrap="square" lIns="0" tIns="0" rIns="0" bIns="0" rtlCol="0" anchor="t"/>
          <a:lstStyle/>
          <a:p>
            <a:pPr indent="0" marL="0">
              <a:buNone/>
            </a:pPr>
            <a:r>
              <a:rPr lang="en-US" sz="1250" dirty="0">
                <a:solidFill>
                  <a:schemeClr val="tx1"/>
                </a:solidFill>
              </a:rPr>
              <a:t>5C: combined mitigation is the Oracle's choice</a:t>
            </a:r>
            <a:endParaRPr lang="en-US" sz="1250" dirty="0"/>
          </a:p>
        </p:txBody>
      </p:sp>
      <p:sp>
        <p:nvSpPr>
          <p:cNvPr id="13" name="stat-value"/>
          <p:cNvSpPr txBox="1"/>
          <p:nvPr/>
        </p:nvSpPr>
        <p:spPr>
          <a:xfrm>
            <a:off x="6172200" y="4617720"/>
            <a:ext cx="2651760" cy="457200"/>
          </a:xfrm>
          <a:prstGeom prst="rect">
            <a:avLst/>
          </a:prstGeom>
          <a:noFill/>
          <a:ln/>
        </p:spPr>
        <p:txBody>
          <a:bodyPr wrap="square" lIns="0" tIns="0" rIns="0" bIns="0" rtlCol="0" anchor="t"/>
          <a:lstStyle/>
          <a:p>
            <a:pPr indent="0" marL="0">
              <a:buNone/>
            </a:pPr>
            <a:r>
              <a:rPr lang="en-US" sz="2600" b="1" dirty="0">
                <a:solidFill>
                  <a:schemeClr val="accent6"/>
                </a:solidFill>
                <a:latin typeface="Cambria" pitchFamily="34" charset="0"/>
                <a:ea typeface="Cambria" pitchFamily="34" charset="-122"/>
                <a:cs typeface="Cambria" pitchFamily="34" charset="-120"/>
              </a:rPr>
              <a:t>&lt; 3%</a:t>
            </a:r>
            <a:endParaRPr lang="en-US" sz="2600" dirty="0"/>
          </a:p>
        </p:txBody>
      </p:sp>
      <p:sp>
        <p:nvSpPr>
          <p:cNvPr id="14" name="stat-label"/>
          <p:cNvSpPr txBox="1"/>
          <p:nvPr/>
        </p:nvSpPr>
        <p:spPr>
          <a:xfrm>
            <a:off x="6172200" y="5111496"/>
            <a:ext cx="2651760" cy="411480"/>
          </a:xfrm>
          <a:prstGeom prst="rect">
            <a:avLst/>
          </a:prstGeom>
          <a:noFill/>
          <a:ln/>
        </p:spPr>
        <p:txBody>
          <a:bodyPr wrap="square" lIns="0" tIns="0" rIns="0" bIns="0" rtlCol="0" anchor="t"/>
          <a:lstStyle/>
          <a:p>
            <a:pPr indent="0" marL="0">
              <a:buNone/>
            </a:pPr>
            <a:r>
              <a:rPr lang="en-US" sz="1250" dirty="0">
                <a:solidFill>
                  <a:schemeClr val="tx1"/>
                </a:solidFill>
              </a:rPr>
              <a:t>contexts where the shot budget changes the choice</a:t>
            </a:r>
            <a:endParaRPr lang="en-US" sz="1250" dirty="0"/>
          </a:p>
        </p:txBody>
      </p:sp>
      <p:sp>
        <p:nvSpPr>
          <p:cNvPr id="15" name="stat-value"/>
          <p:cNvSpPr txBox="1"/>
          <p:nvPr/>
        </p:nvSpPr>
        <p:spPr>
          <a:xfrm>
            <a:off x="8961120" y="4617720"/>
            <a:ext cx="2697480" cy="457200"/>
          </a:xfrm>
          <a:prstGeom prst="rect">
            <a:avLst/>
          </a:prstGeom>
          <a:noFill/>
          <a:ln/>
        </p:spPr>
        <p:txBody>
          <a:bodyPr wrap="square" lIns="0" tIns="0" rIns="0" bIns="0" rtlCol="0" anchor="t"/>
          <a:lstStyle/>
          <a:p>
            <a:pPr indent="0" marL="0">
              <a:buNone/>
            </a:pPr>
            <a:r>
              <a:rPr lang="en-US" sz="2600" b="1" dirty="0">
                <a:solidFill>
                  <a:schemeClr val="accent3"/>
                </a:solidFill>
                <a:latin typeface="Cambria" pitchFamily="34" charset="0"/>
                <a:ea typeface="Cambria" pitchFamily="34" charset="-122"/>
                <a:cs typeface="Cambria" pitchFamily="34" charset="-120"/>
              </a:rPr>
              <a:t>0%</a:t>
            </a:r>
            <a:endParaRPr lang="en-US" sz="2600" dirty="0"/>
          </a:p>
        </p:txBody>
      </p:sp>
      <p:sp>
        <p:nvSpPr>
          <p:cNvPr id="16" name="stat-label"/>
          <p:cNvSpPr txBox="1"/>
          <p:nvPr/>
        </p:nvSpPr>
        <p:spPr>
          <a:xfrm>
            <a:off x="8961120" y="5111496"/>
            <a:ext cx="2697480" cy="411480"/>
          </a:xfrm>
          <a:prstGeom prst="rect">
            <a:avLst/>
          </a:prstGeom>
          <a:noFill/>
          <a:ln/>
        </p:spPr>
        <p:txBody>
          <a:bodyPr wrap="square" lIns="0" tIns="0" rIns="0" bIns="0" rtlCol="0" anchor="t"/>
          <a:lstStyle/>
          <a:p>
            <a:pPr indent="0" marL="0">
              <a:buNone/>
            </a:pPr>
            <a:r>
              <a:rPr lang="en-US" sz="1250" dirty="0">
                <a:solidFill>
                  <a:schemeClr val="tx1"/>
                </a:solidFill>
              </a:rPr>
              <a:t>contexts where 3× shots is the Oracle's choice</a:t>
            </a:r>
            <a:endParaRPr lang="en-US" sz="1250" dirty="0"/>
          </a:p>
        </p:txBody>
      </p:sp>
      <p:sp>
        <p:nvSpPr>
          <p:cNvPr id="17" name="caption"/>
          <p:cNvSpPr txBox="1"/>
          <p:nvPr/>
        </p:nvSpPr>
        <p:spPr>
          <a:xfrm>
            <a:off x="548640" y="5623560"/>
            <a:ext cx="11064240" cy="411480"/>
          </a:xfrm>
          <a:prstGeom prst="rect">
            <a:avLst/>
          </a:prstGeom>
          <a:noFill/>
          <a:ln/>
        </p:spPr>
        <p:txBody>
          <a:bodyPr wrap="square" lIns="0" tIns="0" rIns="0" bIns="0" rtlCol="0" anchor="t"/>
          <a:lstStyle/>
          <a:p>
            <a:pPr indent="0" marL="0">
              <a:buNone/>
            </a:pPr>
            <a:r>
              <a:rPr lang="en-US" sz="1050" i="1" dirty="0">
                <a:solidFill>
                  <a:schemeClr val="accent5"/>
                </a:solidFill>
              </a:rPr>
              <a:t>Test bars come from the one-time sealed test (the Nov 24 topic).</a:t>
            </a:r>
            <a:endParaRPr lang="en-US" sz="1050" dirty="0"/>
          </a:p>
        </p:txBody>
      </p:sp>
      <p:sp>
        <p:nvSpPr>
          <p:cNvPr id="18" name="source"/>
          <p:cNvSpPr txBox="1"/>
          <p:nvPr/>
        </p:nvSpPr>
        <p:spPr>
          <a:xfrm>
            <a:off x="548640" y="6144768"/>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p5b_metadata.json, p5c_metadata.json, p5c_budget_effect.csv, p5c_design.csv, final_metadata.json</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GATES G3B AND G3C  ·  PRE-REGISTERED  ·  DECIDED OCTOBER 7–8, 2026</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Both gates failed, and a simple rule emerged</a:t>
            </a:r>
            <a:endParaRPr lang="en-US" sz="2800" dirty="0"/>
          </a:p>
        </p:txBody>
      </p:sp>
      <p:sp>
        <p:nvSpPr>
          <p:cNvPr id="4" name="Text 2"/>
          <p:cNvSpPr txBox="1"/>
          <p:nvPr/>
        </p:nvSpPr>
        <p:spPr>
          <a:xfrm>
            <a:off x="548640" y="1325880"/>
            <a:ext cx="6035040" cy="320040"/>
          </a:xfrm>
          <a:prstGeom prst="rect">
            <a:avLst/>
          </a:prstGeom>
          <a:noFill/>
          <a:ln/>
        </p:spPr>
        <p:txBody>
          <a:bodyPr wrap="square" lIns="0" tIns="0" rIns="0" bIns="0" rtlCol="0" anchor="t"/>
          <a:lstStyle/>
          <a:p>
            <a:pPr indent="0" marL="0">
              <a:buNone/>
            </a:pPr>
            <a:r>
              <a:rPr lang="en-US" sz="1450" b="1" dirty="0">
                <a:solidFill>
                  <a:schemeClr val="tx2"/>
                </a:solidFill>
              </a:rPr>
              <a:t>The probe rule R_thr (fitted on training models only)</a:t>
            </a:r>
            <a:endParaRPr lang="en-US" sz="1450" dirty="0"/>
          </a:p>
        </p:txBody>
      </p:sp>
      <p:sp>
        <p:nvSpPr>
          <p:cNvPr id="5" name="rule-box"/>
          <p:cNvSpPr/>
          <p:nvPr/>
        </p:nvSpPr>
        <p:spPr>
          <a:xfrm>
            <a:off x="548640" y="1783080"/>
            <a:ext cx="2743200" cy="749808"/>
          </a:xfrm>
          <a:prstGeom prst="roundRect">
            <a:avLst>
              <a:gd name="adj" fmla="val 8537"/>
            </a:avLst>
          </a:prstGeom>
          <a:solidFill>
            <a:srgbClr val="EEF2F7"/>
          </a:solidFill>
          <a:ln w="6350">
            <a:solidFill>
              <a:srgbClr val="EEF2F7"/>
            </a:solidFill>
            <a:prstDash val="solid"/>
          </a:ln>
        </p:spPr>
      </p:sp>
      <p:sp>
        <p:nvSpPr>
          <p:cNvPr id="6" name="Text 4"/>
          <p:cNvSpPr txBox="1"/>
          <p:nvPr/>
        </p:nvSpPr>
        <p:spPr>
          <a:xfrm>
            <a:off x="603504" y="1783080"/>
            <a:ext cx="2633472" cy="749808"/>
          </a:xfrm>
          <a:prstGeom prst="rect">
            <a:avLst/>
          </a:prstGeom>
          <a:noFill/>
          <a:ln/>
        </p:spPr>
        <p:txBody>
          <a:bodyPr wrap="square" lIns="0" tIns="0" rIns="0" bIns="0" rtlCol="0" anchor="ctr"/>
          <a:lstStyle/>
          <a:p>
            <a:pPr algn="ctr" indent="0" marL="0">
              <a:buNone/>
            </a:pPr>
            <a:r>
              <a:rPr lang="en-US" sz="1300" b="1" dirty="0">
                <a:solidFill>
                  <a:schemeClr val="tx2"/>
                </a:solidFill>
              </a:rPr>
              <a:t>Gate probe</a:t>
            </a:r>
            <a:endParaRPr lang="en-US" sz="1400" dirty="0"/>
          </a:p>
          <a:p>
            <a:pPr algn="ctr" indent="0" marL="0">
              <a:buNone/>
            </a:pPr>
            <a:r>
              <a:rPr lang="en-US" sz="1100" dirty="0">
                <a:solidFill>
                  <a:schemeClr val="tx1"/>
                </a:solidFill>
              </a:rPr>
              <a:t>contraction ≤ t_g (≈ 0.97–0.98)?</a:t>
            </a:r>
            <a:endParaRPr lang="en-US" sz="1400" dirty="0"/>
          </a:p>
        </p:txBody>
      </p:sp>
      <p:sp>
        <p:nvSpPr>
          <p:cNvPr id="7" name="rule-box"/>
          <p:cNvSpPr/>
          <p:nvPr/>
        </p:nvSpPr>
        <p:spPr>
          <a:xfrm>
            <a:off x="3794760" y="1783080"/>
            <a:ext cx="2743200" cy="749808"/>
          </a:xfrm>
          <a:prstGeom prst="roundRect">
            <a:avLst>
              <a:gd name="adj" fmla="val 8537"/>
            </a:avLst>
          </a:prstGeom>
          <a:solidFill>
            <a:srgbClr val="EEF2F7"/>
          </a:solidFill>
          <a:ln w="6350">
            <a:solidFill>
              <a:srgbClr val="EEF2F7"/>
            </a:solidFill>
            <a:prstDash val="solid"/>
          </a:ln>
        </p:spPr>
      </p:sp>
      <p:sp>
        <p:nvSpPr>
          <p:cNvPr id="8" name="Text 6"/>
          <p:cNvSpPr txBox="1"/>
          <p:nvPr/>
        </p:nvSpPr>
        <p:spPr>
          <a:xfrm>
            <a:off x="3849624" y="1783080"/>
            <a:ext cx="2633472" cy="749808"/>
          </a:xfrm>
          <a:prstGeom prst="rect">
            <a:avLst/>
          </a:prstGeom>
          <a:noFill/>
          <a:ln/>
        </p:spPr>
        <p:txBody>
          <a:bodyPr wrap="square" lIns="0" tIns="0" rIns="0" bIns="0" rtlCol="0" anchor="ctr"/>
          <a:lstStyle/>
          <a:p>
            <a:pPr algn="ctr" indent="0" marL="0">
              <a:buNone/>
            </a:pPr>
            <a:r>
              <a:rPr lang="en-US" sz="1300" b="1" dirty="0">
                <a:solidFill>
                  <a:schemeClr val="tx2"/>
                </a:solidFill>
              </a:rPr>
              <a:t>Readout probe</a:t>
            </a:r>
            <a:endParaRPr lang="en-US" sz="1400" dirty="0"/>
          </a:p>
          <a:p>
            <a:pPr algn="ctr" indent="0" marL="0">
              <a:buNone/>
            </a:pPr>
            <a:r>
              <a:rPr lang="en-US" sz="1100" dirty="0">
                <a:solidFill>
                  <a:schemeClr val="tx1"/>
                </a:solidFill>
              </a:rPr>
              <a:t>error ≥ t_r (≈ 0.4%)?</a:t>
            </a:r>
            <a:endParaRPr lang="en-US" sz="1400" dirty="0"/>
          </a:p>
        </p:txBody>
      </p:sp>
      <p:sp>
        <p:nvSpPr>
          <p:cNvPr id="9" name="rule-box"/>
          <p:cNvSpPr/>
          <p:nvPr/>
        </p:nvSpPr>
        <p:spPr>
          <a:xfrm>
            <a:off x="548640" y="3017520"/>
            <a:ext cx="2743200" cy="749808"/>
          </a:xfrm>
          <a:prstGeom prst="roundRect">
            <a:avLst>
              <a:gd name="adj" fmla="val 8537"/>
            </a:avLst>
          </a:prstGeom>
          <a:solidFill>
            <a:srgbClr val="0072B2"/>
          </a:solidFill>
          <a:ln w="6350">
            <a:solidFill>
              <a:srgbClr val="0072B2"/>
            </a:solidFill>
            <a:prstDash val="solid"/>
          </a:ln>
        </p:spPr>
      </p:sp>
      <p:sp>
        <p:nvSpPr>
          <p:cNvPr id="10" name="Text 8"/>
          <p:cNvSpPr txBox="1"/>
          <p:nvPr/>
        </p:nvSpPr>
        <p:spPr>
          <a:xfrm>
            <a:off x="603504" y="3017520"/>
            <a:ext cx="2633472" cy="749808"/>
          </a:xfrm>
          <a:prstGeom prst="rect">
            <a:avLst/>
          </a:prstGeom>
          <a:noFill/>
          <a:ln/>
        </p:spPr>
        <p:txBody>
          <a:bodyPr wrap="square" lIns="0" tIns="0" rIns="0" bIns="0" rtlCol="0" anchor="ctr"/>
          <a:lstStyle/>
          <a:p>
            <a:pPr algn="ctr" indent="0" marL="0">
              <a:buNone/>
            </a:pPr>
            <a:r>
              <a:rPr lang="en-US" sz="1300" b="1" dirty="0">
                <a:solidFill>
                  <a:srgbClr val="FFFFFF"/>
                </a:solidFill>
              </a:rPr>
              <a:t>A1 readout mitigation</a:t>
            </a:r>
            <a:endParaRPr lang="en-US" sz="1400" dirty="0"/>
          </a:p>
          <a:p>
            <a:pPr algn="ctr" indent="0" marL="0">
              <a:buNone/>
            </a:pPr>
            <a:r>
              <a:rPr lang="en-US" sz="1100" dirty="0">
                <a:solidFill>
                  <a:srgbClr val="E6ECF5"/>
                </a:solidFill>
              </a:rPr>
              <a:t>A0 at 256 shots if readout is also low</a:t>
            </a:r>
            <a:endParaRPr lang="en-US" sz="1400" dirty="0"/>
          </a:p>
        </p:txBody>
      </p:sp>
      <p:sp>
        <p:nvSpPr>
          <p:cNvPr id="11" name="rule-box"/>
          <p:cNvSpPr/>
          <p:nvPr/>
        </p:nvSpPr>
        <p:spPr>
          <a:xfrm>
            <a:off x="3794760" y="3017520"/>
            <a:ext cx="1298448" cy="749808"/>
          </a:xfrm>
          <a:prstGeom prst="roundRect">
            <a:avLst>
              <a:gd name="adj" fmla="val 8537"/>
            </a:avLst>
          </a:prstGeom>
          <a:solidFill>
            <a:srgbClr val="CC79A7"/>
          </a:solidFill>
          <a:ln w="6350">
            <a:solidFill>
              <a:srgbClr val="CC79A7"/>
            </a:solidFill>
            <a:prstDash val="solid"/>
          </a:ln>
        </p:spPr>
      </p:sp>
      <p:sp>
        <p:nvSpPr>
          <p:cNvPr id="12" name="Text 10"/>
          <p:cNvSpPr txBox="1"/>
          <p:nvPr/>
        </p:nvSpPr>
        <p:spPr>
          <a:xfrm>
            <a:off x="3849624" y="3017520"/>
            <a:ext cx="1188720" cy="749808"/>
          </a:xfrm>
          <a:prstGeom prst="rect">
            <a:avLst/>
          </a:prstGeom>
          <a:noFill/>
          <a:ln/>
        </p:spPr>
        <p:txBody>
          <a:bodyPr wrap="square" lIns="0" tIns="0" rIns="0" bIns="0" rtlCol="0" anchor="ctr"/>
          <a:lstStyle/>
          <a:p>
            <a:pPr algn="ctr" indent="0" marL="0">
              <a:buNone/>
            </a:pPr>
            <a:r>
              <a:rPr lang="en-US" sz="1300" b="1" dirty="0">
                <a:solidFill>
                  <a:srgbClr val="FFFFFF"/>
                </a:solidFill>
              </a:rPr>
              <a:t>A3</a:t>
            </a:r>
            <a:endParaRPr lang="en-US" sz="1400" dirty="0"/>
          </a:p>
          <a:p>
            <a:pPr algn="ctr" indent="0" marL="0">
              <a:buNone/>
            </a:pPr>
            <a:r>
              <a:rPr lang="en-US" sz="1100" dirty="0">
                <a:solidFill>
                  <a:srgbClr val="E6ECF5"/>
                </a:solidFill>
              </a:rPr>
              <a:t>combined</a:t>
            </a:r>
            <a:endParaRPr lang="en-US" sz="1400" dirty="0"/>
          </a:p>
        </p:txBody>
      </p:sp>
      <p:sp>
        <p:nvSpPr>
          <p:cNvPr id="13" name="rule-box"/>
          <p:cNvSpPr/>
          <p:nvPr/>
        </p:nvSpPr>
        <p:spPr>
          <a:xfrm>
            <a:off x="5239512" y="3017520"/>
            <a:ext cx="1298448" cy="749808"/>
          </a:xfrm>
          <a:prstGeom prst="roundRect">
            <a:avLst>
              <a:gd name="adj" fmla="val 8537"/>
            </a:avLst>
          </a:prstGeom>
          <a:solidFill>
            <a:srgbClr val="D55E00"/>
          </a:solidFill>
          <a:ln w="6350">
            <a:solidFill>
              <a:srgbClr val="D55E00"/>
            </a:solidFill>
            <a:prstDash val="solid"/>
          </a:ln>
        </p:spPr>
      </p:sp>
      <p:sp>
        <p:nvSpPr>
          <p:cNvPr id="14" name="Text 12"/>
          <p:cNvSpPr txBox="1"/>
          <p:nvPr/>
        </p:nvSpPr>
        <p:spPr>
          <a:xfrm>
            <a:off x="5294376" y="3017520"/>
            <a:ext cx="1188720" cy="749808"/>
          </a:xfrm>
          <a:prstGeom prst="rect">
            <a:avLst/>
          </a:prstGeom>
          <a:noFill/>
          <a:ln/>
        </p:spPr>
        <p:txBody>
          <a:bodyPr wrap="square" lIns="0" tIns="0" rIns="0" bIns="0" rtlCol="0" anchor="ctr"/>
          <a:lstStyle/>
          <a:p>
            <a:pPr algn="ctr" indent="0" marL="0">
              <a:buNone/>
            </a:pPr>
            <a:r>
              <a:rPr lang="en-US" sz="1300" b="1" dirty="0">
                <a:solidFill>
                  <a:srgbClr val="FFFFFF"/>
                </a:solidFill>
              </a:rPr>
              <a:t>A2</a:t>
            </a:r>
            <a:endParaRPr lang="en-US" sz="1400" dirty="0"/>
          </a:p>
          <a:p>
            <a:pPr algn="ctr" indent="0" marL="0">
              <a:buNone/>
            </a:pPr>
            <a:r>
              <a:rPr lang="en-US" sz="1100" dirty="0">
                <a:solidFill>
                  <a:srgbClr val="E6ECF5"/>
                </a:solidFill>
              </a:rPr>
              <a:t>ZNE</a:t>
            </a:r>
            <a:endParaRPr lang="en-US" sz="1400" dirty="0"/>
          </a:p>
        </p:txBody>
      </p:sp>
      <p:sp>
        <p:nvSpPr>
          <p:cNvPr id="15" name="Shape 13"/>
          <p:cNvSpPr/>
          <p:nvPr/>
        </p:nvSpPr>
        <p:spPr>
          <a:xfrm>
            <a:off x="3291840" y="2157984"/>
            <a:ext cx="502920" cy="914"/>
          </a:xfrm>
          <a:prstGeom prst="line">
            <a:avLst/>
          </a:prstGeom>
          <a:noFill/>
          <a:ln w="19050">
            <a:solidFill>
              <a:srgbClr val="6B7280"/>
            </a:solidFill>
            <a:prstDash val="solid"/>
            <a:tailEnd type="triangle"/>
          </a:ln>
        </p:spPr>
      </p:sp>
      <p:sp>
        <p:nvSpPr>
          <p:cNvPr id="16" name="Text 14"/>
          <p:cNvSpPr txBox="1"/>
          <p:nvPr/>
        </p:nvSpPr>
        <p:spPr>
          <a:xfrm>
            <a:off x="3264408" y="1892808"/>
            <a:ext cx="548640" cy="237744"/>
          </a:xfrm>
          <a:prstGeom prst="rect">
            <a:avLst/>
          </a:prstGeom>
          <a:noFill/>
          <a:ln/>
        </p:spPr>
        <p:txBody>
          <a:bodyPr wrap="square" lIns="0" tIns="0" rIns="0" bIns="0" rtlCol="0" anchor="t"/>
          <a:lstStyle/>
          <a:p>
            <a:pPr algn="ctr" indent="0" marL="0">
              <a:buNone/>
            </a:pPr>
            <a:r>
              <a:rPr lang="en-US" sz="1050" b="1" dirty="0">
                <a:solidFill>
                  <a:schemeClr val="accent5"/>
                </a:solidFill>
              </a:rPr>
              <a:t>yes</a:t>
            </a:r>
            <a:endParaRPr lang="en-US" sz="1050" dirty="0"/>
          </a:p>
        </p:txBody>
      </p:sp>
      <p:sp>
        <p:nvSpPr>
          <p:cNvPr id="17" name="Shape 15"/>
          <p:cNvSpPr/>
          <p:nvPr/>
        </p:nvSpPr>
        <p:spPr>
          <a:xfrm>
            <a:off x="1920240" y="2532888"/>
            <a:ext cx="914" cy="484632"/>
          </a:xfrm>
          <a:prstGeom prst="line">
            <a:avLst/>
          </a:prstGeom>
          <a:noFill/>
          <a:ln w="19050">
            <a:solidFill>
              <a:srgbClr val="6B7280"/>
            </a:solidFill>
            <a:prstDash val="solid"/>
            <a:tailEnd type="triangle"/>
          </a:ln>
        </p:spPr>
      </p:sp>
      <p:sp>
        <p:nvSpPr>
          <p:cNvPr id="18" name="Text 16"/>
          <p:cNvSpPr txBox="1"/>
          <p:nvPr/>
        </p:nvSpPr>
        <p:spPr>
          <a:xfrm>
            <a:off x="1965960" y="2651760"/>
            <a:ext cx="548640" cy="237744"/>
          </a:xfrm>
          <a:prstGeom prst="rect">
            <a:avLst/>
          </a:prstGeom>
          <a:noFill/>
          <a:ln/>
        </p:spPr>
        <p:txBody>
          <a:bodyPr wrap="square" lIns="0" tIns="0" rIns="0" bIns="0" rtlCol="0" anchor="t"/>
          <a:lstStyle/>
          <a:p>
            <a:pPr algn="ctr" indent="0" marL="0">
              <a:buNone/>
            </a:pPr>
            <a:r>
              <a:rPr lang="en-US" sz="1050" b="1" dirty="0">
                <a:solidFill>
                  <a:schemeClr val="accent5"/>
                </a:solidFill>
              </a:rPr>
              <a:t>no</a:t>
            </a:r>
            <a:endParaRPr lang="en-US" sz="1050" dirty="0"/>
          </a:p>
        </p:txBody>
      </p:sp>
      <p:sp>
        <p:nvSpPr>
          <p:cNvPr id="19" name="Shape 17"/>
          <p:cNvSpPr/>
          <p:nvPr/>
        </p:nvSpPr>
        <p:spPr>
          <a:xfrm>
            <a:off x="4443984" y="2532888"/>
            <a:ext cx="914" cy="484632"/>
          </a:xfrm>
          <a:prstGeom prst="line">
            <a:avLst/>
          </a:prstGeom>
          <a:noFill/>
          <a:ln w="19050">
            <a:solidFill>
              <a:srgbClr val="6B7280"/>
            </a:solidFill>
            <a:prstDash val="solid"/>
            <a:tailEnd type="triangle"/>
          </a:ln>
        </p:spPr>
      </p:sp>
      <p:sp>
        <p:nvSpPr>
          <p:cNvPr id="20" name="Text 18"/>
          <p:cNvSpPr txBox="1"/>
          <p:nvPr/>
        </p:nvSpPr>
        <p:spPr>
          <a:xfrm>
            <a:off x="3931920" y="2651760"/>
            <a:ext cx="548640" cy="237744"/>
          </a:xfrm>
          <a:prstGeom prst="rect">
            <a:avLst/>
          </a:prstGeom>
          <a:noFill/>
          <a:ln/>
        </p:spPr>
        <p:txBody>
          <a:bodyPr wrap="square" lIns="0" tIns="0" rIns="0" bIns="0" rtlCol="0" anchor="t"/>
          <a:lstStyle/>
          <a:p>
            <a:pPr algn="ctr" indent="0" marL="0">
              <a:buNone/>
            </a:pPr>
            <a:r>
              <a:rPr lang="en-US" sz="1050" b="1" dirty="0">
                <a:solidFill>
                  <a:schemeClr val="accent5"/>
                </a:solidFill>
              </a:rPr>
              <a:t>yes</a:t>
            </a:r>
            <a:endParaRPr lang="en-US" sz="1050" dirty="0"/>
          </a:p>
        </p:txBody>
      </p:sp>
      <p:sp>
        <p:nvSpPr>
          <p:cNvPr id="21" name="Shape 19"/>
          <p:cNvSpPr/>
          <p:nvPr/>
        </p:nvSpPr>
        <p:spPr>
          <a:xfrm>
            <a:off x="5888736" y="2532888"/>
            <a:ext cx="914" cy="484632"/>
          </a:xfrm>
          <a:prstGeom prst="line">
            <a:avLst/>
          </a:prstGeom>
          <a:noFill/>
          <a:ln w="19050">
            <a:solidFill>
              <a:srgbClr val="6B7280"/>
            </a:solidFill>
            <a:prstDash val="solid"/>
            <a:tailEnd type="triangle"/>
          </a:ln>
        </p:spPr>
      </p:sp>
      <p:sp>
        <p:nvSpPr>
          <p:cNvPr id="22" name="Text 20"/>
          <p:cNvSpPr txBox="1"/>
          <p:nvPr/>
        </p:nvSpPr>
        <p:spPr>
          <a:xfrm>
            <a:off x="5943600" y="2651760"/>
            <a:ext cx="548640" cy="237744"/>
          </a:xfrm>
          <a:prstGeom prst="rect">
            <a:avLst/>
          </a:prstGeom>
          <a:noFill/>
          <a:ln/>
        </p:spPr>
        <p:txBody>
          <a:bodyPr wrap="square" lIns="0" tIns="0" rIns="0" bIns="0" rtlCol="0" anchor="t"/>
          <a:lstStyle/>
          <a:p>
            <a:pPr algn="ctr" indent="0" marL="0">
              <a:buNone/>
            </a:pPr>
            <a:r>
              <a:rPr lang="en-US" sz="1050" b="1" dirty="0">
                <a:solidFill>
                  <a:schemeClr val="accent5"/>
                </a:solidFill>
              </a:rPr>
              <a:t>no</a:t>
            </a:r>
            <a:endParaRPr lang="en-US" sz="1050" dirty="0"/>
          </a:p>
        </p:txBody>
      </p:sp>
      <p:sp>
        <p:nvSpPr>
          <p:cNvPr id="23" name="Text 21"/>
          <p:cNvSpPr txBox="1"/>
          <p:nvPr/>
        </p:nvSpPr>
        <p:spPr>
          <a:xfrm>
            <a:off x="548640" y="3840480"/>
            <a:ext cx="6035040" cy="457200"/>
          </a:xfrm>
          <a:prstGeom prst="rect">
            <a:avLst/>
          </a:prstGeom>
          <a:noFill/>
          <a:ln/>
        </p:spPr>
        <p:txBody>
          <a:bodyPr wrap="square" lIns="0" tIns="0" rIns="0" bIns="0" rtlCol="0" anchor="t"/>
          <a:lstStyle/>
          <a:p>
            <a:pPr indent="0" marL="0">
              <a:buNone/>
            </a:pPr>
            <a:r>
              <a:rPr lang="en-US" sz="1150" i="1" dirty="0">
                <a:solidFill>
                  <a:schemeClr val="accent5"/>
                </a:solidFill>
              </a:rPr>
              <a:t>One readout-probe and one gate-probe threshold per shot budget. Thresholds are specific to this simulated 4-qubit setting.</a:t>
            </a:r>
            <a:endParaRPr lang="en-US" sz="1150" dirty="0"/>
          </a:p>
        </p:txBody>
      </p:sp>
      <p:sp>
        <p:nvSpPr>
          <p:cNvPr id="24" name="card-bg"/>
          <p:cNvSpPr/>
          <p:nvPr/>
        </p:nvSpPr>
        <p:spPr>
          <a:xfrm>
            <a:off x="548640" y="4343400"/>
            <a:ext cx="2926080" cy="1005840"/>
          </a:xfrm>
          <a:prstGeom prst="roundRect">
            <a:avLst>
              <a:gd name="adj" fmla="val 6364"/>
            </a:avLst>
          </a:prstGeom>
          <a:solidFill>
            <a:srgbClr val="E3F2F1"/>
          </a:solidFill>
          <a:ln w="6350">
            <a:solidFill>
              <a:srgbClr val="E3F2F1"/>
            </a:solidFill>
            <a:prstDash val="solid"/>
          </a:ln>
        </p:spPr>
      </p:sp>
      <p:sp>
        <p:nvSpPr>
          <p:cNvPr id="25" name="card-text"/>
          <p:cNvSpPr txBox="1"/>
          <p:nvPr/>
        </p:nvSpPr>
        <p:spPr>
          <a:xfrm>
            <a:off x="731520" y="4471416"/>
            <a:ext cx="2560320" cy="786384"/>
          </a:xfrm>
          <a:prstGeom prst="rect">
            <a:avLst/>
          </a:prstGeom>
          <a:noFill/>
          <a:ln/>
        </p:spPr>
        <p:txBody>
          <a:bodyPr wrap="square" lIns="0" tIns="0" rIns="0" bIns="0" rtlCol="0" anchor="t"/>
          <a:lstStyle/>
          <a:p>
            <a:pPr indent="0" marL="0">
              <a:spcAft>
                <a:spcPts val="400"/>
              </a:spcAft>
              <a:buNone/>
            </a:pPr>
            <a:r>
              <a:rPr lang="en-US" sz="1350" b="1" dirty="0">
                <a:solidFill>
                  <a:schemeClr val="tx2"/>
                </a:solidFill>
              </a:rPr>
              <a:t>Bias, not variance</a:t>
            </a:r>
            <a:endParaRPr lang="en-US" sz="1350" dirty="0"/>
          </a:p>
          <a:p>
            <a:pPr indent="0" marL="0">
              <a:spcAft>
                <a:spcPts val="400"/>
              </a:spcAft>
              <a:buNone/>
            </a:pPr>
            <a:r>
              <a:rPr lang="en-US" sz="1200" dirty="0">
                <a:solidFill>
                  <a:schemeClr val="tx1"/>
                </a:solidFill>
              </a:rPr>
              <a:t>shots cannot fix it, so the budget rarely matters</a:t>
            </a:r>
            <a:endParaRPr lang="en-US" sz="1350" dirty="0"/>
          </a:p>
        </p:txBody>
      </p:sp>
      <p:sp>
        <p:nvSpPr>
          <p:cNvPr id="26" name="card-bg"/>
          <p:cNvSpPr/>
          <p:nvPr/>
        </p:nvSpPr>
        <p:spPr>
          <a:xfrm>
            <a:off x="3657600" y="4343400"/>
            <a:ext cx="2926080" cy="1005840"/>
          </a:xfrm>
          <a:prstGeom prst="roundRect">
            <a:avLst>
              <a:gd name="adj" fmla="val 6364"/>
            </a:avLst>
          </a:prstGeom>
          <a:solidFill>
            <a:srgbClr val="E3F2F1"/>
          </a:solidFill>
          <a:ln w="6350">
            <a:solidFill>
              <a:srgbClr val="E3F2F1"/>
            </a:solidFill>
            <a:prstDash val="solid"/>
          </a:ln>
        </p:spPr>
      </p:sp>
      <p:sp>
        <p:nvSpPr>
          <p:cNvPr id="27" name="card-text"/>
          <p:cNvSpPr txBox="1"/>
          <p:nvPr/>
        </p:nvSpPr>
        <p:spPr>
          <a:xfrm>
            <a:off x="3840480" y="4471416"/>
            <a:ext cx="2560320" cy="786384"/>
          </a:xfrm>
          <a:prstGeom prst="rect">
            <a:avLst/>
          </a:prstGeom>
          <a:noFill/>
          <a:ln/>
        </p:spPr>
        <p:txBody>
          <a:bodyPr wrap="square" lIns="0" tIns="0" rIns="0" bIns="0" rtlCol="0" anchor="t"/>
          <a:lstStyle/>
          <a:p>
            <a:pPr indent="0" marL="0">
              <a:spcAft>
                <a:spcPts val="400"/>
              </a:spcAft>
              <a:buNone/>
            </a:pPr>
            <a:r>
              <a:rPr lang="en-US" sz="1350" b="1" dirty="0">
                <a:solidFill>
                  <a:schemeClr val="tx2"/>
                </a:solidFill>
              </a:rPr>
              <a:t>One question decides</a:t>
            </a:r>
            <a:endParaRPr lang="en-US" sz="1350" dirty="0"/>
          </a:p>
          <a:p>
            <a:pPr indent="0" marL="0">
              <a:spcAft>
                <a:spcPts val="400"/>
              </a:spcAft>
              <a:buNone/>
            </a:pPr>
            <a:r>
              <a:rPr lang="en-US" sz="1200" dirty="0">
                <a:solidFill>
                  <a:schemeClr val="tx1"/>
                </a:solidFill>
              </a:rPr>
              <a:t>in our design: is gate noise present?</a:t>
            </a:r>
            <a:endParaRPr lang="en-US" sz="1350" dirty="0"/>
          </a:p>
        </p:txBody>
      </p:sp>
      <p:sp>
        <p:nvSpPr>
          <p:cNvPr id="28" name="card-bg"/>
          <p:cNvSpPr/>
          <p:nvPr/>
        </p:nvSpPr>
        <p:spPr>
          <a:xfrm>
            <a:off x="6812280" y="1325880"/>
            <a:ext cx="4846320" cy="1188720"/>
          </a:xfrm>
          <a:prstGeom prst="roundRect">
            <a:avLst>
              <a:gd name="adj" fmla="val 5385"/>
            </a:avLst>
          </a:prstGeom>
          <a:solidFill>
            <a:srgbClr val="F7E3E1"/>
          </a:solidFill>
          <a:ln w="6350">
            <a:solidFill>
              <a:srgbClr val="F7E3E1"/>
            </a:solidFill>
            <a:prstDash val="solid"/>
          </a:ln>
        </p:spPr>
      </p:sp>
      <p:sp>
        <p:nvSpPr>
          <p:cNvPr id="29" name="card-text"/>
          <p:cNvSpPr txBox="1"/>
          <p:nvPr/>
        </p:nvSpPr>
        <p:spPr>
          <a:xfrm>
            <a:off x="6995160" y="1453896"/>
            <a:ext cx="4480560" cy="969264"/>
          </a:xfrm>
          <a:prstGeom prst="rect">
            <a:avLst/>
          </a:prstGeom>
          <a:noFill/>
          <a:ln/>
        </p:spPr>
        <p:txBody>
          <a:bodyPr wrap="square" lIns="0" tIns="0" rIns="0" bIns="0" rtlCol="0" anchor="t"/>
          <a:lstStyle/>
          <a:p>
            <a:pPr indent="0" marL="0">
              <a:spcAft>
                <a:spcPts val="400"/>
              </a:spcAft>
              <a:buNone/>
            </a:pPr>
            <a:r>
              <a:rPr lang="en-US" sz="1550" b="1" dirty="0">
                <a:solidFill>
                  <a:schemeClr val="accent3"/>
                </a:solidFill>
              </a:rPr>
              <a:t>G3B · categorical noise  →  FAIL</a:t>
            </a:r>
            <a:endParaRPr lang="en-US" sz="1550" dirty="0"/>
          </a:p>
          <a:p>
            <a:pPr indent="0" marL="0">
              <a:spcAft>
                <a:spcPts val="400"/>
              </a:spcAft>
              <a:buNone/>
            </a:pPr>
            <a:r>
              <a:rPr lang="en-US" sz="1300" dirty="0">
                <a:solidFill>
                  <a:schemeClr val="tx1"/>
                </a:solidFill>
              </a:rPr>
              <a:t>4-cell category rule wrong in 0.33% of validation cases (gate threshold: 5%).</a:t>
            </a:r>
            <a:endParaRPr lang="en-US" sz="1550" dirty="0"/>
          </a:p>
        </p:txBody>
      </p:sp>
      <p:sp>
        <p:nvSpPr>
          <p:cNvPr id="30" name="card-bg"/>
          <p:cNvSpPr/>
          <p:nvPr/>
        </p:nvSpPr>
        <p:spPr>
          <a:xfrm>
            <a:off x="6812280" y="2651760"/>
            <a:ext cx="4846320" cy="1417320"/>
          </a:xfrm>
          <a:prstGeom prst="roundRect">
            <a:avLst>
              <a:gd name="adj" fmla="val 4516"/>
            </a:avLst>
          </a:prstGeom>
          <a:solidFill>
            <a:srgbClr val="F7E3E1"/>
          </a:solidFill>
          <a:ln w="6350">
            <a:solidFill>
              <a:srgbClr val="F7E3E1"/>
            </a:solidFill>
            <a:prstDash val="solid"/>
          </a:ln>
        </p:spPr>
      </p:sp>
      <p:sp>
        <p:nvSpPr>
          <p:cNvPr id="31" name="card-text"/>
          <p:cNvSpPr txBox="1"/>
          <p:nvPr/>
        </p:nvSpPr>
        <p:spPr>
          <a:xfrm>
            <a:off x="6995160" y="2779776"/>
            <a:ext cx="4480560" cy="1197864"/>
          </a:xfrm>
          <a:prstGeom prst="rect">
            <a:avLst/>
          </a:prstGeom>
          <a:noFill/>
          <a:ln/>
        </p:spPr>
        <p:txBody>
          <a:bodyPr wrap="square" lIns="0" tIns="0" rIns="0" bIns="0" rtlCol="0" anchor="t"/>
          <a:lstStyle/>
          <a:p>
            <a:pPr indent="0" marL="0">
              <a:spcAft>
                <a:spcPts val="400"/>
              </a:spcAft>
              <a:buNone/>
            </a:pPr>
            <a:r>
              <a:rPr lang="en-US" sz="1550" b="1" dirty="0">
                <a:solidFill>
                  <a:schemeClr val="accent3"/>
                </a:solidFill>
              </a:rPr>
              <a:t>G3C · continuous joint noise  →  FAIL</a:t>
            </a:r>
            <a:endParaRPr lang="en-US" sz="1550" dirty="0"/>
          </a:p>
          <a:p>
            <a:pPr indent="0" marL="0">
              <a:spcAft>
                <a:spcPts val="400"/>
              </a:spcAft>
              <a:buNone/>
            </a:pPr>
            <a:r>
              <a:rPr lang="en-US" sz="1300" dirty="0">
                <a:solidFill>
                  <a:schemeClr val="tx1"/>
                </a:solidFill>
              </a:rPr>
              <a:t>Best rule: 9.6% disagreement, but only 2.0% [1.6, 2.7] material (threshold: 5%); Brier regret +0.3%.</a:t>
            </a:r>
            <a:endParaRPr lang="en-US" sz="1550" dirty="0"/>
          </a:p>
        </p:txBody>
      </p:sp>
      <p:sp>
        <p:nvSpPr>
          <p:cNvPr id="32" name="card-bg"/>
          <p:cNvSpPr/>
          <p:nvPr/>
        </p:nvSpPr>
        <p:spPr>
          <a:xfrm>
            <a:off x="6812280" y="4206240"/>
            <a:ext cx="4846320" cy="1143000"/>
          </a:xfrm>
          <a:prstGeom prst="roundRect">
            <a:avLst>
              <a:gd name="adj" fmla="val 5600"/>
            </a:avLst>
          </a:prstGeom>
          <a:solidFill>
            <a:srgbClr val="EEF2F7"/>
          </a:solidFill>
          <a:ln w="6350">
            <a:solidFill>
              <a:srgbClr val="EEF2F7"/>
            </a:solidFill>
            <a:prstDash val="solid"/>
          </a:ln>
        </p:spPr>
      </p:sp>
      <p:sp>
        <p:nvSpPr>
          <p:cNvPr id="33" name="card-text"/>
          <p:cNvSpPr txBox="1"/>
          <p:nvPr/>
        </p:nvSpPr>
        <p:spPr>
          <a:xfrm>
            <a:off x="6995160" y="4334256"/>
            <a:ext cx="4480560" cy="92354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Residual structure</a:t>
            </a:r>
            <a:endParaRPr lang="en-US" sz="1550" dirty="0"/>
          </a:p>
          <a:p>
            <a:pPr indent="0" marL="0">
              <a:spcAft>
                <a:spcPts val="400"/>
              </a:spcAft>
              <a:buNone/>
            </a:pPr>
            <a:r>
              <a:rPr lang="en-US" sz="1300" dirty="0">
                <a:solidFill>
                  <a:schemeClr val="tx1"/>
                </a:solidFill>
              </a:rPr>
              <a:t>Detectable (mutual information 0.08 and 0.04 nats), mostly mean-Z readouts, but not material.</a:t>
            </a:r>
            <a:endParaRPr lang="en-US" sz="1550" dirty="0"/>
          </a:p>
        </p:txBody>
      </p:sp>
      <p:sp>
        <p:nvSpPr>
          <p:cNvPr id="34" name="takeaway-bg"/>
          <p:cNvSpPr/>
          <p:nvPr/>
        </p:nvSpPr>
        <p:spPr>
          <a:xfrm>
            <a:off x="548640" y="5532120"/>
            <a:ext cx="11094415" cy="512064"/>
          </a:xfrm>
          <a:prstGeom prst="roundRect">
            <a:avLst>
              <a:gd name="adj" fmla="val 12500"/>
            </a:avLst>
          </a:prstGeom>
          <a:solidFill>
            <a:srgbClr val="E3F2F1"/>
          </a:solidFill>
          <a:ln w="6350">
            <a:solidFill>
              <a:srgbClr val="E3F2F1"/>
            </a:solidFill>
            <a:prstDash val="solid"/>
          </a:ln>
        </p:spPr>
      </p:sp>
      <p:sp>
        <p:nvSpPr>
          <p:cNvPr id="35" name="takeaway-icon-circle"/>
          <p:cNvSpPr/>
          <p:nvPr/>
        </p:nvSpPr>
        <p:spPr>
          <a:xfrm>
            <a:off x="676656" y="5614416"/>
            <a:ext cx="347472" cy="347472"/>
          </a:xfrm>
          <a:prstGeom prst="ellipse">
            <a:avLst/>
          </a:prstGeom>
          <a:solidFill>
            <a:srgbClr val="0F8B8D"/>
          </a:solidFill>
          <a:ln w="12700">
            <a:solidFill>
              <a:srgbClr val="0F8B8D"/>
            </a:solidFill>
            <a:prstDash val="solid"/>
          </a:ln>
        </p:spPr>
      </p:sp>
      <p:pic>
        <p:nvPicPr>
          <p:cNvPr id="36" name="takeaway-icon" descr="preencoded.png">    </p:cNvPr>
          <p:cNvPicPr>
            <a:picLocks noChangeAspect="1"/>
          </p:cNvPicPr>
          <p:nvPr/>
        </p:nvPicPr>
        <p:blipFill>
          <a:blip r:embed="rId1"/>
          <a:stretch>
            <a:fillRect/>
          </a:stretch>
        </p:blipFill>
        <p:spPr>
          <a:xfrm>
            <a:off x="760049" y="5697809"/>
            <a:ext cx="180685" cy="180685"/>
          </a:xfrm>
          <a:prstGeom prst="rect">
            <a:avLst/>
          </a:prstGeom>
        </p:spPr>
      </p:pic>
      <p:sp>
        <p:nvSpPr>
          <p:cNvPr id="37" name="takeaway"/>
          <p:cNvSpPr txBox="1"/>
          <p:nvPr/>
        </p:nvSpPr>
        <p:spPr>
          <a:xfrm>
            <a:off x="1170432" y="553212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As registered, no learned controller was trained. Fixed learned comparators were evaluated on the sealed test instead (run Oct 8; Nov 24 topic).</a:t>
            </a:r>
            <a:endParaRPr lang="en-US" sz="1550" dirty="0"/>
          </a:p>
        </p:txBody>
      </p:sp>
      <p:sp>
        <p:nvSpPr>
          <p:cNvPr id="38" name="source"/>
          <p:cNvSpPr txBox="1"/>
          <p:nvPr/>
        </p:nvSpPr>
        <p:spPr>
          <a:xfrm>
            <a:off x="548640" y="6144768"/>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p5b_metadata.json (g3b), p5c_metadata.json (g3c, R_thr cells and thresholds, structure association), p5c_policy_eval.csv</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Q-TRACE">
  <a:themeElements>
    <a:clrScheme name="Q-TRACE">
      <a:dk1>
        <a:srgbClr val="1A1F2B"/>
      </a:dk1>
      <a:lt1>
        <a:srgbClr val="FFFFFF"/>
      </a:lt1>
      <a:dk2>
        <a:srgbClr val="1B2A49"/>
      </a:dk2>
      <a:lt2>
        <a:srgbClr val="EEF2F7"/>
      </a:lt2>
      <a:accent1>
        <a:srgbClr val="0F8B8D"/>
      </a:accent1>
      <a:accent2>
        <a:srgbClr val="E8A33D"/>
      </a:accent2>
      <a:accent3>
        <a:srgbClr val="C0392B"/>
      </a:accent3>
      <a:accent4>
        <a:srgbClr val="56B4E9"/>
      </a:accent4>
      <a:accent5>
        <a:srgbClr val="6B7280"/>
      </a:accent5>
      <a:accent6>
        <a:srgbClr val="0072B2"/>
      </a:accent6>
      <a:hlink>
        <a:srgbClr val="0F8B8D"/>
      </a:hlink>
      <a:folHlink>
        <a:srgbClr val="1B2A49"/>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Katz School of Science and Health, Yeshiva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Q-TRACE — Policy selection (November 10, 2026)</dc:title>
  <dc:subject>Policy selection</dc:subject>
  <dc:creator>Mayank Kumar Pokhriyal; Tushar Poonia</dc:creator>
  <cp:lastModifiedBy>Mayank Kumar Pokhriyal; Tushar Poonia</cp:lastModifiedBy>
  <cp:revision>1</cp:revision>
  <dcterms:created xsi:type="dcterms:W3CDTF">2026-10-09T02:28:16Z</dcterms:created>
  <dcterms:modified xsi:type="dcterms:W3CDTF">2026-10-09T02:28:16Z</dcterms:modified>
</cp:coreProperties>
</file>