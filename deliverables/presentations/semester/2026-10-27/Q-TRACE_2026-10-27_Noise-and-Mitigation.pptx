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98b4f31f-8349-bde1-317c-2a16e7e6b4e5}">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0:00–0:24]
Good afternoon. Today we go deeper into two completed phases of Q-TRACE: how simulated noise affects our quantum fraud classifier, and what error mitigation does about it.
Both phases were completed on October 7. In short: noise damaged calibration and threshold decisions, not discrimination. Mitigation repaired calibration, and simply buying three times the shots did not.
Key points: Phases 3B and 4, completed Oct 7; noise damaged calibration, not discrimination; mitigation repaired calibration; extra shots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0:24–1:21]
We simulate the frozen classifier exactly, with Qiskit Aer density matrices, so every effect we see comes from the noise model and not from sampling.
There are three noise sources. Depolarizing errors follow one- and two-qubit gates. Thermal relaxation acts during 35-nanosecond and 300-nanosecond gates. Readout confusion flips measured bits. Each source has low, medium and high anchors, and a combined profile uses all three, which gives twelve conditions. Finite-shot experiments then use 1,024 shots and 20 replicates per condition.
Symmetric readout noise also serves as a negative control: in theory it is an exact rescaling of parity scores, so it cannot change their ranking, and in simulation the ranking metrics did not change at all. Three asymmetric readout profiles are synthetic stress tests, not device data.
Key points: Qiskit Aer density matrices: exact; depolarizing, thermal relaxation, readout; low/medium/high + combined = 12 anchors; symmetric readout negative control passed (ranking change 0; affine residual ≤ 4.4e-16); asymmetric profiles are synthetic.
Sources: configs/noise/anchors_rr_v1.yaml; p3b_noise_matrix.csv; p3b_negative_control.csv.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1:21–2:25]
Here is the main characterization result. On the left, AUPRC barely moves under any anchor condition: at most 0.003, and every interval contains zero. At least 46 of the 47 top-ranked frauds stay on top.
On the right, calibration collapses. Under combined high noise the Brier score rises from 0.0093 to 0.121, about thirteen times worse, and expected calibration error rises from 0.083 to 0.346. Noise pulls the scores toward one half. Because fraud alerts fire at a fixed threshold, precision falls from 0.53 to 0.03.
So the problem mitigation must solve is calibration, not discrimination. Noise does reorder some legitimate transactions, with Kendall tau between 0.96 and 0.99, but the frauds at the top survive. Mayank will now explain the two mitigation tools.
Key points: ΔAUPRC ≤ 0.003, all CIs contain 0; ≥ 46 of 47 top frauds kept; Brier 0.0093 → 0.121; ECE 0.083 → 0.346; precision 0.53 → 0.03; some bulk reordering (Kendall τ 0.96–0.99).
Sources: p3b_exact_metrics.csv (model p3a_r); p4_exact_diagnostics.csv (clean precision 0.532).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2:25–3:19]
We compare two standard mitigation techniques, and their combination.
Readout mitigation runs two calibration circuits per batch, all zeros and all ones. From their counts it estimates each qubit's confusion matrix, inverts it, and projects the result back onto valid probabilities. Once calibrated, it is almost free.
Zero-noise extrapolation, or ZNE, deliberately amplifies gate noise by folding the circuit, running it at noise scales one, three and five, and extrapolating linearly back to zero noise. That costs three times the shots and nine times the two-qubit-gate exposure. The combined action applies readout mitigation at every noise scale before extrapolating.
The fair comparison for ZNE is therefore not "no mitigation" but the same three-times shot budget spent on the unmitigated circuit. We call that the extra-shots action.
Key points: readout: 2 calibration circuits per batch, tensored inverse + simplex projection; ZNE: global folding λ = 1, 3, 5, linear extrapolation: 3× shots, 9× CX exposure; fair baseline: same 3× shots, unmitigated.
Sources: configs/mitigation/*.yaml; p4_costs.csv; zne_schematic is illustrative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3:19–4:21]
Here is the resource-matched comparison at 1,024 shots.
Mitigation restores calibration where its noise type is present. Readout mitigation cuts the Brier score from 0.053 to 0.011 under high readout noise. ZNE cuts it from 0.055 to 0.038 under high depolarizing noise. Combined mitigation cuts it from 0.122 to 0.054 under combined high noise. Three times the shots leaves it at 0.121, because shots reduce variance, not bias.
Mitigation never improved AUPRC beyond its shot-matched comparator, which fits the previous slide.
And the best action depended on the noise type: none, readout mitigation, ZNE or both. That made selective mitigation look like a real decision. Whether that decision needs to be learned is the topic of our next meeting. Thank you.
Key points: Brier 0.053 → 0.011 (readout), 0.055 → 0.038 (ZNE), 0.122 → 0.054 (both); 3× shots 0.121; no AUPRC gain over the resource-matched comparator; best action depends on the noise type → selection question (Nov 10).
Sources: p4_summary.csv (s1024); p4_resource_matched.csv; p4_best_action.csv.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Noise and mitigation  ·  October 27,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Noise and mitigation  ·  October 27,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4 of 7  ·  October 27, 2026</a:t>
            </a:r>
            <a:endParaRPr lang="en-US" sz="1100" dirty="0"/>
          </a:p>
        </p:txBody>
      </p:sp>
      <p:sp>
        <p:nvSpPr>
          <p:cNvPr id="4"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NOISE AND MITIGATION</a:t>
            </a:r>
            <a:endParaRPr lang="en-US" sz="1300" dirty="0"/>
          </a:p>
        </p:txBody>
      </p:sp>
      <p:sp>
        <p:nvSpPr>
          <p:cNvPr id="5"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Noise breaks calibration; mitigation repairs it</a:t>
            </a:r>
            <a:endParaRPr lang="en-US" sz="3400" dirty="0"/>
          </a:p>
        </p:txBody>
      </p:sp>
      <p:sp>
        <p:nvSpPr>
          <p:cNvPr id="6"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Noise models · calibration vs discrimination · readout mitigation · zero-noise extrapolation · resource-matched tests</a:t>
            </a:r>
            <a:endParaRPr lang="en-US" sz="1700" dirty="0"/>
          </a:p>
        </p:txBody>
      </p:sp>
      <p:sp>
        <p:nvSpPr>
          <p:cNvPr id="7"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8"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9"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0"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Deeper analysis of Phases 3B and 4 (completed Oct 7, 2026). Noise damaged calibration and threshold decisions, not discrimination. Mitigation repaired calibration; three times the shots did not.</a:t>
            </a:r>
            <a:endParaRPr lang="en-US" sz="1600" dirty="0"/>
          </a:p>
        </p:txBody>
      </p:sp>
      <p:sp>
        <p:nvSpPr>
          <p:cNvPr id="11"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Proposed split: Tushar (slides 1–3) · Mayank (slides 4–5) · about 5 minutes</a:t>
            </a:r>
            <a:endParaRPr lang="en-US" sz="1300" dirty="0"/>
          </a:p>
        </p:txBody>
      </p:sp>
      <p:sp>
        <p:nvSpPr>
          <p:cNvPr id="12" name="tracker-line"/>
          <p:cNvSpPr/>
          <p:nvPr/>
        </p:nvSpPr>
        <p:spPr>
          <a:xfrm>
            <a:off x="548640" y="5888736"/>
            <a:ext cx="11094415" cy="0"/>
          </a:xfrm>
          <a:prstGeom prst="line">
            <a:avLst/>
          </a:prstGeom>
          <a:noFill/>
          <a:ln w="19050">
            <a:solidFill>
              <a:srgbClr val="5B6C8F"/>
            </a:solidFill>
            <a:prstDash val="solid"/>
          </a:ln>
        </p:spPr>
      </p:sp>
      <p:sp>
        <p:nvSpPr>
          <p:cNvPr id="13" name="tracker-node-0"/>
          <p:cNvSpPr/>
          <p:nvPr/>
        </p:nvSpPr>
        <p:spPr>
          <a:xfrm>
            <a:off x="448056" y="5788152"/>
            <a:ext cx="201168" cy="201168"/>
          </a:xfrm>
          <a:prstGeom prst="ellipse">
            <a:avLst/>
          </a:prstGeom>
          <a:solidFill>
            <a:srgbClr val="0F8B8D"/>
          </a:solidFill>
          <a:ln w="19050">
            <a:solidFill>
              <a:srgbClr val="0F8B8D"/>
            </a:solidFill>
            <a:prstDash val="solid"/>
          </a:ln>
        </p:spPr>
      </p:sp>
      <p:sp>
        <p:nvSpPr>
          <p:cNvPr id="14"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15</a:t>
            </a:r>
            <a:endParaRPr lang="en-US" sz="1400" dirty="0"/>
          </a:p>
          <a:p>
            <a:pPr algn="ctr" indent="0" marL="0">
              <a:buNone/>
            </a:pPr>
            <a:r>
              <a:rPr lang="en-US" sz="950" dirty="0">
                <a:solidFill>
                  <a:srgbClr val="AFC2DC"/>
                </a:solidFill>
              </a:rPr>
              <a:t>Proposal</a:t>
            </a:r>
            <a:endParaRPr lang="en-US" sz="1400" dirty="0"/>
          </a:p>
        </p:txBody>
      </p:sp>
      <p:sp>
        <p:nvSpPr>
          <p:cNvPr id="15" name="tracker-node-1"/>
          <p:cNvSpPr/>
          <p:nvPr/>
        </p:nvSpPr>
        <p:spPr>
          <a:xfrm>
            <a:off x="2297125" y="5788152"/>
            <a:ext cx="201168" cy="201168"/>
          </a:xfrm>
          <a:prstGeom prst="ellipse">
            <a:avLst/>
          </a:prstGeom>
          <a:solidFill>
            <a:srgbClr val="0F8B8D"/>
          </a:solidFill>
          <a:ln w="19050">
            <a:solidFill>
              <a:srgbClr val="0F8B8D"/>
            </a:solidFill>
            <a:prstDash val="solid"/>
          </a:ln>
        </p:spPr>
      </p:sp>
      <p:sp>
        <p:nvSpPr>
          <p:cNvPr id="16"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29</a:t>
            </a:r>
            <a:endParaRPr lang="en-US" sz="1400" dirty="0"/>
          </a:p>
          <a:p>
            <a:pPr algn="ctr" indent="0" marL="0">
              <a:buNone/>
            </a:pPr>
            <a:r>
              <a:rPr lang="en-US" sz="950" dirty="0">
                <a:solidFill>
                  <a:srgbClr val="AFC2DC"/>
                </a:solidFill>
              </a:rPr>
              <a:t>Design</a:t>
            </a:r>
            <a:endParaRPr lang="en-US" sz="1400" dirty="0"/>
          </a:p>
        </p:txBody>
      </p:sp>
      <p:sp>
        <p:nvSpPr>
          <p:cNvPr id="17" name="tracker-node-2"/>
          <p:cNvSpPr/>
          <p:nvPr/>
        </p:nvSpPr>
        <p:spPr>
          <a:xfrm>
            <a:off x="4146194" y="5788152"/>
            <a:ext cx="201168" cy="201168"/>
          </a:xfrm>
          <a:prstGeom prst="ellipse">
            <a:avLst/>
          </a:prstGeom>
          <a:solidFill>
            <a:srgbClr val="0F8B8D"/>
          </a:solidFill>
          <a:ln w="19050">
            <a:solidFill>
              <a:srgbClr val="0F8B8D"/>
            </a:solidFill>
            <a:prstDash val="solid"/>
          </a:ln>
        </p:spPr>
      </p:sp>
      <p:sp>
        <p:nvSpPr>
          <p:cNvPr id="18"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13</a:t>
            </a:r>
            <a:endParaRPr lang="en-US" sz="1400" dirty="0"/>
          </a:p>
          <a:p>
            <a:pPr algn="ctr" indent="0" marL="0">
              <a:buNone/>
            </a:pPr>
            <a:r>
              <a:rPr lang="en-US" sz="950" dirty="0">
                <a:solidFill>
                  <a:srgbClr val="AFC2DC"/>
                </a:solidFill>
              </a:rPr>
              <a:t>Implementation</a:t>
            </a:r>
            <a:endParaRPr lang="en-US" sz="1400" dirty="0"/>
          </a:p>
        </p:txBody>
      </p:sp>
      <p:sp>
        <p:nvSpPr>
          <p:cNvPr id="19" name="tracker-node-3"/>
          <p:cNvSpPr/>
          <p:nvPr/>
        </p:nvSpPr>
        <p:spPr>
          <a:xfrm>
            <a:off x="5958688" y="5751576"/>
            <a:ext cx="274320" cy="274320"/>
          </a:xfrm>
          <a:prstGeom prst="ellipse">
            <a:avLst/>
          </a:prstGeom>
          <a:solidFill>
            <a:srgbClr val="E8A33D"/>
          </a:solidFill>
          <a:ln w="19050">
            <a:solidFill>
              <a:srgbClr val="E8A33D"/>
            </a:solidFill>
            <a:prstDash val="solid"/>
          </a:ln>
        </p:spPr>
      </p:sp>
      <p:sp>
        <p:nvSpPr>
          <p:cNvPr id="20"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Oct 27</a:t>
            </a:r>
            <a:endParaRPr lang="en-US" sz="1400" dirty="0"/>
          </a:p>
          <a:p>
            <a:pPr algn="ctr" indent="0" marL="0">
              <a:buNone/>
            </a:pPr>
            <a:r>
              <a:rPr lang="en-US" sz="950" dirty="0">
                <a:solidFill>
                  <a:srgbClr val="FFFFFF"/>
                </a:solidFill>
              </a:rPr>
              <a:t>Noise &amp; mitigation</a:t>
            </a:r>
            <a:endParaRPr lang="en-US" sz="1400" dirty="0"/>
          </a:p>
        </p:txBody>
      </p:sp>
      <p:sp>
        <p:nvSpPr>
          <p:cNvPr id="21" name="tracker-node-4"/>
          <p:cNvSpPr/>
          <p:nvPr/>
        </p:nvSpPr>
        <p:spPr>
          <a:xfrm>
            <a:off x="7844333" y="5788152"/>
            <a:ext cx="201168" cy="201168"/>
          </a:xfrm>
          <a:prstGeom prst="ellipse">
            <a:avLst/>
          </a:prstGeom>
          <a:solidFill>
            <a:srgbClr val="1B2A49"/>
          </a:solidFill>
          <a:ln w="19050">
            <a:solidFill>
              <a:srgbClr val="5B6C8F"/>
            </a:solidFill>
            <a:prstDash val="solid"/>
          </a:ln>
        </p:spPr>
      </p:sp>
      <p:sp>
        <p:nvSpPr>
          <p:cNvPr id="22"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10</a:t>
            </a:r>
            <a:endParaRPr lang="en-US" sz="1400" dirty="0"/>
          </a:p>
          <a:p>
            <a:pPr algn="ctr" indent="0" marL="0">
              <a:buNone/>
            </a:pPr>
            <a:r>
              <a:rPr lang="en-US" sz="950" dirty="0">
                <a:solidFill>
                  <a:srgbClr val="AFC2DC"/>
                </a:solidFill>
              </a:rPr>
              <a:t>Policy selection</a:t>
            </a:r>
            <a:endParaRPr lang="en-US" sz="1400" dirty="0"/>
          </a:p>
        </p:txBody>
      </p:sp>
      <p:sp>
        <p:nvSpPr>
          <p:cNvPr id="23" name="tracker-node-5"/>
          <p:cNvSpPr/>
          <p:nvPr/>
        </p:nvSpPr>
        <p:spPr>
          <a:xfrm>
            <a:off x="9693402" y="5788152"/>
            <a:ext cx="201168" cy="201168"/>
          </a:xfrm>
          <a:prstGeom prst="ellipse">
            <a:avLst/>
          </a:prstGeom>
          <a:solidFill>
            <a:srgbClr val="1B2A49"/>
          </a:solidFill>
          <a:ln w="19050">
            <a:solidFill>
              <a:srgbClr val="5B6C8F"/>
            </a:solidFill>
            <a:prstDash val="solid"/>
          </a:ln>
        </p:spPr>
      </p:sp>
      <p:sp>
        <p:nvSpPr>
          <p:cNvPr id="24"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24</a:t>
            </a:r>
            <a:endParaRPr lang="en-US" sz="1400" dirty="0"/>
          </a:p>
          <a:p>
            <a:pPr algn="ctr" indent="0" marL="0">
              <a:buNone/>
            </a:pPr>
            <a:r>
              <a:rPr lang="en-US" sz="950" dirty="0">
                <a:solidFill>
                  <a:srgbClr val="AFC2DC"/>
                </a:solidFill>
              </a:rPr>
              <a:t>Final findings</a:t>
            </a:r>
            <a:endParaRPr lang="en-US" sz="1400" dirty="0"/>
          </a:p>
        </p:txBody>
      </p:sp>
      <p:sp>
        <p:nvSpPr>
          <p:cNvPr id="25" name="tracker-node-6"/>
          <p:cNvSpPr/>
          <p:nvPr/>
        </p:nvSpPr>
        <p:spPr>
          <a:xfrm>
            <a:off x="11542471" y="5788152"/>
            <a:ext cx="201168" cy="201168"/>
          </a:xfrm>
          <a:prstGeom prst="ellipse">
            <a:avLst/>
          </a:prstGeom>
          <a:solidFill>
            <a:srgbClr val="1B2A49"/>
          </a:solidFill>
          <a:ln w="19050">
            <a:solidFill>
              <a:srgbClr val="5B6C8F"/>
            </a:solidFill>
            <a:prstDash val="solid"/>
          </a:ln>
        </p:spPr>
      </p:sp>
      <p:sp>
        <p:nvSpPr>
          <p:cNvPr id="26"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Dec 8</a:t>
            </a:r>
            <a:endParaRPr lang="en-US" sz="1400" dirty="0"/>
          </a:p>
          <a:p>
            <a:pPr algn="ctr" indent="0" marL="0">
              <a:buNone/>
            </a:pPr>
            <a:r>
              <a:rPr lang="en-US" sz="950" dirty="0">
                <a:solidFill>
                  <a:srgbClr val="AFC2DC"/>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3B  ·  EXACT DENSITY-MATRIX SIMULATION  ·  COMPLETED OCTOBER 7,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How we simulated noise</a:t>
            </a:r>
            <a:endParaRPr lang="en-US" sz="2800" dirty="0"/>
          </a:p>
        </p:txBody>
      </p:sp>
      <p:sp>
        <p:nvSpPr>
          <p:cNvPr id="4" name="src-0"/>
          <p:cNvSpPr/>
          <p:nvPr/>
        </p:nvSpPr>
        <p:spPr>
          <a:xfrm>
            <a:off x="548640" y="1371600"/>
            <a:ext cx="3566160" cy="2240280"/>
          </a:xfrm>
          <a:prstGeom prst="roundRect">
            <a:avLst>
              <a:gd name="adj" fmla="val 2857"/>
            </a:avLst>
          </a:prstGeom>
          <a:solidFill>
            <a:srgbClr val="EEF2F7"/>
          </a:solidFill>
          <a:ln w="6350">
            <a:solidFill>
              <a:srgbClr val="EEF2F7"/>
            </a:solidFill>
            <a:prstDash val="solid"/>
          </a:ln>
        </p:spPr>
      </p:sp>
      <p:sp>
        <p:nvSpPr>
          <p:cNvPr id="5" name="src-icon-0-circle"/>
          <p:cNvSpPr/>
          <p:nvPr/>
        </p:nvSpPr>
        <p:spPr>
          <a:xfrm>
            <a:off x="777240" y="1572768"/>
            <a:ext cx="685800" cy="685800"/>
          </a:xfrm>
          <a:prstGeom prst="ellipse">
            <a:avLst/>
          </a:prstGeom>
          <a:solidFill>
            <a:srgbClr val="1B2A49"/>
          </a:solidFill>
          <a:ln w="12700">
            <a:solidFill>
              <a:srgbClr val="1B2A49"/>
            </a:solidFill>
            <a:prstDash val="solid"/>
          </a:ln>
        </p:spPr>
      </p:sp>
      <p:pic>
        <p:nvPicPr>
          <p:cNvPr id="6" name="src-icon-0" descr="preencoded.png">    </p:cNvPr>
          <p:cNvPicPr>
            <a:picLocks noChangeAspect="1"/>
          </p:cNvPicPr>
          <p:nvPr/>
        </p:nvPicPr>
        <p:blipFill>
          <a:blip r:embed="rId1"/>
          <a:stretch>
            <a:fillRect/>
          </a:stretch>
        </p:blipFill>
        <p:spPr>
          <a:xfrm>
            <a:off x="941832" y="1737360"/>
            <a:ext cx="356616" cy="356616"/>
          </a:xfrm>
          <a:prstGeom prst="rect">
            <a:avLst/>
          </a:prstGeom>
        </p:spPr>
      </p:pic>
      <p:sp>
        <p:nvSpPr>
          <p:cNvPr id="7" name="Text 4"/>
          <p:cNvSpPr txBox="1"/>
          <p:nvPr/>
        </p:nvSpPr>
        <p:spPr>
          <a:xfrm>
            <a:off x="1600200" y="1572768"/>
            <a:ext cx="2377440" cy="384048"/>
          </a:xfrm>
          <a:prstGeom prst="rect">
            <a:avLst/>
          </a:prstGeom>
          <a:noFill/>
          <a:ln/>
        </p:spPr>
        <p:txBody>
          <a:bodyPr wrap="square" lIns="0" tIns="0" rIns="0" bIns="0" rtlCol="0" anchor="t"/>
          <a:lstStyle/>
          <a:p>
            <a:pPr indent="0" marL="0">
              <a:buNone/>
            </a:pPr>
            <a:r>
              <a:rPr lang="en-US" sz="1700" b="1" dirty="0">
                <a:solidFill>
                  <a:schemeClr val="tx2"/>
                </a:solidFill>
              </a:rPr>
              <a:t>Depolarizing</a:t>
            </a:r>
            <a:endParaRPr lang="en-US" sz="1700" dirty="0"/>
          </a:p>
        </p:txBody>
      </p:sp>
      <p:sp>
        <p:nvSpPr>
          <p:cNvPr id="8" name="Text 5"/>
          <p:cNvSpPr txBox="1"/>
          <p:nvPr/>
        </p:nvSpPr>
        <p:spPr>
          <a:xfrm>
            <a:off x="1600200" y="1938528"/>
            <a:ext cx="2377440" cy="384048"/>
          </a:xfrm>
          <a:prstGeom prst="rect">
            <a:avLst/>
          </a:prstGeom>
          <a:noFill/>
          <a:ln/>
        </p:spPr>
        <p:txBody>
          <a:bodyPr wrap="square" lIns="0" tIns="0" rIns="0" bIns="0" rtlCol="0" anchor="t"/>
          <a:lstStyle/>
          <a:p>
            <a:pPr indent="0" marL="0">
              <a:buNone/>
            </a:pPr>
            <a:r>
              <a:rPr lang="en-US" sz="1250" dirty="0">
                <a:solidFill>
                  <a:schemeClr val="tx1"/>
                </a:solidFill>
              </a:rPr>
              <a:t>after every 1- and 2-qubit gate</a:t>
            </a:r>
            <a:endParaRPr lang="en-US" sz="1250" dirty="0"/>
          </a:p>
        </p:txBody>
      </p:sp>
      <p:sp>
        <p:nvSpPr>
          <p:cNvPr id="9" name="Text 6"/>
          <p:cNvSpPr txBox="1"/>
          <p:nvPr/>
        </p:nvSpPr>
        <p:spPr>
          <a:xfrm>
            <a:off x="777240" y="2560320"/>
            <a:ext cx="3108960" cy="274320"/>
          </a:xfrm>
          <a:prstGeom prst="rect">
            <a:avLst/>
          </a:prstGeom>
          <a:noFill/>
          <a:ln/>
        </p:spPr>
        <p:txBody>
          <a:bodyPr wrap="square" lIns="0" tIns="0" rIns="0" bIns="0" rtlCol="0" anchor="t"/>
          <a:lstStyle/>
          <a:p>
            <a:pPr indent="0" marL="0">
              <a:buNone/>
            </a:pPr>
            <a:r>
              <a:rPr lang="en-US" sz="1150" b="1" dirty="0">
                <a:solidFill>
                  <a:schemeClr val="accent5"/>
                </a:solidFill>
              </a:rPr>
              <a:t>low · medium · high</a:t>
            </a:r>
            <a:endParaRPr lang="en-US" sz="1150" dirty="0"/>
          </a:p>
        </p:txBody>
      </p:sp>
      <p:sp>
        <p:nvSpPr>
          <p:cNvPr id="10" name="Text 7"/>
          <p:cNvSpPr txBox="1"/>
          <p:nvPr/>
        </p:nvSpPr>
        <p:spPr>
          <a:xfrm>
            <a:off x="777240" y="2834640"/>
            <a:ext cx="3108960" cy="548640"/>
          </a:xfrm>
          <a:prstGeom prst="rect">
            <a:avLst/>
          </a:prstGeom>
          <a:noFill/>
          <a:ln/>
        </p:spPr>
        <p:txBody>
          <a:bodyPr wrap="square" lIns="0" tIns="0" rIns="0" bIns="0" rtlCol="0" anchor="t"/>
          <a:lstStyle/>
          <a:p>
            <a:pPr indent="0" marL="0">
              <a:buNone/>
            </a:pPr>
            <a:r>
              <a:rPr lang="en-US" sz="1450" dirty="0">
                <a:solidFill>
                  <a:schemeClr val="tx1"/>
                </a:solidFill>
              </a:rPr>
              <a:t>two-qubit error 0.005 · 0.010 · 0.020</a:t>
            </a:r>
            <a:endParaRPr lang="en-US" sz="1450" dirty="0"/>
          </a:p>
        </p:txBody>
      </p:sp>
      <p:sp>
        <p:nvSpPr>
          <p:cNvPr id="11" name="src-1"/>
          <p:cNvSpPr/>
          <p:nvPr/>
        </p:nvSpPr>
        <p:spPr>
          <a:xfrm>
            <a:off x="4297680" y="1371600"/>
            <a:ext cx="3566160" cy="2240280"/>
          </a:xfrm>
          <a:prstGeom prst="roundRect">
            <a:avLst>
              <a:gd name="adj" fmla="val 2857"/>
            </a:avLst>
          </a:prstGeom>
          <a:solidFill>
            <a:srgbClr val="EEF2F7"/>
          </a:solidFill>
          <a:ln w="6350">
            <a:solidFill>
              <a:srgbClr val="EEF2F7"/>
            </a:solidFill>
            <a:prstDash val="solid"/>
          </a:ln>
        </p:spPr>
      </p:sp>
      <p:sp>
        <p:nvSpPr>
          <p:cNvPr id="12" name="src-icon-1-circle"/>
          <p:cNvSpPr/>
          <p:nvPr/>
        </p:nvSpPr>
        <p:spPr>
          <a:xfrm>
            <a:off x="4526280" y="1572768"/>
            <a:ext cx="685800" cy="685800"/>
          </a:xfrm>
          <a:prstGeom prst="ellipse">
            <a:avLst/>
          </a:prstGeom>
          <a:solidFill>
            <a:srgbClr val="1B2A49"/>
          </a:solidFill>
          <a:ln w="12700">
            <a:solidFill>
              <a:srgbClr val="1B2A49"/>
            </a:solidFill>
            <a:prstDash val="solid"/>
          </a:ln>
        </p:spPr>
      </p:sp>
      <p:pic>
        <p:nvPicPr>
          <p:cNvPr id="13" name="src-icon-1" descr="preencoded.png">    </p:cNvPr>
          <p:cNvPicPr>
            <a:picLocks noChangeAspect="1"/>
          </p:cNvPicPr>
          <p:nvPr/>
        </p:nvPicPr>
        <p:blipFill>
          <a:blip r:embed="rId2"/>
          <a:stretch>
            <a:fillRect/>
          </a:stretch>
        </p:blipFill>
        <p:spPr>
          <a:xfrm>
            <a:off x="4690872" y="1737360"/>
            <a:ext cx="356616" cy="356616"/>
          </a:xfrm>
          <a:prstGeom prst="rect">
            <a:avLst/>
          </a:prstGeom>
        </p:spPr>
      </p:pic>
      <p:sp>
        <p:nvSpPr>
          <p:cNvPr id="14" name="Text 10"/>
          <p:cNvSpPr txBox="1"/>
          <p:nvPr/>
        </p:nvSpPr>
        <p:spPr>
          <a:xfrm>
            <a:off x="5349240" y="1572768"/>
            <a:ext cx="2377440" cy="384048"/>
          </a:xfrm>
          <a:prstGeom prst="rect">
            <a:avLst/>
          </a:prstGeom>
          <a:noFill/>
          <a:ln/>
        </p:spPr>
        <p:txBody>
          <a:bodyPr wrap="square" lIns="0" tIns="0" rIns="0" bIns="0" rtlCol="0" anchor="t"/>
          <a:lstStyle/>
          <a:p>
            <a:pPr indent="0" marL="0">
              <a:buNone/>
            </a:pPr>
            <a:r>
              <a:rPr lang="en-US" sz="1700" b="1" dirty="0">
                <a:solidFill>
                  <a:schemeClr val="tx2"/>
                </a:solidFill>
              </a:rPr>
              <a:t>Thermal relaxation</a:t>
            </a:r>
            <a:endParaRPr lang="en-US" sz="1700" dirty="0"/>
          </a:p>
        </p:txBody>
      </p:sp>
      <p:sp>
        <p:nvSpPr>
          <p:cNvPr id="15" name="Text 11"/>
          <p:cNvSpPr txBox="1"/>
          <p:nvPr/>
        </p:nvSpPr>
        <p:spPr>
          <a:xfrm>
            <a:off x="5349240" y="1938528"/>
            <a:ext cx="2377440" cy="384048"/>
          </a:xfrm>
          <a:prstGeom prst="rect">
            <a:avLst/>
          </a:prstGeom>
          <a:noFill/>
          <a:ln/>
        </p:spPr>
        <p:txBody>
          <a:bodyPr wrap="square" lIns="0" tIns="0" rIns="0" bIns="0" rtlCol="0" anchor="t"/>
          <a:lstStyle/>
          <a:p>
            <a:pPr indent="0" marL="0">
              <a:buNone/>
            </a:pPr>
            <a:r>
              <a:rPr lang="en-US" sz="1250" dirty="0">
                <a:solidFill>
                  <a:schemeClr val="tx1"/>
                </a:solidFill>
              </a:rPr>
              <a:t>during 35 ns and 300 ns gates</a:t>
            </a:r>
            <a:endParaRPr lang="en-US" sz="1250" dirty="0"/>
          </a:p>
        </p:txBody>
      </p:sp>
      <p:sp>
        <p:nvSpPr>
          <p:cNvPr id="16" name="Text 12"/>
          <p:cNvSpPr txBox="1"/>
          <p:nvPr/>
        </p:nvSpPr>
        <p:spPr>
          <a:xfrm>
            <a:off x="4526280" y="2560320"/>
            <a:ext cx="3108960" cy="274320"/>
          </a:xfrm>
          <a:prstGeom prst="rect">
            <a:avLst/>
          </a:prstGeom>
          <a:noFill/>
          <a:ln/>
        </p:spPr>
        <p:txBody>
          <a:bodyPr wrap="square" lIns="0" tIns="0" rIns="0" bIns="0" rtlCol="0" anchor="t"/>
          <a:lstStyle/>
          <a:p>
            <a:pPr indent="0" marL="0">
              <a:buNone/>
            </a:pPr>
            <a:r>
              <a:rPr lang="en-US" sz="1150" b="1" dirty="0">
                <a:solidFill>
                  <a:schemeClr val="accent5"/>
                </a:solidFill>
              </a:rPr>
              <a:t>low · medium · high</a:t>
            </a:r>
            <a:endParaRPr lang="en-US" sz="1150" dirty="0"/>
          </a:p>
        </p:txBody>
      </p:sp>
      <p:sp>
        <p:nvSpPr>
          <p:cNvPr id="17" name="Text 13"/>
          <p:cNvSpPr txBox="1"/>
          <p:nvPr/>
        </p:nvSpPr>
        <p:spPr>
          <a:xfrm>
            <a:off x="4526280" y="2834640"/>
            <a:ext cx="3108960" cy="548640"/>
          </a:xfrm>
          <a:prstGeom prst="rect">
            <a:avLst/>
          </a:prstGeom>
          <a:noFill/>
          <a:ln/>
        </p:spPr>
        <p:txBody>
          <a:bodyPr wrap="square" lIns="0" tIns="0" rIns="0" bIns="0" rtlCol="0" anchor="t"/>
          <a:lstStyle/>
          <a:p>
            <a:pPr indent="0" marL="0">
              <a:buNone/>
            </a:pPr>
            <a:r>
              <a:rPr lang="en-US" sz="1450" dirty="0">
                <a:solidFill>
                  <a:schemeClr val="tx1"/>
                </a:solidFill>
              </a:rPr>
              <a:t>T₁ 200 · 100 · 50 µs</a:t>
            </a:r>
            <a:endParaRPr lang="en-US" sz="1450" dirty="0"/>
          </a:p>
        </p:txBody>
      </p:sp>
      <p:sp>
        <p:nvSpPr>
          <p:cNvPr id="18" name="src-2"/>
          <p:cNvSpPr/>
          <p:nvPr/>
        </p:nvSpPr>
        <p:spPr>
          <a:xfrm>
            <a:off x="8046720" y="1371600"/>
            <a:ext cx="3566160" cy="2240280"/>
          </a:xfrm>
          <a:prstGeom prst="roundRect">
            <a:avLst>
              <a:gd name="adj" fmla="val 2857"/>
            </a:avLst>
          </a:prstGeom>
          <a:solidFill>
            <a:srgbClr val="EEF2F7"/>
          </a:solidFill>
          <a:ln w="6350">
            <a:solidFill>
              <a:srgbClr val="EEF2F7"/>
            </a:solidFill>
            <a:prstDash val="solid"/>
          </a:ln>
        </p:spPr>
      </p:sp>
      <p:sp>
        <p:nvSpPr>
          <p:cNvPr id="19" name="src-icon-2-circle"/>
          <p:cNvSpPr/>
          <p:nvPr/>
        </p:nvSpPr>
        <p:spPr>
          <a:xfrm>
            <a:off x="8275320" y="1572768"/>
            <a:ext cx="685800" cy="685800"/>
          </a:xfrm>
          <a:prstGeom prst="ellipse">
            <a:avLst/>
          </a:prstGeom>
          <a:solidFill>
            <a:srgbClr val="1B2A49"/>
          </a:solidFill>
          <a:ln w="12700">
            <a:solidFill>
              <a:srgbClr val="1B2A49"/>
            </a:solidFill>
            <a:prstDash val="solid"/>
          </a:ln>
        </p:spPr>
      </p:sp>
      <p:pic>
        <p:nvPicPr>
          <p:cNvPr id="20" name="src-icon-2" descr="preencoded.png">    </p:cNvPr>
          <p:cNvPicPr>
            <a:picLocks noChangeAspect="1"/>
          </p:cNvPicPr>
          <p:nvPr/>
        </p:nvPicPr>
        <p:blipFill>
          <a:blip r:embed="rId3"/>
          <a:stretch>
            <a:fillRect/>
          </a:stretch>
        </p:blipFill>
        <p:spPr>
          <a:xfrm>
            <a:off x="8439912" y="1737360"/>
            <a:ext cx="356616" cy="356616"/>
          </a:xfrm>
          <a:prstGeom prst="rect">
            <a:avLst/>
          </a:prstGeom>
        </p:spPr>
      </p:pic>
      <p:sp>
        <p:nvSpPr>
          <p:cNvPr id="21" name="Text 16"/>
          <p:cNvSpPr txBox="1"/>
          <p:nvPr/>
        </p:nvSpPr>
        <p:spPr>
          <a:xfrm>
            <a:off x="9098280" y="1572768"/>
            <a:ext cx="2377440" cy="384048"/>
          </a:xfrm>
          <a:prstGeom prst="rect">
            <a:avLst/>
          </a:prstGeom>
          <a:noFill/>
          <a:ln/>
        </p:spPr>
        <p:txBody>
          <a:bodyPr wrap="square" lIns="0" tIns="0" rIns="0" bIns="0" rtlCol="0" anchor="t"/>
          <a:lstStyle/>
          <a:p>
            <a:pPr indent="0" marL="0">
              <a:buNone/>
            </a:pPr>
            <a:r>
              <a:rPr lang="en-US" sz="1700" b="1" dirty="0">
                <a:solidFill>
                  <a:schemeClr val="tx2"/>
                </a:solidFill>
              </a:rPr>
              <a:t>Readout confusion</a:t>
            </a:r>
            <a:endParaRPr lang="en-US" sz="1700" dirty="0"/>
          </a:p>
        </p:txBody>
      </p:sp>
      <p:sp>
        <p:nvSpPr>
          <p:cNvPr id="22" name="Text 17"/>
          <p:cNvSpPr txBox="1"/>
          <p:nvPr/>
        </p:nvSpPr>
        <p:spPr>
          <a:xfrm>
            <a:off x="9098280" y="1938528"/>
            <a:ext cx="2377440" cy="384048"/>
          </a:xfrm>
          <a:prstGeom prst="rect">
            <a:avLst/>
          </a:prstGeom>
          <a:noFill/>
          <a:ln/>
        </p:spPr>
        <p:txBody>
          <a:bodyPr wrap="square" lIns="0" tIns="0" rIns="0" bIns="0" rtlCol="0" anchor="t"/>
          <a:lstStyle/>
          <a:p>
            <a:pPr indent="0" marL="0">
              <a:buNone/>
            </a:pPr>
            <a:r>
              <a:rPr lang="en-US" sz="1250" dirty="0">
                <a:solidFill>
                  <a:schemeClr val="tx1"/>
                </a:solidFill>
              </a:rPr>
              <a:t>bit flips at measurement</a:t>
            </a:r>
            <a:endParaRPr lang="en-US" sz="1250" dirty="0"/>
          </a:p>
        </p:txBody>
      </p:sp>
      <p:sp>
        <p:nvSpPr>
          <p:cNvPr id="23" name="Text 18"/>
          <p:cNvSpPr txBox="1"/>
          <p:nvPr/>
        </p:nvSpPr>
        <p:spPr>
          <a:xfrm>
            <a:off x="8275320" y="2560320"/>
            <a:ext cx="3108960" cy="274320"/>
          </a:xfrm>
          <a:prstGeom prst="rect">
            <a:avLst/>
          </a:prstGeom>
          <a:noFill/>
          <a:ln/>
        </p:spPr>
        <p:txBody>
          <a:bodyPr wrap="square" lIns="0" tIns="0" rIns="0" bIns="0" rtlCol="0" anchor="t"/>
          <a:lstStyle/>
          <a:p>
            <a:pPr indent="0" marL="0">
              <a:buNone/>
            </a:pPr>
            <a:r>
              <a:rPr lang="en-US" sz="1150" b="1" dirty="0">
                <a:solidFill>
                  <a:schemeClr val="accent5"/>
                </a:solidFill>
              </a:rPr>
              <a:t>low · medium · high</a:t>
            </a:r>
            <a:endParaRPr lang="en-US" sz="1150" dirty="0"/>
          </a:p>
        </p:txBody>
      </p:sp>
      <p:sp>
        <p:nvSpPr>
          <p:cNvPr id="24" name="Text 19"/>
          <p:cNvSpPr txBox="1"/>
          <p:nvPr/>
        </p:nvSpPr>
        <p:spPr>
          <a:xfrm>
            <a:off x="8275320" y="2834640"/>
            <a:ext cx="3108960" cy="548640"/>
          </a:xfrm>
          <a:prstGeom prst="rect">
            <a:avLst/>
          </a:prstGeom>
          <a:noFill/>
          <a:ln/>
        </p:spPr>
        <p:txBody>
          <a:bodyPr wrap="square" lIns="0" tIns="0" rIns="0" bIns="0" rtlCol="0" anchor="t"/>
          <a:lstStyle/>
          <a:p>
            <a:pPr indent="0" marL="0">
              <a:buNone/>
            </a:pPr>
            <a:r>
              <a:rPr lang="en-US" sz="1450" dirty="0">
                <a:solidFill>
                  <a:schemeClr val="tx1"/>
                </a:solidFill>
              </a:rPr>
              <a:t>flip probability 0.005 · 0.02 · 0.05</a:t>
            </a:r>
            <a:endParaRPr lang="en-US" sz="1450" dirty="0"/>
          </a:p>
        </p:txBody>
      </p:sp>
      <p:sp>
        <p:nvSpPr>
          <p:cNvPr id="25" name="flow-box-0"/>
          <p:cNvSpPr/>
          <p:nvPr/>
        </p:nvSpPr>
        <p:spPr>
          <a:xfrm>
            <a:off x="548640" y="3840480"/>
            <a:ext cx="2554148" cy="960120"/>
          </a:xfrm>
          <a:prstGeom prst="roundRect">
            <a:avLst>
              <a:gd name="adj" fmla="val 6667"/>
            </a:avLst>
          </a:prstGeom>
          <a:solidFill>
            <a:srgbClr val="EEF2F7"/>
          </a:solidFill>
          <a:ln w="6350">
            <a:solidFill>
              <a:srgbClr val="EEF2F7"/>
            </a:solidFill>
            <a:prstDash val="solid"/>
          </a:ln>
        </p:spPr>
      </p:sp>
      <p:sp>
        <p:nvSpPr>
          <p:cNvPr id="26" name="flow-text-0"/>
          <p:cNvSpPr txBox="1"/>
          <p:nvPr/>
        </p:nvSpPr>
        <p:spPr>
          <a:xfrm>
            <a:off x="621792" y="3840480"/>
            <a:ext cx="2407844" cy="960120"/>
          </a:xfrm>
          <a:prstGeom prst="rect">
            <a:avLst/>
          </a:prstGeom>
          <a:noFill/>
          <a:ln/>
        </p:spPr>
        <p:txBody>
          <a:bodyPr wrap="square" lIns="0" tIns="0" rIns="0" bIns="0" rtlCol="0" anchor="ctr"/>
          <a:lstStyle/>
          <a:p>
            <a:pPr algn="ctr" indent="0" marL="0">
              <a:buNone/>
            </a:pPr>
            <a:r>
              <a:rPr lang="en-US" sz="1400" b="1" dirty="0">
                <a:solidFill>
                  <a:schemeClr val="tx2"/>
                </a:solidFill>
              </a:rPr>
              <a:t>12 anchor conditions</a:t>
            </a:r>
            <a:endParaRPr lang="en-US" sz="1400" dirty="0"/>
          </a:p>
          <a:p>
            <a:pPr algn="ctr" indent="0" marL="0">
              <a:buNone/>
            </a:pPr>
            <a:r>
              <a:rPr lang="en-US" sz="1200" dirty="0">
                <a:solidFill>
                  <a:schemeClr val="tx1"/>
                </a:solidFill>
              </a:rPr>
              <a:t>3 sources × 3 severities + 3 combined</a:t>
            </a:r>
            <a:endParaRPr lang="en-US" sz="1400" dirty="0"/>
          </a:p>
        </p:txBody>
      </p:sp>
      <p:sp>
        <p:nvSpPr>
          <p:cNvPr id="27" name="flow-arrow-0"/>
          <p:cNvSpPr/>
          <p:nvPr/>
        </p:nvSpPr>
        <p:spPr>
          <a:xfrm>
            <a:off x="3139364" y="4219956"/>
            <a:ext cx="219456" cy="201168"/>
          </a:xfrm>
          <a:prstGeom prst="rightArrow">
            <a:avLst/>
          </a:prstGeom>
          <a:solidFill>
            <a:srgbClr val="6B7280"/>
          </a:solidFill>
          <a:ln w="12700">
            <a:solidFill>
              <a:srgbClr val="6B7280"/>
            </a:solidFill>
            <a:prstDash val="solid"/>
          </a:ln>
        </p:spPr>
      </p:sp>
      <p:sp>
        <p:nvSpPr>
          <p:cNvPr id="28" name="flow-box-1"/>
          <p:cNvSpPr/>
          <p:nvPr/>
        </p:nvSpPr>
        <p:spPr>
          <a:xfrm>
            <a:off x="3395396" y="3840480"/>
            <a:ext cx="2554148" cy="960120"/>
          </a:xfrm>
          <a:prstGeom prst="roundRect">
            <a:avLst>
              <a:gd name="adj" fmla="val 6667"/>
            </a:avLst>
          </a:prstGeom>
          <a:solidFill>
            <a:srgbClr val="EEF2F7"/>
          </a:solidFill>
          <a:ln w="6350">
            <a:solidFill>
              <a:srgbClr val="EEF2F7"/>
            </a:solidFill>
            <a:prstDash val="solid"/>
          </a:ln>
        </p:spPr>
      </p:sp>
      <p:sp>
        <p:nvSpPr>
          <p:cNvPr id="29" name="flow-text-1"/>
          <p:cNvSpPr txBox="1"/>
          <p:nvPr/>
        </p:nvSpPr>
        <p:spPr>
          <a:xfrm>
            <a:off x="3468548" y="3840480"/>
            <a:ext cx="2407844" cy="960120"/>
          </a:xfrm>
          <a:prstGeom prst="rect">
            <a:avLst/>
          </a:prstGeom>
          <a:noFill/>
          <a:ln/>
        </p:spPr>
        <p:txBody>
          <a:bodyPr wrap="square" lIns="0" tIns="0" rIns="0" bIns="0" rtlCol="0" anchor="ctr"/>
          <a:lstStyle/>
          <a:p>
            <a:pPr algn="ctr" indent="0" marL="0">
              <a:buNone/>
            </a:pPr>
            <a:r>
              <a:rPr lang="en-US" sz="1400" b="1" dirty="0">
                <a:solidFill>
                  <a:schemeClr val="tx2"/>
                </a:solidFill>
              </a:rPr>
              <a:t>Exact simulation</a:t>
            </a:r>
            <a:endParaRPr lang="en-US" sz="1400" dirty="0"/>
          </a:p>
          <a:p>
            <a:pPr algn="ctr" indent="0" marL="0">
              <a:buNone/>
            </a:pPr>
            <a:r>
              <a:rPr lang="en-US" sz="1200" dirty="0">
                <a:solidFill>
                  <a:schemeClr val="tx1"/>
                </a:solidFill>
              </a:rPr>
              <a:t>Qiskit Aer density matrices</a:t>
            </a:r>
            <a:endParaRPr lang="en-US" sz="1400" dirty="0"/>
          </a:p>
        </p:txBody>
      </p:sp>
      <p:sp>
        <p:nvSpPr>
          <p:cNvPr id="30" name="flow-arrow-1"/>
          <p:cNvSpPr/>
          <p:nvPr/>
        </p:nvSpPr>
        <p:spPr>
          <a:xfrm>
            <a:off x="5986120" y="4219956"/>
            <a:ext cx="219456" cy="201168"/>
          </a:xfrm>
          <a:prstGeom prst="rightArrow">
            <a:avLst/>
          </a:prstGeom>
          <a:solidFill>
            <a:srgbClr val="6B7280"/>
          </a:solidFill>
          <a:ln w="12700">
            <a:solidFill>
              <a:srgbClr val="6B7280"/>
            </a:solidFill>
            <a:prstDash val="solid"/>
          </a:ln>
        </p:spPr>
      </p:sp>
      <p:sp>
        <p:nvSpPr>
          <p:cNvPr id="31" name="flow-box-2"/>
          <p:cNvSpPr/>
          <p:nvPr/>
        </p:nvSpPr>
        <p:spPr>
          <a:xfrm>
            <a:off x="6242152" y="3840480"/>
            <a:ext cx="2554148" cy="960120"/>
          </a:xfrm>
          <a:prstGeom prst="roundRect">
            <a:avLst>
              <a:gd name="adj" fmla="val 6667"/>
            </a:avLst>
          </a:prstGeom>
          <a:solidFill>
            <a:srgbClr val="EEF2F7"/>
          </a:solidFill>
          <a:ln w="6350">
            <a:solidFill>
              <a:srgbClr val="EEF2F7"/>
            </a:solidFill>
            <a:prstDash val="solid"/>
          </a:ln>
        </p:spPr>
      </p:sp>
      <p:sp>
        <p:nvSpPr>
          <p:cNvPr id="32" name="flow-text-2"/>
          <p:cNvSpPr txBox="1"/>
          <p:nvPr/>
        </p:nvSpPr>
        <p:spPr>
          <a:xfrm>
            <a:off x="6315304" y="3840480"/>
            <a:ext cx="2407844" cy="960120"/>
          </a:xfrm>
          <a:prstGeom prst="rect">
            <a:avLst/>
          </a:prstGeom>
          <a:noFill/>
          <a:ln/>
        </p:spPr>
        <p:txBody>
          <a:bodyPr wrap="square" lIns="0" tIns="0" rIns="0" bIns="0" rtlCol="0" anchor="ctr"/>
          <a:lstStyle/>
          <a:p>
            <a:pPr algn="ctr" indent="0" marL="0">
              <a:buNone/>
            </a:pPr>
            <a:r>
              <a:rPr lang="en-US" sz="1400" b="1" dirty="0">
                <a:solidFill>
                  <a:schemeClr val="tx2"/>
                </a:solidFill>
              </a:rPr>
              <a:t>Finite shots</a:t>
            </a:r>
            <a:endParaRPr lang="en-US" sz="1400" dirty="0"/>
          </a:p>
          <a:p>
            <a:pPr algn="ctr" indent="0" marL="0">
              <a:buNone/>
            </a:pPr>
            <a:r>
              <a:rPr lang="en-US" sz="1200" dirty="0">
                <a:solidFill>
                  <a:schemeClr val="tx1"/>
                </a:solidFill>
              </a:rPr>
              <a:t>1,024 shots × 20 replicates</a:t>
            </a:r>
            <a:endParaRPr lang="en-US" sz="1400" dirty="0"/>
          </a:p>
        </p:txBody>
      </p:sp>
      <p:sp>
        <p:nvSpPr>
          <p:cNvPr id="33" name="flow-arrow-2"/>
          <p:cNvSpPr/>
          <p:nvPr/>
        </p:nvSpPr>
        <p:spPr>
          <a:xfrm>
            <a:off x="8832875" y="4219956"/>
            <a:ext cx="219456" cy="201168"/>
          </a:xfrm>
          <a:prstGeom prst="rightArrow">
            <a:avLst/>
          </a:prstGeom>
          <a:solidFill>
            <a:srgbClr val="6B7280"/>
          </a:solidFill>
          <a:ln w="12700">
            <a:solidFill>
              <a:srgbClr val="6B7280"/>
            </a:solidFill>
            <a:prstDash val="solid"/>
          </a:ln>
        </p:spPr>
      </p:sp>
      <p:sp>
        <p:nvSpPr>
          <p:cNvPr id="34" name="flow-box-3"/>
          <p:cNvSpPr/>
          <p:nvPr/>
        </p:nvSpPr>
        <p:spPr>
          <a:xfrm>
            <a:off x="9088907" y="3840480"/>
            <a:ext cx="2554148" cy="960120"/>
          </a:xfrm>
          <a:prstGeom prst="roundRect">
            <a:avLst>
              <a:gd name="adj" fmla="val 6667"/>
            </a:avLst>
          </a:prstGeom>
          <a:solidFill>
            <a:srgbClr val="D7EEEE"/>
          </a:solidFill>
          <a:ln w="6350">
            <a:solidFill>
              <a:srgbClr val="D7EEEE"/>
            </a:solidFill>
            <a:prstDash val="solid"/>
          </a:ln>
        </p:spPr>
      </p:sp>
      <p:sp>
        <p:nvSpPr>
          <p:cNvPr id="35" name="flow-text-3"/>
          <p:cNvSpPr txBox="1"/>
          <p:nvPr/>
        </p:nvSpPr>
        <p:spPr>
          <a:xfrm>
            <a:off x="9162059" y="3840480"/>
            <a:ext cx="2407844" cy="960120"/>
          </a:xfrm>
          <a:prstGeom prst="rect">
            <a:avLst/>
          </a:prstGeom>
          <a:noFill/>
          <a:ln/>
        </p:spPr>
        <p:txBody>
          <a:bodyPr wrap="square" lIns="0" tIns="0" rIns="0" bIns="0" rtlCol="0" anchor="ctr"/>
          <a:lstStyle/>
          <a:p>
            <a:pPr algn="ctr" indent="0" marL="0">
              <a:buNone/>
            </a:pPr>
            <a:r>
              <a:rPr lang="en-US" sz="1400" b="1" dirty="0">
                <a:solidFill>
                  <a:schemeClr val="tx2"/>
                </a:solidFill>
              </a:rPr>
              <a:t>Negative control passed</a:t>
            </a:r>
            <a:endParaRPr lang="en-US" sz="1400" dirty="0"/>
          </a:p>
          <a:p>
            <a:pPr algn="ctr" indent="0" marL="0">
              <a:buNone/>
            </a:pPr>
            <a:r>
              <a:rPr lang="en-US" sz="1200" dirty="0">
                <a:solidFill>
                  <a:schemeClr val="tx1"/>
                </a:solidFill>
              </a:rPr>
              <a:t>symmetric readout: ranking metrics unchanged (Δ = 0)</a:t>
            </a:r>
            <a:endParaRPr lang="en-US" sz="1400" dirty="0"/>
          </a:p>
        </p:txBody>
      </p:sp>
      <p:sp>
        <p:nvSpPr>
          <p:cNvPr id="36" name="Text 31"/>
          <p:cNvSpPr txBox="1"/>
          <p:nvPr/>
        </p:nvSpPr>
        <p:spPr>
          <a:xfrm>
            <a:off x="548640" y="4937760"/>
            <a:ext cx="11064240" cy="365760"/>
          </a:xfrm>
          <a:prstGeom prst="rect">
            <a:avLst/>
          </a:prstGeom>
          <a:noFill/>
          <a:ln/>
        </p:spPr>
        <p:txBody>
          <a:bodyPr wrap="square" lIns="0" tIns="0" rIns="0" bIns="0" rtlCol="0" anchor="t"/>
          <a:lstStyle/>
          <a:p>
            <a:pPr indent="0" marL="0">
              <a:buNone/>
            </a:pPr>
            <a:r>
              <a:rPr lang="en-US" sz="1250" i="1" dirty="0">
                <a:solidFill>
                  <a:schemeClr val="accent5"/>
                </a:solidFill>
              </a:rPr>
              <a:t>Plus 3 synthetic asymmetric-readout stress profiles (mean error 0.005–0.05). These are an assumption, not device calibration data.</a:t>
            </a:r>
            <a:endParaRPr lang="en-US" sz="1250" dirty="0"/>
          </a:p>
        </p:txBody>
      </p:sp>
      <p:sp>
        <p:nvSpPr>
          <p:cNvPr id="37"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38"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39" name="takeaway-icon" descr="preencoded.png">    </p:cNvPr>
          <p:cNvPicPr>
            <a:picLocks noChangeAspect="1"/>
          </p:cNvPicPr>
          <p:nvPr/>
        </p:nvPicPr>
        <p:blipFill>
          <a:blip r:embed="rId4"/>
          <a:stretch>
            <a:fillRect/>
          </a:stretch>
        </p:blipFill>
        <p:spPr>
          <a:xfrm>
            <a:off x="760049" y="5725241"/>
            <a:ext cx="180685" cy="180685"/>
          </a:xfrm>
          <a:prstGeom prst="rect">
            <a:avLst/>
          </a:prstGeom>
        </p:spPr>
      </p:pic>
      <p:sp>
        <p:nvSpPr>
          <p:cNvPr id="40"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Exact simulation at the registered anchor severities: effects come from the noise model, not from sampling.</a:t>
            </a:r>
            <a:endParaRPr lang="en-US" sz="1550" dirty="0"/>
          </a:p>
        </p:txBody>
      </p:sp>
      <p:sp>
        <p:nvSpPr>
          <p:cNvPr id="41"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configs/noise/anchors_rr_v1.yaml, p3b_noise_matrix.csv, p3b_negative_control.csv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3B  ·  FROZEN P3A-R MODEL, VALIDATION PARTITION  ·  COMPLETED OCTOBER 7,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Noise damages calibration, not discrimination</a:t>
            </a:r>
            <a:endParaRPr lang="en-US" sz="2800" dirty="0"/>
          </a:p>
        </p:txBody>
      </p:sp>
      <p:pic>
        <p:nvPicPr>
          <p:cNvPr id="4" name="fig3_noise_effects.png" descr="/Users/mayankpokhriyal/Workspaces/q-trace/deliverables/figures/fig3_noise_effects.png">    </p:cNvPr>
          <p:cNvPicPr>
            <a:picLocks noChangeAspect="1"/>
          </p:cNvPicPr>
          <p:nvPr/>
        </p:nvPicPr>
        <p:blipFill>
          <a:blip r:embed="rId1"/>
          <a:stretch>
            <a:fillRect/>
          </a:stretch>
        </p:blipFill>
        <p:spPr>
          <a:xfrm>
            <a:off x="457200" y="1884224"/>
            <a:ext cx="7315200" cy="2906671"/>
          </a:xfrm>
          <a:prstGeom prst="rect">
            <a:avLst/>
          </a:prstGeom>
        </p:spPr>
      </p:pic>
      <p:sp>
        <p:nvSpPr>
          <p:cNvPr id="5" name="stat-value"/>
          <p:cNvSpPr txBox="1"/>
          <p:nvPr/>
        </p:nvSpPr>
        <p:spPr>
          <a:xfrm>
            <a:off x="8092440" y="1325880"/>
            <a:ext cx="35661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 0.003</a:t>
            </a:r>
            <a:endParaRPr lang="en-US" sz="2600" dirty="0"/>
          </a:p>
        </p:txBody>
      </p:sp>
      <p:sp>
        <p:nvSpPr>
          <p:cNvPr id="6" name="stat-label"/>
          <p:cNvSpPr txBox="1"/>
          <p:nvPr/>
        </p:nvSpPr>
        <p:spPr>
          <a:xfrm>
            <a:off x="8092440" y="1819656"/>
            <a:ext cx="3566160" cy="411480"/>
          </a:xfrm>
          <a:prstGeom prst="rect">
            <a:avLst/>
          </a:prstGeom>
          <a:noFill/>
          <a:ln/>
        </p:spPr>
        <p:txBody>
          <a:bodyPr wrap="square" lIns="0" tIns="0" rIns="0" bIns="0" rtlCol="0" anchor="t"/>
          <a:lstStyle/>
          <a:p>
            <a:pPr indent="0" marL="0">
              <a:buNone/>
            </a:pPr>
            <a:r>
              <a:rPr lang="en-US" sz="1250" dirty="0">
                <a:solidFill>
                  <a:schemeClr val="tx1"/>
                </a:solidFill>
              </a:rPr>
              <a:t>change in AUPRC; ≥ 46 of 47 top frauds kept</a:t>
            </a:r>
            <a:endParaRPr lang="en-US" sz="1250" dirty="0"/>
          </a:p>
        </p:txBody>
      </p:sp>
      <p:sp>
        <p:nvSpPr>
          <p:cNvPr id="7" name="stat-value"/>
          <p:cNvSpPr txBox="1"/>
          <p:nvPr/>
        </p:nvSpPr>
        <p:spPr>
          <a:xfrm>
            <a:off x="8092440" y="2350008"/>
            <a:ext cx="356616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0.0093 → 0.121</a:t>
            </a:r>
            <a:endParaRPr lang="en-US" sz="2600" dirty="0"/>
          </a:p>
        </p:txBody>
      </p:sp>
      <p:sp>
        <p:nvSpPr>
          <p:cNvPr id="8" name="stat-label"/>
          <p:cNvSpPr txBox="1"/>
          <p:nvPr/>
        </p:nvSpPr>
        <p:spPr>
          <a:xfrm>
            <a:off x="8092440" y="2843784"/>
            <a:ext cx="3566160" cy="411480"/>
          </a:xfrm>
          <a:prstGeom prst="rect">
            <a:avLst/>
          </a:prstGeom>
          <a:noFill/>
          <a:ln/>
        </p:spPr>
        <p:txBody>
          <a:bodyPr wrap="square" lIns="0" tIns="0" rIns="0" bIns="0" rtlCol="0" anchor="t"/>
          <a:lstStyle/>
          <a:p>
            <a:pPr indent="0" marL="0">
              <a:buNone/>
            </a:pPr>
            <a:r>
              <a:rPr lang="en-US" sz="1250" dirty="0">
                <a:solidFill>
                  <a:schemeClr val="tx1"/>
                </a:solidFill>
              </a:rPr>
              <a:t>Brier score, combined-high noise (13×)</a:t>
            </a:r>
            <a:endParaRPr lang="en-US" sz="1250" dirty="0"/>
          </a:p>
        </p:txBody>
      </p:sp>
      <p:sp>
        <p:nvSpPr>
          <p:cNvPr id="9" name="stat-value"/>
          <p:cNvSpPr txBox="1"/>
          <p:nvPr/>
        </p:nvSpPr>
        <p:spPr>
          <a:xfrm>
            <a:off x="8092440" y="3374136"/>
            <a:ext cx="356616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0.083 → 0.346</a:t>
            </a:r>
            <a:endParaRPr lang="en-US" sz="2600" dirty="0"/>
          </a:p>
        </p:txBody>
      </p:sp>
      <p:sp>
        <p:nvSpPr>
          <p:cNvPr id="10" name="stat-label"/>
          <p:cNvSpPr txBox="1"/>
          <p:nvPr/>
        </p:nvSpPr>
        <p:spPr>
          <a:xfrm>
            <a:off x="8092440" y="3867912"/>
            <a:ext cx="3566160" cy="411480"/>
          </a:xfrm>
          <a:prstGeom prst="rect">
            <a:avLst/>
          </a:prstGeom>
          <a:noFill/>
          <a:ln/>
        </p:spPr>
        <p:txBody>
          <a:bodyPr wrap="square" lIns="0" tIns="0" rIns="0" bIns="0" rtlCol="0" anchor="t"/>
          <a:lstStyle/>
          <a:p>
            <a:pPr indent="0" marL="0">
              <a:buNone/>
            </a:pPr>
            <a:r>
              <a:rPr lang="en-US" sz="1250" dirty="0">
                <a:solidFill>
                  <a:schemeClr val="tx1"/>
                </a:solidFill>
              </a:rPr>
              <a:t>expected calibration error</a:t>
            </a:r>
            <a:endParaRPr lang="en-US" sz="1250" dirty="0"/>
          </a:p>
        </p:txBody>
      </p:sp>
      <p:sp>
        <p:nvSpPr>
          <p:cNvPr id="11" name="stat-value"/>
          <p:cNvSpPr txBox="1"/>
          <p:nvPr/>
        </p:nvSpPr>
        <p:spPr>
          <a:xfrm>
            <a:off x="8092440" y="4398264"/>
            <a:ext cx="356616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0.53 → 0.03</a:t>
            </a:r>
            <a:endParaRPr lang="en-US" sz="2600" dirty="0"/>
          </a:p>
        </p:txBody>
      </p:sp>
      <p:sp>
        <p:nvSpPr>
          <p:cNvPr id="12" name="stat-label"/>
          <p:cNvSpPr txBox="1"/>
          <p:nvPr/>
        </p:nvSpPr>
        <p:spPr>
          <a:xfrm>
            <a:off x="8092440" y="4892040"/>
            <a:ext cx="3566160" cy="411480"/>
          </a:xfrm>
          <a:prstGeom prst="rect">
            <a:avLst/>
          </a:prstGeom>
          <a:noFill/>
          <a:ln/>
        </p:spPr>
        <p:txBody>
          <a:bodyPr wrap="square" lIns="0" tIns="0" rIns="0" bIns="0" rtlCol="0" anchor="t"/>
          <a:lstStyle/>
          <a:p>
            <a:pPr indent="0" marL="0">
              <a:buNone/>
            </a:pPr>
            <a:r>
              <a:rPr lang="en-US" sz="1250" dirty="0">
                <a:solidFill>
                  <a:schemeClr val="tx1"/>
                </a:solidFill>
              </a:rPr>
              <a:t>precision at the frozen alert threshold</a:t>
            </a:r>
            <a:endParaRPr lang="en-US" sz="1250" dirty="0"/>
          </a:p>
        </p:txBody>
      </p:sp>
      <p:sp>
        <p:nvSpPr>
          <p:cNvPr id="13"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14"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15" name="takeaway-icon" descr="preencoded.png">    </p:cNvPr>
          <p:cNvPicPr>
            <a:picLocks noChangeAspect="1"/>
          </p:cNvPicPr>
          <p:nvPr/>
        </p:nvPicPr>
        <p:blipFill>
          <a:blip r:embed="rId2"/>
          <a:stretch>
            <a:fillRect/>
          </a:stretch>
        </p:blipFill>
        <p:spPr>
          <a:xfrm>
            <a:off x="760049" y="5725241"/>
            <a:ext cx="180685" cy="180685"/>
          </a:xfrm>
          <a:prstGeom prst="rect">
            <a:avLst/>
          </a:prstGeom>
        </p:spPr>
      </p:pic>
      <p:sp>
        <p:nvSpPr>
          <p:cNvPr id="16"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Mitigation's job here is calibration and threshold decisions, not discrimination.</a:t>
            </a:r>
            <a:endParaRPr lang="en-US" sz="1550" dirty="0"/>
          </a:p>
        </p:txBody>
      </p:sp>
      <p:sp>
        <p:nvSpPr>
          <p:cNvPr id="17"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p3b_exact_metrics.csv (P3A-R, exact simulation), p4_exact_diagnostics.csv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4  ·  PRE-REGISTERED  ·  COMPLETED OCTOBER 7,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Two mitigation tools, very different costs</a:t>
            </a:r>
            <a:endParaRPr lang="en-US" sz="2800" dirty="0"/>
          </a:p>
        </p:txBody>
      </p:sp>
      <p:sp>
        <p:nvSpPr>
          <p:cNvPr id="4" name="card-bg"/>
          <p:cNvSpPr/>
          <p:nvPr/>
        </p:nvSpPr>
        <p:spPr>
          <a:xfrm>
            <a:off x="548640" y="1325880"/>
            <a:ext cx="3794760" cy="2514600"/>
          </a:xfrm>
          <a:prstGeom prst="roundRect">
            <a:avLst>
              <a:gd name="adj" fmla="val 2545"/>
            </a:avLst>
          </a:prstGeom>
          <a:solidFill>
            <a:srgbClr val="EEF2F7"/>
          </a:solidFill>
          <a:ln w="6350">
            <a:solidFill>
              <a:srgbClr val="EEF2F7"/>
            </a:solidFill>
            <a:prstDash val="solid"/>
          </a:ln>
        </p:spPr>
      </p:sp>
      <p:sp>
        <p:nvSpPr>
          <p:cNvPr id="5" name="card-text"/>
          <p:cNvSpPr txBox="1"/>
          <p:nvPr/>
        </p:nvSpPr>
        <p:spPr>
          <a:xfrm>
            <a:off x="731520" y="1453896"/>
            <a:ext cx="3429000" cy="229514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Readout mitigation (A1)</a:t>
            </a:r>
            <a:endParaRPr lang="en-US" sz="1550" dirty="0"/>
          </a:p>
          <a:p>
            <a:pPr marL="177800" indent="-177800">
              <a:spcAft>
                <a:spcPts val="400"/>
              </a:spcAft>
              <a:buSzPct val="100000"/>
              <a:buChar char="•"/>
            </a:pPr>
            <a:r>
              <a:rPr lang="en-US" sz="1350" dirty="0">
                <a:solidFill>
                  <a:schemeClr val="tx1"/>
                </a:solidFill>
              </a:rPr>
              <a:t>2 calibration circuits per batch: |0000⟩ and |1111⟩</a:t>
            </a:r>
            <a:endParaRPr lang="en-US" sz="1550" dirty="0"/>
          </a:p>
          <a:p>
            <a:pPr marL="177800" indent="-177800">
              <a:spcAft>
                <a:spcPts val="400"/>
              </a:spcAft>
              <a:buSzPct val="100000"/>
              <a:buChar char="•"/>
            </a:pPr>
            <a:r>
              <a:rPr lang="en-US" sz="1350" dirty="0">
                <a:solidFill>
                  <a:schemeClr val="tx1"/>
                </a:solidFill>
              </a:rPr>
              <a:t>per-qubit confusion matrices from counts → tensored inverse</a:t>
            </a:r>
            <a:endParaRPr lang="en-US" sz="1550" dirty="0"/>
          </a:p>
          <a:p>
            <a:pPr marL="177800" indent="-177800">
              <a:spcAft>
                <a:spcPts val="400"/>
              </a:spcAft>
              <a:buSzPct val="100000"/>
              <a:buChar char="•"/>
            </a:pPr>
            <a:r>
              <a:rPr lang="en-US" sz="1350" dirty="0">
                <a:solidFill>
                  <a:schemeClr val="tx1"/>
                </a:solidFill>
              </a:rPr>
              <a:t>project negative quasi-probabilities onto the simplex</a:t>
            </a:r>
            <a:endParaRPr lang="en-US" sz="1550" dirty="0"/>
          </a:p>
        </p:txBody>
      </p:sp>
      <p:pic>
        <p:nvPicPr>
          <p:cNvPr id="6" name="zne_schematic.png" descr="/Users/mayankpokhriyal/Workspaces/q-trace/deliverables/presentations/semester/_system/figures/zne_schematic.png">    </p:cNvPr>
          <p:cNvPicPr>
            <a:picLocks noChangeAspect="1"/>
          </p:cNvPicPr>
          <p:nvPr/>
        </p:nvPicPr>
        <p:blipFill>
          <a:blip r:embed="rId1"/>
          <a:stretch>
            <a:fillRect/>
          </a:stretch>
        </p:blipFill>
        <p:spPr>
          <a:xfrm>
            <a:off x="4853285" y="1234440"/>
            <a:ext cx="3460790" cy="2697480"/>
          </a:xfrm>
          <a:prstGeom prst="rect">
            <a:avLst/>
          </a:prstGeom>
        </p:spPr>
      </p:pic>
      <p:sp>
        <p:nvSpPr>
          <p:cNvPr id="7" name="card-bg"/>
          <p:cNvSpPr/>
          <p:nvPr/>
        </p:nvSpPr>
        <p:spPr>
          <a:xfrm>
            <a:off x="8823960" y="1325880"/>
            <a:ext cx="2834640" cy="2514600"/>
          </a:xfrm>
          <a:prstGeom prst="roundRect">
            <a:avLst>
              <a:gd name="adj" fmla="val 2545"/>
            </a:avLst>
          </a:prstGeom>
          <a:solidFill>
            <a:srgbClr val="EEF2F7"/>
          </a:solidFill>
          <a:ln w="6350">
            <a:solidFill>
              <a:srgbClr val="EEF2F7"/>
            </a:solidFill>
            <a:prstDash val="solid"/>
          </a:ln>
        </p:spPr>
      </p:sp>
      <p:sp>
        <p:nvSpPr>
          <p:cNvPr id="8" name="card-text"/>
          <p:cNvSpPr txBox="1"/>
          <p:nvPr/>
        </p:nvSpPr>
        <p:spPr>
          <a:xfrm>
            <a:off x="9006840" y="1453896"/>
            <a:ext cx="2468880" cy="229514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ZNE (A2)</a:t>
            </a:r>
            <a:endParaRPr lang="en-US" sz="1550" dirty="0"/>
          </a:p>
          <a:p>
            <a:pPr marL="177800" indent="-177800">
              <a:spcAft>
                <a:spcPts val="400"/>
              </a:spcAft>
              <a:buSzPct val="100000"/>
              <a:buChar char="•"/>
            </a:pPr>
            <a:r>
              <a:rPr lang="en-US" sz="1350" dirty="0">
                <a:solidFill>
                  <a:schemeClr val="tx1"/>
                </a:solidFill>
              </a:rPr>
              <a:t>fold the circuit: λ = 1, 3, 5</a:t>
            </a:r>
            <a:endParaRPr lang="en-US" sz="1550" dirty="0"/>
          </a:p>
          <a:p>
            <a:pPr marL="177800" indent="-177800">
              <a:spcAft>
                <a:spcPts val="400"/>
              </a:spcAft>
              <a:buSzPct val="100000"/>
              <a:buChar char="•"/>
            </a:pPr>
            <a:r>
              <a:rPr lang="en-US" sz="1350" dirty="0">
                <a:solidFill>
                  <a:schemeClr val="tx1"/>
                </a:solidFill>
              </a:rPr>
              <a:t>linear fit to λ = 0</a:t>
            </a:r>
            <a:endParaRPr lang="en-US" sz="1550" dirty="0"/>
          </a:p>
          <a:p>
            <a:pPr marL="177800" indent="-177800">
              <a:spcAft>
                <a:spcPts val="400"/>
              </a:spcAft>
              <a:buSzPct val="100000"/>
              <a:buChar char="•"/>
            </a:pPr>
            <a:r>
              <a:rPr lang="en-US" sz="1350" dirty="0">
                <a:solidFill>
                  <a:schemeClr val="tx1"/>
                </a:solidFill>
              </a:rPr>
              <a:t>A3 = readout mitigation at every scale, then ZNE</a:t>
            </a:r>
            <a:endParaRPr lang="en-US" sz="155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914400"/>
                <a:gridCol w="4572000"/>
                <a:gridCol w="2743200"/>
                <a:gridCol w="2834640"/>
              </a:tblGrid>
              <a:tr h="0">
                <a:tc>
                  <a:txBody>
                    <a:bodyPr/>
                    <a:lstStyle/>
                    <a:p>
                      <a:pPr indent="0" marL="0">
                        <a:buNone/>
                      </a:pPr>
                      <a:r>
                        <a:rPr lang="en-US" sz="1250" b="1" dirty="0">
                          <a:solidFill>
                            <a:srgbClr val="FFFFFF"/>
                          </a:solidFill>
                        </a:rPr>
                        <a:t>Action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50" b="1" dirty="0">
                          <a:solidFill>
                            <a:srgbClr val="FFFFFF"/>
                          </a:solidFill>
                        </a:rPr>
                        <a:t>What it does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50" b="1" dirty="0">
                          <a:solidFill>
                            <a:srgbClr val="FFFFFF"/>
                          </a:solidFill>
                        </a:rPr>
                        <a:t>Shots per inference</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50" b="1" dirty="0">
                          <a:solidFill>
                            <a:srgbClr val="FFFFFF"/>
                          </a:solidFill>
                        </a:rPr>
                        <a:t>Two-qubit-gate exposure</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250" dirty="0">
                          <a:solidFill>
                            <a:srgbClr val="1A1F2B"/>
                          </a:solidFill>
                        </a:rPr>
                        <a:t>A0</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nothing</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1×</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A1</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readout mitigation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S + 2S/N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1×</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A4</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three times the shots, unmitigated</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3S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3×</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A2</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zero-noise extrapolation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3S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9×</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A3</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readout mitigation + ZNE</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3S + 2S/N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9×</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10" name="Text 6"/>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050" i="1" dirty="0">
                <a:solidFill>
                  <a:schemeClr val="accent5"/>
                </a:solidFill>
              </a:rPr>
              <a:t>S = shots per circuit · N = transactions per batch · the extrapolation curve is illustrative</a:t>
            </a:r>
            <a:endParaRPr lang="en-US" sz="1050" dirty="0"/>
          </a:p>
        </p:txBody>
      </p:sp>
      <p:sp>
        <p:nvSpPr>
          <p:cNvPr id="11"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configs/mitigation/*.yaml, p4_costs.csv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4  ·  8 CONDITIONS × 2 SHOT BUDGETS × 20 REPLICATES  ·  COMPLETED OCTOBER 7,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Mitigation repairs calibration; extra shots do not</a:t>
            </a:r>
            <a:endParaRPr lang="en-US" sz="2800" dirty="0"/>
          </a:p>
        </p:txBody>
      </p:sp>
      <p:pic>
        <p:nvPicPr>
          <p:cNvPr id="4" name="fig4_mitigation.png" descr="/Users/mayankpokhriyal/Workspaces/q-trace/deliverables/figures/fig4_mitigation.png">    </p:cNvPr>
          <p:cNvPicPr>
            <a:picLocks noChangeAspect="1"/>
          </p:cNvPicPr>
          <p:nvPr/>
        </p:nvPicPr>
        <p:blipFill>
          <a:blip r:embed="rId1"/>
          <a:stretch>
            <a:fillRect/>
          </a:stretch>
        </p:blipFill>
        <p:spPr>
          <a:xfrm>
            <a:off x="457200" y="1830465"/>
            <a:ext cx="6949440" cy="2968469"/>
          </a:xfrm>
          <a:prstGeom prst="rect">
            <a:avLst/>
          </a:prstGeom>
        </p:spPr>
      </p:pic>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7635240" y="1371600"/>
          <a:ext cx="4023360" cy="914400"/>
        </p:xfrm>
        <a:graphic>
          <a:graphicData uri="http://schemas.openxmlformats.org/drawingml/2006/table">
            <a:tbl>
              <a:tblPr/>
              <a:tblGrid>
                <a:gridCol w="1417320"/>
                <a:gridCol w="548640"/>
                <a:gridCol w="548640"/>
                <a:gridCol w="868680"/>
                <a:gridCol w="640080"/>
              </a:tblGrid>
              <a:tr h="0">
                <a:tc>
                  <a:txBody>
                    <a:bodyPr/>
                    <a:lstStyle/>
                    <a:p>
                      <a:pPr indent="0" marL="0">
                        <a:buNone/>
                      </a:pPr>
                      <a:r>
                        <a:rPr lang="en-US" sz="1100" b="1" dirty="0">
                          <a:solidFill>
                            <a:srgbClr val="FFFFFF"/>
                          </a:solidFill>
                        </a:rPr>
                        <a:t>Brier (1,024 shots)</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rPr>
                        <a:t>None</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rPr>
                        <a:t>Best</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rPr>
                        <a:t>Action</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rPr>
                        <a:t>3× shots</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100" dirty="0">
                          <a:solidFill>
                            <a:srgbClr val="1A1F2B"/>
                          </a:solidFill>
                        </a:rPr>
                        <a:t>Readout noise, high</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0.053</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b="1" dirty="0">
                          <a:solidFill>
                            <a:srgbClr val="0F8B8D"/>
                          </a:solidFill>
                        </a:rPr>
                        <a:t>0.011</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A1 readout</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0.053</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100" dirty="0">
                          <a:solidFill>
                            <a:srgbClr val="1A1F2B"/>
                          </a:solidFill>
                        </a:rPr>
                        <a:t>Depolarizing, high</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0.055</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b="1" dirty="0">
                          <a:solidFill>
                            <a:srgbClr val="0F8B8D"/>
                          </a:solidFill>
                        </a:rPr>
                        <a:t>0.038</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A2 ZNE</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0.055</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100" dirty="0">
                          <a:solidFill>
                            <a:srgbClr val="1A1F2B"/>
                          </a:solidFill>
                        </a:rPr>
                        <a:t>Combined, high</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0.122</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b="1" dirty="0">
                          <a:solidFill>
                            <a:srgbClr val="0F8B8D"/>
                          </a:solidFill>
                        </a:rPr>
                        <a:t>0.054</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A3 both</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100" dirty="0">
                          <a:solidFill>
                            <a:srgbClr val="1A1F2B"/>
                          </a:solidFill>
                        </a:rPr>
                        <a:t>0.121</a:t>
                      </a:r>
                      <a:endParaRPr lang="en-US" sz="11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6" name="card-bg"/>
          <p:cNvSpPr/>
          <p:nvPr/>
        </p:nvSpPr>
        <p:spPr>
          <a:xfrm>
            <a:off x="7635240" y="2926080"/>
            <a:ext cx="4023360" cy="2423160"/>
          </a:xfrm>
          <a:prstGeom prst="roundRect">
            <a:avLst>
              <a:gd name="adj" fmla="val 2642"/>
            </a:avLst>
          </a:prstGeom>
          <a:solidFill>
            <a:srgbClr val="EEF2F7"/>
          </a:solidFill>
          <a:ln w="6350">
            <a:solidFill>
              <a:srgbClr val="EEF2F7"/>
            </a:solidFill>
            <a:prstDash val="solid"/>
          </a:ln>
        </p:spPr>
      </p:sp>
      <p:sp>
        <p:nvSpPr>
          <p:cNvPr id="7" name="card-text"/>
          <p:cNvSpPr txBox="1"/>
          <p:nvPr/>
        </p:nvSpPr>
        <p:spPr>
          <a:xfrm>
            <a:off x="7818120" y="3054096"/>
            <a:ext cx="3657600" cy="220370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What it means</a:t>
            </a:r>
            <a:endParaRPr lang="en-US" sz="1550" dirty="0"/>
          </a:p>
          <a:p>
            <a:pPr marL="177800" indent="-177800">
              <a:spcAft>
                <a:spcPts val="400"/>
              </a:spcAft>
              <a:buSzPct val="100000"/>
              <a:buChar char="•"/>
            </a:pPr>
            <a:r>
              <a:rPr lang="en-US" sz="1300" dirty="0">
                <a:solidFill>
                  <a:schemeClr val="tx1"/>
                </a:solidFill>
              </a:rPr>
              <a:t>Three times the shots: Brier unchanged (shots cut variance, not bias)</a:t>
            </a:r>
            <a:endParaRPr lang="en-US" sz="1550" dirty="0"/>
          </a:p>
          <a:p>
            <a:pPr marL="177800" indent="-177800">
              <a:spcAft>
                <a:spcPts val="400"/>
              </a:spcAft>
              <a:buSzPct val="100000"/>
              <a:buChar char="•"/>
            </a:pPr>
            <a:r>
              <a:rPr lang="en-US" sz="1300" dirty="0">
                <a:solidFill>
                  <a:schemeClr val="tx1"/>
                </a:solidFill>
              </a:rPr>
              <a:t>No action improved AUPRC over its resource-matched comparator</a:t>
            </a:r>
            <a:endParaRPr lang="en-US" sz="1550" dirty="0"/>
          </a:p>
          <a:p>
            <a:pPr marL="177800" indent="-177800">
              <a:spcAft>
                <a:spcPts val="400"/>
              </a:spcAft>
              <a:buSzPct val="100000"/>
              <a:buChar char="•"/>
            </a:pPr>
            <a:r>
              <a:rPr lang="en-US" sz="1300" dirty="0">
                <a:solidFill>
                  <a:schemeClr val="tx1"/>
                </a:solidFill>
              </a:rPr>
              <a:t>Linear ZNE recovered 13–70% of the exact Brier gap</a:t>
            </a:r>
            <a:endParaRPr lang="en-US" sz="1550" dirty="0"/>
          </a:p>
          <a:p>
            <a:pPr marL="177800" indent="-177800">
              <a:spcAft>
                <a:spcPts val="400"/>
              </a:spcAft>
              <a:buSzPct val="100000"/>
              <a:buChar char="•"/>
            </a:pPr>
            <a:r>
              <a:rPr lang="en-US" sz="1300" dirty="0">
                <a:solidFill>
                  <a:schemeClr val="tx1"/>
                </a:solidFill>
              </a:rPr>
              <a:t>The best action depended on the noise type</a:t>
            </a:r>
            <a:endParaRPr lang="en-US" sz="1550" dirty="0"/>
          </a:p>
        </p:txBody>
      </p:sp>
      <p:sp>
        <p:nvSpPr>
          <p:cNvPr id="8"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9"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10" name="takeaway-icon" descr="preencoded.png">    </p:cNvPr>
          <p:cNvPicPr>
            <a:picLocks noChangeAspect="1"/>
          </p:cNvPicPr>
          <p:nvPr/>
        </p:nvPicPr>
        <p:blipFill>
          <a:blip r:embed="rId2"/>
          <a:stretch>
            <a:fillRect/>
          </a:stretch>
        </p:blipFill>
        <p:spPr>
          <a:xfrm>
            <a:off x="760049" y="5725241"/>
            <a:ext cx="180685" cy="180685"/>
          </a:xfrm>
          <a:prstGeom prst="rect">
            <a:avLst/>
          </a:prstGeom>
        </p:spPr>
      </p:pic>
      <p:sp>
        <p:nvSpPr>
          <p:cNvPr id="11"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Mitigation removes a bias that extra shots cannot. Which action pays depends on the noise type, which is the Nov 10 topic.</a:t>
            </a:r>
            <a:endParaRPr lang="en-US" sz="1550" dirty="0"/>
          </a:p>
        </p:txBody>
      </p:sp>
      <p:sp>
        <p:nvSpPr>
          <p:cNvPr id="12"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p4_summary.csv (1,024 shots), p4_resource_matched.csv, p4_best_action.csv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Noise and mitigation (October 27, 2026)</dc:title>
  <dc:subject>Noise and mitigation</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