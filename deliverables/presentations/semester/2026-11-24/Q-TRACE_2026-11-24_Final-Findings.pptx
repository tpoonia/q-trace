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id="{86fb8b2b-23c2-7fee-3676-acd5572a8871}">
          <p14:sldIdLst>
            <p14:sldId id="256"/>
            <p14:sldId id="257"/>
            <p14:sldId id="258"/>
            <p14:sldId id="259"/>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[Tushar · 0:00–0:28]
Good afternoon. Today we report the final experimental findings of Q-TRACE: the one-time sealed held-out test, which we ran on October 8.
All four pre-registered hypotheses were supported. The two-threshold probe rule was near the Oracle on unseen models, and fixed learned comparators did not reduce material errors. Only four structures were held out, so we will also be careful about what these results cannot show.
Key points: one-time sealed test, Oct 8; H1–H4 supported; only four held-out structures.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[Tushar · 0:28–1:21]
The test used 16 models from four structures that no policy had ever seen, including one with a mean-Z readout.
Before opening it, we froze the rule and four learned comparators, recorded fingerprints of their decisions, and pushed the full protocol. A guard then allowed exactly one unlock and logged every read. The stored outcomes matched their committed hashes.
Under continuous joint noise, the rule made material errors in 2.0 percent of decisions, with a confidence interval of 1.4 to 2.6 percent. Its Brier score was within 0.03 percent of the Oracle's, at 0.6 percent more shots. Under categorical noise its material errors were 8.8 percent, inside the pre-registered ten-percent bound.
Key points: 16 unseen models, 4 structures (one mean-Z); frozen + fingerprinted + pushed, then one guarded unlock; material 2.0% [1.4, 2.6]; Brier −0.03%; +0.6% shots; 5B 8.8% ≤ 10%.
Sources: final_metadata.json (unlock record, hypotheses); final_policies_5c_test.csv and final_policies_5b_test.csv (R_thr, arm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[Tushar · 1:21–2:27]
Here are paired differences between each comparator and the rule. Positive values favour the rule; the shaded band is the pre-registered margin.
On the registered endpoint, material errors, the best learned comparator, gradient boosting, tied the rule: 2.1 versus 2.0 percent. Its interval excludes an advantage as large as the margin.
But we want to be precise. On any disagreement with the Oracle, gradient boosting was better: 6.5 percent against 21.9 percent. Most of the rule's extra disagreements came from the unseen mean-Z structure and cost only two calibration circuits per batch, so they were not material. Structure by structure, gradient boosting made fewer material errors on the three parity structures and more on the mean-Z one. The learned models were also unstable: gradient boosting made 10.7 percent material errors on validation. Under categorical noise, learned models reached 12 to 44 percent.
Key points: material: GBT 2.1% vs 2.0%, diff +0.0005 [−0.016, +0.027] → H2 non-superiority; raw disagreement: GBT 6.5% vs rule 21.9% (mostly mean-Z; cheap, not material); learned unstable: GBT 10.7% on validation; 12–44% under categorical noise.
Sources: final_paired_vs_rthr_5c_test.csv, final_paired_vs_rthr_5b_test.csv; final_policies_5c_test.csv (failure); p7_policies_5c_val.csv (L_gbt 0.107).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[Mayank · 2:27–3:27]
This chart puts reliability against cost. Never mitigating uses about a third of the shots but makes material errors almost everywhere. Always using combined mitigation is reliable but overspends. The rule sits next to the Oracle: 0.6 percent more shots and 3.4 percent fewer than always-combined.
Now the limits. Always-combined's 5.9 percent material errors equal exactly the one gate-free setting in our seventeen, so the saving depends on how often batches are gate-free. Only four structures were held out, so the intervals are probably too narrow. H2 is a non-superiority result on material errors, not proof that learning cannot help. And everything is simulated, at four qubits, with a gate probe that barely sees thermal noise. We state these limits next to every headline number, in the paper and in the report.
Key points: rule: +0.6% shots vs Oracle, −3.4% vs always-combined; never-mitigate 0.35× shots, 96% material errors; always-A3 5.9% = 1/17 gate-free design share; 4 structures → CIs too narrow; H2 is non-superiority; simulation only; thermal blind spot.
Sources: final_policies_5c_test.csv (mean_total_shots_per_inference, material_failure; chart: semester cost_reliability_slide); p5c_design.csv (17 gate settings, one gate-free); p5c_probe_validity.csv.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[Mayank · 3:27–4:21]
Our contribution has three parts. First, a characterization showing that noise damaged calibration, not discrimination, and that mitigation repaired it while extra shots could not. Second, a leakage-safe counterfactual benchmark across 64 models. Third, a pre-registered test of learning against simple rules, which found that, in this setting, a simple probe rule performed competitively with learned comparators.
The manuscript and capstone report are complete drafts for review, built from the same verified numbers as these slides; nothing has been submitted. Our recommended route is an arXiv preprint and then TMLR, which judges whether claims match the evidence and charges no fees. IEEE Quantum Week and Quantum Machine Intelligence are alternatives. Remaining decisions are ours: confirm the references, author order, venue and an arXiv endorser. Thank you.
Key points: three contributions; no quantum-advantage claim; manuscript + report drafted; nothing submitted; plan: arXiv → TMLR; alternatives QCE27, QMI; author decisions pending.
Sources: deliverables/README.md; deliverables/submission/VENUES.md and SUBMISSION_PLAN.md.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9"/>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55664"/>
            <a:ext cx="10241280" cy="256032"/>
          </a:xfrm>
          <a:prstGeom prst="rect">
            <a:avLst/>
          </a:prstGeom>
          <a:noFill/>
          <a:ln/>
        </p:spPr>
        <p:txBody>
          <a:bodyPr wrap="square" lIns="0" tIns="0" rIns="0" bIns="0" rtlCol="0" anchor="ctr"/>
          <a:lstStyle/>
          <a:p>
            <a:pPr indent="0" marL="0">
              <a:buNone/>
            </a:pPr>
            <a:r>
              <a:rPr lang="en-US" sz="900" dirty="0">
                <a:solidFill>
                  <a:schemeClr val="accent5"/>
                </a:solidFill>
              </a:rPr>
              <a:t>Q-TRACE  ·  Final experimental findings  ·  November 24, 2026</a:t>
            </a:r>
            <a:endParaRPr lang="en-US" sz="900" dirty="0"/>
          </a:p>
        </p:txBody>
      </p:sp>
      <p:sp>
        <p:nvSpPr>
          <p:cNvPr id="3" name="Text 1"/>
          <p:cNvSpPr/>
          <p:nvPr>
            <p:ph idx="101" type="title" hasCustomPrompt="1"/>
          </p:nvPr>
        </p:nvSpPr>
        <p:spPr>
          <a:xfrm>
            <a:off x="548640" y="457200"/>
            <a:ext cx="11094415" cy="731520"/>
          </a:xfrm>
          <a:prstGeom prst="rect">
            <a:avLst/>
          </a:prstGeom>
          <a:noFill/>
          <a:ln/>
        </p:spPr>
        <p:txBody>
          <a:bodyPr wrap="square" rtlCol="0"/>
          <a:lstStyle>
            <a:lvl1pPr indent="0" marL="0">
              <a:buNone/>
              <a:defRPr lang="en-US" sz="2800" b="1" dirty="0">
                <a:solidFill>
                  <a:schemeClr val="tx2"/>
                </a:solidFill>
                <a:latin typeface="Cambria" pitchFamily="34" charset="0"/>
                <a:ea typeface="Cambria" pitchFamily="34" charset="-122"/>
                <a:cs typeface="Cambria" pitchFamily="34" charset="-120"/>
              </a:defRPr>
            </a:lvl1pPr>
          </a:lstStyle>
          <a:p>
            <a:pPr indent="0" marL="0">
              <a:buNone/>
            </a:pPr>
            <a:endParaRPr lang="en-US" sz="28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solidFill>
          <a:srgbClr val="1B2A49"/>
        </a:solidFill>
      </p:bgPr>
    </p:bg>
    <p:spTree>
      <p:nvGrpSpPr>
        <p:cNvPr id="1" name=""/>
        <p:cNvGrpSpPr/>
        <p:nvPr/>
      </p:nvGrpSpPr>
      <p:grpSpPr>
        <a:xfrm>
          <a:off x="0" y="0"/>
          <a:ext cx="0" cy="0"/>
          <a:chOff x="0" y="0"/>
          <a:chExt cx="0" cy="0"/>
        </a:xfrm>
      </p:grpSpPr>
      <p:sp>
        <p:nvSpPr>
          <p:cNvPr id="2" name="Text 0"/>
          <p:cNvSpPr/>
          <p:nvPr/>
        </p:nvSpPr>
        <p:spPr>
          <a:xfrm>
            <a:off x="548640" y="6455664"/>
            <a:ext cx="10241280" cy="256032"/>
          </a:xfrm>
          <a:prstGeom prst="rect">
            <a:avLst/>
          </a:prstGeom>
          <a:noFill/>
          <a:ln/>
        </p:spPr>
        <p:txBody>
          <a:bodyPr wrap="square" lIns="0" tIns="0" rIns="0" bIns="0" rtlCol="0" anchor="ctr"/>
          <a:lstStyle/>
          <a:p>
            <a:pPr indent="0" marL="0">
              <a:buNone/>
            </a:pPr>
            <a:r>
              <a:rPr lang="en-US" sz="900" dirty="0">
                <a:solidFill>
                  <a:srgbClr val="AFC2DC"/>
                </a:solidFill>
              </a:rPr>
              <a:t>Q-TRACE  ·  Final experimental findings  ·  November 24, 2026</a:t>
            </a:r>
            <a:endParaRPr lang="en-US" sz="900" dirty="0"/>
          </a:p>
        </p:txBody>
      </p:sp>
      <p:sp>
        <p:nvSpPr>
          <p:cNvPr id="3" name="Text 1"/>
          <p:cNvSpPr/>
          <p:nvPr>
            <p:ph idx="101" type="title" hasCustomPrompt="1"/>
          </p:nvPr>
        </p:nvSpPr>
        <p:spPr>
          <a:xfrm>
            <a:off x="548640" y="457200"/>
            <a:ext cx="11094415" cy="731520"/>
          </a:xfrm>
          <a:prstGeom prst="rect">
            <a:avLst/>
          </a:prstGeom>
          <a:noFill/>
          <a:ln/>
        </p:spPr>
        <p:txBody>
          <a:bodyPr wrap="square" rtlCol="0"/>
          <a:lstStyle>
            <a:lvl1pPr indent="0" marL="0">
              <a:buNone/>
              <a:defRPr lang="en-US" sz="2800" b="1" dirty="0">
                <a:solidFill>
                  <a:schemeClr val="bg1"/>
                </a:solidFill>
                <a:latin typeface="Cambria" pitchFamily="34" charset="0"/>
                <a:ea typeface="Cambria" pitchFamily="34" charset="-122"/>
                <a:cs typeface="Cambria" pitchFamily="34" charset="-120"/>
              </a:defRPr>
            </a:lvl1pPr>
          </a:lstStyle>
          <a:p>
            <a:pPr indent="0" marL="0">
              <a:buNone/>
            </a:pPr>
            <a:endParaRPr lang="en-US" sz="28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AFC2DC"/>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hip-bg"/>
          <p:cNvSpPr/>
          <p:nvPr/>
        </p:nvSpPr>
        <p:spPr>
          <a:xfrm>
            <a:off x="548640" y="411480"/>
            <a:ext cx="3246120" cy="329184"/>
          </a:xfrm>
          <a:prstGeom prst="roundRect">
            <a:avLst>
              <a:gd name="adj" fmla="val 44444"/>
            </a:avLst>
          </a:prstGeom>
          <a:solidFill>
            <a:srgbClr val="0F8B8D"/>
          </a:solidFill>
          <a:ln w="12700">
            <a:solidFill>
              <a:srgbClr val="0F8B8D"/>
            </a:solidFill>
            <a:prstDash val="solid"/>
          </a:ln>
        </p:spPr>
      </p:sp>
      <p:sp>
        <p:nvSpPr>
          <p:cNvPr id="3" name="chip"/>
          <p:cNvSpPr txBox="1"/>
          <p:nvPr/>
        </p:nvSpPr>
        <p:spPr>
          <a:xfrm>
            <a:off x="548640" y="411480"/>
            <a:ext cx="3246120" cy="329184"/>
          </a:xfrm>
          <a:prstGeom prst="rect">
            <a:avLst/>
          </a:prstGeom>
          <a:noFill/>
          <a:ln/>
        </p:spPr>
        <p:txBody>
          <a:bodyPr wrap="square" lIns="0" tIns="0" rIns="0" bIns="0" rtlCol="0" anchor="ctr"/>
          <a:lstStyle/>
          <a:p>
            <a:pPr algn="ctr" indent="0" marL="0">
              <a:buNone/>
            </a:pPr>
            <a:r>
              <a:rPr lang="en-US" sz="1100" b="1" dirty="0">
                <a:solidFill>
                  <a:srgbClr val="FFFFFF"/>
                </a:solidFill>
              </a:rPr>
              <a:t>Meeting 6 of 7  ·  November 24, 2026</a:t>
            </a:r>
            <a:endParaRPr lang="en-US" sz="1100" dirty="0"/>
          </a:p>
        </p:txBody>
      </p:sp>
      <p:sp>
        <p:nvSpPr>
          <p:cNvPr id="4" name="topic"/>
          <p:cNvSpPr txBox="1"/>
          <p:nvPr/>
        </p:nvSpPr>
        <p:spPr>
          <a:xfrm>
            <a:off x="548640" y="1051560"/>
            <a:ext cx="10058400" cy="365760"/>
          </a:xfrm>
          <a:prstGeom prst="rect">
            <a:avLst/>
          </a:prstGeom>
          <a:noFill/>
          <a:ln/>
        </p:spPr>
        <p:txBody>
          <a:bodyPr wrap="square" lIns="0" tIns="0" rIns="0" bIns="0" rtlCol="0" anchor="t"/>
          <a:lstStyle/>
          <a:p>
            <a:pPr indent="0" marL="0">
              <a:buNone/>
            </a:pPr>
            <a:r>
              <a:rPr lang="en-US" sz="1300" b="1" spc="200" kern="0" dirty="0">
                <a:solidFill>
                  <a:srgbClr val="7FD6D3"/>
                </a:solidFill>
              </a:rPr>
              <a:t>FINAL EXPERIMENTAL FINDINGS</a:t>
            </a:r>
            <a:endParaRPr lang="en-US" sz="1300" dirty="0"/>
          </a:p>
        </p:txBody>
      </p:sp>
      <p:sp>
        <p:nvSpPr>
          <p:cNvPr id="5" name="headline"/>
          <p:cNvSpPr txBox="1"/>
          <p:nvPr/>
        </p:nvSpPr>
        <p:spPr>
          <a:xfrm>
            <a:off x="548640" y="1417320"/>
            <a:ext cx="11064240" cy="566928"/>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One sealed test: the simple rule held</a:t>
            </a:r>
            <a:endParaRPr lang="en-US" sz="3400" dirty="0"/>
          </a:p>
        </p:txBody>
      </p:sp>
      <p:sp>
        <p:nvSpPr>
          <p:cNvPr id="6" name="subtitle"/>
          <p:cNvSpPr txBox="1"/>
          <p:nvPr/>
        </p:nvSpPr>
        <p:spPr>
          <a:xfrm>
            <a:off x="548640" y="2185416"/>
            <a:ext cx="10607040" cy="457200"/>
          </a:xfrm>
          <a:prstGeom prst="rect">
            <a:avLst/>
          </a:prstGeom>
          <a:noFill/>
          <a:ln/>
        </p:spPr>
        <p:txBody>
          <a:bodyPr wrap="square" lIns="0" tIns="0" rIns="0" bIns="0" rtlCol="0" anchor="t"/>
          <a:lstStyle/>
          <a:p>
            <a:pPr indent="0" marL="0">
              <a:buNone/>
            </a:pPr>
            <a:r>
              <a:rPr lang="en-US" sz="1700" dirty="0">
                <a:solidFill>
                  <a:srgbClr val="CADCFC"/>
                </a:solidFill>
              </a:rPr>
              <a:t>Sealed held-out evaluation · rule vs learned comparators · reliability–resource trade-offs · limits · publication</a:t>
            </a:r>
            <a:endParaRPr lang="en-US" sz="1700" dirty="0"/>
          </a:p>
        </p:txBody>
      </p:sp>
      <p:sp>
        <p:nvSpPr>
          <p:cNvPr id="7" name="message-bg"/>
          <p:cNvSpPr/>
          <p:nvPr/>
        </p:nvSpPr>
        <p:spPr>
          <a:xfrm>
            <a:off x="548640" y="3337560"/>
            <a:ext cx="11064240" cy="960120"/>
          </a:xfrm>
          <a:prstGeom prst="roundRect">
            <a:avLst>
              <a:gd name="adj" fmla="val 7619"/>
            </a:avLst>
          </a:prstGeom>
          <a:solidFill>
            <a:srgbClr val="243A63"/>
          </a:solidFill>
          <a:ln w="12700">
            <a:solidFill>
              <a:srgbClr val="3A5584"/>
            </a:solidFill>
            <a:prstDash val="solid"/>
          </a:ln>
        </p:spPr>
      </p:sp>
      <p:sp>
        <p:nvSpPr>
          <p:cNvPr id="8" name="message-icon-circle"/>
          <p:cNvSpPr/>
          <p:nvPr/>
        </p:nvSpPr>
        <p:spPr>
          <a:xfrm>
            <a:off x="749808" y="3547872"/>
            <a:ext cx="548640" cy="548640"/>
          </a:xfrm>
          <a:prstGeom prst="ellipse">
            <a:avLst/>
          </a:prstGeom>
          <a:solidFill>
            <a:srgbClr val="0F8B8D"/>
          </a:solidFill>
          <a:ln w="12700">
            <a:solidFill>
              <a:srgbClr val="0F8B8D"/>
            </a:solidFill>
            <a:prstDash val="solid"/>
          </a:ln>
        </p:spPr>
      </p:sp>
      <p:pic>
        <p:nvPicPr>
          <p:cNvPr id="9" name="message-icon" descr="preencoded.png">    </p:cNvPr>
          <p:cNvPicPr>
            <a:picLocks noChangeAspect="1"/>
          </p:cNvPicPr>
          <p:nvPr/>
        </p:nvPicPr>
        <p:blipFill>
          <a:blip r:embed="rId1"/>
          <a:stretch>
            <a:fillRect/>
          </a:stretch>
        </p:blipFill>
        <p:spPr>
          <a:xfrm>
            <a:off x="881482" y="3679546"/>
            <a:ext cx="285293" cy="285293"/>
          </a:xfrm>
          <a:prstGeom prst="rect">
            <a:avLst/>
          </a:prstGeom>
        </p:spPr>
      </p:pic>
      <p:sp>
        <p:nvSpPr>
          <p:cNvPr id="10" name="message"/>
          <p:cNvSpPr txBox="1"/>
          <p:nvPr/>
        </p:nvSpPr>
        <p:spPr>
          <a:xfrm>
            <a:off x="1463040" y="3337560"/>
            <a:ext cx="9921240" cy="960120"/>
          </a:xfrm>
          <a:prstGeom prst="rect">
            <a:avLst/>
          </a:prstGeom>
          <a:noFill/>
          <a:ln/>
        </p:spPr>
        <p:txBody>
          <a:bodyPr wrap="square" lIns="0" tIns="0" rIns="0" bIns="0" rtlCol="0" anchor="ctr"/>
          <a:lstStyle/>
          <a:p>
            <a:pPr indent="0" marL="0">
              <a:buNone/>
            </a:pPr>
            <a:r>
              <a:rPr lang="en-US" sz="1600" dirty="0">
                <a:solidFill>
                  <a:srgbClr val="FFFFFF"/>
                </a:solidFill>
              </a:rPr>
              <a:t>The one-time sealed test (Oct 8, 2026) supported all four pre-registered hypotheses: the probe rule was near-Oracle on unseen models, and fixed learned comparators did not reduce material errors. Only four structures were held out.</a:t>
            </a:r>
            <a:endParaRPr lang="en-US" sz="1600" dirty="0"/>
          </a:p>
        </p:txBody>
      </p:sp>
      <p:sp>
        <p:nvSpPr>
          <p:cNvPr id="11" name="authors"/>
          <p:cNvSpPr txBox="1"/>
          <p:nvPr/>
        </p:nvSpPr>
        <p:spPr>
          <a:xfrm>
            <a:off x="548640" y="4526280"/>
            <a:ext cx="11064240" cy="868680"/>
          </a:xfrm>
          <a:prstGeom prst="rect">
            <a:avLst/>
          </a:prstGeom>
          <a:noFill/>
          <a:ln/>
        </p:spPr>
        <p:txBody>
          <a:bodyPr wrap="square" lIns="0" tIns="0" rIns="0" bIns="0" rtlCol="0" anchor="t"/>
          <a:lstStyle/>
          <a:p>
            <a:pPr indent="0" marL="0">
              <a:buNone/>
            </a:pPr>
            <a:r>
              <a:rPr lang="en-US" sz="1300" b="1" dirty="0">
                <a:solidFill>
                  <a:srgbClr val="E6ECF5"/>
                </a:solidFill>
              </a:rPr>
              <a:t>Mayank Kumar Pokhriyal  ·  Tushar Poonia</a:t>
            </a:r>
            <a:endParaRPr lang="en-US" sz="1300" dirty="0"/>
          </a:p>
          <a:p>
            <a:pPr indent="0" marL="0">
              <a:buNone/>
            </a:pPr>
            <a:r>
              <a:rPr lang="en-US" sz="1300" dirty="0">
                <a:solidFill>
                  <a:srgbClr val="E6ECF5"/>
                </a:solidFill>
              </a:rPr>
              <a:t>M.S. in Artificial Intelligence capstone  ·  Katz School of Science and Health, Yeshiva University</a:t>
            </a:r>
            <a:endParaRPr lang="en-US" sz="1300" dirty="0"/>
          </a:p>
          <a:p>
            <a:pPr indent="0" marL="0">
              <a:buNone/>
            </a:pPr>
            <a:r>
              <a:rPr lang="en-US" sz="1150" dirty="0">
                <a:solidFill>
                  <a:srgbClr val="AFC2DC"/>
                </a:solidFill>
              </a:rPr>
              <a:t>Proposed split: Tushar (slides 1–3) · Mayank (slides 4–5) · about 5 minutes</a:t>
            </a:r>
            <a:endParaRPr lang="en-US" sz="1300" dirty="0"/>
          </a:p>
        </p:txBody>
      </p:sp>
      <p:sp>
        <p:nvSpPr>
          <p:cNvPr id="12" name="tracker-line"/>
          <p:cNvSpPr/>
          <p:nvPr/>
        </p:nvSpPr>
        <p:spPr>
          <a:xfrm>
            <a:off x="548640" y="5888736"/>
            <a:ext cx="11094415" cy="0"/>
          </a:xfrm>
          <a:prstGeom prst="line">
            <a:avLst/>
          </a:prstGeom>
          <a:noFill/>
          <a:ln w="19050">
            <a:solidFill>
              <a:srgbClr val="5B6C8F"/>
            </a:solidFill>
            <a:prstDash val="solid"/>
          </a:ln>
        </p:spPr>
      </p:sp>
      <p:sp>
        <p:nvSpPr>
          <p:cNvPr id="13" name="tracker-node-0"/>
          <p:cNvSpPr/>
          <p:nvPr/>
        </p:nvSpPr>
        <p:spPr>
          <a:xfrm>
            <a:off x="448056" y="5788152"/>
            <a:ext cx="201168" cy="201168"/>
          </a:xfrm>
          <a:prstGeom prst="ellipse">
            <a:avLst/>
          </a:prstGeom>
          <a:solidFill>
            <a:srgbClr val="0F8B8D"/>
          </a:solidFill>
          <a:ln w="19050">
            <a:solidFill>
              <a:srgbClr val="0F8B8D"/>
            </a:solidFill>
            <a:prstDash val="solid"/>
          </a:ln>
        </p:spPr>
      </p:sp>
      <p:sp>
        <p:nvSpPr>
          <p:cNvPr id="14" name="tracker-label-0"/>
          <p:cNvSpPr txBox="1"/>
          <p:nvPr/>
        </p:nvSpPr>
        <p:spPr>
          <a:xfrm>
            <a:off x="-228600"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Sep 15</a:t>
            </a:r>
            <a:endParaRPr lang="en-US" sz="1400" dirty="0"/>
          </a:p>
          <a:p>
            <a:pPr algn="ctr" indent="0" marL="0">
              <a:buNone/>
            </a:pPr>
            <a:r>
              <a:rPr lang="en-US" sz="950" dirty="0">
                <a:solidFill>
                  <a:srgbClr val="AFC2DC"/>
                </a:solidFill>
              </a:rPr>
              <a:t>Proposal</a:t>
            </a:r>
            <a:endParaRPr lang="en-US" sz="1400" dirty="0"/>
          </a:p>
        </p:txBody>
      </p:sp>
      <p:sp>
        <p:nvSpPr>
          <p:cNvPr id="15" name="tracker-node-1"/>
          <p:cNvSpPr/>
          <p:nvPr/>
        </p:nvSpPr>
        <p:spPr>
          <a:xfrm>
            <a:off x="2297125" y="5788152"/>
            <a:ext cx="201168" cy="201168"/>
          </a:xfrm>
          <a:prstGeom prst="ellipse">
            <a:avLst/>
          </a:prstGeom>
          <a:solidFill>
            <a:srgbClr val="0F8B8D"/>
          </a:solidFill>
          <a:ln w="19050">
            <a:solidFill>
              <a:srgbClr val="0F8B8D"/>
            </a:solidFill>
            <a:prstDash val="solid"/>
          </a:ln>
        </p:spPr>
      </p:sp>
      <p:sp>
        <p:nvSpPr>
          <p:cNvPr id="16" name="tracker-label-1"/>
          <p:cNvSpPr txBox="1"/>
          <p:nvPr/>
        </p:nvSpPr>
        <p:spPr>
          <a:xfrm>
            <a:off x="1620469"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Sep 29</a:t>
            </a:r>
            <a:endParaRPr lang="en-US" sz="1400" dirty="0"/>
          </a:p>
          <a:p>
            <a:pPr algn="ctr" indent="0" marL="0">
              <a:buNone/>
            </a:pPr>
            <a:r>
              <a:rPr lang="en-US" sz="950" dirty="0">
                <a:solidFill>
                  <a:srgbClr val="AFC2DC"/>
                </a:solidFill>
              </a:rPr>
              <a:t>Design</a:t>
            </a:r>
            <a:endParaRPr lang="en-US" sz="1400" dirty="0"/>
          </a:p>
        </p:txBody>
      </p:sp>
      <p:sp>
        <p:nvSpPr>
          <p:cNvPr id="17" name="tracker-node-2"/>
          <p:cNvSpPr/>
          <p:nvPr/>
        </p:nvSpPr>
        <p:spPr>
          <a:xfrm>
            <a:off x="4146194" y="5788152"/>
            <a:ext cx="201168" cy="201168"/>
          </a:xfrm>
          <a:prstGeom prst="ellipse">
            <a:avLst/>
          </a:prstGeom>
          <a:solidFill>
            <a:srgbClr val="0F8B8D"/>
          </a:solidFill>
          <a:ln w="19050">
            <a:solidFill>
              <a:srgbClr val="0F8B8D"/>
            </a:solidFill>
            <a:prstDash val="solid"/>
          </a:ln>
        </p:spPr>
      </p:sp>
      <p:sp>
        <p:nvSpPr>
          <p:cNvPr id="18" name="tracker-label-2"/>
          <p:cNvSpPr txBox="1"/>
          <p:nvPr/>
        </p:nvSpPr>
        <p:spPr>
          <a:xfrm>
            <a:off x="3469538"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Oct 13</a:t>
            </a:r>
            <a:endParaRPr lang="en-US" sz="1400" dirty="0"/>
          </a:p>
          <a:p>
            <a:pPr algn="ctr" indent="0" marL="0">
              <a:buNone/>
            </a:pPr>
            <a:r>
              <a:rPr lang="en-US" sz="950" dirty="0">
                <a:solidFill>
                  <a:srgbClr val="AFC2DC"/>
                </a:solidFill>
              </a:rPr>
              <a:t>Implementation</a:t>
            </a:r>
            <a:endParaRPr lang="en-US" sz="1400" dirty="0"/>
          </a:p>
        </p:txBody>
      </p:sp>
      <p:sp>
        <p:nvSpPr>
          <p:cNvPr id="19" name="tracker-node-3"/>
          <p:cNvSpPr/>
          <p:nvPr/>
        </p:nvSpPr>
        <p:spPr>
          <a:xfrm>
            <a:off x="5995264" y="5788152"/>
            <a:ext cx="201168" cy="201168"/>
          </a:xfrm>
          <a:prstGeom prst="ellipse">
            <a:avLst/>
          </a:prstGeom>
          <a:solidFill>
            <a:srgbClr val="0F8B8D"/>
          </a:solidFill>
          <a:ln w="19050">
            <a:solidFill>
              <a:srgbClr val="0F8B8D"/>
            </a:solidFill>
            <a:prstDash val="solid"/>
          </a:ln>
        </p:spPr>
      </p:sp>
      <p:sp>
        <p:nvSpPr>
          <p:cNvPr id="20" name="tracker-label-3"/>
          <p:cNvSpPr txBox="1"/>
          <p:nvPr/>
        </p:nvSpPr>
        <p:spPr>
          <a:xfrm>
            <a:off x="5318608"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Oct 27</a:t>
            </a:r>
            <a:endParaRPr lang="en-US" sz="1400" dirty="0"/>
          </a:p>
          <a:p>
            <a:pPr algn="ctr" indent="0" marL="0">
              <a:buNone/>
            </a:pPr>
            <a:r>
              <a:rPr lang="en-US" sz="950" dirty="0">
                <a:solidFill>
                  <a:srgbClr val="AFC2DC"/>
                </a:solidFill>
              </a:rPr>
              <a:t>Noise &amp; mitigation</a:t>
            </a:r>
            <a:endParaRPr lang="en-US" sz="1400" dirty="0"/>
          </a:p>
        </p:txBody>
      </p:sp>
      <p:sp>
        <p:nvSpPr>
          <p:cNvPr id="21" name="tracker-node-4"/>
          <p:cNvSpPr/>
          <p:nvPr/>
        </p:nvSpPr>
        <p:spPr>
          <a:xfrm>
            <a:off x="7844333" y="5788152"/>
            <a:ext cx="201168" cy="201168"/>
          </a:xfrm>
          <a:prstGeom prst="ellipse">
            <a:avLst/>
          </a:prstGeom>
          <a:solidFill>
            <a:srgbClr val="0F8B8D"/>
          </a:solidFill>
          <a:ln w="19050">
            <a:solidFill>
              <a:srgbClr val="0F8B8D"/>
            </a:solidFill>
            <a:prstDash val="solid"/>
          </a:ln>
        </p:spPr>
      </p:sp>
      <p:sp>
        <p:nvSpPr>
          <p:cNvPr id="22" name="tracker-label-4"/>
          <p:cNvSpPr txBox="1"/>
          <p:nvPr/>
        </p:nvSpPr>
        <p:spPr>
          <a:xfrm>
            <a:off x="7167677"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Nov 10</a:t>
            </a:r>
            <a:endParaRPr lang="en-US" sz="1400" dirty="0"/>
          </a:p>
          <a:p>
            <a:pPr algn="ctr" indent="0" marL="0">
              <a:buNone/>
            </a:pPr>
            <a:r>
              <a:rPr lang="en-US" sz="950" dirty="0">
                <a:solidFill>
                  <a:srgbClr val="AFC2DC"/>
                </a:solidFill>
              </a:rPr>
              <a:t>Policy selection</a:t>
            </a:r>
            <a:endParaRPr lang="en-US" sz="1400" dirty="0"/>
          </a:p>
        </p:txBody>
      </p:sp>
      <p:sp>
        <p:nvSpPr>
          <p:cNvPr id="23" name="tracker-node-5"/>
          <p:cNvSpPr/>
          <p:nvPr/>
        </p:nvSpPr>
        <p:spPr>
          <a:xfrm>
            <a:off x="9656826" y="5751576"/>
            <a:ext cx="274320" cy="274320"/>
          </a:xfrm>
          <a:prstGeom prst="ellipse">
            <a:avLst/>
          </a:prstGeom>
          <a:solidFill>
            <a:srgbClr val="E8A33D"/>
          </a:solidFill>
          <a:ln w="19050">
            <a:solidFill>
              <a:srgbClr val="E8A33D"/>
            </a:solidFill>
            <a:prstDash val="solid"/>
          </a:ln>
        </p:spPr>
      </p:sp>
      <p:sp>
        <p:nvSpPr>
          <p:cNvPr id="24" name="tracker-label-5"/>
          <p:cNvSpPr txBox="1"/>
          <p:nvPr/>
        </p:nvSpPr>
        <p:spPr>
          <a:xfrm>
            <a:off x="9016746" y="6071616"/>
            <a:ext cx="1554480" cy="457200"/>
          </a:xfrm>
          <a:prstGeom prst="rect">
            <a:avLst/>
          </a:prstGeom>
          <a:noFill/>
          <a:ln/>
        </p:spPr>
        <p:txBody>
          <a:bodyPr wrap="square" lIns="0" tIns="0" rIns="0" bIns="0" rtlCol="0" anchor="t"/>
          <a:lstStyle/>
          <a:p>
            <a:pPr algn="ctr" indent="0" marL="0">
              <a:buNone/>
            </a:pPr>
            <a:r>
              <a:rPr lang="en-US" sz="1050" b="1" dirty="0">
                <a:solidFill>
                  <a:srgbClr val="FFFFFF"/>
                </a:solidFill>
              </a:rPr>
              <a:t>Nov 24</a:t>
            </a:r>
            <a:endParaRPr lang="en-US" sz="1400" dirty="0"/>
          </a:p>
          <a:p>
            <a:pPr algn="ctr" indent="0" marL="0">
              <a:buNone/>
            </a:pPr>
            <a:r>
              <a:rPr lang="en-US" sz="950" dirty="0">
                <a:solidFill>
                  <a:srgbClr val="FFFFFF"/>
                </a:solidFill>
              </a:rPr>
              <a:t>Final findings</a:t>
            </a:r>
            <a:endParaRPr lang="en-US" sz="1400" dirty="0"/>
          </a:p>
        </p:txBody>
      </p:sp>
      <p:sp>
        <p:nvSpPr>
          <p:cNvPr id="25" name="tracker-node-6"/>
          <p:cNvSpPr/>
          <p:nvPr/>
        </p:nvSpPr>
        <p:spPr>
          <a:xfrm>
            <a:off x="11542471" y="5788152"/>
            <a:ext cx="201168" cy="201168"/>
          </a:xfrm>
          <a:prstGeom prst="ellipse">
            <a:avLst/>
          </a:prstGeom>
          <a:solidFill>
            <a:srgbClr val="1B2A49"/>
          </a:solidFill>
          <a:ln w="19050">
            <a:solidFill>
              <a:srgbClr val="5B6C8F"/>
            </a:solidFill>
            <a:prstDash val="solid"/>
          </a:ln>
        </p:spPr>
      </p:sp>
      <p:sp>
        <p:nvSpPr>
          <p:cNvPr id="26" name="tracker-label-6"/>
          <p:cNvSpPr txBox="1"/>
          <p:nvPr/>
        </p:nvSpPr>
        <p:spPr>
          <a:xfrm>
            <a:off x="10865815"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Dec 8</a:t>
            </a:r>
            <a:endParaRPr lang="en-US" sz="1400" dirty="0"/>
          </a:p>
          <a:p>
            <a:pPr algn="ctr" indent="0" marL="0">
              <a:buNone/>
            </a:pPr>
            <a:r>
              <a:rPr lang="en-US" sz="950" dirty="0">
                <a:solidFill>
                  <a:srgbClr val="AFC2DC"/>
                </a:solidFill>
              </a:rPr>
              <a:t>Final defense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FINAL TEST  ·  UNLOCKED ONCE, OCTOBER 8, 2026 (21:28 UTC)</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The one-time sealed evaluation</a:t>
            </a:r>
            <a:endParaRPr lang="en-US" sz="2800" dirty="0"/>
          </a:p>
        </p:txBody>
      </p:sp>
      <p:sp>
        <p:nvSpPr>
          <p:cNvPr id="4" name="flow-box-0"/>
          <p:cNvSpPr/>
          <p:nvPr/>
        </p:nvSpPr>
        <p:spPr>
          <a:xfrm>
            <a:off x="548640" y="1325880"/>
            <a:ext cx="1984797" cy="868680"/>
          </a:xfrm>
          <a:prstGeom prst="roundRect">
            <a:avLst>
              <a:gd name="adj" fmla="val 7368"/>
            </a:avLst>
          </a:prstGeom>
          <a:solidFill>
            <a:srgbClr val="EEF2F7"/>
          </a:solidFill>
          <a:ln w="6350">
            <a:solidFill>
              <a:srgbClr val="EEF2F7"/>
            </a:solidFill>
            <a:prstDash val="solid"/>
          </a:ln>
        </p:spPr>
      </p:sp>
      <p:sp>
        <p:nvSpPr>
          <p:cNvPr id="5" name="flow-text-0"/>
          <p:cNvSpPr txBox="1"/>
          <p:nvPr/>
        </p:nvSpPr>
        <p:spPr>
          <a:xfrm>
            <a:off x="621792" y="1325880"/>
            <a:ext cx="1838493" cy="868680"/>
          </a:xfrm>
          <a:prstGeom prst="rect">
            <a:avLst/>
          </a:prstGeom>
          <a:noFill/>
          <a:ln/>
        </p:spPr>
        <p:txBody>
          <a:bodyPr wrap="square" lIns="0" tIns="0" rIns="0" bIns="0" rtlCol="0" anchor="ctr"/>
          <a:lstStyle/>
          <a:p>
            <a:pPr algn="ctr" indent="0" marL="0">
              <a:buNone/>
            </a:pPr>
            <a:r>
              <a:rPr lang="en-US" sz="1350" b="1" dirty="0">
                <a:solidFill>
                  <a:schemeClr val="tx2"/>
                </a:solidFill>
              </a:rPr>
              <a:t>Freeze</a:t>
            </a:r>
            <a:endParaRPr lang="en-US" sz="1350" dirty="0"/>
          </a:p>
          <a:p>
            <a:pPr algn="ctr" indent="0" marL="0">
              <a:buNone/>
            </a:pPr>
            <a:r>
              <a:rPr lang="en-US" sz="1150" dirty="0">
                <a:solidFill>
                  <a:schemeClr val="tx1"/>
                </a:solidFill>
              </a:rPr>
              <a:t>rule + 4 learned comparators</a:t>
            </a:r>
            <a:endParaRPr lang="en-US" sz="1350" dirty="0"/>
          </a:p>
        </p:txBody>
      </p:sp>
      <p:sp>
        <p:nvSpPr>
          <p:cNvPr id="6" name="flow-arrow-0"/>
          <p:cNvSpPr/>
          <p:nvPr/>
        </p:nvSpPr>
        <p:spPr>
          <a:xfrm>
            <a:off x="2570013" y="1659636"/>
            <a:ext cx="219456" cy="201168"/>
          </a:xfrm>
          <a:prstGeom prst="rightArrow">
            <a:avLst/>
          </a:prstGeom>
          <a:solidFill>
            <a:srgbClr val="6B7280"/>
          </a:solidFill>
          <a:ln w="12700">
            <a:solidFill>
              <a:srgbClr val="6B7280"/>
            </a:solidFill>
            <a:prstDash val="solid"/>
          </a:ln>
        </p:spPr>
      </p:sp>
      <p:sp>
        <p:nvSpPr>
          <p:cNvPr id="7" name="flow-box-1"/>
          <p:cNvSpPr/>
          <p:nvPr/>
        </p:nvSpPr>
        <p:spPr>
          <a:xfrm>
            <a:off x="2826045" y="1325880"/>
            <a:ext cx="1984797" cy="868680"/>
          </a:xfrm>
          <a:prstGeom prst="roundRect">
            <a:avLst>
              <a:gd name="adj" fmla="val 7368"/>
            </a:avLst>
          </a:prstGeom>
          <a:solidFill>
            <a:srgbClr val="EEF2F7"/>
          </a:solidFill>
          <a:ln w="6350">
            <a:solidFill>
              <a:srgbClr val="EEF2F7"/>
            </a:solidFill>
            <a:prstDash val="solid"/>
          </a:ln>
        </p:spPr>
      </p:sp>
      <p:sp>
        <p:nvSpPr>
          <p:cNvPr id="8" name="flow-text-1"/>
          <p:cNvSpPr txBox="1"/>
          <p:nvPr/>
        </p:nvSpPr>
        <p:spPr>
          <a:xfrm>
            <a:off x="2899197" y="1325880"/>
            <a:ext cx="1838493" cy="868680"/>
          </a:xfrm>
          <a:prstGeom prst="rect">
            <a:avLst/>
          </a:prstGeom>
          <a:noFill/>
          <a:ln/>
        </p:spPr>
        <p:txBody>
          <a:bodyPr wrap="square" lIns="0" tIns="0" rIns="0" bIns="0" rtlCol="0" anchor="ctr"/>
          <a:lstStyle/>
          <a:p>
            <a:pPr algn="ctr" indent="0" marL="0">
              <a:buNone/>
            </a:pPr>
            <a:r>
              <a:rPr lang="en-US" sz="1350" b="1" dirty="0">
                <a:solidFill>
                  <a:schemeClr val="tx2"/>
                </a:solidFill>
              </a:rPr>
              <a:t>Fingerprint</a:t>
            </a:r>
            <a:endParaRPr lang="en-US" sz="1350" dirty="0"/>
          </a:p>
          <a:p>
            <a:pPr algn="ctr" indent="0" marL="0">
              <a:buNone/>
            </a:pPr>
            <a:r>
              <a:rPr lang="en-US" sz="1150" dirty="0">
                <a:solidFill>
                  <a:schemeClr val="tx1"/>
                </a:solidFill>
              </a:rPr>
              <a:t>hash of every frozen decision</a:t>
            </a:r>
            <a:endParaRPr lang="en-US" sz="1350" dirty="0"/>
          </a:p>
        </p:txBody>
      </p:sp>
      <p:sp>
        <p:nvSpPr>
          <p:cNvPr id="9" name="flow-arrow-1"/>
          <p:cNvSpPr/>
          <p:nvPr/>
        </p:nvSpPr>
        <p:spPr>
          <a:xfrm>
            <a:off x="4847417" y="1659636"/>
            <a:ext cx="219456" cy="201168"/>
          </a:xfrm>
          <a:prstGeom prst="rightArrow">
            <a:avLst/>
          </a:prstGeom>
          <a:solidFill>
            <a:srgbClr val="6B7280"/>
          </a:solidFill>
          <a:ln w="12700">
            <a:solidFill>
              <a:srgbClr val="6B7280"/>
            </a:solidFill>
            <a:prstDash val="solid"/>
          </a:ln>
        </p:spPr>
      </p:sp>
      <p:sp>
        <p:nvSpPr>
          <p:cNvPr id="10" name="flow-box-2"/>
          <p:cNvSpPr/>
          <p:nvPr/>
        </p:nvSpPr>
        <p:spPr>
          <a:xfrm>
            <a:off x="5103449" y="1325880"/>
            <a:ext cx="1984797" cy="868680"/>
          </a:xfrm>
          <a:prstGeom prst="roundRect">
            <a:avLst>
              <a:gd name="adj" fmla="val 7368"/>
            </a:avLst>
          </a:prstGeom>
          <a:solidFill>
            <a:srgbClr val="EEF2F7"/>
          </a:solidFill>
          <a:ln w="6350">
            <a:solidFill>
              <a:srgbClr val="EEF2F7"/>
            </a:solidFill>
            <a:prstDash val="solid"/>
          </a:ln>
        </p:spPr>
      </p:sp>
      <p:sp>
        <p:nvSpPr>
          <p:cNvPr id="11" name="flow-text-2"/>
          <p:cNvSpPr txBox="1"/>
          <p:nvPr/>
        </p:nvSpPr>
        <p:spPr>
          <a:xfrm>
            <a:off x="5176601" y="1325880"/>
            <a:ext cx="1838493" cy="868680"/>
          </a:xfrm>
          <a:prstGeom prst="rect">
            <a:avLst/>
          </a:prstGeom>
          <a:noFill/>
          <a:ln/>
        </p:spPr>
        <p:txBody>
          <a:bodyPr wrap="square" lIns="0" tIns="0" rIns="0" bIns="0" rtlCol="0" anchor="ctr"/>
          <a:lstStyle/>
          <a:p>
            <a:pPr algn="ctr" indent="0" marL="0">
              <a:buNone/>
            </a:pPr>
            <a:r>
              <a:rPr lang="en-US" sz="1350" b="1" dirty="0">
                <a:solidFill>
                  <a:schemeClr val="tx2"/>
                </a:solidFill>
              </a:rPr>
              <a:t>Push protocol</a:t>
            </a:r>
            <a:endParaRPr lang="en-US" sz="1350" dirty="0"/>
          </a:p>
          <a:p>
            <a:pPr algn="ctr" indent="0" marL="0">
              <a:buNone/>
            </a:pPr>
            <a:r>
              <a:rPr lang="en-US" sz="1150" dirty="0">
                <a:solidFill>
                  <a:schemeClr val="tx1"/>
                </a:solidFill>
              </a:rPr>
              <a:t>hypotheses, metrics, statistics</a:t>
            </a:r>
            <a:endParaRPr lang="en-US" sz="1350" dirty="0"/>
          </a:p>
        </p:txBody>
      </p:sp>
      <p:sp>
        <p:nvSpPr>
          <p:cNvPr id="12" name="flow-arrow-2"/>
          <p:cNvSpPr/>
          <p:nvPr/>
        </p:nvSpPr>
        <p:spPr>
          <a:xfrm>
            <a:off x="7124822" y="1659636"/>
            <a:ext cx="219456" cy="201168"/>
          </a:xfrm>
          <a:prstGeom prst="rightArrow">
            <a:avLst/>
          </a:prstGeom>
          <a:solidFill>
            <a:srgbClr val="6B7280"/>
          </a:solidFill>
          <a:ln w="12700">
            <a:solidFill>
              <a:srgbClr val="6B7280"/>
            </a:solidFill>
            <a:prstDash val="solid"/>
          </a:ln>
        </p:spPr>
      </p:sp>
      <p:sp>
        <p:nvSpPr>
          <p:cNvPr id="13" name="flow-box-3"/>
          <p:cNvSpPr/>
          <p:nvPr/>
        </p:nvSpPr>
        <p:spPr>
          <a:xfrm>
            <a:off x="7380854" y="1325880"/>
            <a:ext cx="1984797" cy="868680"/>
          </a:xfrm>
          <a:prstGeom prst="roundRect">
            <a:avLst>
              <a:gd name="adj" fmla="val 7368"/>
            </a:avLst>
          </a:prstGeom>
          <a:solidFill>
            <a:srgbClr val="FBEFD9"/>
          </a:solidFill>
          <a:ln w="6350">
            <a:solidFill>
              <a:srgbClr val="FBEFD9"/>
            </a:solidFill>
            <a:prstDash val="solid"/>
          </a:ln>
        </p:spPr>
      </p:sp>
      <p:sp>
        <p:nvSpPr>
          <p:cNvPr id="14" name="flow-text-3"/>
          <p:cNvSpPr txBox="1"/>
          <p:nvPr/>
        </p:nvSpPr>
        <p:spPr>
          <a:xfrm>
            <a:off x="7454006" y="1325880"/>
            <a:ext cx="1838493" cy="868680"/>
          </a:xfrm>
          <a:prstGeom prst="rect">
            <a:avLst/>
          </a:prstGeom>
          <a:noFill/>
          <a:ln/>
        </p:spPr>
        <p:txBody>
          <a:bodyPr wrap="square" lIns="0" tIns="0" rIns="0" bIns="0" rtlCol="0" anchor="ctr"/>
          <a:lstStyle/>
          <a:p>
            <a:pPr algn="ctr" indent="0" marL="0">
              <a:buNone/>
            </a:pPr>
            <a:r>
              <a:rPr lang="en-US" sz="1350" b="1" dirty="0">
                <a:solidFill>
                  <a:schemeClr val="tx2"/>
                </a:solidFill>
              </a:rPr>
              <a:t>Unlock once</a:t>
            </a:r>
            <a:endParaRPr lang="en-US" sz="1350" dirty="0"/>
          </a:p>
          <a:p>
            <a:pPr algn="ctr" indent="0" marL="0">
              <a:buNone/>
            </a:pPr>
            <a:r>
              <a:rPr lang="en-US" sz="1150" dirty="0">
                <a:solidFill>
                  <a:schemeClr val="tx1"/>
                </a:solidFill>
              </a:rPr>
              <a:t>guard refuses a second unlock</a:t>
            </a:r>
            <a:endParaRPr lang="en-US" sz="1350" dirty="0"/>
          </a:p>
        </p:txBody>
      </p:sp>
      <p:sp>
        <p:nvSpPr>
          <p:cNvPr id="15" name="flow-arrow-3"/>
          <p:cNvSpPr/>
          <p:nvPr/>
        </p:nvSpPr>
        <p:spPr>
          <a:xfrm>
            <a:off x="9402227" y="1659636"/>
            <a:ext cx="219456" cy="201168"/>
          </a:xfrm>
          <a:prstGeom prst="rightArrow">
            <a:avLst/>
          </a:prstGeom>
          <a:solidFill>
            <a:srgbClr val="6B7280"/>
          </a:solidFill>
          <a:ln w="12700">
            <a:solidFill>
              <a:srgbClr val="6B7280"/>
            </a:solidFill>
            <a:prstDash val="solid"/>
          </a:ln>
        </p:spPr>
      </p:sp>
      <p:sp>
        <p:nvSpPr>
          <p:cNvPr id="16" name="flow-box-4"/>
          <p:cNvSpPr/>
          <p:nvPr/>
        </p:nvSpPr>
        <p:spPr>
          <a:xfrm>
            <a:off x="9658259" y="1325880"/>
            <a:ext cx="1984797" cy="868680"/>
          </a:xfrm>
          <a:prstGeom prst="roundRect">
            <a:avLst>
              <a:gd name="adj" fmla="val 7368"/>
            </a:avLst>
          </a:prstGeom>
          <a:solidFill>
            <a:srgbClr val="EEF2F7"/>
          </a:solidFill>
          <a:ln w="6350">
            <a:solidFill>
              <a:srgbClr val="EEF2F7"/>
            </a:solidFill>
            <a:prstDash val="solid"/>
          </a:ln>
        </p:spPr>
      </p:sp>
      <p:sp>
        <p:nvSpPr>
          <p:cNvPr id="17" name="flow-text-4"/>
          <p:cNvSpPr txBox="1"/>
          <p:nvPr/>
        </p:nvSpPr>
        <p:spPr>
          <a:xfrm>
            <a:off x="9731411" y="1325880"/>
            <a:ext cx="1838493" cy="868680"/>
          </a:xfrm>
          <a:prstGeom prst="rect">
            <a:avLst/>
          </a:prstGeom>
          <a:noFill/>
          <a:ln/>
        </p:spPr>
        <p:txBody>
          <a:bodyPr wrap="square" lIns="0" tIns="0" rIns="0" bIns="0" rtlCol="0" anchor="ctr"/>
          <a:lstStyle/>
          <a:p>
            <a:pPr algn="ctr" indent="0" marL="0">
              <a:buNone/>
            </a:pPr>
            <a:r>
              <a:rPr lang="en-US" sz="1350" b="1" dirty="0">
                <a:solidFill>
                  <a:schemeClr val="tx2"/>
                </a:solidFill>
              </a:rPr>
              <a:t>Evaluate</a:t>
            </a:r>
            <a:endParaRPr lang="en-US" sz="1350" dirty="0"/>
          </a:p>
          <a:p>
            <a:pPr algn="ctr" indent="0" marL="0">
              <a:buNone/>
            </a:pPr>
            <a:r>
              <a:rPr lang="en-US" sz="1150" dirty="0">
                <a:solidFill>
                  <a:schemeClr val="tx1"/>
                </a:solidFill>
              </a:rPr>
              <a:t>16 unseen models · reads logged</a:t>
            </a:r>
            <a:endParaRPr lang="en-US" sz="1350" dirty="0"/>
          </a:p>
        </p:txBody>
      </p:sp>
      <p:pic>
        <p:nvPicPr>
          <p:cNvPr id="18" name="fig8_final_heldout.png" descr="/Users/mayankpokhriyal/Workspaces/q-trace/deliverables/figures/fig8_final_heldout.png">    </p:cNvPr>
          <p:cNvPicPr>
            <a:picLocks noChangeAspect="1"/>
          </p:cNvPicPr>
          <p:nvPr/>
        </p:nvPicPr>
        <p:blipFill>
          <a:blip r:embed="rId1"/>
          <a:stretch>
            <a:fillRect/>
          </a:stretch>
        </p:blipFill>
        <p:spPr>
          <a:xfrm>
            <a:off x="492931" y="2377440"/>
            <a:ext cx="7243737" cy="3154680"/>
          </a:xfrm>
          <a:prstGeom prst="rect">
            <a:avLst/>
          </a:prstGeom>
        </p:spPr>
      </p:pic>
      <p:sp>
        <p:nvSpPr>
          <p:cNvPr id="19" name="stat-value"/>
          <p:cNvSpPr txBox="1"/>
          <p:nvPr/>
        </p:nvSpPr>
        <p:spPr>
          <a:xfrm>
            <a:off x="8092440" y="2377440"/>
            <a:ext cx="3566160" cy="527538"/>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2.0%</a:t>
            </a:r>
            <a:endParaRPr lang="en-US" sz="3000" dirty="0"/>
          </a:p>
        </p:txBody>
      </p:sp>
      <p:sp>
        <p:nvSpPr>
          <p:cNvPr id="20" name="stat-label"/>
          <p:cNvSpPr txBox="1"/>
          <p:nvPr/>
        </p:nvSpPr>
        <p:spPr>
          <a:xfrm>
            <a:off x="8092440" y="2941554"/>
            <a:ext cx="3566160" cy="457200"/>
          </a:xfrm>
          <a:prstGeom prst="rect">
            <a:avLst/>
          </a:prstGeom>
          <a:noFill/>
          <a:ln/>
        </p:spPr>
        <p:txBody>
          <a:bodyPr wrap="square" lIns="0" tIns="0" rIns="0" bIns="0" rtlCol="0" anchor="t"/>
          <a:lstStyle/>
          <a:p>
            <a:pPr indent="0" marL="0">
              <a:buNone/>
            </a:pPr>
            <a:r>
              <a:rPr lang="en-US" sz="1250" dirty="0">
                <a:solidFill>
                  <a:schemeClr val="tx1"/>
                </a:solidFill>
              </a:rPr>
              <a:t>material errors, 95% CI 1.4–2.6% (4 held-out structures; likely too narrow)</a:t>
            </a:r>
            <a:endParaRPr lang="en-US" sz="1250" dirty="0"/>
          </a:p>
        </p:txBody>
      </p:sp>
      <p:sp>
        <p:nvSpPr>
          <p:cNvPr id="21" name="stat-value"/>
          <p:cNvSpPr txBox="1"/>
          <p:nvPr/>
        </p:nvSpPr>
        <p:spPr>
          <a:xfrm>
            <a:off x="8092440" y="3429000"/>
            <a:ext cx="3566160" cy="457200"/>
          </a:xfrm>
          <a:prstGeom prst="rect">
            <a:avLst/>
          </a:prstGeom>
          <a:noFill/>
          <a:ln/>
        </p:spPr>
        <p:txBody>
          <a:bodyPr wrap="square" lIns="0" tIns="0" rIns="0" bIns="0" rtlCol="0" anchor="t"/>
          <a:lstStyle/>
          <a:p>
            <a:pPr indent="0" marL="0">
              <a:buNone/>
            </a:pPr>
            <a:r>
              <a:rPr lang="en-US" sz="2600" b="1" dirty="0">
                <a:solidFill>
                  <a:schemeClr val="accent6"/>
                </a:solidFill>
                <a:latin typeface="Cambria" pitchFamily="34" charset="0"/>
                <a:ea typeface="Cambria" pitchFamily="34" charset="-122"/>
                <a:cs typeface="Cambria" pitchFamily="34" charset="-120"/>
              </a:rPr>
              <a:t>−0.03%  ·  +0.6%</a:t>
            </a:r>
            <a:endParaRPr lang="en-US" sz="2600" dirty="0"/>
          </a:p>
        </p:txBody>
      </p:sp>
      <p:sp>
        <p:nvSpPr>
          <p:cNvPr id="22" name="stat-label"/>
          <p:cNvSpPr txBox="1"/>
          <p:nvPr/>
        </p:nvSpPr>
        <p:spPr>
          <a:xfrm>
            <a:off x="8092440" y="3922776"/>
            <a:ext cx="3566160" cy="411480"/>
          </a:xfrm>
          <a:prstGeom prst="rect">
            <a:avLst/>
          </a:prstGeom>
          <a:noFill/>
          <a:ln/>
        </p:spPr>
        <p:txBody>
          <a:bodyPr wrap="square" lIns="0" tIns="0" rIns="0" bIns="0" rtlCol="0" anchor="t"/>
          <a:lstStyle/>
          <a:p>
            <a:pPr indent="0" marL="0">
              <a:buNone/>
            </a:pPr>
            <a:r>
              <a:rPr lang="en-US" sz="1250" dirty="0">
                <a:solidFill>
                  <a:schemeClr val="tx1"/>
                </a:solidFill>
              </a:rPr>
              <a:t>Brier regret vs Oracle · shots vs Oracle</a:t>
            </a:r>
            <a:endParaRPr lang="en-US" sz="1250" dirty="0"/>
          </a:p>
        </p:txBody>
      </p:sp>
      <p:sp>
        <p:nvSpPr>
          <p:cNvPr id="23" name="stat-value"/>
          <p:cNvSpPr txBox="1"/>
          <p:nvPr/>
        </p:nvSpPr>
        <p:spPr>
          <a:xfrm>
            <a:off x="8092440" y="4389120"/>
            <a:ext cx="3566160" cy="527538"/>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8.8%</a:t>
            </a:r>
            <a:endParaRPr lang="en-US" sz="3000" dirty="0"/>
          </a:p>
        </p:txBody>
      </p:sp>
      <p:sp>
        <p:nvSpPr>
          <p:cNvPr id="24" name="stat-label"/>
          <p:cNvSpPr txBox="1"/>
          <p:nvPr/>
        </p:nvSpPr>
        <p:spPr>
          <a:xfrm>
            <a:off x="8092440" y="4953234"/>
            <a:ext cx="3566160" cy="457200"/>
          </a:xfrm>
          <a:prstGeom prst="rect">
            <a:avLst/>
          </a:prstGeom>
          <a:noFill/>
          <a:ln/>
        </p:spPr>
        <p:txBody>
          <a:bodyPr wrap="square" lIns="0" tIns="0" rIns="0" bIns="0" rtlCol="0" anchor="t"/>
          <a:lstStyle/>
          <a:p>
            <a:pPr indent="0" marL="0">
              <a:buNone/>
            </a:pPr>
            <a:r>
              <a:rPr lang="en-US" sz="1250" dirty="0">
                <a:solidFill>
                  <a:schemeClr val="tx1"/>
                </a:solidFill>
              </a:rPr>
              <a:t>material errors, categorical test (bound: 10%)</a:t>
            </a:r>
            <a:endParaRPr lang="en-US" sz="1250" dirty="0"/>
          </a:p>
        </p:txBody>
      </p:sp>
      <p:sp>
        <p:nvSpPr>
          <p:cNvPr id="25" name="chip-bg"/>
          <p:cNvSpPr/>
          <p:nvPr/>
        </p:nvSpPr>
        <p:spPr>
          <a:xfrm>
            <a:off x="548640" y="5669280"/>
            <a:ext cx="1463040" cy="329184"/>
          </a:xfrm>
          <a:prstGeom prst="roundRect">
            <a:avLst>
              <a:gd name="adj" fmla="val 44444"/>
            </a:avLst>
          </a:prstGeom>
          <a:solidFill>
            <a:srgbClr val="0F8B8D"/>
          </a:solidFill>
          <a:ln w="12700">
            <a:solidFill>
              <a:srgbClr val="0F8B8D"/>
            </a:solidFill>
            <a:prstDash val="solid"/>
          </a:ln>
        </p:spPr>
      </p:sp>
      <p:sp>
        <p:nvSpPr>
          <p:cNvPr id="26" name="chip"/>
          <p:cNvSpPr txBox="1"/>
          <p:nvPr/>
        </p:nvSpPr>
        <p:spPr>
          <a:xfrm>
            <a:off x="548640" y="5669280"/>
            <a:ext cx="1463040" cy="329184"/>
          </a:xfrm>
          <a:prstGeom prst="rect">
            <a:avLst/>
          </a:prstGeom>
          <a:noFill/>
          <a:ln/>
        </p:spPr>
        <p:txBody>
          <a:bodyPr wrap="square" lIns="0" tIns="0" rIns="0" bIns="0" rtlCol="0" anchor="ctr"/>
          <a:lstStyle/>
          <a:p>
            <a:pPr algn="ctr" indent="0" marL="0">
              <a:buNone/>
            </a:pPr>
            <a:r>
              <a:rPr lang="en-US" sz="1100" b="1" dirty="0">
                <a:solidFill>
                  <a:srgbClr val="FFFFFF"/>
                </a:solidFill>
              </a:rPr>
              <a:t>H1 supported</a:t>
            </a:r>
            <a:endParaRPr lang="en-US" sz="1100" dirty="0"/>
          </a:p>
        </p:txBody>
      </p:sp>
      <p:sp>
        <p:nvSpPr>
          <p:cNvPr id="27" name="chip-bg"/>
          <p:cNvSpPr/>
          <p:nvPr/>
        </p:nvSpPr>
        <p:spPr>
          <a:xfrm>
            <a:off x="2148840" y="5669280"/>
            <a:ext cx="1463040" cy="329184"/>
          </a:xfrm>
          <a:prstGeom prst="roundRect">
            <a:avLst>
              <a:gd name="adj" fmla="val 44444"/>
            </a:avLst>
          </a:prstGeom>
          <a:solidFill>
            <a:srgbClr val="0F8B8D"/>
          </a:solidFill>
          <a:ln w="12700">
            <a:solidFill>
              <a:srgbClr val="0F8B8D"/>
            </a:solidFill>
            <a:prstDash val="solid"/>
          </a:ln>
        </p:spPr>
      </p:sp>
      <p:sp>
        <p:nvSpPr>
          <p:cNvPr id="28" name="chip"/>
          <p:cNvSpPr txBox="1"/>
          <p:nvPr/>
        </p:nvSpPr>
        <p:spPr>
          <a:xfrm>
            <a:off x="2148840" y="5669280"/>
            <a:ext cx="1463040" cy="329184"/>
          </a:xfrm>
          <a:prstGeom prst="rect">
            <a:avLst/>
          </a:prstGeom>
          <a:noFill/>
          <a:ln/>
        </p:spPr>
        <p:txBody>
          <a:bodyPr wrap="square" lIns="0" tIns="0" rIns="0" bIns="0" rtlCol="0" anchor="ctr"/>
          <a:lstStyle/>
          <a:p>
            <a:pPr algn="ctr" indent="0" marL="0">
              <a:buNone/>
            </a:pPr>
            <a:r>
              <a:rPr lang="en-US" sz="1100" b="1" dirty="0">
                <a:solidFill>
                  <a:srgbClr val="FFFFFF"/>
                </a:solidFill>
              </a:rPr>
              <a:t>H2 supported</a:t>
            </a:r>
            <a:endParaRPr lang="en-US" sz="1100" dirty="0"/>
          </a:p>
        </p:txBody>
      </p:sp>
      <p:sp>
        <p:nvSpPr>
          <p:cNvPr id="29" name="chip-bg"/>
          <p:cNvSpPr/>
          <p:nvPr/>
        </p:nvSpPr>
        <p:spPr>
          <a:xfrm>
            <a:off x="3749040" y="5669280"/>
            <a:ext cx="1463040" cy="329184"/>
          </a:xfrm>
          <a:prstGeom prst="roundRect">
            <a:avLst>
              <a:gd name="adj" fmla="val 44444"/>
            </a:avLst>
          </a:prstGeom>
          <a:solidFill>
            <a:srgbClr val="0F8B8D"/>
          </a:solidFill>
          <a:ln w="12700">
            <a:solidFill>
              <a:srgbClr val="0F8B8D"/>
            </a:solidFill>
            <a:prstDash val="solid"/>
          </a:ln>
        </p:spPr>
      </p:sp>
      <p:sp>
        <p:nvSpPr>
          <p:cNvPr id="30" name="chip"/>
          <p:cNvSpPr txBox="1"/>
          <p:nvPr/>
        </p:nvSpPr>
        <p:spPr>
          <a:xfrm>
            <a:off x="3749040" y="5669280"/>
            <a:ext cx="1463040" cy="329184"/>
          </a:xfrm>
          <a:prstGeom prst="rect">
            <a:avLst/>
          </a:prstGeom>
          <a:noFill/>
          <a:ln/>
        </p:spPr>
        <p:txBody>
          <a:bodyPr wrap="square" lIns="0" tIns="0" rIns="0" bIns="0" rtlCol="0" anchor="ctr"/>
          <a:lstStyle/>
          <a:p>
            <a:pPr algn="ctr" indent="0" marL="0">
              <a:buNone/>
            </a:pPr>
            <a:r>
              <a:rPr lang="en-US" sz="1100" b="1" dirty="0">
                <a:solidFill>
                  <a:srgbClr val="FFFFFF"/>
                </a:solidFill>
              </a:rPr>
              <a:t>H3 supported</a:t>
            </a:r>
            <a:endParaRPr lang="en-US" sz="1100" dirty="0"/>
          </a:p>
        </p:txBody>
      </p:sp>
      <p:sp>
        <p:nvSpPr>
          <p:cNvPr id="31" name="chip-bg"/>
          <p:cNvSpPr/>
          <p:nvPr/>
        </p:nvSpPr>
        <p:spPr>
          <a:xfrm>
            <a:off x="5349240" y="5669280"/>
            <a:ext cx="1463040" cy="329184"/>
          </a:xfrm>
          <a:prstGeom prst="roundRect">
            <a:avLst>
              <a:gd name="adj" fmla="val 44444"/>
            </a:avLst>
          </a:prstGeom>
          <a:solidFill>
            <a:srgbClr val="0F8B8D"/>
          </a:solidFill>
          <a:ln w="12700">
            <a:solidFill>
              <a:srgbClr val="0F8B8D"/>
            </a:solidFill>
            <a:prstDash val="solid"/>
          </a:ln>
        </p:spPr>
      </p:sp>
      <p:sp>
        <p:nvSpPr>
          <p:cNvPr id="32" name="chip"/>
          <p:cNvSpPr txBox="1"/>
          <p:nvPr/>
        </p:nvSpPr>
        <p:spPr>
          <a:xfrm>
            <a:off x="5349240" y="5669280"/>
            <a:ext cx="1463040" cy="329184"/>
          </a:xfrm>
          <a:prstGeom prst="rect">
            <a:avLst/>
          </a:prstGeom>
          <a:noFill/>
          <a:ln/>
        </p:spPr>
        <p:txBody>
          <a:bodyPr wrap="square" lIns="0" tIns="0" rIns="0" bIns="0" rtlCol="0" anchor="ctr"/>
          <a:lstStyle/>
          <a:p>
            <a:pPr algn="ctr" indent="0" marL="0">
              <a:buNone/>
            </a:pPr>
            <a:r>
              <a:rPr lang="en-US" sz="1100" b="1" dirty="0">
                <a:solidFill>
                  <a:srgbClr val="FFFFFF"/>
                </a:solidFill>
              </a:rPr>
              <a:t>H4 supported</a:t>
            </a:r>
            <a:endParaRPr lang="en-US" sz="1100" dirty="0"/>
          </a:p>
        </p:txBody>
      </p:sp>
      <p:sp>
        <p:nvSpPr>
          <p:cNvPr id="33" name="Text 30"/>
          <p:cNvSpPr txBox="1"/>
          <p:nvPr/>
        </p:nvSpPr>
        <p:spPr>
          <a:xfrm>
            <a:off x="7040880" y="5669280"/>
            <a:ext cx="4617720" cy="329184"/>
          </a:xfrm>
          <a:prstGeom prst="rect">
            <a:avLst/>
          </a:prstGeom>
          <a:noFill/>
          <a:ln/>
        </p:spPr>
        <p:txBody>
          <a:bodyPr wrap="square" lIns="0" tIns="0" rIns="0" bIns="0" rtlCol="0" anchor="ctr"/>
          <a:lstStyle/>
          <a:p>
            <a:pPr algn="r" indent="0" marL="0">
              <a:buNone/>
            </a:pPr>
            <a:r>
              <a:rPr lang="en-US" sz="1200" i="1" dirty="0">
                <a:solidFill>
                  <a:schemeClr val="accent5"/>
                </a:solidFill>
              </a:rPr>
              <a:t>16 unseen models from 4 never-used structures</a:t>
            </a:r>
            <a:endParaRPr lang="en-US" sz="1200" dirty="0"/>
          </a:p>
        </p:txBody>
      </p:sp>
      <p:sp>
        <p:nvSpPr>
          <p:cNvPr id="34" name="source"/>
          <p:cNvSpPr txBox="1"/>
          <p:nvPr/>
        </p:nvSpPr>
        <p:spPr>
          <a:xfrm>
            <a:off x="548640" y="6144768"/>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final_metadata.json, final_policies_5c_test.csv, final_policies_5b_test.csv</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FINAL TEST, OCTOBER 8, 2026  ·  PAIRED, TWO-STAGE CLUSTER BOOTSTRAP OVER 4 HELD-OUT STRUCTURES</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The rule versus learned comparators</a:t>
            </a:r>
            <a:endParaRPr lang="en-US" sz="2800" dirty="0"/>
          </a:p>
        </p:txBody>
      </p:sp>
      <p:pic>
        <p:nvPicPr>
          <p:cNvPr id="4" name="fig7_learned_vs_rule.png" descr="/Users/mayankpokhriyal/Workspaces/q-trace/deliverables/figures/fig7_learned_vs_rule.png">    </p:cNvPr>
          <p:cNvPicPr>
            <a:picLocks noChangeAspect="1"/>
          </p:cNvPicPr>
          <p:nvPr/>
        </p:nvPicPr>
        <p:blipFill>
          <a:blip r:embed="rId1"/>
          <a:stretch>
            <a:fillRect/>
          </a:stretch>
        </p:blipFill>
        <p:spPr>
          <a:xfrm>
            <a:off x="457200" y="1648139"/>
            <a:ext cx="6766560" cy="2830202"/>
          </a:xfrm>
          <a:prstGeom prst="rect">
            <a:avLst/>
          </a:prstGeom>
        </p:spPr>
      </p:pic>
      <p:sp>
        <p:nvSpPr>
          <p:cNvPr id="5" name="card-bg"/>
          <p:cNvSpPr/>
          <p:nvPr/>
        </p:nvSpPr>
        <p:spPr>
          <a:xfrm>
            <a:off x="7452360" y="1325880"/>
            <a:ext cx="4206240" cy="1417320"/>
          </a:xfrm>
          <a:prstGeom prst="roundRect">
            <a:avLst>
              <a:gd name="adj" fmla="val 4516"/>
            </a:avLst>
          </a:prstGeom>
          <a:solidFill>
            <a:srgbClr val="E3F2F1"/>
          </a:solidFill>
          <a:ln w="6350">
            <a:solidFill>
              <a:srgbClr val="E3F2F1"/>
            </a:solidFill>
            <a:prstDash val="solid"/>
          </a:ln>
        </p:spPr>
      </p:sp>
      <p:sp>
        <p:nvSpPr>
          <p:cNvPr id="6" name="card-text"/>
          <p:cNvSpPr txBox="1"/>
          <p:nvPr/>
        </p:nvSpPr>
        <p:spPr>
          <a:xfrm>
            <a:off x="7635240" y="1453896"/>
            <a:ext cx="3840480" cy="119786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Registered endpoint: material errors</a:t>
            </a:r>
            <a:endParaRPr lang="en-US" sz="1550" dirty="0"/>
          </a:p>
          <a:p>
            <a:pPr indent="0" marL="0">
              <a:spcAft>
                <a:spcPts val="400"/>
              </a:spcAft>
              <a:buNone/>
            </a:pPr>
            <a:r>
              <a:rPr lang="en-US" sz="1300" dirty="0">
                <a:solidFill>
                  <a:schemeClr val="tx1"/>
                </a:solidFill>
              </a:rPr>
              <a:t>Best learned (gradient boosting) 2.1% vs rule 2.0%; difference +0.0005 [−0.016, +0.027]. 4 structures: intervals likely too narrow.</a:t>
            </a:r>
            <a:endParaRPr lang="en-US" sz="1550" dirty="0"/>
          </a:p>
        </p:txBody>
      </p:sp>
      <p:sp>
        <p:nvSpPr>
          <p:cNvPr id="7" name="card-bg"/>
          <p:cNvSpPr/>
          <p:nvPr/>
        </p:nvSpPr>
        <p:spPr>
          <a:xfrm>
            <a:off x="7452360" y="2880360"/>
            <a:ext cx="4206240" cy="1417320"/>
          </a:xfrm>
          <a:prstGeom prst="roundRect">
            <a:avLst>
              <a:gd name="adj" fmla="val 4516"/>
            </a:avLst>
          </a:prstGeom>
          <a:solidFill>
            <a:srgbClr val="FBEFD9"/>
          </a:solidFill>
          <a:ln w="6350">
            <a:solidFill>
              <a:srgbClr val="FBEFD9"/>
            </a:solidFill>
            <a:prstDash val="solid"/>
          </a:ln>
        </p:spPr>
      </p:sp>
      <p:sp>
        <p:nvSpPr>
          <p:cNvPr id="8" name="card-text"/>
          <p:cNvSpPr txBox="1"/>
          <p:nvPr/>
        </p:nvSpPr>
        <p:spPr>
          <a:xfrm>
            <a:off x="7635240" y="3008376"/>
            <a:ext cx="3840480" cy="1197864"/>
          </a:xfrm>
          <a:prstGeom prst="rect">
            <a:avLst/>
          </a:prstGeom>
          <a:noFill/>
          <a:ln/>
        </p:spPr>
        <p:txBody>
          <a:bodyPr wrap="square" lIns="0" tIns="0" rIns="0" bIns="0" rtlCol="0" anchor="t"/>
          <a:lstStyle/>
          <a:p>
            <a:pPr indent="0" marL="0">
              <a:spcAft>
                <a:spcPts val="400"/>
              </a:spcAft>
              <a:buNone/>
            </a:pPr>
            <a:r>
              <a:rPr lang="en-US" sz="1550" b="1" dirty="0">
                <a:solidFill>
                  <a:srgbClr val="8A5A00"/>
                </a:solidFill>
              </a:rPr>
              <a:t>Any disagreement with the Oracle</a:t>
            </a:r>
            <a:endParaRPr lang="en-US" sz="1550" dirty="0"/>
          </a:p>
          <a:p>
            <a:pPr indent="0" marL="0">
              <a:spcAft>
                <a:spcPts val="400"/>
              </a:spcAft>
              <a:buNone/>
            </a:pPr>
            <a:r>
              <a:rPr lang="en-US" sz="1300" dirty="0">
                <a:solidFill>
                  <a:schemeClr val="tx1"/>
                </a:solidFill>
              </a:rPr>
              <a:t>Gradient boosting 6.5% vs rule 21.9%, mostly on the unseen mean-Z structure, where the rule's extra choices cost 2 calibration circuits: not material.</a:t>
            </a:r>
            <a:endParaRPr lang="en-US" sz="1550" dirty="0"/>
          </a:p>
        </p:txBody>
      </p:sp>
      <p:sp>
        <p:nvSpPr>
          <p:cNvPr id="9" name="card-bg"/>
          <p:cNvSpPr/>
          <p:nvPr/>
        </p:nvSpPr>
        <p:spPr>
          <a:xfrm>
            <a:off x="7452360" y="4434840"/>
            <a:ext cx="4206240" cy="1097280"/>
          </a:xfrm>
          <a:prstGeom prst="roundRect">
            <a:avLst>
              <a:gd name="adj" fmla="val 5833"/>
            </a:avLst>
          </a:prstGeom>
          <a:solidFill>
            <a:srgbClr val="EEF2F7"/>
          </a:solidFill>
          <a:ln w="6350">
            <a:solidFill>
              <a:srgbClr val="EEF2F7"/>
            </a:solidFill>
            <a:prstDash val="solid"/>
          </a:ln>
        </p:spPr>
      </p:sp>
      <p:sp>
        <p:nvSpPr>
          <p:cNvPr id="10" name="card-text"/>
          <p:cNvSpPr txBox="1"/>
          <p:nvPr/>
        </p:nvSpPr>
        <p:spPr>
          <a:xfrm>
            <a:off x="7635240" y="4562856"/>
            <a:ext cx="3840480" cy="87782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Stability</a:t>
            </a:r>
            <a:endParaRPr lang="en-US" sz="1550" dirty="0"/>
          </a:p>
          <a:p>
            <a:pPr indent="0" marL="0">
              <a:spcAft>
                <a:spcPts val="400"/>
              </a:spcAft>
              <a:buNone/>
            </a:pPr>
            <a:r>
              <a:rPr lang="en-US" sz="1300" dirty="0">
                <a:solidFill>
                  <a:schemeClr val="tx1"/>
                </a:solidFill>
              </a:rPr>
              <a:t>Gradient boosting: 10.7% material on validation vs 2.1% on test. Rule: 2.0% on both.</a:t>
            </a:r>
            <a:endParaRPr lang="en-US" sz="1550" dirty="0"/>
          </a:p>
        </p:txBody>
      </p:sp>
      <p:sp>
        <p:nvSpPr>
          <p:cNvPr id="11" name="takeaway-bg"/>
          <p:cNvSpPr/>
          <p:nvPr/>
        </p:nvSpPr>
        <p:spPr>
          <a:xfrm>
            <a:off x="548640" y="5577840"/>
            <a:ext cx="11094415" cy="512064"/>
          </a:xfrm>
          <a:prstGeom prst="roundRect">
            <a:avLst>
              <a:gd name="adj" fmla="val 12500"/>
            </a:avLst>
          </a:prstGeom>
          <a:solidFill>
            <a:srgbClr val="E3F2F1"/>
          </a:solidFill>
          <a:ln w="6350">
            <a:solidFill>
              <a:srgbClr val="E3F2F1"/>
            </a:solidFill>
            <a:prstDash val="solid"/>
          </a:ln>
        </p:spPr>
      </p:sp>
      <p:sp>
        <p:nvSpPr>
          <p:cNvPr id="12" name="takeaway-icon-circle"/>
          <p:cNvSpPr/>
          <p:nvPr/>
        </p:nvSpPr>
        <p:spPr>
          <a:xfrm>
            <a:off x="676656" y="5660136"/>
            <a:ext cx="347472" cy="347472"/>
          </a:xfrm>
          <a:prstGeom prst="ellipse">
            <a:avLst/>
          </a:prstGeom>
          <a:solidFill>
            <a:srgbClr val="0F8B8D"/>
          </a:solidFill>
          <a:ln w="12700">
            <a:solidFill>
              <a:srgbClr val="0F8B8D"/>
            </a:solidFill>
            <a:prstDash val="solid"/>
          </a:ln>
        </p:spPr>
      </p:sp>
      <p:pic>
        <p:nvPicPr>
          <p:cNvPr id="13" name="takeaway-icon" descr="preencoded.png">    </p:cNvPr>
          <p:cNvPicPr>
            <a:picLocks noChangeAspect="1"/>
          </p:cNvPicPr>
          <p:nvPr/>
        </p:nvPicPr>
        <p:blipFill>
          <a:blip r:embed="rId2"/>
          <a:stretch>
            <a:fillRect/>
          </a:stretch>
        </p:blipFill>
        <p:spPr>
          <a:xfrm>
            <a:off x="760049" y="5743529"/>
            <a:ext cx="180685" cy="180685"/>
          </a:xfrm>
          <a:prstGeom prst="rect">
            <a:avLst/>
          </a:prstGeom>
        </p:spPr>
      </p:pic>
      <p:sp>
        <p:nvSpPr>
          <p:cNvPr id="14" name="takeaway"/>
          <p:cNvSpPr txBox="1"/>
          <p:nvPr/>
        </p:nvSpPr>
        <p:spPr>
          <a:xfrm>
            <a:off x="1170432" y="5577840"/>
            <a:ext cx="10308031" cy="512064"/>
          </a:xfrm>
          <a:prstGeom prst="rect">
            <a:avLst/>
          </a:prstGeom>
          <a:noFill/>
          <a:ln/>
        </p:spPr>
        <p:txBody>
          <a:bodyPr wrap="square" lIns="0" tIns="0" rIns="0" bIns="0" rtlCol="0" anchor="ctr"/>
          <a:lstStyle/>
          <a:p>
            <a:pPr indent="0" marL="0">
              <a:buNone/>
            </a:pPr>
            <a:r>
              <a:rPr lang="en-US" sz="1550" b="1" dirty="0">
                <a:solidFill>
                  <a:schemeClr val="tx2"/>
                </a:solidFill>
              </a:rPr>
              <a:t>Overall, learning did not reduce material errors: fewer on the three parity structures, more on the unseen mean-Z one.</a:t>
            </a:r>
            <a:endParaRPr lang="en-US" sz="1550" dirty="0"/>
          </a:p>
        </p:txBody>
      </p:sp>
      <p:sp>
        <p:nvSpPr>
          <p:cNvPr id="15" name="source"/>
          <p:cNvSpPr txBox="1"/>
          <p:nvPr/>
        </p:nvSpPr>
        <p:spPr>
          <a:xfrm>
            <a:off x="548640" y="6163056"/>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final_paired_vs_rthr_5c_test.csv, final_paired_vs_rthr_5b_test.csv, final_policies_5c_test.csv, p7_policies_5c_val.csv</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FINAL TEST, OCTOBER 8, 2026  ·  COST ACCOUNTING AND STATISTICAL LIMITS</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Reliability, resources, and what the test cannot show</a:t>
            </a:r>
            <a:endParaRPr lang="en-US" sz="2800" dirty="0"/>
          </a:p>
        </p:txBody>
      </p:sp>
      <p:pic>
        <p:nvPicPr>
          <p:cNvPr id="4" name="cost_reliability_slide.png" descr="/Users/mayankpokhriyal/Workspaces/q-trace/deliverables/presentations/semester/_system/figures/cost_reliability_slide.png">    </p:cNvPr>
          <p:cNvPicPr>
            <a:picLocks noChangeAspect="1"/>
          </p:cNvPicPr>
          <p:nvPr/>
        </p:nvPicPr>
        <p:blipFill>
          <a:blip r:embed="rId1"/>
          <a:stretch>
            <a:fillRect/>
          </a:stretch>
        </p:blipFill>
        <p:spPr>
          <a:xfrm>
            <a:off x="1106727" y="1280160"/>
            <a:ext cx="5376066" cy="3429000"/>
          </a:xfrm>
          <a:prstGeom prst="rect">
            <a:avLst/>
          </a:prstGeom>
        </p:spPr>
      </p:pic>
      <p:sp>
        <p:nvSpPr>
          <p:cNvPr id="5" name="stat-value"/>
          <p:cNvSpPr txBox="1"/>
          <p:nvPr/>
        </p:nvSpPr>
        <p:spPr>
          <a:xfrm>
            <a:off x="548640" y="4800600"/>
            <a:ext cx="2148840" cy="457200"/>
          </a:xfrm>
          <a:prstGeom prst="rect">
            <a:avLst/>
          </a:prstGeom>
          <a:noFill/>
          <a:ln/>
        </p:spPr>
        <p:txBody>
          <a:bodyPr wrap="square" lIns="0" tIns="0" rIns="0" bIns="0" rtlCol="0" anchor="t"/>
          <a:lstStyle/>
          <a:p>
            <a:pPr indent="0" marL="0">
              <a:buNone/>
            </a:pPr>
            <a:r>
              <a:rPr lang="en-US" sz="2600" b="1" dirty="0">
                <a:solidFill>
                  <a:schemeClr val="accent2"/>
                </a:solidFill>
                <a:latin typeface="Cambria" pitchFamily="34" charset="0"/>
                <a:ea typeface="Cambria" pitchFamily="34" charset="-122"/>
                <a:cs typeface="Cambria" pitchFamily="34" charset="-120"/>
              </a:rPr>
              <a:t>+0.6%</a:t>
            </a:r>
            <a:endParaRPr lang="en-US" sz="2600" dirty="0"/>
          </a:p>
        </p:txBody>
      </p:sp>
      <p:sp>
        <p:nvSpPr>
          <p:cNvPr id="6" name="stat-label"/>
          <p:cNvSpPr txBox="1"/>
          <p:nvPr/>
        </p:nvSpPr>
        <p:spPr>
          <a:xfrm>
            <a:off x="548640" y="5294376"/>
            <a:ext cx="2148840" cy="365760"/>
          </a:xfrm>
          <a:prstGeom prst="rect">
            <a:avLst/>
          </a:prstGeom>
          <a:noFill/>
          <a:ln/>
        </p:spPr>
        <p:txBody>
          <a:bodyPr wrap="square" lIns="0" tIns="0" rIns="0" bIns="0" rtlCol="0" anchor="t"/>
          <a:lstStyle/>
          <a:p>
            <a:pPr indent="0" marL="0">
              <a:buNone/>
            </a:pPr>
            <a:r>
              <a:rPr lang="en-US" sz="1250" dirty="0">
                <a:solidFill>
                  <a:schemeClr val="tx1"/>
                </a:solidFill>
              </a:rPr>
              <a:t>shots vs Oracle</a:t>
            </a:r>
            <a:endParaRPr lang="en-US" sz="1250" dirty="0"/>
          </a:p>
        </p:txBody>
      </p:sp>
      <p:sp>
        <p:nvSpPr>
          <p:cNvPr id="7" name="stat-value"/>
          <p:cNvSpPr txBox="1"/>
          <p:nvPr/>
        </p:nvSpPr>
        <p:spPr>
          <a:xfrm>
            <a:off x="2743200" y="4800600"/>
            <a:ext cx="214884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−3.4%</a:t>
            </a:r>
            <a:endParaRPr lang="en-US" sz="2600" dirty="0"/>
          </a:p>
        </p:txBody>
      </p:sp>
      <p:sp>
        <p:nvSpPr>
          <p:cNvPr id="8" name="stat-label"/>
          <p:cNvSpPr txBox="1"/>
          <p:nvPr/>
        </p:nvSpPr>
        <p:spPr>
          <a:xfrm>
            <a:off x="2743200" y="5294376"/>
            <a:ext cx="2148840" cy="365760"/>
          </a:xfrm>
          <a:prstGeom prst="rect">
            <a:avLst/>
          </a:prstGeom>
          <a:noFill/>
          <a:ln/>
        </p:spPr>
        <p:txBody>
          <a:bodyPr wrap="square" lIns="0" tIns="0" rIns="0" bIns="0" rtlCol="0" anchor="t"/>
          <a:lstStyle/>
          <a:p>
            <a:pPr indent="0" marL="0">
              <a:buNone/>
            </a:pPr>
            <a:r>
              <a:rPr lang="en-US" sz="1250" dirty="0">
                <a:solidFill>
                  <a:schemeClr val="tx1"/>
                </a:solidFill>
              </a:rPr>
              <a:t>shots vs always-combined</a:t>
            </a:r>
            <a:endParaRPr lang="en-US" sz="1250" dirty="0"/>
          </a:p>
        </p:txBody>
      </p:sp>
      <p:sp>
        <p:nvSpPr>
          <p:cNvPr id="9" name="stat-value"/>
          <p:cNvSpPr txBox="1"/>
          <p:nvPr/>
        </p:nvSpPr>
        <p:spPr>
          <a:xfrm>
            <a:off x="4937760" y="4800600"/>
            <a:ext cx="2194560" cy="457200"/>
          </a:xfrm>
          <a:prstGeom prst="rect">
            <a:avLst/>
          </a:prstGeom>
          <a:noFill/>
          <a:ln/>
        </p:spPr>
        <p:txBody>
          <a:bodyPr wrap="square" lIns="0" tIns="0" rIns="0" bIns="0" rtlCol="0" anchor="t"/>
          <a:lstStyle/>
          <a:p>
            <a:pPr indent="0" marL="0">
              <a:buNone/>
            </a:pPr>
            <a:r>
              <a:rPr lang="en-US" sz="2600" b="1" dirty="0">
                <a:solidFill>
                  <a:schemeClr val="accent3"/>
                </a:solidFill>
                <a:latin typeface="Cambria" pitchFamily="34" charset="0"/>
                <a:ea typeface="Cambria" pitchFamily="34" charset="-122"/>
                <a:cs typeface="Cambria" pitchFamily="34" charset="-120"/>
              </a:rPr>
              <a:t>0.35×</a:t>
            </a:r>
            <a:endParaRPr lang="en-US" sz="2600" dirty="0"/>
          </a:p>
        </p:txBody>
      </p:sp>
      <p:sp>
        <p:nvSpPr>
          <p:cNvPr id="10" name="stat-label"/>
          <p:cNvSpPr txBox="1"/>
          <p:nvPr/>
        </p:nvSpPr>
        <p:spPr>
          <a:xfrm>
            <a:off x="4937760" y="5294376"/>
            <a:ext cx="2194560" cy="365760"/>
          </a:xfrm>
          <a:prstGeom prst="rect">
            <a:avLst/>
          </a:prstGeom>
          <a:noFill/>
          <a:ln/>
        </p:spPr>
        <p:txBody>
          <a:bodyPr wrap="square" lIns="0" tIns="0" rIns="0" bIns="0" rtlCol="0" anchor="t"/>
          <a:lstStyle/>
          <a:p>
            <a:pPr indent="0" marL="0">
              <a:buNone/>
            </a:pPr>
            <a:r>
              <a:rPr lang="en-US" sz="1250" dirty="0">
                <a:solidFill>
                  <a:schemeClr val="tx1"/>
                </a:solidFill>
              </a:rPr>
              <a:t>shots, never mitigate (96% material)</a:t>
            </a:r>
            <a:endParaRPr lang="en-US" sz="1250" dirty="0"/>
          </a:p>
        </p:txBody>
      </p:sp>
      <p:sp>
        <p:nvSpPr>
          <p:cNvPr id="11" name="limits-bg"/>
          <p:cNvSpPr/>
          <p:nvPr/>
        </p:nvSpPr>
        <p:spPr>
          <a:xfrm>
            <a:off x="7406640" y="1325880"/>
            <a:ext cx="4251960" cy="4251960"/>
          </a:xfrm>
          <a:prstGeom prst="roundRect">
            <a:avLst>
              <a:gd name="adj" fmla="val 1505"/>
            </a:avLst>
          </a:prstGeom>
          <a:solidFill>
            <a:srgbClr val="FBEDEB"/>
          </a:solidFill>
          <a:ln w="6350">
            <a:solidFill>
              <a:srgbClr val="FBEDEB"/>
            </a:solidFill>
            <a:prstDash val="solid"/>
          </a:ln>
        </p:spPr>
      </p:sp>
      <p:sp>
        <p:nvSpPr>
          <p:cNvPr id="12" name="Text 9"/>
          <p:cNvSpPr txBox="1"/>
          <p:nvPr/>
        </p:nvSpPr>
        <p:spPr>
          <a:xfrm>
            <a:off x="7635240" y="1463040"/>
            <a:ext cx="3840480" cy="365760"/>
          </a:xfrm>
          <a:prstGeom prst="rect">
            <a:avLst/>
          </a:prstGeom>
          <a:noFill/>
          <a:ln/>
        </p:spPr>
        <p:txBody>
          <a:bodyPr wrap="square" lIns="0" tIns="0" rIns="0" bIns="0" rtlCol="0" anchor="t"/>
          <a:lstStyle/>
          <a:p>
            <a:pPr indent="0" marL="0">
              <a:buNone/>
            </a:pPr>
            <a:r>
              <a:rPr lang="en-US" sz="1550" b="1" dirty="0">
                <a:solidFill>
                  <a:schemeClr val="accent3"/>
                </a:solidFill>
              </a:rPr>
              <a:t>What the test cannot show</a:t>
            </a:r>
            <a:endParaRPr lang="en-US" sz="1550" dirty="0"/>
          </a:p>
        </p:txBody>
      </p:sp>
      <p:sp>
        <p:nvSpPr>
          <p:cNvPr id="13" name="bullets"/>
          <p:cNvSpPr txBox="1"/>
          <p:nvPr/>
        </p:nvSpPr>
        <p:spPr>
          <a:xfrm>
            <a:off x="7635240" y="1874520"/>
            <a:ext cx="3886200" cy="3611880"/>
          </a:xfrm>
          <a:prstGeom prst="rect">
            <a:avLst/>
          </a:prstGeom>
          <a:noFill/>
          <a:ln/>
        </p:spPr>
        <p:txBody>
          <a:bodyPr wrap="square" lIns="254" tIns="254" rIns="254" bIns="254" rtlCol="0" anchor="t"/>
          <a:lstStyle/>
          <a:p>
            <a:pPr marL="203200" indent="-203200">
              <a:spcAft>
                <a:spcPts val="800"/>
              </a:spcAft>
              <a:buSzPct val="100000"/>
              <a:buChar char="•"/>
            </a:pPr>
            <a:r>
              <a:rPr lang="en-US" sz="1350" dirty="0">
                <a:solidFill>
                  <a:schemeClr val="tx1"/>
                </a:solidFill>
              </a:rPr>
              <a:t>Always-combined's 5.9% = the 1 gate-free setting in 17: the saving depends on the design</a:t>
            </a:r>
            <a:endParaRPr lang="en-US" sz="1350" dirty="0"/>
          </a:p>
          <a:p>
            <a:pPr marL="203200" indent="-203200">
              <a:spcAft>
                <a:spcPts val="800"/>
              </a:spcAft>
              <a:buSzPct val="100000"/>
              <a:buChar char="•"/>
            </a:pPr>
            <a:r>
              <a:rPr lang="en-US" sz="1350" dirty="0">
                <a:solidFill>
                  <a:schemeClr val="tx1"/>
                </a:solidFill>
              </a:rPr>
              <a:t>Only 4 held-out structures: intervals likely too narrow</a:t>
            </a:r>
            <a:endParaRPr lang="en-US" sz="1350" dirty="0"/>
          </a:p>
          <a:p>
            <a:pPr marL="203200" indent="-203200">
              <a:spcAft>
                <a:spcPts val="800"/>
              </a:spcAft>
              <a:buSzPct val="100000"/>
              <a:buChar char="•"/>
            </a:pPr>
            <a:r>
              <a:rPr lang="en-US" sz="1350" dirty="0">
                <a:solidFill>
                  <a:schemeClr val="tx1"/>
                </a:solidFill>
              </a:rPr>
              <a:t>H2 is non-superiority on material errors, not proof learning cannot help</a:t>
            </a:r>
            <a:endParaRPr lang="en-US" sz="1350" dirty="0"/>
          </a:p>
          <a:p>
            <a:pPr marL="203200" indent="-203200">
              <a:spcAft>
                <a:spcPts val="800"/>
              </a:spcAft>
              <a:buSzPct val="100000"/>
              <a:buChar char="•"/>
            </a:pPr>
            <a:r>
              <a:rPr lang="en-US" sz="1350" dirty="0">
                <a:solidFill>
                  <a:schemeClr val="tx1"/>
                </a:solidFill>
              </a:rPr>
              <a:t>Simulation only · 4 qubits · gate probe nearly blind to thermal noise</a:t>
            </a:r>
            <a:endParaRPr lang="en-US" sz="1350" dirty="0"/>
          </a:p>
        </p:txBody>
      </p:sp>
      <p:sp>
        <p:nvSpPr>
          <p:cNvPr id="14" name="source"/>
          <p:cNvSpPr txBox="1"/>
          <p:nvPr/>
        </p:nvSpPr>
        <p:spPr>
          <a:xfrm>
            <a:off x="548640" y="6144768"/>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final_policies_5c_test.csv, p5c_design.csv, p5c_probe_validity.csv</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MANUSCRIPT AND PACKAGE PREPARED OCTOBER 8, 2026  ·  NOTHING SUBMITTED</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Contribution and the path to publication</a:t>
            </a:r>
            <a:endParaRPr lang="en-US" sz="2800" dirty="0"/>
          </a:p>
        </p:txBody>
      </p:sp>
      <p:sp>
        <p:nvSpPr>
          <p:cNvPr id="4" name="card-bg"/>
          <p:cNvSpPr/>
          <p:nvPr/>
        </p:nvSpPr>
        <p:spPr>
          <a:xfrm>
            <a:off x="548640" y="1325880"/>
            <a:ext cx="5120640" cy="1234440"/>
          </a:xfrm>
          <a:prstGeom prst="roundRect">
            <a:avLst>
              <a:gd name="adj" fmla="val 5185"/>
            </a:avLst>
          </a:prstGeom>
          <a:solidFill>
            <a:srgbClr val="EEF2F7"/>
          </a:solidFill>
          <a:ln w="6350">
            <a:solidFill>
              <a:srgbClr val="EEF2F7"/>
            </a:solidFill>
            <a:prstDash val="solid"/>
          </a:ln>
        </p:spPr>
      </p:sp>
      <p:sp>
        <p:nvSpPr>
          <p:cNvPr id="5" name="card-text"/>
          <p:cNvSpPr txBox="1"/>
          <p:nvPr/>
        </p:nvSpPr>
        <p:spPr>
          <a:xfrm>
            <a:off x="731520" y="1453896"/>
            <a:ext cx="4754880" cy="101498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1. Characterization</a:t>
            </a:r>
            <a:endParaRPr lang="en-US" sz="1550" dirty="0"/>
          </a:p>
          <a:p>
            <a:pPr indent="0" marL="0">
              <a:spcAft>
                <a:spcPts val="400"/>
              </a:spcAft>
              <a:buNone/>
            </a:pPr>
            <a:r>
              <a:rPr lang="en-US" sz="1350" dirty="0">
                <a:solidFill>
                  <a:schemeClr val="tx1"/>
                </a:solidFill>
              </a:rPr>
              <a:t>Noise damaged calibration, not discrimination; mitigation repaired it; extra shots did not.</a:t>
            </a:r>
            <a:endParaRPr lang="en-US" sz="1550" dirty="0"/>
          </a:p>
        </p:txBody>
      </p:sp>
      <p:sp>
        <p:nvSpPr>
          <p:cNvPr id="6" name="card-bg"/>
          <p:cNvSpPr/>
          <p:nvPr/>
        </p:nvSpPr>
        <p:spPr>
          <a:xfrm>
            <a:off x="548640" y="2697480"/>
            <a:ext cx="5120640" cy="1234440"/>
          </a:xfrm>
          <a:prstGeom prst="roundRect">
            <a:avLst>
              <a:gd name="adj" fmla="val 5185"/>
            </a:avLst>
          </a:prstGeom>
          <a:solidFill>
            <a:srgbClr val="EEF2F7"/>
          </a:solidFill>
          <a:ln w="6350">
            <a:solidFill>
              <a:srgbClr val="EEF2F7"/>
            </a:solidFill>
            <a:prstDash val="solid"/>
          </a:ln>
        </p:spPr>
      </p:sp>
      <p:sp>
        <p:nvSpPr>
          <p:cNvPr id="7" name="card-text"/>
          <p:cNvSpPr txBox="1"/>
          <p:nvPr/>
        </p:nvSpPr>
        <p:spPr>
          <a:xfrm>
            <a:off x="731520" y="2825496"/>
            <a:ext cx="4754880" cy="101498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2. Benchmark</a:t>
            </a:r>
            <a:endParaRPr lang="en-US" sz="1550" dirty="0"/>
          </a:p>
          <a:p>
            <a:pPr indent="0" marL="0">
              <a:spcAft>
                <a:spcPts val="400"/>
              </a:spcAft>
              <a:buNone/>
            </a:pPr>
            <a:r>
              <a:rPr lang="en-US" sz="1350" dirty="0">
                <a:solidFill>
                  <a:schemeClr val="tx1"/>
                </a:solidFill>
              </a:rPr>
              <a:t>Leakage-safe counterfactual benchmark: 64 VQCs × noise × budget × 5 actions.</a:t>
            </a:r>
            <a:endParaRPr lang="en-US" sz="1550" dirty="0"/>
          </a:p>
        </p:txBody>
      </p:sp>
      <p:sp>
        <p:nvSpPr>
          <p:cNvPr id="8" name="card-bg"/>
          <p:cNvSpPr/>
          <p:nvPr/>
        </p:nvSpPr>
        <p:spPr>
          <a:xfrm>
            <a:off x="548640" y="4069080"/>
            <a:ext cx="5120640" cy="1234440"/>
          </a:xfrm>
          <a:prstGeom prst="roundRect">
            <a:avLst>
              <a:gd name="adj" fmla="val 5185"/>
            </a:avLst>
          </a:prstGeom>
          <a:solidFill>
            <a:srgbClr val="E3F2F1"/>
          </a:solidFill>
          <a:ln w="6350">
            <a:solidFill>
              <a:srgbClr val="E3F2F1"/>
            </a:solidFill>
            <a:prstDash val="solid"/>
          </a:ln>
        </p:spPr>
      </p:sp>
      <p:sp>
        <p:nvSpPr>
          <p:cNvPr id="9" name="card-text"/>
          <p:cNvSpPr txBox="1"/>
          <p:nvPr/>
        </p:nvSpPr>
        <p:spPr>
          <a:xfrm>
            <a:off x="731520" y="4197096"/>
            <a:ext cx="4754880" cy="101498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3. Pre-registered test</a:t>
            </a:r>
            <a:endParaRPr lang="en-US" sz="1550" dirty="0"/>
          </a:p>
          <a:p>
            <a:pPr indent="0" marL="0">
              <a:spcAft>
                <a:spcPts val="400"/>
              </a:spcAft>
              <a:buNone/>
            </a:pPr>
            <a:r>
              <a:rPr lang="en-US" sz="1350" dirty="0">
                <a:solidFill>
                  <a:schemeClr val="tx1"/>
                </a:solidFill>
              </a:rPr>
              <a:t>In this setting, a simple probe rule performed competitively with learned comparators.</a:t>
            </a:r>
            <a:endParaRPr lang="en-US" sz="1550" dirty="0"/>
          </a:p>
        </p:txBody>
      </p:sp>
      <p:sp>
        <p:nvSpPr>
          <p:cNvPr id="10" name="card-bg"/>
          <p:cNvSpPr/>
          <p:nvPr/>
        </p:nvSpPr>
        <p:spPr>
          <a:xfrm>
            <a:off x="5897880" y="1325880"/>
            <a:ext cx="5760720" cy="1874520"/>
          </a:xfrm>
          <a:prstGeom prst="roundRect">
            <a:avLst>
              <a:gd name="adj" fmla="val 3415"/>
            </a:avLst>
          </a:prstGeom>
          <a:solidFill>
            <a:srgbClr val="EEF2F7"/>
          </a:solidFill>
          <a:ln w="6350">
            <a:solidFill>
              <a:srgbClr val="EEF2F7"/>
            </a:solidFill>
            <a:prstDash val="solid"/>
          </a:ln>
        </p:spPr>
      </p:sp>
      <p:sp>
        <p:nvSpPr>
          <p:cNvPr id="11" name="card-text"/>
          <p:cNvSpPr txBox="1"/>
          <p:nvPr/>
        </p:nvSpPr>
        <p:spPr>
          <a:xfrm>
            <a:off x="6080760" y="1453896"/>
            <a:ext cx="5394960" cy="165506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Status</a:t>
            </a:r>
            <a:endParaRPr lang="en-US" sz="1550" dirty="0"/>
          </a:p>
          <a:p>
            <a:pPr marL="177800" indent="-177800">
              <a:spcAft>
                <a:spcPts val="400"/>
              </a:spcAft>
              <a:buSzPct val="100000"/>
              <a:buChar char="•"/>
            </a:pPr>
            <a:r>
              <a:rPr lang="en-US" sz="1300" dirty="0">
                <a:solidFill>
                  <a:schemeClr val="tx1"/>
                </a:solidFill>
              </a:rPr>
              <a:t>Manuscript (LaTeX, 18 pp) and capstone report: complete drafts for review</a:t>
            </a:r>
            <a:endParaRPr lang="en-US" sz="1550" dirty="0"/>
          </a:p>
          <a:p>
            <a:pPr marL="177800" indent="-177800">
              <a:spcAft>
                <a:spcPts val="400"/>
              </a:spcAft>
              <a:buSzPct val="100000"/>
              <a:buChar char="•"/>
            </a:pPr>
            <a:r>
              <a:rPr lang="en-US" sz="1300" dirty="0">
                <a:solidFill>
                  <a:schemeClr val="tx1"/>
                </a:solidFill>
              </a:rPr>
              <a:t>References checked against publisher records; team confirmation pending</a:t>
            </a:r>
            <a:endParaRPr lang="en-US" sz="1550" dirty="0"/>
          </a:p>
          <a:p>
            <a:pPr marL="177800" indent="-177800">
              <a:spcAft>
                <a:spcPts val="400"/>
              </a:spcAft>
              <a:buSzPct val="100000"/>
              <a:buChar char="•"/>
            </a:pPr>
            <a:r>
              <a:rPr lang="en-US" sz="1300" dirty="0">
                <a:solidFill>
                  <a:schemeClr val="tx1"/>
                </a:solidFill>
              </a:rPr>
              <a:t>Nothing submitted · no acceptance claimed</a:t>
            </a:r>
            <a:endParaRPr lang="en-US" sz="1550" dirty="0"/>
          </a:p>
        </p:txBody>
      </p:sp>
      <p:sp>
        <p:nvSpPr>
          <p:cNvPr id="12" name="Text 10"/>
          <p:cNvSpPr txBox="1"/>
          <p:nvPr/>
        </p:nvSpPr>
        <p:spPr>
          <a:xfrm>
            <a:off x="5897880" y="3383280"/>
            <a:ext cx="5760720" cy="320040"/>
          </a:xfrm>
          <a:prstGeom prst="rect">
            <a:avLst/>
          </a:prstGeom>
          <a:noFill/>
          <a:ln/>
        </p:spPr>
        <p:txBody>
          <a:bodyPr wrap="square" lIns="0" tIns="0" rIns="0" bIns="0" rtlCol="0" anchor="t"/>
          <a:lstStyle/>
          <a:p>
            <a:pPr indent="0" marL="0">
              <a:buNone/>
            </a:pPr>
            <a:r>
              <a:rPr lang="en-US" sz="1450" b="1" dirty="0">
                <a:solidFill>
                  <a:schemeClr val="tx2"/>
                </a:solidFill>
              </a:rPr>
              <a:t>Recommended route (authors decide)</a:t>
            </a:r>
            <a:endParaRPr lang="en-US" sz="1450" dirty="0"/>
          </a:p>
        </p:txBody>
      </p:sp>
      <p:sp>
        <p:nvSpPr>
          <p:cNvPr id="13" name="flow-box-0"/>
          <p:cNvSpPr/>
          <p:nvPr/>
        </p:nvSpPr>
        <p:spPr>
          <a:xfrm>
            <a:off x="5897880" y="3749040"/>
            <a:ext cx="1725168" cy="868680"/>
          </a:xfrm>
          <a:prstGeom prst="roundRect">
            <a:avLst>
              <a:gd name="adj" fmla="val 7368"/>
            </a:avLst>
          </a:prstGeom>
          <a:solidFill>
            <a:srgbClr val="EEF2F7"/>
          </a:solidFill>
          <a:ln w="6350">
            <a:solidFill>
              <a:srgbClr val="EEF2F7"/>
            </a:solidFill>
            <a:prstDash val="solid"/>
          </a:ln>
        </p:spPr>
      </p:sp>
      <p:sp>
        <p:nvSpPr>
          <p:cNvPr id="14" name="flow-text-0"/>
          <p:cNvSpPr txBox="1"/>
          <p:nvPr/>
        </p:nvSpPr>
        <p:spPr>
          <a:xfrm>
            <a:off x="5971032" y="3749040"/>
            <a:ext cx="1578864" cy="868680"/>
          </a:xfrm>
          <a:prstGeom prst="rect">
            <a:avLst/>
          </a:prstGeom>
          <a:noFill/>
          <a:ln/>
        </p:spPr>
        <p:txBody>
          <a:bodyPr wrap="square" lIns="0" tIns="0" rIns="0" bIns="0" rtlCol="0" anchor="ctr"/>
          <a:lstStyle/>
          <a:p>
            <a:pPr algn="ctr" indent="0" marL="0">
              <a:buNone/>
            </a:pPr>
            <a:r>
              <a:rPr lang="en-US" sz="1350" b="1" dirty="0">
                <a:solidFill>
                  <a:schemeClr val="tx2"/>
                </a:solidFill>
              </a:rPr>
              <a:t>arXiv</a:t>
            </a:r>
            <a:endParaRPr lang="en-US" sz="1350" dirty="0"/>
          </a:p>
          <a:p>
            <a:pPr algn="ctr" indent="0" marL="0">
              <a:buNone/>
            </a:pPr>
            <a:r>
              <a:rPr lang="en-US" sz="1150" dirty="0">
                <a:solidFill>
                  <a:schemeClr val="tx1"/>
                </a:solidFill>
              </a:rPr>
              <a:t>needs an endorser</a:t>
            </a:r>
            <a:endParaRPr lang="en-US" sz="1350" dirty="0"/>
          </a:p>
        </p:txBody>
      </p:sp>
      <p:sp>
        <p:nvSpPr>
          <p:cNvPr id="15" name="flow-arrow-0"/>
          <p:cNvSpPr/>
          <p:nvPr/>
        </p:nvSpPr>
        <p:spPr>
          <a:xfrm>
            <a:off x="7659624" y="4082796"/>
            <a:ext cx="219456" cy="201168"/>
          </a:xfrm>
          <a:prstGeom prst="rightArrow">
            <a:avLst/>
          </a:prstGeom>
          <a:solidFill>
            <a:srgbClr val="6B7280"/>
          </a:solidFill>
          <a:ln w="12700">
            <a:solidFill>
              <a:srgbClr val="6B7280"/>
            </a:solidFill>
            <a:prstDash val="solid"/>
          </a:ln>
        </p:spPr>
      </p:sp>
      <p:sp>
        <p:nvSpPr>
          <p:cNvPr id="16" name="flow-box-1"/>
          <p:cNvSpPr/>
          <p:nvPr/>
        </p:nvSpPr>
        <p:spPr>
          <a:xfrm>
            <a:off x="7915656" y="3749040"/>
            <a:ext cx="1725168" cy="868680"/>
          </a:xfrm>
          <a:prstGeom prst="roundRect">
            <a:avLst>
              <a:gd name="adj" fmla="val 7368"/>
            </a:avLst>
          </a:prstGeom>
          <a:solidFill>
            <a:srgbClr val="D7EEEE"/>
          </a:solidFill>
          <a:ln w="6350">
            <a:solidFill>
              <a:srgbClr val="D7EEEE"/>
            </a:solidFill>
            <a:prstDash val="solid"/>
          </a:ln>
        </p:spPr>
      </p:sp>
      <p:sp>
        <p:nvSpPr>
          <p:cNvPr id="17" name="flow-text-1"/>
          <p:cNvSpPr txBox="1"/>
          <p:nvPr/>
        </p:nvSpPr>
        <p:spPr>
          <a:xfrm>
            <a:off x="7988808" y="3749040"/>
            <a:ext cx="1578864" cy="868680"/>
          </a:xfrm>
          <a:prstGeom prst="rect">
            <a:avLst/>
          </a:prstGeom>
          <a:noFill/>
          <a:ln/>
        </p:spPr>
        <p:txBody>
          <a:bodyPr wrap="square" lIns="0" tIns="0" rIns="0" bIns="0" rtlCol="0" anchor="ctr"/>
          <a:lstStyle/>
          <a:p>
            <a:pPr algn="ctr" indent="0" marL="0">
              <a:buNone/>
            </a:pPr>
            <a:r>
              <a:rPr lang="en-US" sz="1350" b="1" dirty="0">
                <a:solidFill>
                  <a:schemeClr val="tx2"/>
                </a:solidFill>
              </a:rPr>
              <a:t>TMLR</a:t>
            </a:r>
            <a:endParaRPr lang="en-US" sz="1350" dirty="0"/>
          </a:p>
          <a:p>
            <a:pPr algn="ctr" indent="0" marL="0">
              <a:buNone/>
            </a:pPr>
            <a:r>
              <a:rPr lang="en-US" sz="1150" dirty="0">
                <a:solidFill>
                  <a:schemeClr val="tx1"/>
                </a:solidFill>
              </a:rPr>
              <a:t>claims vs evidence · no fees</a:t>
            </a:r>
            <a:endParaRPr lang="en-US" sz="1350" dirty="0"/>
          </a:p>
        </p:txBody>
      </p:sp>
      <p:sp>
        <p:nvSpPr>
          <p:cNvPr id="18" name="flow-arrow-1"/>
          <p:cNvSpPr/>
          <p:nvPr/>
        </p:nvSpPr>
        <p:spPr>
          <a:xfrm>
            <a:off x="9677400" y="4082796"/>
            <a:ext cx="219456" cy="201168"/>
          </a:xfrm>
          <a:prstGeom prst="rightArrow">
            <a:avLst/>
          </a:prstGeom>
          <a:solidFill>
            <a:srgbClr val="6B7280"/>
          </a:solidFill>
          <a:ln w="12700">
            <a:solidFill>
              <a:srgbClr val="6B7280"/>
            </a:solidFill>
            <a:prstDash val="solid"/>
          </a:ln>
        </p:spPr>
      </p:sp>
      <p:sp>
        <p:nvSpPr>
          <p:cNvPr id="19" name="flow-box-2"/>
          <p:cNvSpPr/>
          <p:nvPr/>
        </p:nvSpPr>
        <p:spPr>
          <a:xfrm>
            <a:off x="9933432" y="3749040"/>
            <a:ext cx="1725168" cy="868680"/>
          </a:xfrm>
          <a:prstGeom prst="roundRect">
            <a:avLst>
              <a:gd name="adj" fmla="val 7368"/>
            </a:avLst>
          </a:prstGeom>
          <a:solidFill>
            <a:srgbClr val="EEF2F7"/>
          </a:solidFill>
          <a:ln w="6350">
            <a:solidFill>
              <a:srgbClr val="EEF2F7"/>
            </a:solidFill>
            <a:prstDash val="solid"/>
          </a:ln>
        </p:spPr>
      </p:sp>
      <p:sp>
        <p:nvSpPr>
          <p:cNvPr id="20" name="flow-text-2"/>
          <p:cNvSpPr txBox="1"/>
          <p:nvPr/>
        </p:nvSpPr>
        <p:spPr>
          <a:xfrm>
            <a:off x="10006584" y="3749040"/>
            <a:ext cx="1578864" cy="868680"/>
          </a:xfrm>
          <a:prstGeom prst="rect">
            <a:avLst/>
          </a:prstGeom>
          <a:noFill/>
          <a:ln/>
        </p:spPr>
        <p:txBody>
          <a:bodyPr wrap="square" lIns="0" tIns="0" rIns="0" bIns="0" rtlCol="0" anchor="ctr"/>
          <a:lstStyle/>
          <a:p>
            <a:pPr algn="ctr" indent="0" marL="0">
              <a:buNone/>
            </a:pPr>
            <a:r>
              <a:rPr lang="en-US" sz="1350" b="1" dirty="0">
                <a:solidFill>
                  <a:schemeClr val="tx2"/>
                </a:solidFill>
              </a:rPr>
              <a:t>If needed</a:t>
            </a:r>
            <a:endParaRPr lang="en-US" sz="1350" dirty="0"/>
          </a:p>
          <a:p>
            <a:pPr algn="ctr" indent="0" marL="0">
              <a:buNone/>
            </a:pPr>
            <a:r>
              <a:rPr lang="en-US" sz="1150" dirty="0">
                <a:solidFill>
                  <a:schemeClr val="tx1"/>
                </a:solidFill>
              </a:rPr>
              <a:t>IEEE QCE27 or QMI</a:t>
            </a:r>
            <a:endParaRPr lang="en-US" sz="1350" dirty="0"/>
          </a:p>
        </p:txBody>
      </p:sp>
      <p:sp>
        <p:nvSpPr>
          <p:cNvPr id="21" name="Text 19"/>
          <p:cNvSpPr txBox="1"/>
          <p:nvPr/>
        </p:nvSpPr>
        <p:spPr>
          <a:xfrm>
            <a:off x="5897880" y="4754880"/>
            <a:ext cx="5760720" cy="548640"/>
          </a:xfrm>
          <a:prstGeom prst="rect">
            <a:avLst/>
          </a:prstGeom>
          <a:noFill/>
          <a:ln/>
        </p:spPr>
        <p:txBody>
          <a:bodyPr wrap="square" lIns="0" tIns="0" rIns="0" bIns="0" rtlCol="0" anchor="t"/>
          <a:lstStyle/>
          <a:p>
            <a:pPr indent="0" marL="0">
              <a:buNone/>
            </a:pPr>
            <a:r>
              <a:rPr lang="en-US" sz="1250" i="1" dirty="0">
                <a:solidFill>
                  <a:schemeClr val="accent5"/>
                </a:solidFill>
              </a:rPr>
              <a:t>Pending author decisions: references, author order, venue, arXiv endorser, AI-use disclosure.</a:t>
            </a:r>
            <a:endParaRPr lang="en-US" sz="1250" dirty="0"/>
          </a:p>
        </p:txBody>
      </p:sp>
      <p:sp>
        <p:nvSpPr>
          <p:cNvPr id="22" name="takeaway-bg"/>
          <p:cNvSpPr/>
          <p:nvPr/>
        </p:nvSpPr>
        <p:spPr>
          <a:xfrm>
            <a:off x="548640" y="5559552"/>
            <a:ext cx="11094415" cy="512064"/>
          </a:xfrm>
          <a:prstGeom prst="roundRect">
            <a:avLst>
              <a:gd name="adj" fmla="val 12500"/>
            </a:avLst>
          </a:prstGeom>
          <a:solidFill>
            <a:srgbClr val="E3F2F1"/>
          </a:solidFill>
          <a:ln w="6350">
            <a:solidFill>
              <a:srgbClr val="E3F2F1"/>
            </a:solidFill>
            <a:prstDash val="solid"/>
          </a:ln>
        </p:spPr>
      </p:sp>
      <p:sp>
        <p:nvSpPr>
          <p:cNvPr id="23" name="takeaway-icon-circle"/>
          <p:cNvSpPr/>
          <p:nvPr/>
        </p:nvSpPr>
        <p:spPr>
          <a:xfrm>
            <a:off x="676656" y="5641848"/>
            <a:ext cx="347472" cy="347472"/>
          </a:xfrm>
          <a:prstGeom prst="ellipse">
            <a:avLst/>
          </a:prstGeom>
          <a:solidFill>
            <a:srgbClr val="0F8B8D"/>
          </a:solidFill>
          <a:ln w="12700">
            <a:solidFill>
              <a:srgbClr val="0F8B8D"/>
            </a:solidFill>
            <a:prstDash val="solid"/>
          </a:ln>
        </p:spPr>
      </p:sp>
      <p:pic>
        <p:nvPicPr>
          <p:cNvPr id="24" name="takeaway-icon" descr="preencoded.png">    </p:cNvPr>
          <p:cNvPicPr>
            <a:picLocks noChangeAspect="1"/>
          </p:cNvPicPr>
          <p:nvPr/>
        </p:nvPicPr>
        <p:blipFill>
          <a:blip r:embed="rId1"/>
          <a:stretch>
            <a:fillRect/>
          </a:stretch>
        </p:blipFill>
        <p:spPr>
          <a:xfrm>
            <a:off x="760049" y="5725241"/>
            <a:ext cx="180685" cy="180685"/>
          </a:xfrm>
          <a:prstGeom prst="rect">
            <a:avLst/>
          </a:prstGeom>
        </p:spPr>
      </p:pic>
      <p:sp>
        <p:nvSpPr>
          <p:cNvPr id="25" name="takeaway"/>
          <p:cNvSpPr txBox="1"/>
          <p:nvPr/>
        </p:nvSpPr>
        <p:spPr>
          <a:xfrm>
            <a:off x="1170432" y="5559552"/>
            <a:ext cx="10308031" cy="512064"/>
          </a:xfrm>
          <a:prstGeom prst="rect">
            <a:avLst/>
          </a:prstGeom>
          <a:noFill/>
          <a:ln/>
        </p:spPr>
        <p:txBody>
          <a:bodyPr wrap="square" lIns="0" tIns="0" rIns="0" bIns="0" rtlCol="0" anchor="ctr"/>
          <a:lstStyle/>
          <a:p>
            <a:pPr indent="0" marL="0">
              <a:buNone/>
            </a:pPr>
            <a:r>
              <a:rPr lang="en-US" sz="1550" b="1" dirty="0">
                <a:solidFill>
                  <a:schemeClr val="tx2"/>
                </a:solidFill>
              </a:rPr>
              <a:t>In the studied setting, a simple observable probe rule was enough. No quantum advantage is claimed.</a:t>
            </a:r>
            <a:endParaRPr lang="en-US" sz="1550" dirty="0"/>
          </a:p>
        </p:txBody>
      </p:sp>
      <p:sp>
        <p:nvSpPr>
          <p:cNvPr id="26" name="source"/>
          <p:cNvSpPr txBox="1"/>
          <p:nvPr/>
        </p:nvSpPr>
        <p:spPr>
          <a:xfrm>
            <a:off x="548640" y="6163056"/>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deliverables/README.md, deliverables/submission/VENUES.md, deliverables/submission/SUBMISSION_PLAN.md</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Q-TRACE">
  <a:themeElements>
    <a:clrScheme name="Q-TRACE">
      <a:dk1>
        <a:srgbClr val="1A1F2B"/>
      </a:dk1>
      <a:lt1>
        <a:srgbClr val="FFFFFF"/>
      </a:lt1>
      <a:dk2>
        <a:srgbClr val="1B2A49"/>
      </a:dk2>
      <a:lt2>
        <a:srgbClr val="EEF2F7"/>
      </a:lt2>
      <a:accent1>
        <a:srgbClr val="0F8B8D"/>
      </a:accent1>
      <a:accent2>
        <a:srgbClr val="E8A33D"/>
      </a:accent2>
      <a:accent3>
        <a:srgbClr val="C0392B"/>
      </a:accent3>
      <a:accent4>
        <a:srgbClr val="56B4E9"/>
      </a:accent4>
      <a:accent5>
        <a:srgbClr val="6B7280"/>
      </a:accent5>
      <a:accent6>
        <a:srgbClr val="0072B2"/>
      </a:accent6>
      <a:hlink>
        <a:srgbClr val="0F8B8D"/>
      </a:hlink>
      <a:folHlink>
        <a:srgbClr val="1B2A49"/>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Katz School of Science and Health, Yeshiva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Q-TRACE — Final experimental findings (November 24, 2026)</dc:title>
  <dc:subject>Final experimental findings</dc:subject>
  <dc:creator>Mayank Kumar Pokhriyal; Tushar Poonia</dc:creator>
  <cp:lastModifiedBy>Mayank Kumar Pokhriyal; Tushar Poonia</cp:lastModifiedBy>
  <cp:revision>1</cp:revision>
  <dcterms:created xsi:type="dcterms:W3CDTF">2026-10-09T02:28:16Z</dcterms:created>
  <dcterms:modified xsi:type="dcterms:W3CDTF">2026-10-09T02:28:16Z</dcterms:modified>
</cp:coreProperties>
</file>