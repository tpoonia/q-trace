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d3b64f2-2d8a-e026-a80f-219aafb3c670}">
          <p14:sldIdLst>
            <p14:sldId id="256"/>
          </p14:sldIdLst>
        </p14:section>
        <p14:section name="Motivation" id="{780681c5-2ec7-bf05-8958-59bc77f917b9}">
          <p14:sldIdLst>
            <p14:sldId id="257"/>
            <p14:sldId id="258"/>
            <p14:sldId id="259"/>
          </p14:sldIdLst>
        </p14:section>
        <p14:section name="Methods" id="{65f6cab2-81cc-a975-55de-2b00560d62a0}">
          <p14:sldIdLst>
            <p14:sldId id="260"/>
            <p14:sldId id="261"/>
            <p14:sldId id="262"/>
            <p14:sldId id="263"/>
          </p14:sldIdLst>
        </p14:section>
        <p14:section name="Design" id="{609ea6fb-34c3-50e1-051c-e7adb6ab89b0}">
          <p14:sldIdLst>
            <p14:sldId id="264"/>
          </p14:sldIdLst>
        </p14:section>
        <p14:section name="Results" id="{44e31650-802c-7ce3-e88d-e15eacb2bd38}">
          <p14:sldIdLst>
            <p14:sldId id="265"/>
            <p14:sldId id="266"/>
            <p14:sldId id="267"/>
            <p14:sldId id="268"/>
            <p14:sldId id="269"/>
          </p14:sldIdLst>
        </p14:section>
        <p14:section name="Close" id="{dfcb697e-61d5-f2f7-c76c-f2c07e64b911}">
          <p14:sldIdLst>
            <p14:sldId id="270"/>
            <p14:sldId id="271"/>
          </p14:sldIdLst>
        </p14:section>
        <p14:section name="Backup" id="{81784641-84ae-d352-285b-153e4b7cab04}">
          <p14:sldIdLst>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[Mayank] Introduce the team and the one-sentence question: when is quantum error mitigation worth its cost, and does learning that decision beat a simple rule? Preview the answer: a simple probe rule was enough, confirmed on a sealed held-out test. (~40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[Mayank] Mitigation methods differ in cost by an order of magnitude. Readout mitigation is nearly free once calibrated; ZNE triples shots and multiplies two-qubit-gate exposure by nine; extra shots only reduce variance. In fraud scoring calibrated probabilities matter because alerts fire at a fixed threshold. So there is a real per-context decision.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[Mayank] Our question, and the hypotheses we registered before running anything. We wrote down the alternative, that a simple rule suffices, as a legitimate result. (~45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[Mayank] Adaptive mitigation selection is not new: bandit and orchestration approaches exist. What we add, to our knowledge, is extra shots and combined mitigation in one action space, a context restricted to cheap label-free probes, and a pre-registered held-out test of learning against simple rules. We do not claim to be first to adapt mitigation.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[Tushar] Five disjoint partitions, group-aware so near-duplicates cannot leak. Policies are fitted and evaluated on controller partitions only, and the controller test partition was sealed until the end. (~50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[Tushar] Our first VQC learned weak signal because its angle encoding saturated and aliased; a pre-registered repair fixed it. Classical models score higher on the same inputs (clearly so for logistic regression), so we make no quantum-advantage claim. We then trained 64 independent VQCs so that models, not transactions, are the unit of analysis, and split them by structure.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[Tushar] Noise reshapes calibration, not discrimination: the top panel shows AUPRC essentially flat, and the top-ranked frauds stay on top, while Brier rises up to 13-fold. Scores do reorder slightly among legitimate transactions. The bottom panel is the Phase 5C design: 17 gate settings crossed with four readout settings each, never beyond the validated 'high' anchors.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[Tushar] Five actions with very different costs. Mitigation never improved AUPRC beyond simply spending the same shots, but it restored calibration, and extra shots could not. Which mitigation helps depends on the noise type: readout noise needs readout mitigation, gate noise needs ZNE.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[Mayank] Every phase was pre-registered with its code and pushed before outcomes existed. Our controller-test data were generated into a sealed store and opened exactly once, by a guard that refuses unsafe states. Learned comparators were frozen by fingerprints of their decisions.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[Mayank] We compared fixed policies, three simple probe rules and four learned comparators whose hyperparameters were fixed in advance. Two pre-registered gates asked whether any material decision structure was left for learning. Both found only a small, statistically detectable but non-material residual, so both failed and no Q-TRACE controller was trained. Extra shots were never the best action.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[Tushar] The sealed test: 16 models from four unseen structures, opened once. A material error means a Brier score more than 20 percent above the best, or at least one extra shot-set per inference. The probe rule made material errors in 2 percent of decisions and matched the Oracle's Brier; the regret can be slightly negative because the Oracle is allowed to be up to 10 percent worse in exchange for being cheaper. Under categorical noise it stayed within the pre-registered 10 percent bound. All four hypotheses held, but with only four test structures the intervals are likely too narrow.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[Tushar] Paired differences against the rule, with cluster-bootstrap intervals. On the registered endpoint, material errors, no learned comparator is meaningfully better. Be precise here: gradient boosting does disagree with the Oracle less often, but the rule's extra disagreements cost two calibration circuits and are not material. The learned models were also unstable between validation and test, and generalized worse to a readout type seen only once in training. Under categorical noise the older category rule beats R_thr. (~55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[Mayank] Cost versus reliability. Never mitigating is cheap but almost always wrong; always using combined mitigation is reliable but overspends. The probe rule sits next to the Oracle: 0.6 percent more shots, 3.4 percent fewer than always-combined. Note that always-combined's 5.9 percent material errors are exactly the one gate-free setting in 17 of our design, so this saving would shrink on a device where gate noise is always present. (~50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[Mayank] Ablations on validation data only. The gate probe alone recovers the rule on material errors: the material question is whether to pay for ZNE. Probing pays only above roughly 645 to 685 transactions per batch under continuous noise, about 80 under categorical noise, and that break-even depends on how often batches are gate-free. Results are stable across budgets and tolerances. (~55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[Tushar] Our evidence is simulation-only, at four qubits, on one dataset, with two mitigation techniques. The advantage over always-combined depends on how often our design is gate-free, and with four test structures the intervals are likely optimistic. We make no quantum-advantage claim and no claim of universal generalization; hardware validation is the main gap. (~50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[Mayank] Our answer: spend resources on mitigation when probes detect noise that biases calibration, choose the technique by noise type with a simple rule, and, in this setting, learning that decision did not pay off. Next steps are hardware, richer mitigation and larger circuits. Thank you; questions welcome.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questions about the test-set disagreement rate and the mean-Z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questions about where ZNE versus combined mitigation wins in the continuous noise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B2A49"/>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chemeClr val="accent5"/>
                </a:solidFill>
              </a:rPr>
              <a:t>Q-TRACE  ·  Pokhriyal &amp; Poonia  ·  Katz School, Yeshiva University</a:t>
            </a:r>
            <a:endParaRPr lang="en-US" sz="900" dirty="0"/>
          </a:p>
        </p:txBody>
      </p:sp>
      <p:sp>
        <p:nvSpPr>
          <p:cNvPr id="3" name="Text 1"/>
          <p:cNvSpPr/>
          <p:nvPr>
            <p:ph idx="101" type="title" hasCustomPrompt="1"/>
          </p:nvPr>
        </p:nvSpPr>
        <p:spPr>
          <a:xfrm>
            <a:off x="548640" y="320040"/>
            <a:ext cx="11064240" cy="777240"/>
          </a:xfrm>
          <a:prstGeom prst="rect">
            <a:avLst/>
          </a:prstGeom>
          <a:noFill/>
          <a:ln/>
        </p:spPr>
        <p:txBody>
          <a:bodyPr wrap="square" rtlCol="0"/>
          <a:lstStyle>
            <a:lvl1pPr indent="0" marL="0">
              <a:buNone/>
              <a:defRPr lang="en-US" sz="3200" b="1" dirty="0">
                <a:solidFill>
                  <a:schemeClr val="tx2"/>
                </a:solidFill>
                <a:latin typeface="Cambria" pitchFamily="34" charset="0"/>
                <a:ea typeface="Cambria" pitchFamily="34" charset="-122"/>
                <a:cs typeface="Cambria" pitchFamily="34" charset="-120"/>
              </a:defRPr>
            </a:lvl1pPr>
          </a:lstStyle>
          <a:p>
            <a:pPr indent="0" marL="0">
              <a:buNone/>
            </a:pPr>
            <a:endParaRPr lang="en-US" sz="32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_DARK">
    <p:bg>
      <p:bgPr>
        <a:solidFill>
          <a:srgbClr val="1B2A49"/>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AFC2DC"/>
                </a:solidFill>
              </a:rPr>
              <a:t>Q-TRACE  ·  Pokhriyal &amp; Poonia  ·  Katz School, Yeshiva University</a:t>
            </a:r>
            <a:endParaRPr lang="en-US" sz="900" dirty="0"/>
          </a:p>
        </p:txBody>
      </p:sp>
      <p:sp>
        <p:nvSpPr>
          <p:cNvPr id="3" name="Text 1"/>
          <p:cNvSpPr/>
          <p:nvPr>
            <p:ph idx="101" type="title" hasCustomPrompt="1"/>
          </p:nvPr>
        </p:nvSpPr>
        <p:spPr>
          <a:xfrm>
            <a:off x="548640" y="320040"/>
            <a:ext cx="11064240" cy="777240"/>
          </a:xfrm>
          <a:prstGeom prst="rect">
            <a:avLst/>
          </a:prstGeom>
          <a:noFill/>
          <a:ln/>
        </p:spPr>
        <p:txBody>
          <a:bodyPr wrap="square" rtlCol="0"/>
          <a:lstStyle>
            <a:lvl1pPr indent="0" marL="0">
              <a:buNone/>
              <a:defRPr lang="en-US" sz="3200" b="1" dirty="0">
                <a:solidFill>
                  <a:schemeClr val="bg1"/>
                </a:solidFill>
                <a:latin typeface="Cambria" pitchFamily="34" charset="0"/>
                <a:ea typeface="Cambria" pitchFamily="34" charset="-122"/>
                <a:cs typeface="Cambria" pitchFamily="34" charset="-120"/>
              </a:defRPr>
            </a:lvl1pPr>
          </a:lstStyle>
          <a:p>
            <a:pPr indent="0" marL="0">
              <a:buNone/>
            </a:pPr>
            <a:endParaRPr lang="en-US" sz="32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900">
                <a:solidFill>
                  <a:srgbClr val="AFC2DC"/>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3.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4.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txBox="1"/>
          <p:nvPr/>
        </p:nvSpPr>
        <p:spPr>
          <a:xfrm>
            <a:off x="731520" y="1554480"/>
            <a:ext cx="10698480" cy="1463040"/>
          </a:xfrm>
          <a:prstGeom prst="rect">
            <a:avLst/>
          </a:prstGeom>
          <a:noFill/>
          <a:ln/>
        </p:spPr>
        <p:txBody>
          <a:bodyPr wrap="square" lIns="0" tIns="0" rIns="0" bIns="0" rtlCol="0" anchor="ctr"/>
          <a:lstStyle/>
          <a:p>
            <a:pPr indent="0" marL="0">
              <a:buNone/>
            </a:pPr>
            <a:r>
              <a:rPr lang="en-US" sz="4000" b="1" dirty="0">
                <a:solidFill>
                  <a:schemeClr val="bg1"/>
                </a:solidFill>
                <a:latin typeface="Cambria" pitchFamily="34" charset="0"/>
                <a:ea typeface="Cambria" pitchFamily="34" charset="-122"/>
                <a:cs typeface="Cambria" pitchFamily="34" charset="-120"/>
              </a:rPr>
              <a:t>When is quantum error mitigation worth paying for?</a:t>
            </a:r>
            <a:endParaRPr lang="en-US" sz="4000" dirty="0"/>
          </a:p>
        </p:txBody>
      </p:sp>
      <p:sp>
        <p:nvSpPr>
          <p:cNvPr id="3" name="subtitle"/>
          <p:cNvSpPr txBox="1"/>
          <p:nvPr/>
        </p:nvSpPr>
        <p:spPr>
          <a:xfrm>
            <a:off x="731520" y="3063240"/>
            <a:ext cx="10058400" cy="822960"/>
          </a:xfrm>
          <a:prstGeom prst="rect">
            <a:avLst/>
          </a:prstGeom>
          <a:noFill/>
          <a:ln/>
        </p:spPr>
        <p:txBody>
          <a:bodyPr wrap="square" lIns="0" tIns="0" rIns="0" bIns="0" rtlCol="0" anchor="ctr"/>
          <a:lstStyle/>
          <a:p>
            <a:pPr indent="0" marL="0">
              <a:buNone/>
            </a:pPr>
            <a:r>
              <a:rPr lang="en-US" sz="2000" dirty="0">
                <a:solidFill>
                  <a:srgbClr val="CADCFC"/>
                </a:solidFill>
              </a:rPr>
              <a:t>A pre-registered study of selective error mitigation for noisy variational quantum fraud classifiers</a:t>
            </a:r>
            <a:endParaRPr lang="en-US" sz="2000" dirty="0"/>
          </a:p>
        </p:txBody>
      </p:sp>
      <p:sp>
        <p:nvSpPr>
          <p:cNvPr id="4" name="authors"/>
          <p:cNvSpPr txBox="1"/>
          <p:nvPr/>
        </p:nvSpPr>
        <p:spPr>
          <a:xfrm>
            <a:off x="731520" y="4663440"/>
            <a:ext cx="10698480" cy="1097280"/>
          </a:xfrm>
          <a:prstGeom prst="rect">
            <a:avLst/>
          </a:prstGeom>
          <a:noFill/>
          <a:ln/>
        </p:spPr>
        <p:txBody>
          <a:bodyPr wrap="square" lIns="0" tIns="0" rIns="0" bIns="0" rtlCol="0" anchor="ctr"/>
          <a:lstStyle/>
          <a:p>
            <a:pPr indent="0" marL="0">
              <a:buNone/>
            </a:pPr>
            <a:r>
              <a:rPr lang="en-US" sz="1500" b="1" dirty="0">
                <a:solidFill>
                  <a:srgbClr val="E6ECF5"/>
                </a:solidFill>
              </a:rPr>
              <a:t>Mayank Kumar Pokhriyal  ·  Tushar Poonia</a:t>
            </a:r>
            <a:endParaRPr lang="en-US" sz="1500" dirty="0"/>
          </a:p>
          <a:p>
            <a:pPr indent="0" marL="0">
              <a:buNone/>
            </a:pPr>
            <a:r>
              <a:rPr lang="en-US" sz="1500" dirty="0">
                <a:solidFill>
                  <a:srgbClr val="E6ECF5"/>
                </a:solidFill>
              </a:rPr>
              <a:t>M.S. in Artificial Intelligence capstone  ·  Katz School of Science and Health, Yeshiva University</a:t>
            </a:r>
            <a:endParaRPr lang="en-US" sz="1500" dirty="0"/>
          </a:p>
          <a:p>
            <a:pPr indent="0" marL="0">
              <a:buNone/>
            </a:pPr>
            <a:r>
              <a:rPr lang="en-US" sz="1500" dirty="0">
                <a:solidFill>
                  <a:srgbClr val="E6ECF5"/>
                </a:solidFill>
              </a:rPr>
              <a:t>Final capstone presentation  ·  Fall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A noisy quantum classifier faces a spending decision</a:t>
            </a:r>
            <a:endParaRPr lang="en-US" sz="3200" dirty="0"/>
          </a:p>
        </p:txBody>
      </p:sp>
      <p:sp>
        <p:nvSpPr>
          <p:cNvPr id="3" name="cost-card-0"/>
          <p:cNvSpPr/>
          <p:nvPr/>
        </p:nvSpPr>
        <p:spPr>
          <a:xfrm>
            <a:off x="548640" y="1371600"/>
            <a:ext cx="3520440" cy="1691640"/>
          </a:xfrm>
          <a:prstGeom prst="roundRect">
            <a:avLst>
              <a:gd name="adj" fmla="val 4324"/>
            </a:avLst>
          </a:prstGeom>
          <a:solidFill>
            <a:srgbClr val="EEF2F7"/>
          </a:solidFill>
          <a:ln w="12700">
            <a:solidFill>
              <a:srgbClr val="EEF2F7"/>
            </a:solidFill>
            <a:prstDash val="solid"/>
          </a:ln>
        </p:spPr>
      </p:sp>
      <p:sp>
        <p:nvSpPr>
          <p:cNvPr id="4" name="cost-icon-0-circle"/>
          <p:cNvSpPr/>
          <p:nvPr/>
        </p:nvSpPr>
        <p:spPr>
          <a:xfrm>
            <a:off x="822960" y="1600200"/>
            <a:ext cx="777240" cy="777240"/>
          </a:xfrm>
          <a:prstGeom prst="ellipse">
            <a:avLst/>
          </a:prstGeom>
          <a:solidFill>
            <a:srgbClr val="1B2A49"/>
          </a:solidFill>
          <a:ln w="12700">
            <a:solidFill>
              <a:srgbClr val="1B2A49"/>
            </a:solidFill>
            <a:prstDash val="solid"/>
          </a:ln>
        </p:spPr>
      </p:sp>
      <p:pic>
        <p:nvPicPr>
          <p:cNvPr id="5" name="cost-icon-0" descr="preencoded.png">    </p:cNvPr>
          <p:cNvPicPr>
            <a:picLocks noChangeAspect="1"/>
          </p:cNvPicPr>
          <p:nvPr/>
        </p:nvPicPr>
        <p:blipFill>
          <a:blip r:embed="rId1"/>
          <a:stretch>
            <a:fillRect/>
          </a:stretch>
        </p:blipFill>
        <p:spPr>
          <a:xfrm>
            <a:off x="1009498" y="1786738"/>
            <a:ext cx="404165" cy="404165"/>
          </a:xfrm>
          <a:prstGeom prst="rect">
            <a:avLst/>
          </a:prstGeom>
        </p:spPr>
      </p:pic>
      <p:sp>
        <p:nvSpPr>
          <p:cNvPr id="6" name="cost-head-0"/>
          <p:cNvSpPr txBox="1"/>
          <p:nvPr/>
        </p:nvSpPr>
        <p:spPr>
          <a:xfrm>
            <a:off x="1737360" y="1600200"/>
            <a:ext cx="2194560" cy="777240"/>
          </a:xfrm>
          <a:prstGeom prst="rect">
            <a:avLst/>
          </a:prstGeom>
          <a:noFill/>
          <a:ln/>
        </p:spPr>
        <p:txBody>
          <a:bodyPr wrap="square" lIns="0" tIns="0" rIns="0" bIns="0" rtlCol="0" anchor="ctr"/>
          <a:lstStyle/>
          <a:p>
            <a:pPr indent="0" marL="0">
              <a:buNone/>
            </a:pPr>
            <a:r>
              <a:rPr lang="en-US" sz="1700" b="1" dirty="0">
                <a:solidFill>
                  <a:schemeClr val="tx2"/>
                </a:solidFill>
              </a:rPr>
              <a:t>Readout mitigation</a:t>
            </a:r>
            <a:endParaRPr lang="en-US" sz="1700" dirty="0"/>
          </a:p>
        </p:txBody>
      </p:sp>
      <p:sp>
        <p:nvSpPr>
          <p:cNvPr id="7" name="cost-body-0"/>
          <p:cNvSpPr txBox="1"/>
          <p:nvPr/>
        </p:nvSpPr>
        <p:spPr>
          <a:xfrm>
            <a:off x="822960" y="2560320"/>
            <a:ext cx="3017520" cy="731520"/>
          </a:xfrm>
          <a:prstGeom prst="rect">
            <a:avLst/>
          </a:prstGeom>
          <a:noFill/>
          <a:ln/>
        </p:spPr>
        <p:txBody>
          <a:bodyPr wrap="square" lIns="0" tIns="0" rIns="0" bIns="0" rtlCol="0" anchor="t"/>
          <a:lstStyle/>
          <a:p>
            <a:pPr indent="0" marL="0">
              <a:buNone/>
            </a:pPr>
            <a:r>
              <a:rPr lang="en-US" sz="1500" dirty="0">
                <a:solidFill>
                  <a:schemeClr val="tx1"/>
                </a:solidFill>
              </a:rPr>
              <a:t>≈ 2 calibration circuits per batch</a:t>
            </a:r>
            <a:endParaRPr lang="en-US" sz="1500" dirty="0"/>
          </a:p>
        </p:txBody>
      </p:sp>
      <p:sp>
        <p:nvSpPr>
          <p:cNvPr id="8" name="cost-card-1"/>
          <p:cNvSpPr/>
          <p:nvPr/>
        </p:nvSpPr>
        <p:spPr>
          <a:xfrm>
            <a:off x="4343400" y="1371600"/>
            <a:ext cx="3520440" cy="1691640"/>
          </a:xfrm>
          <a:prstGeom prst="roundRect">
            <a:avLst>
              <a:gd name="adj" fmla="val 4324"/>
            </a:avLst>
          </a:prstGeom>
          <a:solidFill>
            <a:srgbClr val="EEF2F7"/>
          </a:solidFill>
          <a:ln w="12700">
            <a:solidFill>
              <a:srgbClr val="EEF2F7"/>
            </a:solidFill>
            <a:prstDash val="solid"/>
          </a:ln>
        </p:spPr>
      </p:sp>
      <p:sp>
        <p:nvSpPr>
          <p:cNvPr id="9" name="cost-icon-1-circle"/>
          <p:cNvSpPr/>
          <p:nvPr/>
        </p:nvSpPr>
        <p:spPr>
          <a:xfrm>
            <a:off x="4617720" y="1600200"/>
            <a:ext cx="777240" cy="777240"/>
          </a:xfrm>
          <a:prstGeom prst="ellipse">
            <a:avLst/>
          </a:prstGeom>
          <a:solidFill>
            <a:srgbClr val="1B2A49"/>
          </a:solidFill>
          <a:ln w="12700">
            <a:solidFill>
              <a:srgbClr val="1B2A49"/>
            </a:solidFill>
            <a:prstDash val="solid"/>
          </a:ln>
        </p:spPr>
      </p:sp>
      <p:pic>
        <p:nvPicPr>
          <p:cNvPr id="10" name="cost-icon-1" descr="preencoded.png">    </p:cNvPr>
          <p:cNvPicPr>
            <a:picLocks noChangeAspect="1"/>
          </p:cNvPicPr>
          <p:nvPr/>
        </p:nvPicPr>
        <p:blipFill>
          <a:blip r:embed="rId2"/>
          <a:stretch>
            <a:fillRect/>
          </a:stretch>
        </p:blipFill>
        <p:spPr>
          <a:xfrm>
            <a:off x="4804258" y="1786738"/>
            <a:ext cx="404165" cy="404165"/>
          </a:xfrm>
          <a:prstGeom prst="rect">
            <a:avLst/>
          </a:prstGeom>
        </p:spPr>
      </p:pic>
      <p:sp>
        <p:nvSpPr>
          <p:cNvPr id="11" name="cost-head-1"/>
          <p:cNvSpPr txBox="1"/>
          <p:nvPr/>
        </p:nvSpPr>
        <p:spPr>
          <a:xfrm>
            <a:off x="5532120" y="1600200"/>
            <a:ext cx="2194560" cy="777240"/>
          </a:xfrm>
          <a:prstGeom prst="rect">
            <a:avLst/>
          </a:prstGeom>
          <a:noFill/>
          <a:ln/>
        </p:spPr>
        <p:txBody>
          <a:bodyPr wrap="square" lIns="0" tIns="0" rIns="0" bIns="0" rtlCol="0" anchor="ctr"/>
          <a:lstStyle/>
          <a:p>
            <a:pPr indent="0" marL="0">
              <a:buNone/>
            </a:pPr>
            <a:r>
              <a:rPr lang="en-US" sz="1700" b="1" dirty="0">
                <a:solidFill>
                  <a:schemeClr val="tx2"/>
                </a:solidFill>
              </a:rPr>
              <a:t>Zero-noise extrapolation</a:t>
            </a:r>
            <a:endParaRPr lang="en-US" sz="1700" dirty="0"/>
          </a:p>
        </p:txBody>
      </p:sp>
      <p:sp>
        <p:nvSpPr>
          <p:cNvPr id="12" name="cost-body-1"/>
          <p:cNvSpPr txBox="1"/>
          <p:nvPr/>
        </p:nvSpPr>
        <p:spPr>
          <a:xfrm>
            <a:off x="4617720" y="2560320"/>
            <a:ext cx="3017520" cy="731520"/>
          </a:xfrm>
          <a:prstGeom prst="rect">
            <a:avLst/>
          </a:prstGeom>
          <a:noFill/>
          <a:ln/>
        </p:spPr>
        <p:txBody>
          <a:bodyPr wrap="square" lIns="0" tIns="0" rIns="0" bIns="0" rtlCol="0" anchor="t"/>
          <a:lstStyle/>
          <a:p>
            <a:pPr indent="0" marL="0">
              <a:buNone/>
            </a:pPr>
            <a:r>
              <a:rPr lang="en-US" sz="1500" dirty="0">
                <a:solidFill>
                  <a:schemeClr val="tx1"/>
                </a:solidFill>
              </a:rPr>
              <a:t>3× shots · 9× two-qubit-gate exposure</a:t>
            </a:r>
            <a:endParaRPr lang="en-US" sz="1500" dirty="0"/>
          </a:p>
        </p:txBody>
      </p:sp>
      <p:sp>
        <p:nvSpPr>
          <p:cNvPr id="13" name="cost-card-2"/>
          <p:cNvSpPr/>
          <p:nvPr/>
        </p:nvSpPr>
        <p:spPr>
          <a:xfrm>
            <a:off x="8138160" y="1371600"/>
            <a:ext cx="3520440" cy="1691640"/>
          </a:xfrm>
          <a:prstGeom prst="roundRect">
            <a:avLst>
              <a:gd name="adj" fmla="val 4324"/>
            </a:avLst>
          </a:prstGeom>
          <a:solidFill>
            <a:srgbClr val="EEF2F7"/>
          </a:solidFill>
          <a:ln w="12700">
            <a:solidFill>
              <a:srgbClr val="EEF2F7"/>
            </a:solidFill>
            <a:prstDash val="solid"/>
          </a:ln>
        </p:spPr>
      </p:sp>
      <p:sp>
        <p:nvSpPr>
          <p:cNvPr id="14" name="cost-icon-2-circle"/>
          <p:cNvSpPr/>
          <p:nvPr/>
        </p:nvSpPr>
        <p:spPr>
          <a:xfrm>
            <a:off x="8412480" y="1600200"/>
            <a:ext cx="777240" cy="777240"/>
          </a:xfrm>
          <a:prstGeom prst="ellipse">
            <a:avLst/>
          </a:prstGeom>
          <a:solidFill>
            <a:srgbClr val="1B2A49"/>
          </a:solidFill>
          <a:ln w="12700">
            <a:solidFill>
              <a:srgbClr val="1B2A49"/>
            </a:solidFill>
            <a:prstDash val="solid"/>
          </a:ln>
        </p:spPr>
      </p:sp>
      <p:pic>
        <p:nvPicPr>
          <p:cNvPr id="15" name="cost-icon-2" descr="preencoded.png">    </p:cNvPr>
          <p:cNvPicPr>
            <a:picLocks noChangeAspect="1"/>
          </p:cNvPicPr>
          <p:nvPr/>
        </p:nvPicPr>
        <p:blipFill>
          <a:blip r:embed="rId3"/>
          <a:stretch>
            <a:fillRect/>
          </a:stretch>
        </p:blipFill>
        <p:spPr>
          <a:xfrm>
            <a:off x="8599018" y="1786738"/>
            <a:ext cx="404165" cy="404165"/>
          </a:xfrm>
          <a:prstGeom prst="rect">
            <a:avLst/>
          </a:prstGeom>
        </p:spPr>
      </p:pic>
      <p:sp>
        <p:nvSpPr>
          <p:cNvPr id="16" name="cost-head-2"/>
          <p:cNvSpPr txBox="1"/>
          <p:nvPr/>
        </p:nvSpPr>
        <p:spPr>
          <a:xfrm>
            <a:off x="9326880" y="1600200"/>
            <a:ext cx="2194560" cy="777240"/>
          </a:xfrm>
          <a:prstGeom prst="rect">
            <a:avLst/>
          </a:prstGeom>
          <a:noFill/>
          <a:ln/>
        </p:spPr>
        <p:txBody>
          <a:bodyPr wrap="square" lIns="0" tIns="0" rIns="0" bIns="0" rtlCol="0" anchor="ctr"/>
          <a:lstStyle/>
          <a:p>
            <a:pPr indent="0" marL="0">
              <a:buNone/>
            </a:pPr>
            <a:r>
              <a:rPr lang="en-US" sz="1700" b="1" dirty="0">
                <a:solidFill>
                  <a:schemeClr val="tx2"/>
                </a:solidFill>
              </a:rPr>
              <a:t>Extra shots</a:t>
            </a:r>
            <a:endParaRPr lang="en-US" sz="1700" dirty="0"/>
          </a:p>
        </p:txBody>
      </p:sp>
      <p:sp>
        <p:nvSpPr>
          <p:cNvPr id="17" name="cost-body-2"/>
          <p:cNvSpPr txBox="1"/>
          <p:nvPr/>
        </p:nvSpPr>
        <p:spPr>
          <a:xfrm>
            <a:off x="8412480" y="2560320"/>
            <a:ext cx="3017520" cy="731520"/>
          </a:xfrm>
          <a:prstGeom prst="rect">
            <a:avLst/>
          </a:prstGeom>
          <a:noFill/>
          <a:ln/>
        </p:spPr>
        <p:txBody>
          <a:bodyPr wrap="square" lIns="0" tIns="0" rIns="0" bIns="0" rtlCol="0" anchor="t"/>
          <a:lstStyle/>
          <a:p>
            <a:pPr indent="0" marL="0">
              <a:buNone/>
            </a:pPr>
            <a:r>
              <a:rPr lang="en-US" sz="1500" dirty="0">
                <a:solidFill>
                  <a:schemeClr val="tx1"/>
                </a:solidFill>
              </a:rPr>
              <a:t>3× shots · removes variance, not bias</a:t>
            </a:r>
            <a:endParaRPr lang="en-US" sz="1500" dirty="0"/>
          </a:p>
        </p:txBody>
      </p:sp>
      <p:sp>
        <p:nvSpPr>
          <p:cNvPr id="18" name="motivation-bullets"/>
          <p:cNvSpPr txBox="1"/>
          <p:nvPr/>
        </p:nvSpPr>
        <p:spPr>
          <a:xfrm>
            <a:off x="548640" y="3474720"/>
            <a:ext cx="11064240" cy="2651760"/>
          </a:xfrm>
          <a:prstGeom prst="rect">
            <a:avLst/>
          </a:prstGeom>
          <a:noFill/>
          <a:ln/>
        </p:spPr>
        <p:txBody>
          <a:bodyPr wrap="square" lIns="635" tIns="635" rIns="635" bIns="635" rtlCol="0" anchor="t"/>
          <a:lstStyle/>
          <a:p>
            <a:pPr marL="342900" indent="-342900">
              <a:spcAft>
                <a:spcPts val="600"/>
              </a:spcAft>
              <a:buSzPct val="100000"/>
              <a:buChar char="•"/>
            </a:pPr>
            <a:r>
              <a:rPr lang="en-US" sz="1900" dirty="0">
                <a:solidFill>
                  <a:schemeClr val="tx1"/>
                </a:solidFill>
              </a:rPr>
              <a:t>Fraud scoring needs calibrated probabilities and reliable alerts at a fixed threshold, not just good ranking.</a:t>
            </a:r>
            <a:endParaRPr lang="en-US" sz="1900" dirty="0"/>
          </a:p>
          <a:p>
            <a:pPr marL="342900" indent="-342900">
              <a:spcAft>
                <a:spcPts val="600"/>
              </a:spcAft>
              <a:buSzPct val="100000"/>
              <a:buChar char="•"/>
            </a:pPr>
            <a:r>
              <a:rPr lang="en-US" sz="1900" dirty="0">
                <a:solidFill>
                  <a:schemeClr val="tx1"/>
                </a:solidFill>
              </a:rPr>
              <a:t>Mitigation can repair noisy probabilities, but every technique costs circuits, shots and gate exposure.</a:t>
            </a:r>
            <a:endParaRPr lang="en-US" sz="1900" dirty="0"/>
          </a:p>
          <a:p>
            <a:pPr marL="342900" indent="-342900">
              <a:spcAft>
                <a:spcPts val="600"/>
              </a:spcAft>
              <a:buSzPct val="100000"/>
              <a:buChar char="•"/>
            </a:pPr>
            <a:r>
              <a:rPr lang="en-US" sz="1900" b="1" dirty="0">
                <a:solidFill>
                  <a:schemeClr val="tx1"/>
                </a:solidFill>
              </a:rPr>
              <a:t>So the operational question is: per execution context, run nothing, readout mitigation, ZNE, both, or more shots?</a:t>
            </a:r>
            <a:endParaRPr lang="en-US" sz="19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Research question and hypotheses</a:t>
            </a:r>
            <a:endParaRPr lang="en-US" sz="3200" dirty="0"/>
          </a:p>
        </p:txBody>
      </p:sp>
      <p:sp>
        <p:nvSpPr>
          <p:cNvPr id="3" name="rq-icon-circle"/>
          <p:cNvSpPr/>
          <p:nvPr/>
        </p:nvSpPr>
        <p:spPr>
          <a:xfrm>
            <a:off x="548640" y="1371600"/>
            <a:ext cx="822960" cy="822960"/>
          </a:xfrm>
          <a:prstGeom prst="ellipse">
            <a:avLst/>
          </a:prstGeom>
          <a:solidFill>
            <a:srgbClr val="0F8B8D"/>
          </a:solidFill>
          <a:ln w="12700">
            <a:solidFill>
              <a:srgbClr val="0F8B8D"/>
            </a:solidFill>
            <a:prstDash val="solid"/>
          </a:ln>
        </p:spPr>
      </p:sp>
      <p:pic>
        <p:nvPicPr>
          <p:cNvPr id="4" name="rq-icon" descr="preencoded.png">    </p:cNvPr>
          <p:cNvPicPr>
            <a:picLocks noChangeAspect="1"/>
          </p:cNvPicPr>
          <p:nvPr/>
        </p:nvPicPr>
        <p:blipFill>
          <a:blip r:embed="rId1"/>
          <a:stretch>
            <a:fillRect/>
          </a:stretch>
        </p:blipFill>
        <p:spPr>
          <a:xfrm>
            <a:off x="746150" y="1569110"/>
            <a:ext cx="427939" cy="427939"/>
          </a:xfrm>
          <a:prstGeom prst="rect">
            <a:avLst/>
          </a:prstGeom>
        </p:spPr>
      </p:pic>
      <p:sp>
        <p:nvSpPr>
          <p:cNvPr id="5" name="rq"/>
          <p:cNvSpPr txBox="1"/>
          <p:nvPr/>
        </p:nvSpPr>
        <p:spPr>
          <a:xfrm>
            <a:off x="1600200" y="1325880"/>
            <a:ext cx="9966960" cy="960120"/>
          </a:xfrm>
          <a:prstGeom prst="rect">
            <a:avLst/>
          </a:prstGeom>
          <a:noFill/>
          <a:ln/>
        </p:spPr>
        <p:txBody>
          <a:bodyPr wrap="square" lIns="0" tIns="0" rIns="0" bIns="0" rtlCol="0" anchor="ctr"/>
          <a:lstStyle/>
          <a:p>
            <a:pPr indent="0" marL="0">
              <a:buNone/>
            </a:pPr>
            <a:r>
              <a:rPr lang="en-US" sz="1900" b="1" dirty="0">
                <a:solidFill>
                  <a:schemeClr val="tx2"/>
                </a:solidFill>
              </a:rPr>
              <a:t>When should a noisy QML fraud model spend additional quantum resources on mitigation, and is learning that decision better than a simple observable rule?</a:t>
            </a:r>
            <a:endParaRPr lang="en-US" sz="1900" dirty="0"/>
          </a:p>
        </p:txBody>
      </p:sp>
      <p:sp>
        <p:nvSpPr>
          <p:cNvPr id="6" name="hyp-card-0"/>
          <p:cNvSpPr/>
          <p:nvPr/>
        </p:nvSpPr>
        <p:spPr>
          <a:xfrm>
            <a:off x="548640" y="2606040"/>
            <a:ext cx="11064240" cy="1005840"/>
          </a:xfrm>
          <a:prstGeom prst="roundRect">
            <a:avLst>
              <a:gd name="adj" fmla="val 7273"/>
            </a:avLst>
          </a:prstGeom>
          <a:solidFill>
            <a:srgbClr val="EEF2F7"/>
          </a:solidFill>
          <a:ln w="12700">
            <a:solidFill>
              <a:srgbClr val="EEF2F7"/>
            </a:solidFill>
            <a:prstDash val="solid"/>
          </a:ln>
        </p:spPr>
      </p:sp>
      <p:sp>
        <p:nvSpPr>
          <p:cNvPr id="7" name="hyp-head-0"/>
          <p:cNvSpPr txBox="1"/>
          <p:nvPr/>
        </p:nvSpPr>
        <p:spPr>
          <a:xfrm>
            <a:off x="777240" y="2606040"/>
            <a:ext cx="3108960" cy="1005840"/>
          </a:xfrm>
          <a:prstGeom prst="rect">
            <a:avLst/>
          </a:prstGeom>
          <a:noFill/>
          <a:ln/>
        </p:spPr>
        <p:txBody>
          <a:bodyPr wrap="square" lIns="0" tIns="0" rIns="0" bIns="0" rtlCol="0" anchor="ctr"/>
          <a:lstStyle/>
          <a:p>
            <a:pPr indent="0" marL="0">
              <a:buNone/>
            </a:pPr>
            <a:r>
              <a:rPr lang="en-US" sz="1600" b="1" dirty="0">
                <a:solidFill>
                  <a:schemeClr val="tx2"/>
                </a:solidFill>
              </a:rPr>
              <a:t>H-control (original)</a:t>
            </a:r>
            <a:endParaRPr lang="en-US" sz="1600" dirty="0"/>
          </a:p>
        </p:txBody>
      </p:sp>
      <p:sp>
        <p:nvSpPr>
          <p:cNvPr id="8" name="hyp-body-0"/>
          <p:cNvSpPr txBox="1"/>
          <p:nvPr/>
        </p:nvSpPr>
        <p:spPr>
          <a:xfrm>
            <a:off x="3931920" y="2606040"/>
            <a:ext cx="7498080" cy="1005840"/>
          </a:xfrm>
          <a:prstGeom prst="rect">
            <a:avLst/>
          </a:prstGeom>
          <a:noFill/>
          <a:ln/>
        </p:spPr>
        <p:txBody>
          <a:bodyPr wrap="square" lIns="0" tIns="0" rIns="0" bIns="0" rtlCol="0" anchor="ctr"/>
          <a:lstStyle/>
          <a:p>
            <a:pPr indent="0" marL="0">
              <a:buNone/>
            </a:pPr>
            <a:r>
              <a:rPr lang="en-US" sz="1500" dirty="0">
                <a:solidFill>
                  <a:schemeClr val="tx1"/>
                </a:solidFill>
              </a:rPr>
              <a:t>A learned controller (Q-TRACE) using only label-free probes beats fixed policies on a reliability–cost trade-off.</a:t>
            </a:r>
            <a:endParaRPr lang="en-US" sz="1500" dirty="0"/>
          </a:p>
        </p:txBody>
      </p:sp>
      <p:sp>
        <p:nvSpPr>
          <p:cNvPr id="9" name="hyp-card-1"/>
          <p:cNvSpPr/>
          <p:nvPr/>
        </p:nvSpPr>
        <p:spPr>
          <a:xfrm>
            <a:off x="548640" y="3794760"/>
            <a:ext cx="11064240" cy="1005840"/>
          </a:xfrm>
          <a:prstGeom prst="roundRect">
            <a:avLst>
              <a:gd name="adj" fmla="val 7273"/>
            </a:avLst>
          </a:prstGeom>
          <a:solidFill>
            <a:srgbClr val="E3F2F1"/>
          </a:solidFill>
          <a:ln w="12700">
            <a:solidFill>
              <a:srgbClr val="E3F2F1"/>
            </a:solidFill>
            <a:prstDash val="solid"/>
          </a:ln>
        </p:spPr>
      </p:sp>
      <p:sp>
        <p:nvSpPr>
          <p:cNvPr id="10" name="hyp-head-1"/>
          <p:cNvSpPr txBox="1"/>
          <p:nvPr/>
        </p:nvSpPr>
        <p:spPr>
          <a:xfrm>
            <a:off x="777240" y="3794760"/>
            <a:ext cx="3108960" cy="1005840"/>
          </a:xfrm>
          <a:prstGeom prst="rect">
            <a:avLst/>
          </a:prstGeom>
          <a:noFill/>
          <a:ln/>
        </p:spPr>
        <p:txBody>
          <a:bodyPr wrap="square" lIns="0" tIns="0" rIns="0" bIns="0" rtlCol="0" anchor="ctr"/>
          <a:lstStyle/>
          <a:p>
            <a:pPr indent="0" marL="0">
              <a:buNone/>
            </a:pPr>
            <a:r>
              <a:rPr lang="en-US" sz="1600" b="1" dirty="0">
                <a:solidFill>
                  <a:schemeClr val="tx2"/>
                </a:solidFill>
              </a:rPr>
              <a:t>H-rule (registered alternative)</a:t>
            </a:r>
            <a:endParaRPr lang="en-US" sz="1600" dirty="0"/>
          </a:p>
        </p:txBody>
      </p:sp>
      <p:sp>
        <p:nvSpPr>
          <p:cNvPr id="11" name="hyp-body-1"/>
          <p:cNvSpPr txBox="1"/>
          <p:nvPr/>
        </p:nvSpPr>
        <p:spPr>
          <a:xfrm>
            <a:off x="3931920" y="3794760"/>
            <a:ext cx="7498080" cy="1005840"/>
          </a:xfrm>
          <a:prstGeom prst="rect">
            <a:avLst/>
          </a:prstGeom>
          <a:noFill/>
          <a:ln/>
        </p:spPr>
        <p:txBody>
          <a:bodyPr wrap="square" lIns="0" tIns="0" rIns="0" bIns="0" rtlCol="0" anchor="ctr"/>
          <a:lstStyle/>
          <a:p>
            <a:pPr indent="0" marL="0">
              <a:buNone/>
            </a:pPr>
            <a:r>
              <a:rPr lang="en-US" sz="1500" dirty="0">
                <a:solidFill>
                  <a:schemeClr val="tx1"/>
                </a:solidFill>
              </a:rPr>
              <a:t>A simple probe rule matches the cost-aware Oracle; learning adds no meaningful value.</a:t>
            </a:r>
            <a:endParaRPr lang="en-US" sz="1500" dirty="0"/>
          </a:p>
        </p:txBody>
      </p:sp>
      <p:sp>
        <p:nvSpPr>
          <p:cNvPr id="12" name="hyp-card-2"/>
          <p:cNvSpPr/>
          <p:nvPr/>
        </p:nvSpPr>
        <p:spPr>
          <a:xfrm>
            <a:off x="548640" y="4983480"/>
            <a:ext cx="11064240" cy="1005840"/>
          </a:xfrm>
          <a:prstGeom prst="roundRect">
            <a:avLst>
              <a:gd name="adj" fmla="val 7273"/>
            </a:avLst>
          </a:prstGeom>
          <a:solidFill>
            <a:srgbClr val="EEF2F7"/>
          </a:solidFill>
          <a:ln w="12700">
            <a:solidFill>
              <a:srgbClr val="EEF2F7"/>
            </a:solidFill>
            <a:prstDash val="solid"/>
          </a:ln>
        </p:spPr>
      </p:sp>
      <p:sp>
        <p:nvSpPr>
          <p:cNvPr id="13" name="hyp-head-2"/>
          <p:cNvSpPr txBox="1"/>
          <p:nvPr/>
        </p:nvSpPr>
        <p:spPr>
          <a:xfrm>
            <a:off x="777240" y="4983480"/>
            <a:ext cx="3108960" cy="1005840"/>
          </a:xfrm>
          <a:prstGeom prst="rect">
            <a:avLst/>
          </a:prstGeom>
          <a:noFill/>
          <a:ln/>
        </p:spPr>
        <p:txBody>
          <a:bodyPr wrap="square" lIns="0" tIns="0" rIns="0" bIns="0" rtlCol="0" anchor="ctr"/>
          <a:lstStyle/>
          <a:p>
            <a:pPr indent="0" marL="0">
              <a:buNone/>
            </a:pPr>
            <a:r>
              <a:rPr lang="en-US" sz="1600" b="1" dirty="0">
                <a:solidFill>
                  <a:schemeClr val="tx2"/>
                </a:solidFill>
              </a:rPr>
              <a:t>Characterization</a:t>
            </a:r>
            <a:endParaRPr lang="en-US" sz="1600" dirty="0"/>
          </a:p>
        </p:txBody>
      </p:sp>
      <p:sp>
        <p:nvSpPr>
          <p:cNvPr id="14" name="hyp-body-2"/>
          <p:cNvSpPr txBox="1"/>
          <p:nvPr/>
        </p:nvSpPr>
        <p:spPr>
          <a:xfrm>
            <a:off x="3931920" y="4983480"/>
            <a:ext cx="7498080" cy="1005840"/>
          </a:xfrm>
          <a:prstGeom prst="rect">
            <a:avLst/>
          </a:prstGeom>
          <a:noFill/>
          <a:ln/>
        </p:spPr>
        <p:txBody>
          <a:bodyPr wrap="square" lIns="0" tIns="0" rIns="0" bIns="0" rtlCol="0" anchor="ctr"/>
          <a:lstStyle/>
          <a:p>
            <a:pPr indent="0" marL="0">
              <a:buNone/>
            </a:pPr>
            <a:r>
              <a:rPr lang="en-US" sz="1500" dirty="0">
                <a:solidFill>
                  <a:schemeClr val="tx1"/>
                </a:solidFill>
              </a:rPr>
              <a:t>Noise mainly damages calibration; mitigation repairs calibration but not AUPRC beyond a shot-matched baseline.</a:t>
            </a:r>
            <a:endParaRPr lang="en-US" sz="15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Literature and novelty boundary</a:t>
            </a:r>
            <a:endParaRPr lang="en-US" sz="3200" dirty="0"/>
          </a:p>
        </p:txBody>
      </p:sp>
      <p:graphicFrame>
        <p:nvGraphicFramePr>
          <p:cNvPr id="5" name="lit-table"/>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3017520"/>
                <a:gridCol w="2651760"/>
                <a:gridCol w="2743200"/>
                <a:gridCol w="2651760"/>
              </a:tblGrid>
              <a:tr h="0">
                <a:tc>
                  <a:txBody>
                    <a:bodyPr/>
                    <a:lstStyle/>
                    <a:p>
                      <a:pPr indent="0" marL="0">
                        <a:buNone/>
                      </a:pPr>
                      <a:r>
                        <a:rPr lang="en-US" sz="1400" b="1" dirty="0">
                          <a:solidFill>
                            <a:srgbClr val="FFFFFF"/>
                          </a:solidFill>
                        </a:rPr>
                        <a:t>Work</a:t>
                      </a:r>
                      <a:endParaRPr lang="en-US" sz="14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B2A49"/>
                    </a:solidFill>
                  </a:tcPr>
                </a:tc>
                <a:tc>
                  <a:txBody>
                    <a:bodyPr/>
                    <a:lstStyle/>
                    <a:p>
                      <a:pPr indent="0" marL="0">
                        <a:buNone/>
                      </a:pPr>
                      <a:r>
                        <a:rPr lang="en-US" sz="1400" b="1" dirty="0">
                          <a:solidFill>
                            <a:srgbClr val="FFFFFF"/>
                          </a:solidFill>
                        </a:rPr>
                        <a:t>Selects</a:t>
                      </a:r>
                      <a:endParaRPr lang="en-US" sz="14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B2A49"/>
                    </a:solidFill>
                  </a:tcPr>
                </a:tc>
                <a:tc>
                  <a:txBody>
                    <a:bodyPr/>
                    <a:lstStyle/>
                    <a:p>
                      <a:pPr indent="0" marL="0">
                        <a:buNone/>
                      </a:pPr>
                      <a:r>
                        <a:rPr lang="en-US" sz="1400" b="1" dirty="0">
                          <a:solidFill>
                            <a:srgbClr val="FFFFFF"/>
                          </a:solidFill>
                        </a:rPr>
                        <a:t>Context used</a:t>
                      </a:r>
                      <a:endParaRPr lang="en-US" sz="14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B2A49"/>
                    </a:solidFill>
                  </a:tcPr>
                </a:tc>
                <a:tc>
                  <a:txBody>
                    <a:bodyPr/>
                    <a:lstStyle/>
                    <a:p>
                      <a:pPr indent="0" marL="0">
                        <a:buNone/>
                      </a:pPr>
                      <a:r>
                        <a:rPr lang="en-US" sz="1400" b="1" dirty="0">
                          <a:solidFill>
                            <a:srgbClr val="FFFFFF"/>
                          </a:solidFill>
                        </a:rPr>
                        <a:t>Compared against</a:t>
                      </a:r>
                      <a:endParaRPr lang="en-US" sz="14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B2A49"/>
                    </a:solidFill>
                  </a:tcPr>
                </a:tc>
              </a:tr>
              <a:tr h="0">
                <a:tc>
                  <a:txBody>
                    <a:bodyPr/>
                    <a:lstStyle/>
                    <a:p>
                      <a:pPr indent="0" marL="0">
                        <a:buNone/>
                      </a:pPr>
                      <a:r>
                        <a:rPr lang="en-US" sz="1400" dirty="0">
                          <a:solidFill>
                            <a:srgbClr val="1A1F2B"/>
                          </a:solidFill>
                        </a:rPr>
                        <a:t>GSC-QEMit (Szachara et al., 2026)</a:t>
                      </a:r>
                      <a:endParaRPr lang="en-US" sz="14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400" dirty="0">
                          <a:solidFill>
                            <a:srgbClr val="1A1F2B"/>
                          </a:solidFill>
                        </a:rPr>
                        <a:t>abstract mitigation intensity</a:t>
                      </a:r>
                      <a:endParaRPr lang="en-US" sz="14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400" dirty="0">
                          <a:solidFill>
                            <a:srgbClr val="1A1F2B"/>
                          </a:solidFill>
                        </a:rPr>
                        <a:t>telemetry incl. ideal-state fidelity, simulator drift</a:t>
                      </a:r>
                      <a:endParaRPr lang="en-US" sz="14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400" dirty="0">
                          <a:solidFill>
                            <a:srgbClr val="1A1F2B"/>
                          </a:solidFill>
                        </a:rPr>
                        <a:t>unmitigated, static-severe</a:t>
                      </a:r>
                      <a:endParaRPr lang="en-US" sz="14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r>
              <a:tr h="0">
                <a:tc>
                  <a:txBody>
                    <a:bodyPr/>
                    <a:lstStyle/>
                    <a:p>
                      <a:pPr indent="0" marL="0">
                        <a:buNone/>
                      </a:pPr>
                      <a:r>
                        <a:rPr lang="en-US" sz="1400" dirty="0">
                          <a:solidFill>
                            <a:srgbClr val="1A1F2B"/>
                          </a:solidFill>
                        </a:rPr>
                        <a:t>CMAB-ZNE (Rahman &amp; Nguyen, 2026)</a:t>
                      </a:r>
                      <a:endParaRPr lang="en-US" sz="14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400" dirty="0">
                          <a:solidFill>
                            <a:srgbClr val="1A1F2B"/>
                          </a:solidFill>
                        </a:rPr>
                        <a:t>ZNE scale-factor sets</a:t>
                      </a:r>
                      <a:endParaRPr lang="en-US" sz="14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400" dirty="0">
                          <a:solidFill>
                            <a:srgbClr val="1A1F2B"/>
                          </a:solidFill>
                        </a:rPr>
                        <a:t>loss / accuracy (label-dependent)</a:t>
                      </a:r>
                      <a:endParaRPr lang="en-US" sz="14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400" dirty="0">
                          <a:solidFill>
                            <a:srgbClr val="1A1F2B"/>
                          </a:solidFill>
                        </a:rPr>
                        <a:t>fixed and grid-search ZNE, other QEM</a:t>
                      </a:r>
                      <a:endParaRPr lang="en-US" sz="14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r>
              <a:tr h="0">
                <a:tc>
                  <a:txBody>
                    <a:bodyPr/>
                    <a:lstStyle/>
                    <a:p>
                      <a:pPr indent="0" marL="0">
                        <a:buNone/>
                      </a:pPr>
                      <a:r>
                        <a:rPr lang="en-US" sz="1400" dirty="0">
                          <a:solidFill>
                            <a:srgbClr val="1A1F2B"/>
                          </a:solidFill>
                        </a:rPr>
                        <a:t>APGEM (Majid et al., 2026; QRL routing)</a:t>
                      </a:r>
                      <a:endParaRPr lang="en-US" sz="14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400" dirty="0">
                          <a:solidFill>
                            <a:srgbClr val="1A1F2B"/>
                          </a:solidFill>
                        </a:rPr>
                        <a:t>none / ZNE / PEC / CDR / readout</a:t>
                      </a:r>
                      <a:endParaRPr lang="en-US" sz="14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400" dirty="0">
                          <a:solidFill>
                            <a:srgbClr val="1A1F2B"/>
                          </a:solidFill>
                        </a:rPr>
                        <a:t>fidelity, reward, noise level</a:t>
                      </a:r>
                      <a:endParaRPr lang="en-US" sz="14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400" dirty="0">
                          <a:solidFill>
                            <a:srgbClr val="1A1F2B"/>
                          </a:solidFill>
                        </a:rPr>
                        <a:t>fixed techniques, Oracle</a:t>
                      </a:r>
                      <a:endParaRPr lang="en-US" sz="14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r>
              <a:tr h="0">
                <a:tc>
                  <a:txBody>
                    <a:bodyPr/>
                    <a:lstStyle/>
                    <a:p>
                      <a:pPr indent="0" marL="0">
                        <a:buNone/>
                      </a:pPr>
                      <a:r>
                        <a:rPr lang="en-US" sz="1400" dirty="0">
                          <a:solidFill>
                            <a:srgbClr val="1A1F2B"/>
                          </a:solidFill>
                        </a:rPr>
                        <a:t>Rao et al., 2026</a:t>
                      </a:r>
                      <a:endParaRPr lang="en-US" sz="14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400" dirty="0">
                          <a:solidFill>
                            <a:srgbClr val="1A1F2B"/>
                          </a:solidFill>
                        </a:rPr>
                        <a:t>none / DD / ZNE (fuzzy rules)</a:t>
                      </a:r>
                      <a:endParaRPr lang="en-US" sz="14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400" dirty="0">
                          <a:solidFill>
                            <a:srgbClr val="1A1F2B"/>
                          </a:solidFill>
                        </a:rPr>
                        <a:t>label-free circuit + hardware features</a:t>
                      </a:r>
                      <a:endParaRPr lang="en-US" sz="14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400" dirty="0">
                          <a:solidFill>
                            <a:srgbClr val="1A1F2B"/>
                          </a:solidFill>
                        </a:rPr>
                        <a:t>not stated in abstract</a:t>
                      </a:r>
                      <a:endParaRPr lang="en-US" sz="14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r>
              <a:tr h="0">
                <a:tc>
                  <a:txBody>
                    <a:bodyPr/>
                    <a:lstStyle/>
                    <a:p>
                      <a:pPr indent="0" marL="0">
                        <a:buNone/>
                      </a:pPr>
                      <a:r>
                        <a:rPr lang="en-US" sz="1400" b="1" dirty="0">
                          <a:solidFill>
                            <a:srgbClr val="1A1F2B"/>
                          </a:solidFill>
                        </a:rPr>
                        <a:t>This work</a:t>
                      </a:r>
                      <a:endParaRPr lang="en-US" sz="14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400" b="1" dirty="0">
                          <a:solidFill>
                            <a:srgbClr val="1A1F2B"/>
                          </a:solidFill>
                        </a:rPr>
                        <a:t>none / readout / ZNE / both / extra shots</a:t>
                      </a:r>
                      <a:endParaRPr lang="en-US" sz="14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400" b="1" dirty="0">
                          <a:solidFill>
                            <a:srgbClr val="1A1F2B"/>
                          </a:solidFill>
                        </a:rPr>
                        <a:t>label-free probes only (leakage-tested)</a:t>
                      </a:r>
                      <a:endParaRPr lang="en-US" sz="14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400" b="1" dirty="0">
                          <a:solidFill>
                            <a:srgbClr val="1A1F2B"/>
                          </a:solidFill>
                        </a:rPr>
                        <a:t>simple rules + learned, held-out, pre-registered</a:t>
                      </a:r>
                      <a:endParaRPr lang="en-US" sz="14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r>
            </a:tbl>
          </a:graphicData>
        </a:graphic>
      </p:graphicFrame>
      <p:sp>
        <p:nvSpPr>
          <p:cNvPr id="4" name="gap-card"/>
          <p:cNvSpPr/>
          <p:nvPr/>
        </p:nvSpPr>
        <p:spPr>
          <a:xfrm>
            <a:off x="548640" y="4343400"/>
            <a:ext cx="11064240" cy="1143000"/>
          </a:xfrm>
          <a:prstGeom prst="roundRect">
            <a:avLst>
              <a:gd name="adj" fmla="val 6400"/>
            </a:avLst>
          </a:prstGeom>
          <a:solidFill>
            <a:srgbClr val="E3F2F1"/>
          </a:solidFill>
          <a:ln w="12700">
            <a:solidFill>
              <a:srgbClr val="E3F2F1"/>
            </a:solidFill>
            <a:prstDash val="solid"/>
          </a:ln>
        </p:spPr>
      </p:sp>
      <p:sp>
        <p:nvSpPr>
          <p:cNvPr id="5" name="gap-icon-circle"/>
          <p:cNvSpPr/>
          <p:nvPr/>
        </p:nvSpPr>
        <p:spPr>
          <a:xfrm>
            <a:off x="777240" y="4526280"/>
            <a:ext cx="777240" cy="777240"/>
          </a:xfrm>
          <a:prstGeom prst="ellipse">
            <a:avLst/>
          </a:prstGeom>
          <a:solidFill>
            <a:srgbClr val="0F8B8D"/>
          </a:solidFill>
          <a:ln w="12700">
            <a:solidFill>
              <a:srgbClr val="0F8B8D"/>
            </a:solidFill>
            <a:prstDash val="solid"/>
          </a:ln>
        </p:spPr>
      </p:sp>
      <p:pic>
        <p:nvPicPr>
          <p:cNvPr id="6" name="gap-icon" descr="preencoded.png">    </p:cNvPr>
          <p:cNvPicPr>
            <a:picLocks noChangeAspect="1"/>
          </p:cNvPicPr>
          <p:nvPr/>
        </p:nvPicPr>
        <p:blipFill>
          <a:blip r:embed="rId1"/>
          <a:stretch>
            <a:fillRect/>
          </a:stretch>
        </p:blipFill>
        <p:spPr>
          <a:xfrm>
            <a:off x="963778" y="4712818"/>
            <a:ext cx="404165" cy="404165"/>
          </a:xfrm>
          <a:prstGeom prst="rect">
            <a:avLst/>
          </a:prstGeom>
        </p:spPr>
      </p:pic>
      <p:sp>
        <p:nvSpPr>
          <p:cNvPr id="7" name="gap-text"/>
          <p:cNvSpPr txBox="1"/>
          <p:nvPr/>
        </p:nvSpPr>
        <p:spPr>
          <a:xfrm>
            <a:off x="1783080" y="4389120"/>
            <a:ext cx="9601200" cy="1051560"/>
          </a:xfrm>
          <a:prstGeom prst="rect">
            <a:avLst/>
          </a:prstGeom>
          <a:noFill/>
          <a:ln/>
        </p:spPr>
        <p:txBody>
          <a:bodyPr wrap="square" lIns="0" tIns="0" rIns="0" bIns="0" rtlCol="0" anchor="ctr"/>
          <a:lstStyle/>
          <a:p>
            <a:pPr indent="0" marL="0">
              <a:buNone/>
            </a:pPr>
            <a:r>
              <a:rPr lang="en-US" sz="1600" dirty="0">
                <a:solidFill>
                  <a:schemeClr val="tx2"/>
                </a:solidFill>
              </a:rPr>
              <a:t>Gap we address: to our knowledge, prior selectors were not tested against simple observable rules, on held-out models, under pre-registration, with extra shots and combined mitigation in the action space.</a:t>
            </a:r>
            <a:endParaRPr lang="en-US" sz="1600" dirty="0"/>
          </a:p>
        </p:txBody>
      </p:sp>
      <p:sp>
        <p:nvSpPr>
          <p:cNvPr id="8" name="lit-caption"/>
          <p:cNvSpPr txBox="1"/>
          <p:nvPr/>
        </p:nvSpPr>
        <p:spPr>
          <a:xfrm>
            <a:off x="548640" y="5669280"/>
            <a:ext cx="11064240" cy="365760"/>
          </a:xfrm>
          <a:prstGeom prst="rect">
            <a:avLst/>
          </a:prstGeom>
          <a:noFill/>
          <a:ln/>
        </p:spPr>
        <p:txBody>
          <a:bodyPr wrap="square" lIns="0" tIns="0" rIns="0" bIns="0" rtlCol="0" anchor="t"/>
          <a:lstStyle/>
          <a:p>
            <a:pPr indent="0" marL="0">
              <a:buNone/>
            </a:pPr>
            <a:r>
              <a:rPr lang="en-US" sz="1050" i="1" dirty="0">
                <a:solidFill>
                  <a:schemeClr val="accent5"/>
                </a:solidFill>
              </a:rPr>
              <a:t>References agent-checked against publisher, arXiv and Crossref records; team confirmation pending before submission.</a:t>
            </a:r>
            <a:endParaRPr lang="en-US" sz="105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Dataset and leakage-safe design</a:t>
            </a:r>
            <a:endParaRPr lang="en-US" sz="3200" dirty="0"/>
          </a:p>
        </p:txBody>
      </p:sp>
      <p:graphicFrame>
        <p:nvGraphicFramePr>
          <p:cNvPr id="6" name="partition-table"/>
          <p:cNvGraphicFramePr>
            <a:graphicFrameLocks noGrp="1"/>
          </p:cNvGraphicFramePr>
          <p:nvPr>
            <p:extLst>
              <p:ext uri="{D42A27DB-BD31-4B8C-83A1-F6EECF244321}">
                <p14:modId xmlns:p14="http://schemas.microsoft.com/office/powerpoint/2010/main" val="1579011935"/>
              </p:ext>
            </p:extLst>
          </p:nvPr>
        </p:nvGraphicFramePr>
        <p:xfrm>
          <a:off x="548640" y="1325880"/>
          <a:ext cx="7498080" cy="914400"/>
        </p:xfrm>
        <a:graphic>
          <a:graphicData uri="http://schemas.openxmlformats.org/drawingml/2006/table">
            <a:tbl>
              <a:tblPr/>
              <a:tblGrid>
                <a:gridCol w="2103120"/>
                <a:gridCol w="1097280"/>
                <a:gridCol w="914400"/>
                <a:gridCol w="3383280"/>
              </a:tblGrid>
              <a:tr h="0">
                <a:tc>
                  <a:txBody>
                    <a:bodyPr/>
                    <a:lstStyle/>
                    <a:p>
                      <a:pPr indent="0" marL="0">
                        <a:buNone/>
                      </a:pPr>
                      <a:r>
                        <a:rPr lang="en-US" sz="1400" b="1" dirty="0">
                          <a:solidFill>
                            <a:srgbClr val="FFFFFF"/>
                          </a:solidFill>
                        </a:rPr>
                        <a:t>Partition</a:t>
                      </a:r>
                      <a:endParaRPr lang="en-US" sz="14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B2A49"/>
                    </a:solidFill>
                  </a:tcPr>
                </a:tc>
                <a:tc>
                  <a:txBody>
                    <a:bodyPr/>
                    <a:lstStyle/>
                    <a:p>
                      <a:pPr indent="0" marL="0">
                        <a:buNone/>
                      </a:pPr>
                      <a:r>
                        <a:rPr lang="en-US" sz="1400" b="1" dirty="0">
                          <a:solidFill>
                            <a:srgbClr val="FFFFFF"/>
                          </a:solidFill>
                        </a:rPr>
                        <a:t>Rows</a:t>
                      </a:r>
                      <a:endParaRPr lang="en-US" sz="14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B2A49"/>
                    </a:solidFill>
                  </a:tcPr>
                </a:tc>
                <a:tc>
                  <a:txBody>
                    <a:bodyPr/>
                    <a:lstStyle/>
                    <a:p>
                      <a:pPr indent="0" marL="0">
                        <a:buNone/>
                      </a:pPr>
                      <a:r>
                        <a:rPr lang="en-US" sz="1400" b="1" dirty="0">
                          <a:solidFill>
                            <a:srgbClr val="FFFFFF"/>
                          </a:solidFill>
                        </a:rPr>
                        <a:t>Frauds</a:t>
                      </a:r>
                      <a:endParaRPr lang="en-US" sz="14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B2A49"/>
                    </a:solidFill>
                  </a:tcPr>
                </a:tc>
                <a:tc>
                  <a:txBody>
                    <a:bodyPr/>
                    <a:lstStyle/>
                    <a:p>
                      <a:pPr indent="0" marL="0">
                        <a:buNone/>
                      </a:pPr>
                      <a:r>
                        <a:rPr lang="en-US" sz="1400" b="1" dirty="0">
                          <a:solidFill>
                            <a:srgbClr val="FFFFFF"/>
                          </a:solidFill>
                        </a:rPr>
                        <a:t>Role</a:t>
                      </a:r>
                      <a:endParaRPr lang="en-US" sz="14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B2A49"/>
                    </a:solidFill>
                  </a:tcPr>
                </a:tc>
              </a:tr>
              <a:tr h="0">
                <a:tc>
                  <a:txBody>
                    <a:bodyPr/>
                    <a:lstStyle/>
                    <a:p>
                      <a:pPr indent="0" marL="0">
                        <a:buNone/>
                      </a:pPr>
                      <a:r>
                        <a:rPr lang="en-US" sz="1400" dirty="0">
                          <a:solidFill>
                            <a:srgbClr val="1A1F2B"/>
                          </a:solidFill>
                        </a:rPr>
                        <a:t>VQC train</a:t>
                      </a:r>
                      <a:endParaRPr lang="en-US" sz="14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400" dirty="0">
                          <a:solidFill>
                            <a:srgbClr val="1A1F2B"/>
                          </a:solidFill>
                        </a:rPr>
                        <a:t>127,677</a:t>
                      </a:r>
                      <a:endParaRPr lang="en-US" sz="14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400" dirty="0">
                          <a:solidFill>
                            <a:srgbClr val="1A1F2B"/>
                          </a:solidFill>
                        </a:rPr>
                        <a:t>213</a:t>
                      </a:r>
                      <a:endParaRPr lang="en-US" sz="14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400" dirty="0">
                          <a:solidFill>
                            <a:srgbClr val="1A1F2B"/>
                          </a:solidFill>
                        </a:rPr>
                        <a:t>fit every VQC + preprocessing</a:t>
                      </a:r>
                      <a:endParaRPr lang="en-US" sz="14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r>
              <a:tr h="0">
                <a:tc>
                  <a:txBody>
                    <a:bodyPr/>
                    <a:lstStyle/>
                    <a:p>
                      <a:pPr indent="0" marL="0">
                        <a:buNone/>
                      </a:pPr>
                      <a:r>
                        <a:rPr lang="en-US" sz="1400" dirty="0">
                          <a:solidFill>
                            <a:srgbClr val="1A1F2B"/>
                          </a:solidFill>
                        </a:rPr>
                        <a:t>VQC validation</a:t>
                      </a:r>
                      <a:endParaRPr lang="en-US" sz="14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400" dirty="0">
                          <a:solidFill>
                            <a:srgbClr val="1A1F2B"/>
                          </a:solidFill>
                        </a:rPr>
                        <a:t>28,372</a:t>
                      </a:r>
                      <a:endParaRPr lang="en-US" sz="14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400" dirty="0">
                          <a:solidFill>
                            <a:srgbClr val="1A1F2B"/>
                          </a:solidFill>
                        </a:rPr>
                        <a:t>47</a:t>
                      </a:r>
                      <a:endParaRPr lang="en-US" sz="14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400" dirty="0">
                          <a:solidFill>
                            <a:srgbClr val="1A1F2B"/>
                          </a:solidFill>
                        </a:rPr>
                        <a:t>qualification, thresholds, characterization</a:t>
                      </a:r>
                      <a:endParaRPr lang="en-US" sz="14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r>
              <a:tr h="0">
                <a:tc>
                  <a:txBody>
                    <a:bodyPr/>
                    <a:lstStyle/>
                    <a:p>
                      <a:pPr indent="0" marL="0">
                        <a:buNone/>
                      </a:pPr>
                      <a:r>
                        <a:rPr lang="en-US" sz="1400" dirty="0">
                          <a:solidFill>
                            <a:srgbClr val="1A1F2B"/>
                          </a:solidFill>
                        </a:rPr>
                        <a:t>Controller train</a:t>
                      </a:r>
                      <a:endParaRPr lang="en-US" sz="14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400" dirty="0">
                          <a:solidFill>
                            <a:srgbClr val="1A1F2B"/>
                          </a:solidFill>
                        </a:rPr>
                        <a:t>42,559</a:t>
                      </a:r>
                      <a:endParaRPr lang="en-US" sz="14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400" dirty="0">
                          <a:solidFill>
                            <a:srgbClr val="1A1F2B"/>
                          </a:solidFill>
                        </a:rPr>
                        <a:t>71</a:t>
                      </a:r>
                      <a:endParaRPr lang="en-US" sz="14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400" dirty="0">
                          <a:solidFill>
                            <a:srgbClr val="1A1F2B"/>
                          </a:solidFill>
                        </a:rPr>
                        <a:t>fit policies (training models)</a:t>
                      </a:r>
                      <a:endParaRPr lang="en-US" sz="14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r>
              <a:tr h="0">
                <a:tc>
                  <a:txBody>
                    <a:bodyPr/>
                    <a:lstStyle/>
                    <a:p>
                      <a:pPr indent="0" marL="0">
                        <a:buNone/>
                      </a:pPr>
                      <a:r>
                        <a:rPr lang="en-US" sz="1400" dirty="0">
                          <a:solidFill>
                            <a:srgbClr val="1A1F2B"/>
                          </a:solidFill>
                        </a:rPr>
                        <a:t>Controller validation</a:t>
                      </a:r>
                      <a:endParaRPr lang="en-US" sz="14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400" dirty="0">
                          <a:solidFill>
                            <a:srgbClr val="1A1F2B"/>
                          </a:solidFill>
                        </a:rPr>
                        <a:t>28,372</a:t>
                      </a:r>
                      <a:endParaRPr lang="en-US" sz="14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400" dirty="0">
                          <a:solidFill>
                            <a:srgbClr val="1A1F2B"/>
                          </a:solidFill>
                        </a:rPr>
                        <a:t>47</a:t>
                      </a:r>
                      <a:endParaRPr lang="en-US" sz="14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400" dirty="0">
                          <a:solidFill>
                            <a:srgbClr val="1A1F2B"/>
                          </a:solidFill>
                        </a:rPr>
                        <a:t>validate policies</a:t>
                      </a:r>
                      <a:endParaRPr lang="en-US" sz="14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r>
              <a:tr h="0">
                <a:tc>
                  <a:txBody>
                    <a:bodyPr/>
                    <a:lstStyle/>
                    <a:p>
                      <a:pPr indent="0" marL="0">
                        <a:buNone/>
                      </a:pPr>
                      <a:r>
                        <a:rPr lang="en-US" sz="1400" dirty="0">
                          <a:solidFill>
                            <a:srgbClr val="1A1F2B"/>
                          </a:solidFill>
                        </a:rPr>
                        <a:t>Controller test</a:t>
                      </a:r>
                      <a:endParaRPr lang="en-US" sz="14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400" dirty="0">
                          <a:solidFill>
                            <a:srgbClr val="1A1F2B"/>
                          </a:solidFill>
                        </a:rPr>
                        <a:t>56,746</a:t>
                      </a:r>
                      <a:endParaRPr lang="en-US" sz="14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400" dirty="0">
                          <a:solidFill>
                            <a:srgbClr val="1A1F2B"/>
                          </a:solidFill>
                        </a:rPr>
                        <a:t>95</a:t>
                      </a:r>
                      <a:endParaRPr lang="en-US" sz="14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400" dirty="0">
                          <a:solidFill>
                            <a:srgbClr val="1A1F2B"/>
                          </a:solidFill>
                        </a:rPr>
                        <a:t>sealed; opened once</a:t>
                      </a:r>
                      <a:endParaRPr lang="en-US" sz="14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r>
            </a:tbl>
          </a:graphicData>
        </a:graphic>
      </p:graphicFrame>
      <p:sp>
        <p:nvSpPr>
          <p:cNvPr id="4" name="d-rows-value"/>
          <p:cNvSpPr txBox="1"/>
          <p:nvPr/>
        </p:nvSpPr>
        <p:spPr>
          <a:xfrm>
            <a:off x="548640" y="4160520"/>
            <a:ext cx="2377440" cy="73152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283,726</a:t>
            </a:r>
            <a:endParaRPr lang="en-US" sz="3000" dirty="0"/>
          </a:p>
        </p:txBody>
      </p:sp>
      <p:sp>
        <p:nvSpPr>
          <p:cNvPr id="5" name="d-rows-label"/>
          <p:cNvSpPr txBox="1"/>
          <p:nvPr/>
        </p:nvSpPr>
        <p:spPr>
          <a:xfrm>
            <a:off x="548640" y="4910328"/>
            <a:ext cx="2377440" cy="685800"/>
          </a:xfrm>
          <a:prstGeom prst="rect">
            <a:avLst/>
          </a:prstGeom>
          <a:noFill/>
          <a:ln/>
        </p:spPr>
        <p:txBody>
          <a:bodyPr wrap="square" lIns="0" tIns="0" rIns="0" bIns="0" rtlCol="0" anchor="t"/>
          <a:lstStyle/>
          <a:p>
            <a:pPr indent="0" marL="0">
              <a:buNone/>
            </a:pPr>
            <a:r>
              <a:rPr lang="en-US" sz="1300" dirty="0">
                <a:solidFill>
                  <a:schemeClr val="tx1"/>
                </a:solidFill>
              </a:rPr>
              <a:t>transactions after deduplication</a:t>
            </a:r>
            <a:endParaRPr lang="en-US" sz="1300" dirty="0"/>
          </a:p>
        </p:txBody>
      </p:sp>
      <p:sp>
        <p:nvSpPr>
          <p:cNvPr id="6" name="d-prev-value"/>
          <p:cNvSpPr txBox="1"/>
          <p:nvPr/>
        </p:nvSpPr>
        <p:spPr>
          <a:xfrm>
            <a:off x="3108960" y="4160520"/>
            <a:ext cx="2194560" cy="731520"/>
          </a:xfrm>
          <a:prstGeom prst="rect">
            <a:avLst/>
          </a:prstGeom>
          <a:noFill/>
          <a:ln/>
        </p:spPr>
        <p:txBody>
          <a:bodyPr wrap="square" lIns="0" tIns="0" rIns="0" bIns="0" rtlCol="0" anchor="ctr"/>
          <a:lstStyle/>
          <a:p>
            <a:pPr indent="0" marL="0">
              <a:buNone/>
            </a:pPr>
            <a:r>
              <a:rPr lang="en-US" sz="3000" b="1" dirty="0">
                <a:solidFill>
                  <a:schemeClr val="accent2"/>
                </a:solidFill>
                <a:latin typeface="Cambria" pitchFamily="34" charset="0"/>
                <a:ea typeface="Cambria" pitchFamily="34" charset="-122"/>
                <a:cs typeface="Cambria" pitchFamily="34" charset="-120"/>
              </a:rPr>
              <a:t>0.17%</a:t>
            </a:r>
            <a:endParaRPr lang="en-US" sz="3000" dirty="0"/>
          </a:p>
        </p:txBody>
      </p:sp>
      <p:sp>
        <p:nvSpPr>
          <p:cNvPr id="7" name="d-prev-label"/>
          <p:cNvSpPr txBox="1"/>
          <p:nvPr/>
        </p:nvSpPr>
        <p:spPr>
          <a:xfrm>
            <a:off x="3108960" y="4910328"/>
            <a:ext cx="2194560" cy="685800"/>
          </a:xfrm>
          <a:prstGeom prst="rect">
            <a:avLst/>
          </a:prstGeom>
          <a:noFill/>
          <a:ln/>
        </p:spPr>
        <p:txBody>
          <a:bodyPr wrap="square" lIns="0" tIns="0" rIns="0" bIns="0" rtlCol="0" anchor="t"/>
          <a:lstStyle/>
          <a:p>
            <a:pPr indent="0" marL="0">
              <a:buNone/>
            </a:pPr>
            <a:r>
              <a:rPr lang="en-US" sz="1300" dirty="0">
                <a:solidFill>
                  <a:schemeClr val="tx1"/>
                </a:solidFill>
              </a:rPr>
              <a:t>fraud prevalence (473 frauds)</a:t>
            </a:r>
            <a:endParaRPr lang="en-US" sz="1300" dirty="0"/>
          </a:p>
        </p:txBody>
      </p:sp>
      <p:sp>
        <p:nvSpPr>
          <p:cNvPr id="8" name="d-groups-value"/>
          <p:cNvSpPr txBox="1"/>
          <p:nvPr/>
        </p:nvSpPr>
        <p:spPr>
          <a:xfrm>
            <a:off x="5486400" y="4160520"/>
            <a:ext cx="2560320" cy="731520"/>
          </a:xfrm>
          <a:prstGeom prst="rect">
            <a:avLst/>
          </a:prstGeom>
          <a:noFill/>
          <a:ln/>
        </p:spPr>
        <p:txBody>
          <a:bodyPr wrap="square" lIns="0" tIns="0" rIns="0" bIns="0" rtlCol="0" anchor="ctr"/>
          <a:lstStyle/>
          <a:p>
            <a:pPr indent="0" marL="0">
              <a:buNone/>
            </a:pPr>
            <a:r>
              <a:rPr lang="en-US" sz="3000" b="1" dirty="0">
                <a:solidFill>
                  <a:schemeClr val="accent6"/>
                </a:solidFill>
                <a:latin typeface="Cambria" pitchFamily="34" charset="0"/>
                <a:ea typeface="Cambria" pitchFamily="34" charset="-122"/>
                <a:cs typeface="Cambria" pitchFamily="34" charset="-120"/>
              </a:rPr>
              <a:t>0</a:t>
            </a:r>
            <a:endParaRPr lang="en-US" sz="3000" dirty="0"/>
          </a:p>
        </p:txBody>
      </p:sp>
      <p:sp>
        <p:nvSpPr>
          <p:cNvPr id="9" name="d-groups-label"/>
          <p:cNvSpPr txBox="1"/>
          <p:nvPr/>
        </p:nvSpPr>
        <p:spPr>
          <a:xfrm>
            <a:off x="5486400" y="4910328"/>
            <a:ext cx="2560320" cy="685800"/>
          </a:xfrm>
          <a:prstGeom prst="rect">
            <a:avLst/>
          </a:prstGeom>
          <a:noFill/>
          <a:ln/>
        </p:spPr>
        <p:txBody>
          <a:bodyPr wrap="square" lIns="0" tIns="0" rIns="0" bIns="0" rtlCol="0" anchor="t"/>
          <a:lstStyle/>
          <a:p>
            <a:pPr indent="0" marL="0">
              <a:buNone/>
            </a:pPr>
            <a:r>
              <a:rPr lang="en-US" sz="1300" dirty="0">
                <a:solidFill>
                  <a:schemeClr val="tx1"/>
                </a:solidFill>
              </a:rPr>
              <a:t>feature groups crossing partitions</a:t>
            </a:r>
            <a:endParaRPr lang="en-US" sz="1300" dirty="0"/>
          </a:p>
        </p:txBody>
      </p:sp>
      <p:sp>
        <p:nvSpPr>
          <p:cNvPr id="10" name="data-icon-circle"/>
          <p:cNvSpPr/>
          <p:nvPr/>
        </p:nvSpPr>
        <p:spPr>
          <a:xfrm>
            <a:off x="8503920" y="1371600"/>
            <a:ext cx="731520" cy="731520"/>
          </a:xfrm>
          <a:prstGeom prst="ellipse">
            <a:avLst/>
          </a:prstGeom>
          <a:solidFill>
            <a:srgbClr val="1B2A49"/>
          </a:solidFill>
          <a:ln w="12700">
            <a:solidFill>
              <a:srgbClr val="1B2A49"/>
            </a:solidFill>
            <a:prstDash val="solid"/>
          </a:ln>
        </p:spPr>
      </p:sp>
      <p:pic>
        <p:nvPicPr>
          <p:cNvPr id="11" name="data-icon" descr="preencoded.png">    </p:cNvPr>
          <p:cNvPicPr>
            <a:picLocks noChangeAspect="1"/>
          </p:cNvPicPr>
          <p:nvPr/>
        </p:nvPicPr>
        <p:blipFill>
          <a:blip r:embed="rId1"/>
          <a:stretch>
            <a:fillRect/>
          </a:stretch>
        </p:blipFill>
        <p:spPr>
          <a:xfrm>
            <a:off x="8679485" y="1547165"/>
            <a:ext cx="380390" cy="380390"/>
          </a:xfrm>
          <a:prstGeom prst="rect">
            <a:avLst/>
          </a:prstGeom>
        </p:spPr>
      </p:pic>
      <p:sp>
        <p:nvSpPr>
          <p:cNvPr id="12" name="data-bullets"/>
          <p:cNvSpPr txBox="1"/>
          <p:nvPr/>
        </p:nvSpPr>
        <p:spPr>
          <a:xfrm>
            <a:off x="8503920" y="2286000"/>
            <a:ext cx="3154680" cy="3566160"/>
          </a:xfrm>
          <a:prstGeom prst="rect">
            <a:avLst/>
          </a:prstGeom>
          <a:noFill/>
          <a:ln/>
        </p:spPr>
        <p:txBody>
          <a:bodyPr wrap="square" lIns="635" tIns="635" rIns="635" bIns="635" rtlCol="0" anchor="t"/>
          <a:lstStyle/>
          <a:p>
            <a:pPr marL="342900" indent="-342900">
              <a:spcAft>
                <a:spcPts val="600"/>
              </a:spcAft>
              <a:buSzPct val="100000"/>
              <a:buChar char="•"/>
            </a:pPr>
            <a:r>
              <a:rPr lang="en-US" sz="1400" dirty="0">
                <a:solidFill>
                  <a:schemeClr val="tx1"/>
                </a:solidFill>
              </a:rPr>
              <a:t>European credit-card fraud data: 284,807 rows → 283,726 after deduplication (473 frauds, 0.17%).</a:t>
            </a:r>
            <a:endParaRPr lang="en-US" sz="1400" dirty="0"/>
          </a:p>
          <a:p>
            <a:pPr marL="342900" indent="-342900">
              <a:spcAft>
                <a:spcPts val="600"/>
              </a:spcAft>
              <a:buSzPct val="100000"/>
              <a:buChar char="•"/>
            </a:pPr>
            <a:r>
              <a:rPr lang="en-US" sz="1400" dirty="0">
                <a:solidFill>
                  <a:schemeClr val="tx1"/>
                </a:solidFill>
              </a:rPr>
              <a:t>Rows identical except timestamp never straddle partitions.</a:t>
            </a:r>
            <a:endParaRPr lang="en-US" sz="1400" dirty="0"/>
          </a:p>
          <a:p>
            <a:pPr marL="342900" indent="-342900">
              <a:spcAft>
                <a:spcPts val="600"/>
              </a:spcAft>
              <a:buSzPct val="100000"/>
              <a:buChar char="•"/>
            </a:pPr>
            <a:r>
              <a:rPr lang="en-US" sz="1400" dirty="0">
                <a:solidFill>
                  <a:schemeClr val="tx1"/>
                </a:solidFill>
              </a:rPr>
              <a:t>True noise parameters, labels and IDs are offline-only, enforced by a feature registry and tests.</a:t>
            </a:r>
            <a:endParaRPr lang="en-US" sz="1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QML methodology: VQCs and a 64-model pool</a:t>
            </a:r>
            <a:endParaRPr lang="en-US" sz="3200" dirty="0"/>
          </a:p>
        </p:txBody>
      </p:sp>
      <p:pic>
        <p:nvPicPr>
          <p:cNvPr id="3" name="repair-figure" descr="/Users/mayankpokhriyal/Workspaces/q-trace/results/figures/p3ar_pr_comparison.png">    </p:cNvPr>
          <p:cNvPicPr>
            <a:picLocks noChangeAspect="1"/>
          </p:cNvPicPr>
          <p:nvPr/>
        </p:nvPicPr>
        <p:blipFill>
          <a:blip r:embed="rId1"/>
          <a:stretch>
            <a:fillRect/>
          </a:stretch>
        </p:blipFill>
        <p:spPr>
          <a:xfrm>
            <a:off x="457200" y="1208433"/>
            <a:ext cx="4937760" cy="4441135"/>
          </a:xfrm>
          <a:prstGeom prst="rect">
            <a:avLst/>
          </a:prstGeom>
        </p:spPr>
      </p:pic>
      <p:sp>
        <p:nvSpPr>
          <p:cNvPr id="4" name="repair-caption"/>
          <p:cNvSpPr txBox="1"/>
          <p:nvPr/>
        </p:nvSpPr>
        <p:spPr>
          <a:xfrm>
            <a:off x="548640" y="5715000"/>
            <a:ext cx="4754880" cy="457200"/>
          </a:xfrm>
          <a:prstGeom prst="rect">
            <a:avLst/>
          </a:prstGeom>
          <a:noFill/>
          <a:ln/>
        </p:spPr>
        <p:txBody>
          <a:bodyPr wrap="square" lIns="0" tIns="0" rIns="0" bIns="0" rtlCol="0" anchor="t"/>
          <a:lstStyle/>
          <a:p>
            <a:pPr indent="0" marL="0">
              <a:buNone/>
            </a:pPr>
            <a:r>
              <a:rPr lang="en-US" sz="1050" i="1" dirty="0">
                <a:solidFill>
                  <a:schemeClr val="accent5"/>
                </a:solidFill>
              </a:rPr>
              <a:t>Pre-registered encoding repair, validation precision–recall (Phase 3A-R).</a:t>
            </a:r>
            <a:endParaRPr lang="en-US" sz="1050" dirty="0"/>
          </a:p>
        </p:txBody>
      </p:sp>
      <p:sp>
        <p:nvSpPr>
          <p:cNvPr id="5" name="vqc-icon-circle"/>
          <p:cNvSpPr/>
          <p:nvPr/>
        </p:nvSpPr>
        <p:spPr>
          <a:xfrm>
            <a:off x="5760720" y="1325880"/>
            <a:ext cx="731520" cy="731520"/>
          </a:xfrm>
          <a:prstGeom prst="ellipse">
            <a:avLst/>
          </a:prstGeom>
          <a:solidFill>
            <a:srgbClr val="1B2A49"/>
          </a:solidFill>
          <a:ln w="12700">
            <a:solidFill>
              <a:srgbClr val="1B2A49"/>
            </a:solidFill>
            <a:prstDash val="solid"/>
          </a:ln>
        </p:spPr>
      </p:sp>
      <p:pic>
        <p:nvPicPr>
          <p:cNvPr id="6" name="vqc-icon" descr="preencoded.png">    </p:cNvPr>
          <p:cNvPicPr>
            <a:picLocks noChangeAspect="1"/>
          </p:cNvPicPr>
          <p:nvPr/>
        </p:nvPicPr>
        <p:blipFill>
          <a:blip r:embed="rId2"/>
          <a:stretch>
            <a:fillRect/>
          </a:stretch>
        </p:blipFill>
        <p:spPr>
          <a:xfrm>
            <a:off x="5936285" y="1501445"/>
            <a:ext cx="380390" cy="380390"/>
          </a:xfrm>
          <a:prstGeom prst="rect">
            <a:avLst/>
          </a:prstGeom>
        </p:spPr>
      </p:pic>
      <p:sp>
        <p:nvSpPr>
          <p:cNvPr id="7" name="vqc-bullets"/>
          <p:cNvSpPr txBox="1"/>
          <p:nvPr/>
        </p:nvSpPr>
        <p:spPr>
          <a:xfrm>
            <a:off x="6675120" y="1280160"/>
            <a:ext cx="4983480" cy="4572000"/>
          </a:xfrm>
          <a:prstGeom prst="rect">
            <a:avLst/>
          </a:prstGeom>
          <a:noFill/>
          <a:ln/>
        </p:spPr>
        <p:txBody>
          <a:bodyPr wrap="square" lIns="635" tIns="635" rIns="635" bIns="635" rtlCol="0" anchor="t"/>
          <a:lstStyle/>
          <a:p>
            <a:pPr marL="342900" indent="-342900">
              <a:spcAft>
                <a:spcPts val="600"/>
              </a:spcAft>
              <a:buSzPct val="100000"/>
              <a:buChar char="•"/>
            </a:pPr>
            <a:r>
              <a:rPr lang="en-US" sz="1500" dirty="0">
                <a:solidFill>
                  <a:schemeClr val="tx1"/>
                </a:solidFill>
              </a:rPr>
              <a:t>4 qubits: angle encoding → ZZ feature map → RealAmplitudes / EfficientSU2; parity or mean-Z readout.</a:t>
            </a:r>
            <a:endParaRPr lang="en-US" sz="1500" dirty="0"/>
          </a:p>
          <a:p>
            <a:pPr marL="342900" indent="-342900">
              <a:spcAft>
                <a:spcPts val="600"/>
              </a:spcAft>
              <a:buSzPct val="100000"/>
              <a:buChar char="•"/>
            </a:pPr>
            <a:r>
              <a:rPr lang="en-US" sz="1500" b="1" dirty="0">
                <a:solidFill>
                  <a:schemeClr val="tx1"/>
                </a:solidFill>
              </a:rPr>
              <a:t>Encoding repair: AUPRC 0.104 → 0.507 (AUROC 0.957); classical models on the same inputs: 0.59–0.62.</a:t>
            </a:r>
            <a:endParaRPr lang="en-US" sz="1500" dirty="0"/>
          </a:p>
          <a:p>
            <a:pPr marL="342900" indent="-342900">
              <a:spcAft>
                <a:spcPts val="600"/>
              </a:spcAft>
              <a:buSzPct val="100000"/>
              <a:buChar char="•"/>
            </a:pPr>
            <a:r>
              <a:rPr lang="en-US" sz="1500" dirty="0">
                <a:solidFill>
                  <a:schemeClr val="tx1"/>
                </a:solidFill>
              </a:rPr>
              <a:t>64 frozen VQCs = 16 structures × 4 seeds; median AUPRC 0.235 (0.047–0.538).</a:t>
            </a:r>
            <a:endParaRPr lang="en-US" sz="1500" dirty="0"/>
          </a:p>
          <a:p>
            <a:pPr marL="342900" indent="-342900">
              <a:spcAft>
                <a:spcPts val="600"/>
              </a:spcAft>
              <a:buSzPct val="100000"/>
              <a:buChar char="•"/>
            </a:pPr>
            <a:r>
              <a:rPr lang="en-US" sz="1500" dirty="0">
                <a:solidFill>
                  <a:schemeClr val="tx1"/>
                </a:solidFill>
              </a:rPr>
              <a:t>Split by structure 8 / 4 / 4: test structures never seen by any policy.</a:t>
            </a:r>
            <a:endParaRPr lang="en-US" sz="15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Noise breaks calibration, not discrimination</a:t>
            </a:r>
            <a:endParaRPr lang="en-US" sz="3200" dirty="0"/>
          </a:p>
        </p:txBody>
      </p:sp>
      <p:pic>
        <p:nvPicPr>
          <p:cNvPr id="3" name="noise-figure" descr="/Users/mayankpokhriyal/Workspaces/q-trace/deliverables/figures/fig3_noise_effects.png">    </p:cNvPr>
          <p:cNvPicPr>
            <a:picLocks noChangeAspect="1"/>
          </p:cNvPicPr>
          <p:nvPr/>
        </p:nvPicPr>
        <p:blipFill>
          <a:blip r:embed="rId1"/>
          <a:stretch>
            <a:fillRect/>
          </a:stretch>
        </p:blipFill>
        <p:spPr>
          <a:xfrm>
            <a:off x="457200" y="1279871"/>
            <a:ext cx="6675120" cy="2652338"/>
          </a:xfrm>
          <a:prstGeom prst="rect">
            <a:avLst/>
          </a:prstGeom>
        </p:spPr>
      </p:pic>
      <p:pic>
        <p:nvPicPr>
          <p:cNvPr id="4" name="design-figure" descr="/Users/mayankpokhriyal/Workspaces/q-trace/results/figures/p5c_a_design.png">    </p:cNvPr>
          <p:cNvPicPr>
            <a:picLocks noChangeAspect="1"/>
          </p:cNvPicPr>
          <p:nvPr/>
        </p:nvPicPr>
        <p:blipFill>
          <a:blip r:embed="rId2"/>
          <a:stretch>
            <a:fillRect/>
          </a:stretch>
        </p:blipFill>
        <p:spPr>
          <a:xfrm>
            <a:off x="1170698" y="4069080"/>
            <a:ext cx="5248125" cy="2194560"/>
          </a:xfrm>
          <a:prstGeom prst="rect">
            <a:avLst/>
          </a:prstGeom>
        </p:spPr>
      </p:pic>
      <p:sp>
        <p:nvSpPr>
          <p:cNvPr id="5" name="noise-bullets"/>
          <p:cNvSpPr txBox="1"/>
          <p:nvPr/>
        </p:nvSpPr>
        <p:spPr>
          <a:xfrm>
            <a:off x="7406640" y="1280160"/>
            <a:ext cx="4251960" cy="4937760"/>
          </a:xfrm>
          <a:prstGeom prst="rect">
            <a:avLst/>
          </a:prstGeom>
          <a:noFill/>
          <a:ln/>
        </p:spPr>
        <p:txBody>
          <a:bodyPr wrap="square" lIns="635" tIns="635" rIns="635" bIns="635" rtlCol="0" anchor="t"/>
          <a:lstStyle/>
          <a:p>
            <a:pPr marL="342900" indent="-342900">
              <a:spcAft>
                <a:spcPts val="600"/>
              </a:spcAft>
              <a:buSzPct val="100000"/>
              <a:buChar char="•"/>
            </a:pPr>
            <a:r>
              <a:rPr lang="en-US" sz="1400" dirty="0">
                <a:solidFill>
                  <a:schemeClr val="tx1"/>
                </a:solidFill>
              </a:rPr>
              <a:t>Qiskit Aer density matrices: depolarizing, thermal relaxation, readout confusion; finite-shot draws paired across actions.</a:t>
            </a:r>
            <a:endParaRPr lang="en-US" sz="1400" dirty="0"/>
          </a:p>
          <a:p>
            <a:pPr marL="342900" indent="-342900">
              <a:spcAft>
                <a:spcPts val="600"/>
              </a:spcAft>
              <a:buSzPct val="100000"/>
              <a:buChar char="•"/>
            </a:pPr>
            <a:r>
              <a:rPr lang="en-US" sz="1400" b="1" dirty="0">
                <a:solidFill>
                  <a:schemeClr val="tx1"/>
                </a:solidFill>
              </a:rPr>
              <a:t>AUPRC moves ≤ 0.003; Brier up to 13× (0.009 → 0.121).</a:t>
            </a:r>
            <a:endParaRPr lang="en-US" sz="1400" dirty="0"/>
          </a:p>
          <a:p>
            <a:pPr marL="342900" indent="-342900">
              <a:spcAft>
                <a:spcPts val="600"/>
              </a:spcAft>
              <a:buSzPct val="100000"/>
              <a:buChar char="•"/>
            </a:pPr>
            <a:r>
              <a:rPr lang="en-US" sz="1400" dirty="0">
                <a:solidFill>
                  <a:schemeClr val="tx1"/>
                </a:solidFill>
              </a:rPr>
              <a:t>Phase 5B: 8 near-categorical conditions.</a:t>
            </a:r>
            <a:endParaRPr lang="en-US" sz="1400" dirty="0"/>
          </a:p>
          <a:p>
            <a:pPr marL="342900" indent="-342900">
              <a:spcAft>
                <a:spcPts val="600"/>
              </a:spcAft>
              <a:buSzPct val="100000"/>
              <a:buChar char="•"/>
            </a:pPr>
            <a:r>
              <a:rPr lang="en-US" sz="1400" dirty="0">
                <a:solidFill>
                  <a:schemeClr val="tx1"/>
                </a:solidFill>
              </a:rPr>
              <a:t>Phase 5C: 68 continuous joint-noise points (split-plot Latin hypercube) within validated ranges; 256–4,096 shots.</a:t>
            </a:r>
            <a:endParaRPr lang="en-US" sz="1400" dirty="0"/>
          </a:p>
          <a:p>
            <a:pPr marL="342900" indent="-342900">
              <a:spcAft>
                <a:spcPts val="600"/>
              </a:spcAft>
              <a:buSzPct val="100000"/>
              <a:buChar char="•"/>
            </a:pPr>
            <a:r>
              <a:rPr lang="en-US" sz="1400" dirty="0">
                <a:solidFill>
                  <a:schemeClr val="tx1"/>
                </a:solidFill>
              </a:rPr>
              <a:t>Asymmetric readout is a synthetic assumption.</a:t>
            </a:r>
            <a:endParaRPr lang="en-US" sz="1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Error-mitigation methods and their costs</a:t>
            </a:r>
            <a:endParaRPr lang="en-US" sz="3200" dirty="0"/>
          </a:p>
        </p:txBody>
      </p:sp>
      <p:graphicFrame>
        <p:nvGraphicFramePr>
          <p:cNvPr id="9" name="action-table"/>
          <p:cNvGraphicFramePr>
            <a:graphicFrameLocks noGrp="1"/>
          </p:cNvGraphicFramePr>
          <p:nvPr>
            <p:extLst>
              <p:ext uri="{D42A27DB-BD31-4B8C-83A1-F6EECF244321}">
                <p14:modId xmlns:p14="http://schemas.microsoft.com/office/powerpoint/2010/main" val="1579011935"/>
              </p:ext>
            </p:extLst>
          </p:nvPr>
        </p:nvGraphicFramePr>
        <p:xfrm>
          <a:off x="548640" y="1325880"/>
          <a:ext cx="5760720" cy="914400"/>
        </p:xfrm>
        <a:graphic>
          <a:graphicData uri="http://schemas.openxmlformats.org/drawingml/2006/table">
            <a:tbl>
              <a:tblPr/>
              <a:tblGrid>
                <a:gridCol w="731520"/>
                <a:gridCol w="2834640"/>
                <a:gridCol w="1188720"/>
                <a:gridCol w="1005840"/>
              </a:tblGrid>
              <a:tr h="0">
                <a:tc>
                  <a:txBody>
                    <a:bodyPr/>
                    <a:lstStyle/>
                    <a:p>
                      <a:pPr indent="0" marL="0">
                        <a:buNone/>
                      </a:pPr>
                      <a:r>
                        <a:rPr lang="en-US" sz="1200" b="1" dirty="0">
                          <a:solidFill>
                            <a:srgbClr val="FFFFFF"/>
                          </a:solidFill>
                        </a:rPr>
                        <a:t>Action</a:t>
                      </a:r>
                      <a:endParaRPr lang="en-US" sz="12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B2A49"/>
                    </a:solidFill>
                  </a:tcPr>
                </a:tc>
                <a:tc>
                  <a:txBody>
                    <a:bodyPr/>
                    <a:lstStyle/>
                    <a:p>
                      <a:pPr indent="0" marL="0">
                        <a:buNone/>
                      </a:pPr>
                      <a:r>
                        <a:rPr lang="en-US" sz="1200" b="1" dirty="0">
                          <a:solidFill>
                            <a:srgbClr val="FFFFFF"/>
                          </a:solidFill>
                        </a:rPr>
                        <a:t>Method</a:t>
                      </a:r>
                      <a:endParaRPr lang="en-US" sz="12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B2A49"/>
                    </a:solidFill>
                  </a:tcPr>
                </a:tc>
                <a:tc>
                  <a:txBody>
                    <a:bodyPr/>
                    <a:lstStyle/>
                    <a:p>
                      <a:pPr indent="0" marL="0">
                        <a:buNone/>
                      </a:pPr>
                      <a:r>
                        <a:rPr lang="en-US" sz="1200" b="1" dirty="0">
                          <a:solidFill>
                            <a:srgbClr val="FFFFFF"/>
                          </a:solidFill>
                        </a:rPr>
                        <a:t>Shots / inference</a:t>
                      </a:r>
                      <a:endParaRPr lang="en-US" sz="12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B2A49"/>
                    </a:solidFill>
                  </a:tcPr>
                </a:tc>
                <a:tc>
                  <a:txBody>
                    <a:bodyPr/>
                    <a:lstStyle/>
                    <a:p>
                      <a:pPr indent="0" marL="0">
                        <a:buNone/>
                      </a:pPr>
                      <a:r>
                        <a:rPr lang="en-US" sz="1200" b="1" dirty="0">
                          <a:solidFill>
                            <a:srgbClr val="FFFFFF"/>
                          </a:solidFill>
                        </a:rPr>
                        <a:t>CX exposure</a:t>
                      </a:r>
                      <a:endParaRPr lang="en-US" sz="12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B2A49"/>
                    </a:solidFill>
                  </a:tcPr>
                </a:tc>
              </a:tr>
              <a:tr h="0">
                <a:tc>
                  <a:txBody>
                    <a:bodyPr/>
                    <a:lstStyle/>
                    <a:p>
                      <a:pPr indent="0" marL="0">
                        <a:buNone/>
                      </a:pPr>
                      <a:r>
                        <a:rPr lang="en-US" sz="1200" dirty="0">
                          <a:solidFill>
                            <a:srgbClr val="1A1F2B"/>
                          </a:solidFill>
                        </a:rPr>
                        <a:t>A0</a:t>
                      </a:r>
                      <a:endParaRPr lang="en-US" sz="12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200" dirty="0">
                          <a:solidFill>
                            <a:srgbClr val="1A1F2B"/>
                          </a:solidFill>
                        </a:rPr>
                        <a:t>none</a:t>
                      </a:r>
                      <a:endParaRPr lang="en-US" sz="12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200" dirty="0">
                          <a:solidFill>
                            <a:srgbClr val="1A1F2B"/>
                          </a:solidFill>
                        </a:rPr>
                        <a:t>S</a:t>
                      </a:r>
                      <a:endParaRPr lang="en-US" sz="12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200" dirty="0">
                          <a:solidFill>
                            <a:srgbClr val="1A1F2B"/>
                          </a:solidFill>
                        </a:rPr>
                        <a:t>1×</a:t>
                      </a:r>
                      <a:endParaRPr lang="en-US" sz="12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r>
              <a:tr h="0">
                <a:tc>
                  <a:txBody>
                    <a:bodyPr/>
                    <a:lstStyle/>
                    <a:p>
                      <a:pPr indent="0" marL="0">
                        <a:buNone/>
                      </a:pPr>
                      <a:r>
                        <a:rPr lang="en-US" sz="1200" dirty="0">
                          <a:solidFill>
                            <a:srgbClr val="1A1F2B"/>
                          </a:solidFill>
                        </a:rPr>
                        <a:t>A1</a:t>
                      </a:r>
                      <a:endParaRPr lang="en-US" sz="12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200" dirty="0">
                          <a:solidFill>
                            <a:srgbClr val="1A1F2B"/>
                          </a:solidFill>
                        </a:rPr>
                        <a:t>tensored readout inversion + simplex projection</a:t>
                      </a:r>
                      <a:endParaRPr lang="en-US" sz="12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200" dirty="0">
                          <a:solidFill>
                            <a:srgbClr val="1A1F2B"/>
                          </a:solidFill>
                        </a:rPr>
                        <a:t>S + 2S/N</a:t>
                      </a:r>
                      <a:endParaRPr lang="en-US" sz="12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200" dirty="0">
                          <a:solidFill>
                            <a:srgbClr val="1A1F2B"/>
                          </a:solidFill>
                        </a:rPr>
                        <a:t>1×</a:t>
                      </a:r>
                      <a:endParaRPr lang="en-US" sz="12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r>
              <a:tr h="0">
                <a:tc>
                  <a:txBody>
                    <a:bodyPr/>
                    <a:lstStyle/>
                    <a:p>
                      <a:pPr indent="0" marL="0">
                        <a:buNone/>
                      </a:pPr>
                      <a:r>
                        <a:rPr lang="en-US" sz="1200" dirty="0">
                          <a:solidFill>
                            <a:srgbClr val="1A1F2B"/>
                          </a:solidFill>
                        </a:rPr>
                        <a:t>A4</a:t>
                      </a:r>
                      <a:endParaRPr lang="en-US" sz="12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200" dirty="0">
                          <a:solidFill>
                            <a:srgbClr val="1A1F2B"/>
                          </a:solidFill>
                        </a:rPr>
                        <a:t>3× shots, unmitigated</a:t>
                      </a:r>
                      <a:endParaRPr lang="en-US" sz="12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200" dirty="0">
                          <a:solidFill>
                            <a:srgbClr val="1A1F2B"/>
                          </a:solidFill>
                        </a:rPr>
                        <a:t>3S</a:t>
                      </a:r>
                      <a:endParaRPr lang="en-US" sz="12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200" dirty="0">
                          <a:solidFill>
                            <a:srgbClr val="1A1F2B"/>
                          </a:solidFill>
                        </a:rPr>
                        <a:t>3×</a:t>
                      </a:r>
                      <a:endParaRPr lang="en-US" sz="12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r>
              <a:tr h="0">
                <a:tc>
                  <a:txBody>
                    <a:bodyPr/>
                    <a:lstStyle/>
                    <a:p>
                      <a:pPr indent="0" marL="0">
                        <a:buNone/>
                      </a:pPr>
                      <a:r>
                        <a:rPr lang="en-US" sz="1200" dirty="0">
                          <a:solidFill>
                            <a:srgbClr val="1A1F2B"/>
                          </a:solidFill>
                        </a:rPr>
                        <a:t>A2</a:t>
                      </a:r>
                      <a:endParaRPr lang="en-US" sz="12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200" dirty="0">
                          <a:solidFill>
                            <a:srgbClr val="1A1F2B"/>
                          </a:solidFill>
                        </a:rPr>
                        <a:t>ZNE: global folding λ = 1, 3, 5; linear fit</a:t>
                      </a:r>
                      <a:endParaRPr lang="en-US" sz="12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200" dirty="0">
                          <a:solidFill>
                            <a:srgbClr val="1A1F2B"/>
                          </a:solidFill>
                        </a:rPr>
                        <a:t>3S</a:t>
                      </a:r>
                      <a:endParaRPr lang="en-US" sz="12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200" dirty="0">
                          <a:solidFill>
                            <a:srgbClr val="1A1F2B"/>
                          </a:solidFill>
                        </a:rPr>
                        <a:t>9×</a:t>
                      </a:r>
                      <a:endParaRPr lang="en-US" sz="12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r>
              <a:tr h="0">
                <a:tc>
                  <a:txBody>
                    <a:bodyPr/>
                    <a:lstStyle/>
                    <a:p>
                      <a:pPr indent="0" marL="0">
                        <a:buNone/>
                      </a:pPr>
                      <a:r>
                        <a:rPr lang="en-US" sz="1200" dirty="0">
                          <a:solidFill>
                            <a:srgbClr val="1A1F2B"/>
                          </a:solidFill>
                        </a:rPr>
                        <a:t>A3</a:t>
                      </a:r>
                      <a:endParaRPr lang="en-US" sz="12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200" dirty="0">
                          <a:solidFill>
                            <a:srgbClr val="1A1F2B"/>
                          </a:solidFill>
                        </a:rPr>
                        <a:t>readout mitigation + ZNE</a:t>
                      </a:r>
                      <a:endParaRPr lang="en-US" sz="12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200" dirty="0">
                          <a:solidFill>
                            <a:srgbClr val="1A1F2B"/>
                          </a:solidFill>
                        </a:rPr>
                        <a:t>3S + 2S/N</a:t>
                      </a:r>
                      <a:endParaRPr lang="en-US" sz="12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200" dirty="0">
                          <a:solidFill>
                            <a:srgbClr val="1A1F2B"/>
                          </a:solidFill>
                        </a:rPr>
                        <a:t>9×</a:t>
                      </a:r>
                      <a:endParaRPr lang="en-US" sz="1200" dirty="0"/>
                    </a:p>
                  </a:txBody>
                  <a:tcPr marL="73152" marR="73152" marT="36576" marB="36576"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r>
            </a:tbl>
          </a:graphicData>
        </a:graphic>
      </p:graphicFrame>
      <p:sp>
        <p:nvSpPr>
          <p:cNvPr id="4" name="action-caption"/>
          <p:cNvSpPr txBox="1"/>
          <p:nvPr/>
        </p:nvSpPr>
        <p:spPr>
          <a:xfrm>
            <a:off x="548640" y="3703320"/>
            <a:ext cx="5760720" cy="548640"/>
          </a:xfrm>
          <a:prstGeom prst="rect">
            <a:avLst/>
          </a:prstGeom>
          <a:noFill/>
          <a:ln/>
        </p:spPr>
        <p:txBody>
          <a:bodyPr wrap="square" lIns="0" tIns="0" rIns="0" bIns="0" rtlCol="0" anchor="t"/>
          <a:lstStyle/>
          <a:p>
            <a:pPr indent="0" marL="0">
              <a:buNone/>
            </a:pPr>
            <a:r>
              <a:rPr lang="en-US" sz="1050" i="1" dirty="0">
                <a:solidFill>
                  <a:schemeClr val="accent5"/>
                </a:solidFill>
              </a:rPr>
              <a:t>S = shots per circuit; N = transactions per batch. Probe cost (66·S shots per batch) is charged to probing policies.</a:t>
            </a:r>
            <a:endParaRPr lang="en-US" sz="1050" dirty="0"/>
          </a:p>
        </p:txBody>
      </p:sp>
      <p:sp>
        <p:nvSpPr>
          <p:cNvPr id="5" name="mitigation-bullets"/>
          <p:cNvSpPr txBox="1"/>
          <p:nvPr/>
        </p:nvSpPr>
        <p:spPr>
          <a:xfrm>
            <a:off x="548640" y="4343400"/>
            <a:ext cx="5760720" cy="1737360"/>
          </a:xfrm>
          <a:prstGeom prst="rect">
            <a:avLst/>
          </a:prstGeom>
          <a:noFill/>
          <a:ln/>
        </p:spPr>
        <p:txBody>
          <a:bodyPr wrap="square" lIns="635" tIns="635" rIns="635" bIns="635" rtlCol="0" anchor="t"/>
          <a:lstStyle/>
          <a:p>
            <a:pPr marL="342900" indent="-342900">
              <a:spcAft>
                <a:spcPts val="600"/>
              </a:spcAft>
              <a:buSzPct val="100000"/>
              <a:buChar char="•"/>
            </a:pPr>
            <a:r>
              <a:rPr lang="en-US" sz="1500" dirty="0">
                <a:solidFill>
                  <a:schemeClr val="tx1"/>
                </a:solidFill>
              </a:rPr>
              <a:t>No action improves AUPRC over its shot-matched baseline.</a:t>
            </a:r>
            <a:endParaRPr lang="en-US" sz="1500" dirty="0"/>
          </a:p>
          <a:p>
            <a:pPr marL="342900" indent="-342900">
              <a:spcAft>
                <a:spcPts val="600"/>
              </a:spcAft>
              <a:buSzPct val="100000"/>
              <a:buChar char="•"/>
            </a:pPr>
            <a:r>
              <a:rPr lang="en-US" sz="1500" b="1" dirty="0">
                <a:solidFill>
                  <a:schemeClr val="tx1"/>
                </a:solidFill>
              </a:rPr>
              <a:t>Brier restored: 0.053 → 0.011 (readout), 0.055 → 0.038 (ZNE), 0.122 → 0.054 (both); 3× shots: unchanged.</a:t>
            </a:r>
            <a:endParaRPr lang="en-US" sz="1500" dirty="0"/>
          </a:p>
        </p:txBody>
      </p:sp>
      <p:pic>
        <p:nvPicPr>
          <p:cNvPr id="6" name="mitigation-figure" descr="/Users/mayankpokhriyal/Workspaces/q-trace/deliverables/figures/fig4_mitigation.png">    </p:cNvPr>
          <p:cNvPicPr>
            <a:picLocks noChangeAspect="1"/>
          </p:cNvPicPr>
          <p:nvPr/>
        </p:nvPicPr>
        <p:blipFill>
          <a:blip r:embed="rId1"/>
          <a:stretch>
            <a:fillRect/>
          </a:stretch>
        </p:blipFill>
        <p:spPr>
          <a:xfrm>
            <a:off x="6492240" y="2534659"/>
            <a:ext cx="5257800" cy="2245881"/>
          </a:xfrm>
          <a:prstGeom prst="rect">
            <a:avLst/>
          </a:prstGeom>
        </p:spPr>
      </p:pic>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Experimental design and integrity</a:t>
            </a:r>
            <a:endParaRPr lang="en-US" sz="3200" dirty="0"/>
          </a:p>
        </p:txBody>
      </p:sp>
      <p:pic>
        <p:nvPicPr>
          <p:cNvPr id="3" name="workflow-figure" descr="/Users/mayankpokhriyal/Workspaces/q-trace/deliverables/figures/fig2_workflow.png">    </p:cNvPr>
          <p:cNvPicPr>
            <a:picLocks noChangeAspect="1"/>
          </p:cNvPicPr>
          <p:nvPr/>
        </p:nvPicPr>
        <p:blipFill>
          <a:blip r:embed="rId1"/>
          <a:stretch>
            <a:fillRect/>
          </a:stretch>
        </p:blipFill>
        <p:spPr>
          <a:xfrm>
            <a:off x="457200" y="1231323"/>
            <a:ext cx="7315200" cy="3480955"/>
          </a:xfrm>
          <a:prstGeom prst="rect">
            <a:avLst/>
          </a:prstGeom>
        </p:spPr>
      </p:pic>
      <p:sp>
        <p:nvSpPr>
          <p:cNvPr id="4" name="integ-icon-0-circle"/>
          <p:cNvSpPr/>
          <p:nvPr/>
        </p:nvSpPr>
        <p:spPr>
          <a:xfrm>
            <a:off x="8092440" y="1280160"/>
            <a:ext cx="685800" cy="685800"/>
          </a:xfrm>
          <a:prstGeom prst="ellipse">
            <a:avLst/>
          </a:prstGeom>
          <a:solidFill>
            <a:srgbClr val="0F8B8D"/>
          </a:solidFill>
          <a:ln w="12700">
            <a:solidFill>
              <a:srgbClr val="0F8B8D"/>
            </a:solidFill>
            <a:prstDash val="solid"/>
          </a:ln>
        </p:spPr>
      </p:sp>
      <p:pic>
        <p:nvPicPr>
          <p:cNvPr id="5" name="integ-icon-0" descr="preencoded.png">    </p:cNvPr>
          <p:cNvPicPr>
            <a:picLocks noChangeAspect="1"/>
          </p:cNvPicPr>
          <p:nvPr/>
        </p:nvPicPr>
        <p:blipFill>
          <a:blip r:embed="rId2"/>
          <a:stretch>
            <a:fillRect/>
          </a:stretch>
        </p:blipFill>
        <p:spPr>
          <a:xfrm>
            <a:off x="8257032" y="1444752"/>
            <a:ext cx="356616" cy="356616"/>
          </a:xfrm>
          <a:prstGeom prst="rect">
            <a:avLst/>
          </a:prstGeom>
        </p:spPr>
      </p:pic>
      <p:sp>
        <p:nvSpPr>
          <p:cNvPr id="6" name="integ-head-0"/>
          <p:cNvSpPr txBox="1"/>
          <p:nvPr/>
        </p:nvSpPr>
        <p:spPr>
          <a:xfrm>
            <a:off x="8961120" y="1234440"/>
            <a:ext cx="2743200" cy="365760"/>
          </a:xfrm>
          <a:prstGeom prst="rect">
            <a:avLst/>
          </a:prstGeom>
          <a:noFill/>
          <a:ln/>
        </p:spPr>
        <p:txBody>
          <a:bodyPr wrap="square" lIns="0" tIns="0" rIns="0" bIns="0" rtlCol="0" anchor="ctr"/>
          <a:lstStyle/>
          <a:p>
            <a:pPr indent="0" marL="0">
              <a:buNone/>
            </a:pPr>
            <a:r>
              <a:rPr lang="en-US" sz="1500" b="1" dirty="0">
                <a:solidFill>
                  <a:schemeClr val="tx2"/>
                </a:solidFill>
              </a:rPr>
              <a:t>Pre-registered</a:t>
            </a:r>
            <a:endParaRPr lang="en-US" sz="1500" dirty="0"/>
          </a:p>
        </p:txBody>
      </p:sp>
      <p:sp>
        <p:nvSpPr>
          <p:cNvPr id="7" name="integ-body-0"/>
          <p:cNvSpPr txBox="1"/>
          <p:nvPr/>
        </p:nvSpPr>
        <p:spPr>
          <a:xfrm>
            <a:off x="8961120" y="1600200"/>
            <a:ext cx="2743200" cy="548640"/>
          </a:xfrm>
          <a:prstGeom prst="rect">
            <a:avLst/>
          </a:prstGeom>
          <a:noFill/>
          <a:ln/>
        </p:spPr>
        <p:txBody>
          <a:bodyPr wrap="square" lIns="0" tIns="0" rIns="0" bIns="0" rtlCol="0" anchor="t"/>
          <a:lstStyle/>
          <a:p>
            <a:pPr indent="0" marL="0">
              <a:buNone/>
            </a:pPr>
            <a:r>
              <a:rPr lang="en-US" sz="1300" dirty="0">
                <a:solidFill>
                  <a:schemeClr val="tx1"/>
                </a:solidFill>
              </a:rPr>
              <a:t>config + code pushed before every outcome</a:t>
            </a:r>
            <a:endParaRPr lang="en-US" sz="1300" dirty="0"/>
          </a:p>
        </p:txBody>
      </p:sp>
      <p:sp>
        <p:nvSpPr>
          <p:cNvPr id="8" name="integ-icon-1-circle"/>
          <p:cNvSpPr/>
          <p:nvPr/>
        </p:nvSpPr>
        <p:spPr>
          <a:xfrm>
            <a:off x="8092440" y="2468880"/>
            <a:ext cx="685800" cy="685800"/>
          </a:xfrm>
          <a:prstGeom prst="ellipse">
            <a:avLst/>
          </a:prstGeom>
          <a:solidFill>
            <a:srgbClr val="0F8B8D"/>
          </a:solidFill>
          <a:ln w="12700">
            <a:solidFill>
              <a:srgbClr val="0F8B8D"/>
            </a:solidFill>
            <a:prstDash val="solid"/>
          </a:ln>
        </p:spPr>
      </p:sp>
      <p:pic>
        <p:nvPicPr>
          <p:cNvPr id="9" name="integ-icon-1" descr="preencoded.png">    </p:cNvPr>
          <p:cNvPicPr>
            <a:picLocks noChangeAspect="1"/>
          </p:cNvPicPr>
          <p:nvPr/>
        </p:nvPicPr>
        <p:blipFill>
          <a:blip r:embed="rId3"/>
          <a:stretch>
            <a:fillRect/>
          </a:stretch>
        </p:blipFill>
        <p:spPr>
          <a:xfrm>
            <a:off x="8257032" y="2633472"/>
            <a:ext cx="356616" cy="356616"/>
          </a:xfrm>
          <a:prstGeom prst="rect">
            <a:avLst/>
          </a:prstGeom>
        </p:spPr>
      </p:pic>
      <p:sp>
        <p:nvSpPr>
          <p:cNvPr id="10" name="integ-head-1"/>
          <p:cNvSpPr txBox="1"/>
          <p:nvPr/>
        </p:nvSpPr>
        <p:spPr>
          <a:xfrm>
            <a:off x="8961120" y="2423160"/>
            <a:ext cx="2743200" cy="365760"/>
          </a:xfrm>
          <a:prstGeom prst="rect">
            <a:avLst/>
          </a:prstGeom>
          <a:noFill/>
          <a:ln/>
        </p:spPr>
        <p:txBody>
          <a:bodyPr wrap="square" lIns="0" tIns="0" rIns="0" bIns="0" rtlCol="0" anchor="ctr"/>
          <a:lstStyle/>
          <a:p>
            <a:pPr indent="0" marL="0">
              <a:buNone/>
            </a:pPr>
            <a:r>
              <a:rPr lang="en-US" sz="1500" b="1" dirty="0">
                <a:solidFill>
                  <a:schemeClr val="tx2"/>
                </a:solidFill>
              </a:rPr>
              <a:t>Sealed test</a:t>
            </a:r>
            <a:endParaRPr lang="en-US" sz="1500" dirty="0"/>
          </a:p>
        </p:txBody>
      </p:sp>
      <p:sp>
        <p:nvSpPr>
          <p:cNvPr id="11" name="integ-body-1"/>
          <p:cNvSpPr txBox="1"/>
          <p:nvPr/>
        </p:nvSpPr>
        <p:spPr>
          <a:xfrm>
            <a:off x="8961120" y="2788920"/>
            <a:ext cx="2743200" cy="548640"/>
          </a:xfrm>
          <a:prstGeom prst="rect">
            <a:avLst/>
          </a:prstGeom>
          <a:noFill/>
          <a:ln/>
        </p:spPr>
        <p:txBody>
          <a:bodyPr wrap="square" lIns="0" tIns="0" rIns="0" bIns="0" rtlCol="0" anchor="t"/>
          <a:lstStyle/>
          <a:p>
            <a:pPr indent="0" marL="0">
              <a:buNone/>
            </a:pPr>
            <a:r>
              <a:rPr lang="en-US" sz="1300" dirty="0">
                <a:solidFill>
                  <a:schemeClr val="tx1"/>
                </a:solidFill>
              </a:rPr>
              <a:t>unlocked once, by a guard; reads logged</a:t>
            </a:r>
            <a:endParaRPr lang="en-US" sz="1300" dirty="0"/>
          </a:p>
        </p:txBody>
      </p:sp>
      <p:sp>
        <p:nvSpPr>
          <p:cNvPr id="12" name="integ-icon-2-circle"/>
          <p:cNvSpPr/>
          <p:nvPr/>
        </p:nvSpPr>
        <p:spPr>
          <a:xfrm>
            <a:off x="8092440" y="3657600"/>
            <a:ext cx="685800" cy="685800"/>
          </a:xfrm>
          <a:prstGeom prst="ellipse">
            <a:avLst/>
          </a:prstGeom>
          <a:solidFill>
            <a:srgbClr val="0F8B8D"/>
          </a:solidFill>
          <a:ln w="12700">
            <a:solidFill>
              <a:srgbClr val="0F8B8D"/>
            </a:solidFill>
            <a:prstDash val="solid"/>
          </a:ln>
        </p:spPr>
      </p:sp>
      <p:pic>
        <p:nvPicPr>
          <p:cNvPr id="13" name="integ-icon-2" descr="preencoded.png">    </p:cNvPr>
          <p:cNvPicPr>
            <a:picLocks noChangeAspect="1"/>
          </p:cNvPicPr>
          <p:nvPr/>
        </p:nvPicPr>
        <p:blipFill>
          <a:blip r:embed="rId4"/>
          <a:stretch>
            <a:fillRect/>
          </a:stretch>
        </p:blipFill>
        <p:spPr>
          <a:xfrm>
            <a:off x="8257032" y="3822192"/>
            <a:ext cx="356616" cy="356616"/>
          </a:xfrm>
          <a:prstGeom prst="rect">
            <a:avLst/>
          </a:prstGeom>
        </p:spPr>
      </p:pic>
      <p:sp>
        <p:nvSpPr>
          <p:cNvPr id="14" name="integ-head-2"/>
          <p:cNvSpPr txBox="1"/>
          <p:nvPr/>
        </p:nvSpPr>
        <p:spPr>
          <a:xfrm>
            <a:off x="8961120" y="3611880"/>
            <a:ext cx="2743200" cy="365760"/>
          </a:xfrm>
          <a:prstGeom prst="rect">
            <a:avLst/>
          </a:prstGeom>
          <a:noFill/>
          <a:ln/>
        </p:spPr>
        <p:txBody>
          <a:bodyPr wrap="square" lIns="0" tIns="0" rIns="0" bIns="0" rtlCol="0" anchor="ctr"/>
          <a:lstStyle/>
          <a:p>
            <a:pPr indent="0" marL="0">
              <a:buNone/>
            </a:pPr>
            <a:r>
              <a:rPr lang="en-US" sz="1500" b="1" dirty="0">
                <a:solidFill>
                  <a:schemeClr val="tx2"/>
                </a:solidFill>
              </a:rPr>
              <a:t>Frozen comparators</a:t>
            </a:r>
            <a:endParaRPr lang="en-US" sz="1500" dirty="0"/>
          </a:p>
        </p:txBody>
      </p:sp>
      <p:sp>
        <p:nvSpPr>
          <p:cNvPr id="15" name="integ-body-2"/>
          <p:cNvSpPr txBox="1"/>
          <p:nvPr/>
        </p:nvSpPr>
        <p:spPr>
          <a:xfrm>
            <a:off x="8961120" y="3977640"/>
            <a:ext cx="2743200" cy="548640"/>
          </a:xfrm>
          <a:prstGeom prst="rect">
            <a:avLst/>
          </a:prstGeom>
          <a:noFill/>
          <a:ln/>
        </p:spPr>
        <p:txBody>
          <a:bodyPr wrap="square" lIns="0" tIns="0" rIns="0" bIns="0" rtlCol="0" anchor="t"/>
          <a:lstStyle/>
          <a:p>
            <a:pPr indent="0" marL="0">
              <a:buNone/>
            </a:pPr>
            <a:r>
              <a:rPr lang="en-US" sz="1300" dirty="0">
                <a:solidFill>
                  <a:schemeClr val="tx1"/>
                </a:solidFill>
              </a:rPr>
              <a:t>decision fingerprints verified at test</a:t>
            </a:r>
            <a:endParaRPr lang="en-US" sz="1300" dirty="0"/>
          </a:p>
        </p:txBody>
      </p:sp>
      <p:sp>
        <p:nvSpPr>
          <p:cNvPr id="16" name="integ-icon-3-circle"/>
          <p:cNvSpPr/>
          <p:nvPr/>
        </p:nvSpPr>
        <p:spPr>
          <a:xfrm>
            <a:off x="8092440" y="4846320"/>
            <a:ext cx="685800" cy="685800"/>
          </a:xfrm>
          <a:prstGeom prst="ellipse">
            <a:avLst/>
          </a:prstGeom>
          <a:solidFill>
            <a:srgbClr val="0F8B8D"/>
          </a:solidFill>
          <a:ln w="12700">
            <a:solidFill>
              <a:srgbClr val="0F8B8D"/>
            </a:solidFill>
            <a:prstDash val="solid"/>
          </a:ln>
        </p:spPr>
      </p:sp>
      <p:pic>
        <p:nvPicPr>
          <p:cNvPr id="17" name="integ-icon-3" descr="preencoded.png">    </p:cNvPr>
          <p:cNvPicPr>
            <a:picLocks noChangeAspect="1"/>
          </p:cNvPicPr>
          <p:nvPr/>
        </p:nvPicPr>
        <p:blipFill>
          <a:blip r:embed="rId5"/>
          <a:stretch>
            <a:fillRect/>
          </a:stretch>
        </p:blipFill>
        <p:spPr>
          <a:xfrm>
            <a:off x="8257032" y="5010912"/>
            <a:ext cx="356616" cy="356616"/>
          </a:xfrm>
          <a:prstGeom prst="rect">
            <a:avLst/>
          </a:prstGeom>
        </p:spPr>
      </p:pic>
      <p:sp>
        <p:nvSpPr>
          <p:cNvPr id="18" name="integ-head-3"/>
          <p:cNvSpPr txBox="1"/>
          <p:nvPr/>
        </p:nvSpPr>
        <p:spPr>
          <a:xfrm>
            <a:off x="8961120" y="4800600"/>
            <a:ext cx="2743200" cy="365760"/>
          </a:xfrm>
          <a:prstGeom prst="rect">
            <a:avLst/>
          </a:prstGeom>
          <a:noFill/>
          <a:ln/>
        </p:spPr>
        <p:txBody>
          <a:bodyPr wrap="square" lIns="0" tIns="0" rIns="0" bIns="0" rtlCol="0" anchor="ctr"/>
          <a:lstStyle/>
          <a:p>
            <a:pPr indent="0" marL="0">
              <a:buNone/>
            </a:pPr>
            <a:r>
              <a:rPr lang="en-US" sz="1500" b="1" dirty="0">
                <a:solidFill>
                  <a:schemeClr val="tx2"/>
                </a:solidFill>
              </a:rPr>
              <a:t>Reproducible</a:t>
            </a:r>
            <a:endParaRPr lang="en-US" sz="1500" dirty="0"/>
          </a:p>
        </p:txBody>
      </p:sp>
      <p:sp>
        <p:nvSpPr>
          <p:cNvPr id="19" name="integ-body-3"/>
          <p:cNvSpPr txBox="1"/>
          <p:nvPr/>
        </p:nvSpPr>
        <p:spPr>
          <a:xfrm>
            <a:off x="8961120" y="5166360"/>
            <a:ext cx="2743200" cy="548640"/>
          </a:xfrm>
          <a:prstGeom prst="rect">
            <a:avLst/>
          </a:prstGeom>
          <a:noFill/>
          <a:ln/>
        </p:spPr>
        <p:txBody>
          <a:bodyPr wrap="square" lIns="0" tIns="0" rIns="0" bIns="0" rtlCol="0" anchor="t"/>
          <a:lstStyle/>
          <a:p>
            <a:pPr indent="0" marL="0">
              <a:buNone/>
            </a:pPr>
            <a:r>
              <a:rPr lang="en-US" sz="1300" dirty="0">
                <a:solidFill>
                  <a:schemeClr val="tx1"/>
                </a:solidFill>
              </a:rPr>
              <a:t>16 slow tests re-run Phases 1–5C and the final test</a:t>
            </a:r>
            <a:endParaRPr lang="en-US" sz="1300" dirty="0"/>
          </a:p>
        </p:txBody>
      </p:sp>
      <p:sp>
        <p:nvSpPr>
          <p:cNvPr id="20" name="workflow-caption"/>
          <p:cNvSpPr txBox="1"/>
          <p:nvPr/>
        </p:nvSpPr>
        <p:spPr>
          <a:xfrm>
            <a:off x="548640" y="4892040"/>
            <a:ext cx="7132320" cy="457200"/>
          </a:xfrm>
          <a:prstGeom prst="rect">
            <a:avLst/>
          </a:prstGeom>
          <a:noFill/>
          <a:ln/>
        </p:spPr>
        <p:txBody>
          <a:bodyPr wrap="square" lIns="0" tIns="0" rIns="0" bIns="0" rtlCol="0" anchor="t"/>
          <a:lstStyle/>
          <a:p>
            <a:pPr indent="0" marL="0">
              <a:buNone/>
            </a:pPr>
            <a:r>
              <a:rPr lang="en-US" sz="1050" i="1" dirty="0">
                <a:solidFill>
                  <a:schemeClr val="accent5"/>
                </a:solidFill>
              </a:rPr>
              <a:t>Gates decide whether to proceed; negative outcomes are reported as results.</a:t>
            </a:r>
            <a:endParaRPr lang="en-US" sz="105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Controllers, baselines and two failed gates</a:t>
            </a:r>
            <a:endParaRPr lang="en-US" sz="3200" dirty="0"/>
          </a:p>
        </p:txBody>
      </p:sp>
      <p:sp>
        <p:nvSpPr>
          <p:cNvPr id="3" name="policy-card"/>
          <p:cNvSpPr/>
          <p:nvPr/>
        </p:nvSpPr>
        <p:spPr>
          <a:xfrm>
            <a:off x="548640" y="1325880"/>
            <a:ext cx="5394960" cy="3657600"/>
          </a:xfrm>
          <a:prstGeom prst="roundRect">
            <a:avLst>
              <a:gd name="adj" fmla="val 2000"/>
            </a:avLst>
          </a:prstGeom>
          <a:solidFill>
            <a:srgbClr val="EEF2F7"/>
          </a:solidFill>
          <a:ln w="12700">
            <a:solidFill>
              <a:srgbClr val="EEF2F7"/>
            </a:solidFill>
            <a:prstDash val="solid"/>
          </a:ln>
        </p:spPr>
      </p:sp>
      <p:sp>
        <p:nvSpPr>
          <p:cNvPr id="4" name="policy-head"/>
          <p:cNvSpPr txBox="1"/>
          <p:nvPr/>
        </p:nvSpPr>
        <p:spPr>
          <a:xfrm>
            <a:off x="777240" y="1463040"/>
            <a:ext cx="5029200" cy="411480"/>
          </a:xfrm>
          <a:prstGeom prst="rect">
            <a:avLst/>
          </a:prstGeom>
          <a:noFill/>
          <a:ln/>
        </p:spPr>
        <p:txBody>
          <a:bodyPr wrap="square" lIns="0" tIns="0" rIns="0" bIns="0" rtlCol="0" anchor="ctr"/>
          <a:lstStyle/>
          <a:p>
            <a:pPr indent="0" marL="0">
              <a:buNone/>
            </a:pPr>
            <a:r>
              <a:rPr lang="en-US" sz="1600" b="1" dirty="0">
                <a:solidFill>
                  <a:schemeClr val="tx2"/>
                </a:solidFill>
              </a:rPr>
              <a:t>Policies compared (all fitted on training models)</a:t>
            </a:r>
            <a:endParaRPr lang="en-US" sz="1600" dirty="0"/>
          </a:p>
        </p:txBody>
      </p:sp>
      <p:sp>
        <p:nvSpPr>
          <p:cNvPr id="5" name="policy-bullets"/>
          <p:cNvSpPr txBox="1"/>
          <p:nvPr/>
        </p:nvSpPr>
        <p:spPr>
          <a:xfrm>
            <a:off x="777240" y="1965960"/>
            <a:ext cx="5029200" cy="2926080"/>
          </a:xfrm>
          <a:prstGeom prst="rect">
            <a:avLst/>
          </a:prstGeom>
          <a:noFill/>
          <a:ln/>
        </p:spPr>
        <p:txBody>
          <a:bodyPr wrap="square" lIns="635" tIns="635" rIns="635" bIns="635" rtlCol="0" anchor="t"/>
          <a:lstStyle/>
          <a:p>
            <a:pPr marL="342900" indent="-342900">
              <a:spcAft>
                <a:spcPts val="600"/>
              </a:spcAft>
              <a:buSzPct val="100000"/>
              <a:buChar char="•"/>
            </a:pPr>
            <a:r>
              <a:rPr lang="en-US" sz="1400" dirty="0">
                <a:solidFill>
                  <a:schemeClr val="tx1"/>
                </a:solidFill>
              </a:rPr>
              <a:t>Never / always A1–A4; best single action</a:t>
            </a:r>
            <a:endParaRPr lang="en-US" sz="1400" dirty="0"/>
          </a:p>
          <a:p>
            <a:pPr marL="342900" indent="-342900">
              <a:spcAft>
                <a:spcPts val="600"/>
              </a:spcAft>
              <a:buSzPct val="100000"/>
              <a:buChar char="•"/>
            </a:pPr>
            <a:r>
              <a:rPr lang="en-US" sz="1400" dirty="0">
                <a:solidFill>
                  <a:schemeClr val="tx1"/>
                </a:solidFill>
              </a:rPr>
              <a:t>R_cat: 5B category thresholds (0.005, 0.90)</a:t>
            </a:r>
            <a:endParaRPr lang="en-US" sz="1400" dirty="0"/>
          </a:p>
          <a:p>
            <a:pPr marL="342900" indent="-342900">
              <a:spcAft>
                <a:spcPts val="600"/>
              </a:spcAft>
              <a:buSzPct val="100000"/>
              <a:buChar char="•"/>
            </a:pPr>
            <a:r>
              <a:rPr lang="en-US" sz="1400" b="1" dirty="0">
                <a:solidFill>
                  <a:schemeClr val="tx1"/>
                </a:solidFill>
              </a:rPr>
              <a:t>R_thr: 2 probe thresholds per budget (deployable)</a:t>
            </a:r>
            <a:endParaRPr lang="en-US" sz="1400" dirty="0"/>
          </a:p>
          <a:p>
            <a:pPr marL="342900" indent="-342900">
              <a:spcAft>
                <a:spcPts val="600"/>
              </a:spcAft>
              <a:buSzPct val="100000"/>
              <a:buChar char="•"/>
            </a:pPr>
            <a:r>
              <a:rPr lang="en-US" sz="1400" dirty="0">
                <a:solidFill>
                  <a:schemeClr val="tx1"/>
                </a:solidFill>
              </a:rPr>
              <a:t>R_obs: R_thr per readout type</a:t>
            </a:r>
            <a:endParaRPr lang="en-US" sz="1400" dirty="0"/>
          </a:p>
          <a:p>
            <a:pPr marL="342900" indent="-342900">
              <a:spcAft>
                <a:spcPts val="600"/>
              </a:spcAft>
              <a:buSzPct val="100000"/>
              <a:buChar char="•"/>
            </a:pPr>
            <a:r>
              <a:rPr lang="en-US" sz="1400" dirty="0">
                <a:solidFill>
                  <a:schemeClr val="tx1"/>
                </a:solidFill>
              </a:rPr>
              <a:t>Learned (fixed specs): logistic, depth-3 tree, gradient boosting; GBT predicting per-action Brier</a:t>
            </a:r>
            <a:endParaRPr lang="en-US" sz="1400" dirty="0"/>
          </a:p>
          <a:p>
            <a:pPr marL="342900" indent="-342900">
              <a:spcAft>
                <a:spcPts val="600"/>
              </a:spcAft>
              <a:buSzPct val="100000"/>
              <a:buChar char="•"/>
            </a:pPr>
            <a:r>
              <a:rPr lang="en-US" sz="1400" dirty="0">
                <a:solidFill>
                  <a:schemeClr val="tx1"/>
                </a:solidFill>
              </a:rPr>
              <a:t>Oracle: cheapest action within 10% of best Brier</a:t>
            </a:r>
            <a:endParaRPr lang="en-US" sz="1400" dirty="0"/>
          </a:p>
        </p:txBody>
      </p:sp>
      <p:sp>
        <p:nvSpPr>
          <p:cNvPr id="6" name="g3b-value"/>
          <p:cNvSpPr txBox="1"/>
          <p:nvPr/>
        </p:nvSpPr>
        <p:spPr>
          <a:xfrm>
            <a:off x="6400800" y="1371600"/>
            <a:ext cx="5212080" cy="73152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99.7%</a:t>
            </a:r>
            <a:endParaRPr lang="en-US" sz="4000" dirty="0"/>
          </a:p>
        </p:txBody>
      </p:sp>
      <p:sp>
        <p:nvSpPr>
          <p:cNvPr id="7" name="g3b-label"/>
          <p:cNvSpPr txBox="1"/>
          <p:nvPr/>
        </p:nvSpPr>
        <p:spPr>
          <a:xfrm>
            <a:off x="6400800" y="2121408"/>
            <a:ext cx="5212080" cy="685800"/>
          </a:xfrm>
          <a:prstGeom prst="rect">
            <a:avLst/>
          </a:prstGeom>
          <a:noFill/>
          <a:ln/>
        </p:spPr>
        <p:txBody>
          <a:bodyPr wrap="square" lIns="0" tIns="0" rIns="0" bIns="0" rtlCol="0" anchor="t"/>
          <a:lstStyle/>
          <a:p>
            <a:pPr indent="0" marL="0">
              <a:buNone/>
            </a:pPr>
            <a:r>
              <a:rPr lang="en-US" sz="1300" dirty="0">
                <a:solidFill>
                  <a:schemeClr val="tx1"/>
                </a:solidFill>
              </a:rPr>
              <a:t>G3B (categorical noise): a 4-cell probe rule recovers the best action. FAIL → no controller.</a:t>
            </a:r>
            <a:endParaRPr lang="en-US" sz="1300" dirty="0"/>
          </a:p>
        </p:txBody>
      </p:sp>
      <p:sp>
        <p:nvSpPr>
          <p:cNvPr id="8" name="g3c-value"/>
          <p:cNvSpPr txBox="1"/>
          <p:nvPr/>
        </p:nvSpPr>
        <p:spPr>
          <a:xfrm>
            <a:off x="6400800" y="3063240"/>
            <a:ext cx="5212080" cy="73152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2.0%</a:t>
            </a:r>
            <a:endParaRPr lang="en-US" sz="4000" dirty="0"/>
          </a:p>
        </p:txBody>
      </p:sp>
      <p:sp>
        <p:nvSpPr>
          <p:cNvPr id="9" name="g3c-label"/>
          <p:cNvSpPr txBox="1"/>
          <p:nvPr/>
        </p:nvSpPr>
        <p:spPr>
          <a:xfrm>
            <a:off x="6400800" y="3813048"/>
            <a:ext cx="5212080" cy="685800"/>
          </a:xfrm>
          <a:prstGeom prst="rect">
            <a:avLst/>
          </a:prstGeom>
          <a:noFill/>
          <a:ln/>
        </p:spPr>
        <p:txBody>
          <a:bodyPr wrap="square" lIns="0" tIns="0" rIns="0" bIns="0" rtlCol="0" anchor="t"/>
          <a:lstStyle/>
          <a:p>
            <a:pPr indent="0" marL="0">
              <a:buNone/>
            </a:pPr>
            <a:r>
              <a:rPr lang="en-US" sz="1300" dirty="0">
                <a:solidFill>
                  <a:schemeClr val="tx1"/>
                </a:solidFill>
              </a:rPr>
              <a:t>G3C (continuous joint noise): material errors of the best rule [1.6, 2.7]. FAIL → no controller.</a:t>
            </a:r>
            <a:endParaRPr lang="en-US" sz="1300" dirty="0"/>
          </a:p>
        </p:txBody>
      </p:sp>
      <p:sp>
        <p:nvSpPr>
          <p:cNvPr id="10" name="a4-value"/>
          <p:cNvSpPr txBox="1"/>
          <p:nvPr/>
        </p:nvSpPr>
        <p:spPr>
          <a:xfrm>
            <a:off x="6400800" y="4754880"/>
            <a:ext cx="5212080" cy="73152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0%</a:t>
            </a:r>
            <a:endParaRPr lang="en-US" sz="4000" dirty="0"/>
          </a:p>
        </p:txBody>
      </p:sp>
      <p:sp>
        <p:nvSpPr>
          <p:cNvPr id="11" name="a4-label"/>
          <p:cNvSpPr txBox="1"/>
          <p:nvPr/>
        </p:nvSpPr>
        <p:spPr>
          <a:xfrm>
            <a:off x="6400800" y="5504688"/>
            <a:ext cx="5212080" cy="685800"/>
          </a:xfrm>
          <a:prstGeom prst="rect">
            <a:avLst/>
          </a:prstGeom>
          <a:noFill/>
          <a:ln/>
        </p:spPr>
        <p:txBody>
          <a:bodyPr wrap="square" lIns="0" tIns="0" rIns="0" bIns="0" rtlCol="0" anchor="t"/>
          <a:lstStyle/>
          <a:p>
            <a:pPr indent="0" marL="0">
              <a:buNone/>
            </a:pPr>
            <a:r>
              <a:rPr lang="en-US" sz="1300" dirty="0">
                <a:solidFill>
                  <a:schemeClr val="tx1"/>
                </a:solidFill>
              </a:rPr>
              <a:t>contexts where 3× shots was the best action, in either environment.</a:t>
            </a:r>
            <a:endParaRPr lang="en-US" sz="13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Statistical results on the sealed held-out test</a:t>
            </a:r>
            <a:endParaRPr lang="en-US" sz="3200" dirty="0"/>
          </a:p>
        </p:txBody>
      </p:sp>
      <p:pic>
        <p:nvPicPr>
          <p:cNvPr id="3" name="final-figure" descr="/Users/mayankpokhriyal/Workspaces/q-trace/deliverables/figures/fig8_final_heldout.png">    </p:cNvPr>
          <p:cNvPicPr>
            <a:picLocks noChangeAspect="1"/>
          </p:cNvPicPr>
          <p:nvPr/>
        </p:nvPicPr>
        <p:blipFill>
          <a:blip r:embed="rId1"/>
          <a:stretch>
            <a:fillRect/>
          </a:stretch>
        </p:blipFill>
        <p:spPr>
          <a:xfrm>
            <a:off x="457200" y="1756454"/>
            <a:ext cx="7680960" cy="3345092"/>
          </a:xfrm>
          <a:prstGeom prst="rect">
            <a:avLst/>
          </a:prstGeom>
        </p:spPr>
      </p:pic>
      <p:sp>
        <p:nvSpPr>
          <p:cNvPr id="4" name="f-mat-value"/>
          <p:cNvSpPr txBox="1"/>
          <p:nvPr/>
        </p:nvSpPr>
        <p:spPr>
          <a:xfrm>
            <a:off x="8412480" y="1280160"/>
            <a:ext cx="3291840" cy="73152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2.0%</a:t>
            </a:r>
            <a:endParaRPr lang="en-US" sz="4000" dirty="0"/>
          </a:p>
        </p:txBody>
      </p:sp>
      <p:sp>
        <p:nvSpPr>
          <p:cNvPr id="5" name="f-mat-label"/>
          <p:cNvSpPr txBox="1"/>
          <p:nvPr/>
        </p:nvSpPr>
        <p:spPr>
          <a:xfrm>
            <a:off x="8412480" y="2029968"/>
            <a:ext cx="3291840" cy="685800"/>
          </a:xfrm>
          <a:prstGeom prst="rect">
            <a:avLst/>
          </a:prstGeom>
          <a:noFill/>
          <a:ln/>
        </p:spPr>
        <p:txBody>
          <a:bodyPr wrap="square" lIns="0" tIns="0" rIns="0" bIns="0" rtlCol="0" anchor="t"/>
          <a:lstStyle/>
          <a:p>
            <a:pPr indent="0" marL="0">
              <a:buNone/>
            </a:pPr>
            <a:r>
              <a:rPr lang="en-US" sz="1300" dirty="0">
                <a:solidFill>
                  <a:schemeClr val="tx1"/>
                </a:solidFill>
              </a:rPr>
              <a:t>material errors, R_thr (95% CI 1.5–2.6%), 16 unseen models</a:t>
            </a:r>
            <a:endParaRPr lang="en-US" sz="1300" dirty="0"/>
          </a:p>
        </p:txBody>
      </p:sp>
      <p:sp>
        <p:nvSpPr>
          <p:cNvPr id="6" name="f-reg-value"/>
          <p:cNvSpPr txBox="1"/>
          <p:nvPr/>
        </p:nvSpPr>
        <p:spPr>
          <a:xfrm>
            <a:off x="8412480" y="2743200"/>
            <a:ext cx="3291840" cy="73152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−0.03%</a:t>
            </a:r>
            <a:endParaRPr lang="en-US" sz="4000" dirty="0"/>
          </a:p>
        </p:txBody>
      </p:sp>
      <p:sp>
        <p:nvSpPr>
          <p:cNvPr id="7" name="f-reg-label"/>
          <p:cNvSpPr txBox="1"/>
          <p:nvPr/>
        </p:nvSpPr>
        <p:spPr>
          <a:xfrm>
            <a:off x="8412480" y="3493008"/>
            <a:ext cx="3291840" cy="685800"/>
          </a:xfrm>
          <a:prstGeom prst="rect">
            <a:avLst/>
          </a:prstGeom>
          <a:noFill/>
          <a:ln/>
        </p:spPr>
        <p:txBody>
          <a:bodyPr wrap="square" lIns="0" tIns="0" rIns="0" bIns="0" rtlCol="0" anchor="t"/>
          <a:lstStyle/>
          <a:p>
            <a:pPr indent="0" marL="0">
              <a:buNone/>
            </a:pPr>
            <a:r>
              <a:rPr lang="en-US" sz="1300" dirty="0">
                <a:solidFill>
                  <a:schemeClr val="tx1"/>
                </a:solidFill>
              </a:rPr>
              <a:t>Brier regret vs Oracle (CI −1.7 to +1.2%)</a:t>
            </a:r>
            <a:endParaRPr lang="en-US" sz="1300" dirty="0"/>
          </a:p>
        </p:txBody>
      </p:sp>
      <p:sp>
        <p:nvSpPr>
          <p:cNvPr id="8" name="f-5b-value"/>
          <p:cNvSpPr txBox="1"/>
          <p:nvPr/>
        </p:nvSpPr>
        <p:spPr>
          <a:xfrm>
            <a:off x="8412480" y="4206240"/>
            <a:ext cx="3291840" cy="731520"/>
          </a:xfrm>
          <a:prstGeom prst="rect">
            <a:avLst/>
          </a:prstGeom>
          <a:noFill/>
          <a:ln/>
        </p:spPr>
        <p:txBody>
          <a:bodyPr wrap="square" lIns="0" tIns="0" rIns="0" bIns="0" rtlCol="0" anchor="ctr"/>
          <a:lstStyle/>
          <a:p>
            <a:pPr indent="0" marL="0">
              <a:buNone/>
            </a:pPr>
            <a:r>
              <a:rPr lang="en-US" sz="4000" b="1" dirty="0">
                <a:solidFill>
                  <a:schemeClr val="accent6"/>
                </a:solidFill>
                <a:latin typeface="Cambria" pitchFamily="34" charset="0"/>
                <a:ea typeface="Cambria" pitchFamily="34" charset="-122"/>
                <a:cs typeface="Cambria" pitchFamily="34" charset="-120"/>
              </a:rPr>
              <a:t>8.8%</a:t>
            </a:r>
            <a:endParaRPr lang="en-US" sz="4000" dirty="0"/>
          </a:p>
        </p:txBody>
      </p:sp>
      <p:sp>
        <p:nvSpPr>
          <p:cNvPr id="9" name="f-5b-label"/>
          <p:cNvSpPr txBox="1"/>
          <p:nvPr/>
        </p:nvSpPr>
        <p:spPr>
          <a:xfrm>
            <a:off x="8412480" y="4956048"/>
            <a:ext cx="3291840" cy="685800"/>
          </a:xfrm>
          <a:prstGeom prst="rect">
            <a:avLst/>
          </a:prstGeom>
          <a:noFill/>
          <a:ln/>
        </p:spPr>
        <p:txBody>
          <a:bodyPr wrap="square" lIns="0" tIns="0" rIns="0" bIns="0" rtlCol="0" anchor="t"/>
          <a:lstStyle/>
          <a:p>
            <a:pPr indent="0" marL="0">
              <a:buNone/>
            </a:pPr>
            <a:r>
              <a:rPr lang="en-US" sz="1300" dirty="0">
                <a:solidFill>
                  <a:schemeClr val="tx1"/>
                </a:solidFill>
              </a:rPr>
              <a:t>material errors under categorical noise (5B test; H4 ≤ 10%)</a:t>
            </a:r>
            <a:endParaRPr lang="en-US" sz="1300" dirty="0"/>
          </a:p>
        </p:txBody>
      </p:sp>
      <p:sp>
        <p:nvSpPr>
          <p:cNvPr id="10" name="final-caption"/>
          <p:cNvSpPr txBox="1"/>
          <p:nvPr/>
        </p:nvSpPr>
        <p:spPr>
          <a:xfrm>
            <a:off x="548640" y="5760720"/>
            <a:ext cx="7498080" cy="365760"/>
          </a:xfrm>
          <a:prstGeom prst="rect">
            <a:avLst/>
          </a:prstGeom>
          <a:noFill/>
          <a:ln/>
        </p:spPr>
        <p:txBody>
          <a:bodyPr wrap="square" lIns="0" tIns="0" rIns="0" bIns="0" rtlCol="0" anchor="t"/>
          <a:lstStyle/>
          <a:p>
            <a:pPr indent="0" marL="0">
              <a:buNone/>
            </a:pPr>
            <a:r>
              <a:rPr lang="en-US" sz="1050" i="1" dirty="0">
                <a:solidFill>
                  <a:schemeClr val="accent5"/>
                </a:solidFill>
              </a:rPr>
              <a:t>Two-stage cluster bootstrap over only 4 held-out structures, so CIs are likely too narrow. H1–H4 all supported.</a:t>
            </a:r>
            <a:endParaRPr lang="en-US" sz="105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No learned comparator reduces material errors</a:t>
            </a:r>
            <a:endParaRPr lang="en-US" sz="3200" dirty="0"/>
          </a:p>
        </p:txBody>
      </p:sp>
      <p:pic>
        <p:nvPicPr>
          <p:cNvPr id="3" name="paired-figure" descr="/Users/mayankpokhriyal/Workspaces/q-trace/deliverables/figures/fig7_learned_vs_rule.png">    </p:cNvPr>
          <p:cNvPicPr>
            <a:picLocks noChangeAspect="1"/>
          </p:cNvPicPr>
          <p:nvPr/>
        </p:nvPicPr>
        <p:blipFill>
          <a:blip r:embed="rId1"/>
          <a:stretch>
            <a:fillRect/>
          </a:stretch>
        </p:blipFill>
        <p:spPr>
          <a:xfrm>
            <a:off x="457200" y="1647263"/>
            <a:ext cx="7863840" cy="3289154"/>
          </a:xfrm>
          <a:prstGeom prst="rect">
            <a:avLst/>
          </a:prstGeom>
        </p:spPr>
      </p:pic>
      <p:sp>
        <p:nvSpPr>
          <p:cNvPr id="4" name="paired-bullets"/>
          <p:cNvSpPr txBox="1"/>
          <p:nvPr/>
        </p:nvSpPr>
        <p:spPr>
          <a:xfrm>
            <a:off x="8549640" y="1280160"/>
            <a:ext cx="3154680" cy="4480560"/>
          </a:xfrm>
          <a:prstGeom prst="rect">
            <a:avLst/>
          </a:prstGeom>
          <a:noFill/>
          <a:ln/>
        </p:spPr>
        <p:txBody>
          <a:bodyPr wrap="square" lIns="635" tIns="635" rIns="635" bIns="635" rtlCol="0" anchor="t"/>
          <a:lstStyle/>
          <a:p>
            <a:pPr marL="342900" indent="-342900">
              <a:spcAft>
                <a:spcPts val="600"/>
              </a:spcAft>
              <a:buSzPct val="100000"/>
              <a:buChar char="•"/>
            </a:pPr>
            <a:r>
              <a:rPr lang="en-US" sz="1300" b="1" dirty="0">
                <a:solidFill>
                  <a:schemeClr val="tx1"/>
                </a:solidFill>
              </a:rPr>
              <a:t>Best learned on 5C test (gradient boosting): 2.1% vs 2.0%; difference +0.0005 [−0.016, +0.027].</a:t>
            </a:r>
            <a:endParaRPr lang="en-US" sz="1300" dirty="0"/>
          </a:p>
          <a:p>
            <a:pPr marL="342900" indent="-342900">
              <a:spcAft>
                <a:spcPts val="600"/>
              </a:spcAft>
              <a:buSzPct val="100000"/>
              <a:buChar char="•"/>
            </a:pPr>
            <a:r>
              <a:rPr lang="en-US" sz="1300" dirty="0">
                <a:solidFill>
                  <a:schemeClr val="tx1"/>
                </a:solidFill>
              </a:rPr>
              <a:t>It agrees with the Oracle more often (6.5% vs 21.9% disagreement); the rule's extra choices are cheap.</a:t>
            </a:r>
            <a:endParaRPr lang="en-US" sz="1300" dirty="0"/>
          </a:p>
          <a:p>
            <a:pPr marL="342900" indent="-342900">
              <a:spcAft>
                <a:spcPts val="600"/>
              </a:spcAft>
              <a:buSzPct val="100000"/>
              <a:buChar char="•"/>
            </a:pPr>
            <a:r>
              <a:rPr lang="en-US" sz="1300" dirty="0">
                <a:solidFill>
                  <a:schemeClr val="tx1"/>
                </a:solidFill>
              </a:rPr>
              <a:t>Categorical noise: learned 12–44%; R_cat beats R_thr (6.4% vs 8.8%).</a:t>
            </a:r>
            <a:endParaRPr lang="en-US" sz="1300" dirty="0"/>
          </a:p>
          <a:p>
            <a:pPr marL="342900" indent="-342900">
              <a:spcAft>
                <a:spcPts val="600"/>
              </a:spcAft>
              <a:buSzPct val="100000"/>
              <a:buChar char="•"/>
            </a:pPr>
            <a:r>
              <a:rPr lang="en-US" sz="1300" dirty="0">
                <a:solidFill>
                  <a:schemeClr val="tx1"/>
                </a:solidFill>
              </a:rPr>
              <a:t>Unseen mean-Z structure: learned 5–30%, rule 1.4%.</a:t>
            </a:r>
            <a:endParaRPr lang="en-US" sz="1300" dirty="0"/>
          </a:p>
        </p:txBody>
      </p:sp>
      <p:sp>
        <p:nvSpPr>
          <p:cNvPr id="5" name="paired-caption"/>
          <p:cNvSpPr txBox="1"/>
          <p:nvPr/>
        </p:nvSpPr>
        <p:spPr>
          <a:xfrm>
            <a:off x="548640" y="5486400"/>
            <a:ext cx="7680960" cy="457200"/>
          </a:xfrm>
          <a:prstGeom prst="rect">
            <a:avLst/>
          </a:prstGeom>
          <a:noFill/>
          <a:ln/>
        </p:spPr>
        <p:txBody>
          <a:bodyPr wrap="square" lIns="0" tIns="0" rIns="0" bIns="0" rtlCol="0" anchor="t"/>
          <a:lstStyle/>
          <a:p>
            <a:pPr indent="0" marL="0">
              <a:buNone/>
            </a:pPr>
            <a:r>
              <a:rPr lang="en-US" sz="1050" i="1" dirty="0">
                <a:solidFill>
                  <a:schemeClr val="accent5"/>
                </a:solidFill>
              </a:rPr>
              <a:t>Comparator − R_thr; positive favours the rule; shaded band = pre-registered ±0.02 margin.</a:t>
            </a:r>
            <a:endParaRPr lang="en-US" sz="105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Cost–reliability trade-offs</a:t>
            </a:r>
            <a:endParaRPr lang="en-US" sz="3200" dirty="0"/>
          </a:p>
        </p:txBody>
      </p:sp>
      <p:pic>
        <p:nvPicPr>
          <p:cNvPr id="3" name="cost-figure" descr="/Users/mayankpokhriyal/Workspaces/q-trace/deliverables/figures/fig6_cost_reliability.png">    </p:cNvPr>
          <p:cNvPicPr>
            <a:picLocks noChangeAspect="1"/>
          </p:cNvPicPr>
          <p:nvPr/>
        </p:nvPicPr>
        <p:blipFill>
          <a:blip r:embed="rId1"/>
          <a:stretch>
            <a:fillRect/>
          </a:stretch>
        </p:blipFill>
        <p:spPr>
          <a:xfrm>
            <a:off x="457200" y="1535128"/>
            <a:ext cx="7863840" cy="3513424"/>
          </a:xfrm>
          <a:prstGeom prst="rect">
            <a:avLst/>
          </a:prstGeom>
        </p:spPr>
      </p:pic>
      <p:sp>
        <p:nvSpPr>
          <p:cNvPr id="4" name="c-ora-value"/>
          <p:cNvSpPr txBox="1"/>
          <p:nvPr/>
        </p:nvSpPr>
        <p:spPr>
          <a:xfrm>
            <a:off x="8595360" y="1280160"/>
            <a:ext cx="3108960" cy="73152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+0.6%</a:t>
            </a:r>
            <a:endParaRPr lang="en-US" sz="4000" dirty="0"/>
          </a:p>
        </p:txBody>
      </p:sp>
      <p:sp>
        <p:nvSpPr>
          <p:cNvPr id="5" name="c-ora-label"/>
          <p:cNvSpPr txBox="1"/>
          <p:nvPr/>
        </p:nvSpPr>
        <p:spPr>
          <a:xfrm>
            <a:off x="8595360" y="2029968"/>
            <a:ext cx="3108960" cy="685800"/>
          </a:xfrm>
          <a:prstGeom prst="rect">
            <a:avLst/>
          </a:prstGeom>
          <a:noFill/>
          <a:ln/>
        </p:spPr>
        <p:txBody>
          <a:bodyPr wrap="square" lIns="0" tIns="0" rIns="0" bIns="0" rtlCol="0" anchor="t"/>
          <a:lstStyle/>
          <a:p>
            <a:pPr indent="0" marL="0">
              <a:buNone/>
            </a:pPr>
            <a:r>
              <a:rPr lang="en-US" sz="1300" dirty="0">
                <a:solidFill>
                  <a:schemeClr val="tx1"/>
                </a:solidFill>
              </a:rPr>
              <a:t>shots vs the Oracle (R_thr, 5C test)</a:t>
            </a:r>
            <a:endParaRPr lang="en-US" sz="1300" dirty="0"/>
          </a:p>
        </p:txBody>
      </p:sp>
      <p:sp>
        <p:nvSpPr>
          <p:cNvPr id="6" name="c-a3-value"/>
          <p:cNvSpPr txBox="1"/>
          <p:nvPr/>
        </p:nvSpPr>
        <p:spPr>
          <a:xfrm>
            <a:off x="8595360" y="2743200"/>
            <a:ext cx="3108960" cy="73152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−3.4%</a:t>
            </a:r>
            <a:endParaRPr lang="en-US" sz="4000" dirty="0"/>
          </a:p>
        </p:txBody>
      </p:sp>
      <p:sp>
        <p:nvSpPr>
          <p:cNvPr id="7" name="c-a3-label"/>
          <p:cNvSpPr txBox="1"/>
          <p:nvPr/>
        </p:nvSpPr>
        <p:spPr>
          <a:xfrm>
            <a:off x="8595360" y="3493008"/>
            <a:ext cx="3108960" cy="685800"/>
          </a:xfrm>
          <a:prstGeom prst="rect">
            <a:avLst/>
          </a:prstGeom>
          <a:noFill/>
          <a:ln/>
        </p:spPr>
        <p:txBody>
          <a:bodyPr wrap="square" lIns="0" tIns="0" rIns="0" bIns="0" rtlCol="0" anchor="t"/>
          <a:lstStyle/>
          <a:p>
            <a:pPr indent="0" marL="0">
              <a:buNone/>
            </a:pPr>
            <a:r>
              <a:rPr lang="en-US" sz="1300" dirty="0">
                <a:solidFill>
                  <a:schemeClr val="tx1"/>
                </a:solidFill>
              </a:rPr>
              <a:t>shots vs always-combined; its 5.9% errors = the gate-free share of our design</a:t>
            </a:r>
            <a:endParaRPr lang="en-US" sz="1300" dirty="0"/>
          </a:p>
        </p:txBody>
      </p:sp>
      <p:sp>
        <p:nvSpPr>
          <p:cNvPr id="8" name="c-a0-value"/>
          <p:cNvSpPr txBox="1"/>
          <p:nvPr/>
        </p:nvSpPr>
        <p:spPr>
          <a:xfrm>
            <a:off x="8595360" y="4206240"/>
            <a:ext cx="3108960" cy="731520"/>
          </a:xfrm>
          <a:prstGeom prst="rect">
            <a:avLst/>
          </a:prstGeom>
          <a:noFill/>
          <a:ln/>
        </p:spPr>
        <p:txBody>
          <a:bodyPr wrap="square" lIns="0" tIns="0" rIns="0" bIns="0" rtlCol="0" anchor="ctr"/>
          <a:lstStyle/>
          <a:p>
            <a:pPr indent="0" marL="0">
              <a:buNone/>
            </a:pPr>
            <a:r>
              <a:rPr lang="en-US" sz="4000" b="1" dirty="0">
                <a:solidFill>
                  <a:schemeClr val="accent3"/>
                </a:solidFill>
                <a:latin typeface="Cambria" pitchFamily="34" charset="0"/>
                <a:ea typeface="Cambria" pitchFamily="34" charset="-122"/>
                <a:cs typeface="Cambria" pitchFamily="34" charset="-120"/>
              </a:rPr>
              <a:t>0.35×</a:t>
            </a:r>
            <a:endParaRPr lang="en-US" sz="4000" dirty="0"/>
          </a:p>
        </p:txBody>
      </p:sp>
      <p:sp>
        <p:nvSpPr>
          <p:cNvPr id="9" name="c-a0-label"/>
          <p:cNvSpPr txBox="1"/>
          <p:nvPr/>
        </p:nvSpPr>
        <p:spPr>
          <a:xfrm>
            <a:off x="8595360" y="4956048"/>
            <a:ext cx="3108960" cy="685800"/>
          </a:xfrm>
          <a:prstGeom prst="rect">
            <a:avLst/>
          </a:prstGeom>
          <a:noFill/>
          <a:ln/>
        </p:spPr>
        <p:txBody>
          <a:bodyPr wrap="square" lIns="0" tIns="0" rIns="0" bIns="0" rtlCol="0" anchor="t"/>
          <a:lstStyle/>
          <a:p>
            <a:pPr indent="0" marL="0">
              <a:buNone/>
            </a:pPr>
            <a:r>
              <a:rPr lang="en-US" sz="1300" dirty="0">
                <a:solidFill>
                  <a:schemeClr val="tx1"/>
                </a:solidFill>
              </a:rPr>
              <a:t>shots for never-mitigating, at 96% material errors</a:t>
            </a:r>
            <a:endParaRPr lang="en-US" sz="13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Ablations: the gate probe carries the decision</a:t>
            </a:r>
            <a:endParaRPr lang="en-US" sz="3200" dirty="0"/>
          </a:p>
        </p:txBody>
      </p:sp>
      <p:pic>
        <p:nvPicPr>
          <p:cNvPr id="3" name="ablation-figure" descr="/Users/mayankpokhriyal/Workspaces/q-trace/deliverables/figures/fig9_probe_ablation.png">    </p:cNvPr>
          <p:cNvPicPr>
            <a:picLocks noChangeAspect="1"/>
          </p:cNvPicPr>
          <p:nvPr/>
        </p:nvPicPr>
        <p:blipFill>
          <a:blip r:embed="rId1"/>
          <a:stretch>
            <a:fillRect/>
          </a:stretch>
        </p:blipFill>
        <p:spPr>
          <a:xfrm>
            <a:off x="457200" y="1605081"/>
            <a:ext cx="7680960" cy="3190638"/>
          </a:xfrm>
          <a:prstGeom prst="rect">
            <a:avLst/>
          </a:prstGeom>
        </p:spPr>
      </p:pic>
      <p:sp>
        <p:nvSpPr>
          <p:cNvPr id="4" name="a-gate-value"/>
          <p:cNvSpPr txBox="1"/>
          <p:nvPr/>
        </p:nvSpPr>
        <p:spPr>
          <a:xfrm>
            <a:off x="8412480" y="1280160"/>
            <a:ext cx="3291840" cy="73152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1.8%</a:t>
            </a:r>
            <a:endParaRPr lang="en-US" sz="4000" dirty="0"/>
          </a:p>
        </p:txBody>
      </p:sp>
      <p:sp>
        <p:nvSpPr>
          <p:cNvPr id="5" name="a-gate-label"/>
          <p:cNvSpPr txBox="1"/>
          <p:nvPr/>
        </p:nvSpPr>
        <p:spPr>
          <a:xfrm>
            <a:off x="8412480" y="2029968"/>
            <a:ext cx="3291840" cy="685800"/>
          </a:xfrm>
          <a:prstGeom prst="rect">
            <a:avLst/>
          </a:prstGeom>
          <a:noFill/>
          <a:ln/>
        </p:spPr>
        <p:txBody>
          <a:bodyPr wrap="square" lIns="0" tIns="0" rIns="0" bIns="0" rtlCol="0" anchor="t"/>
          <a:lstStyle/>
          <a:p>
            <a:pPr indent="0" marL="0">
              <a:buNone/>
            </a:pPr>
            <a:r>
              <a:rPr lang="en-US" sz="1300" dirty="0">
                <a:solidFill>
                  <a:schemeClr val="tx1"/>
                </a:solidFill>
              </a:rPr>
              <a:t>material errors with the gate probe alone (5C validation)</a:t>
            </a:r>
            <a:endParaRPr lang="en-US" sz="1300" dirty="0"/>
          </a:p>
        </p:txBody>
      </p:sp>
      <p:sp>
        <p:nvSpPr>
          <p:cNvPr id="6" name="a-be-value"/>
          <p:cNvSpPr txBox="1"/>
          <p:nvPr/>
        </p:nvSpPr>
        <p:spPr>
          <a:xfrm>
            <a:off x="8412480" y="2743200"/>
            <a:ext cx="3291840" cy="731520"/>
          </a:xfrm>
          <a:prstGeom prst="rect">
            <a:avLst/>
          </a:prstGeom>
          <a:noFill/>
          <a:ln/>
        </p:spPr>
        <p:txBody>
          <a:bodyPr wrap="square" lIns="0" tIns="0" rIns="0" bIns="0" rtlCol="0" anchor="ctr"/>
          <a:lstStyle/>
          <a:p>
            <a:pPr indent="0" marL="0">
              <a:buNone/>
            </a:pPr>
            <a:r>
              <a:rPr lang="en-US" sz="3000" b="1" dirty="0">
                <a:solidFill>
                  <a:schemeClr val="accent2"/>
                </a:solidFill>
                <a:latin typeface="Cambria" pitchFamily="34" charset="0"/>
                <a:ea typeface="Cambria" pitchFamily="34" charset="-122"/>
                <a:cs typeface="Cambria" pitchFamily="34" charset="-120"/>
              </a:rPr>
              <a:t>≈ 645–685</a:t>
            </a:r>
            <a:endParaRPr lang="en-US" sz="3000" dirty="0"/>
          </a:p>
        </p:txBody>
      </p:sp>
      <p:sp>
        <p:nvSpPr>
          <p:cNvPr id="7" name="a-be-label"/>
          <p:cNvSpPr txBox="1"/>
          <p:nvPr/>
        </p:nvSpPr>
        <p:spPr>
          <a:xfrm>
            <a:off x="8412480" y="3493008"/>
            <a:ext cx="3291840" cy="685800"/>
          </a:xfrm>
          <a:prstGeom prst="rect">
            <a:avLst/>
          </a:prstGeom>
          <a:noFill/>
          <a:ln/>
        </p:spPr>
        <p:txBody>
          <a:bodyPr wrap="square" lIns="0" tIns="0" rIns="0" bIns="0" rtlCol="0" anchor="t"/>
          <a:lstStyle/>
          <a:p>
            <a:pPr indent="0" marL="0">
              <a:buNone/>
            </a:pPr>
            <a:r>
              <a:rPr lang="en-US" sz="1300" dirty="0">
                <a:solidFill>
                  <a:schemeClr val="tx1"/>
                </a:solidFill>
              </a:rPr>
              <a:t>batch size below which probing does not pay (5C; depends on gate-free share)</a:t>
            </a:r>
            <a:endParaRPr lang="en-US" sz="1300" dirty="0"/>
          </a:p>
        </p:txBody>
      </p:sp>
      <p:sp>
        <p:nvSpPr>
          <p:cNvPr id="8" name="ablation-bullets"/>
          <p:cNvSpPr txBox="1"/>
          <p:nvPr/>
        </p:nvSpPr>
        <p:spPr>
          <a:xfrm>
            <a:off x="8412480" y="4251960"/>
            <a:ext cx="3291840" cy="1645920"/>
          </a:xfrm>
          <a:prstGeom prst="rect">
            <a:avLst/>
          </a:prstGeom>
          <a:noFill/>
          <a:ln/>
        </p:spPr>
        <p:txBody>
          <a:bodyPr wrap="square" lIns="635" tIns="635" rIns="635" bIns="635" rtlCol="0" anchor="t"/>
          <a:lstStyle/>
          <a:p>
            <a:pPr marL="342900" indent="-342900">
              <a:spcAft>
                <a:spcPts val="600"/>
              </a:spcAft>
              <a:buSzPct val="100000"/>
              <a:buChar char="•"/>
            </a:pPr>
            <a:r>
              <a:rPr lang="en-US" sz="1300" dirty="0">
                <a:solidFill>
                  <a:schemeClr val="tx1"/>
                </a:solidFill>
              </a:rPr>
              <a:t>Shot budget changes the best action in &lt; 3% of cases.</a:t>
            </a:r>
            <a:endParaRPr lang="en-US" sz="1300" dirty="0"/>
          </a:p>
          <a:p>
            <a:pPr marL="342900" indent="-342900">
              <a:spcAft>
                <a:spcPts val="600"/>
              </a:spcAft>
              <a:buSzPct val="100000"/>
              <a:buChar char="•"/>
            </a:pPr>
            <a:r>
              <a:rPr lang="en-US" sz="1300" dirty="0">
                <a:solidFill>
                  <a:schemeClr val="tx1"/>
                </a:solidFill>
              </a:rPr>
              <a:t>Tolerance 0.05–0.20: rule material errors 2.0–7.5%.</a:t>
            </a:r>
            <a:endParaRPr lang="en-US" sz="1300" dirty="0"/>
          </a:p>
        </p:txBody>
      </p:sp>
      <p:sp>
        <p:nvSpPr>
          <p:cNvPr id="9" name="ablation-caption"/>
          <p:cNvSpPr txBox="1"/>
          <p:nvPr/>
        </p:nvSpPr>
        <p:spPr>
          <a:xfrm>
            <a:off x="548640" y="5349240"/>
            <a:ext cx="7498080" cy="365760"/>
          </a:xfrm>
          <a:prstGeom prst="rect">
            <a:avLst/>
          </a:prstGeom>
          <a:noFill/>
          <a:ln/>
        </p:spPr>
        <p:txBody>
          <a:bodyPr wrap="square" lIns="0" tIns="0" rIns="0" bIns="0" rtlCol="0" anchor="t"/>
          <a:lstStyle/>
          <a:p>
            <a:pPr indent="0" marL="0">
              <a:buNone/>
            </a:pPr>
            <a:r>
              <a:rPr lang="en-US" sz="1050" i="1" dirty="0">
                <a:solidFill>
                  <a:schemeClr val="accent5"/>
                </a:solidFill>
              </a:rPr>
              <a:t>Validation data only; the sealed test was not reused.</a:t>
            </a:r>
            <a:endParaRPr lang="en-US" sz="105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Limitations and threats to validity</a:t>
            </a:r>
            <a:endParaRPr lang="en-US" sz="3200" dirty="0"/>
          </a:p>
        </p:txBody>
      </p:sp>
      <p:sp>
        <p:nvSpPr>
          <p:cNvPr id="3" name="lim-icon-0-circle"/>
          <p:cNvSpPr/>
          <p:nvPr/>
        </p:nvSpPr>
        <p:spPr>
          <a:xfrm>
            <a:off x="548640" y="1325880"/>
            <a:ext cx="731520" cy="731520"/>
          </a:xfrm>
          <a:prstGeom prst="ellipse">
            <a:avLst/>
          </a:prstGeom>
          <a:solidFill>
            <a:srgbClr val="C0392B"/>
          </a:solidFill>
          <a:ln w="12700">
            <a:solidFill>
              <a:srgbClr val="C0392B"/>
            </a:solidFill>
            <a:prstDash val="solid"/>
          </a:ln>
        </p:spPr>
      </p:sp>
      <p:pic>
        <p:nvPicPr>
          <p:cNvPr id="4" name="lim-icon-0" descr="preencoded.png">    </p:cNvPr>
          <p:cNvPicPr>
            <a:picLocks noChangeAspect="1"/>
          </p:cNvPicPr>
          <p:nvPr/>
        </p:nvPicPr>
        <p:blipFill>
          <a:blip r:embed="rId1"/>
          <a:stretch>
            <a:fillRect/>
          </a:stretch>
        </p:blipFill>
        <p:spPr>
          <a:xfrm>
            <a:off x="724205" y="1501445"/>
            <a:ext cx="380390" cy="380390"/>
          </a:xfrm>
          <a:prstGeom prst="rect">
            <a:avLst/>
          </a:prstGeom>
        </p:spPr>
      </p:pic>
      <p:sp>
        <p:nvSpPr>
          <p:cNvPr id="5" name="lim-head-0"/>
          <p:cNvSpPr txBox="1"/>
          <p:nvPr/>
        </p:nvSpPr>
        <p:spPr>
          <a:xfrm>
            <a:off x="1463040" y="1298448"/>
            <a:ext cx="4480560" cy="384048"/>
          </a:xfrm>
          <a:prstGeom prst="rect">
            <a:avLst/>
          </a:prstGeom>
          <a:noFill/>
          <a:ln/>
        </p:spPr>
        <p:txBody>
          <a:bodyPr wrap="square" lIns="0" tIns="0" rIns="0" bIns="0" rtlCol="0" anchor="ctr"/>
          <a:lstStyle/>
          <a:p>
            <a:pPr indent="0" marL="0">
              <a:buNone/>
            </a:pPr>
            <a:r>
              <a:rPr lang="en-US" sz="1600" b="1" dirty="0">
                <a:solidFill>
                  <a:schemeClr val="tx2"/>
                </a:solidFill>
              </a:rPr>
              <a:t>Simulation only</a:t>
            </a:r>
            <a:endParaRPr lang="en-US" sz="1600" dirty="0"/>
          </a:p>
        </p:txBody>
      </p:sp>
      <p:sp>
        <p:nvSpPr>
          <p:cNvPr id="6" name="lim-body-0"/>
          <p:cNvSpPr txBox="1"/>
          <p:nvPr/>
        </p:nvSpPr>
        <p:spPr>
          <a:xfrm>
            <a:off x="1463040" y="1709928"/>
            <a:ext cx="4480560" cy="868680"/>
          </a:xfrm>
          <a:prstGeom prst="rect">
            <a:avLst/>
          </a:prstGeom>
          <a:noFill/>
          <a:ln/>
        </p:spPr>
        <p:txBody>
          <a:bodyPr wrap="square" lIns="0" tIns="0" rIns="0" bIns="0" rtlCol="0" anchor="t"/>
          <a:lstStyle/>
          <a:p>
            <a:pPr indent="0" marL="0">
              <a:buNone/>
            </a:pPr>
            <a:r>
              <a:rPr lang="en-US" sz="1400" dirty="0">
                <a:solidFill>
                  <a:schemeClr val="tx1"/>
                </a:solidFill>
              </a:rPr>
              <a:t>No hardware run; asymmetric readout is synthetic; no crosstalk, drift or coherent errors.</a:t>
            </a:r>
            <a:endParaRPr lang="en-US" sz="1400" dirty="0"/>
          </a:p>
        </p:txBody>
      </p:sp>
      <p:sp>
        <p:nvSpPr>
          <p:cNvPr id="7" name="lim-icon-1-circle"/>
          <p:cNvSpPr/>
          <p:nvPr/>
        </p:nvSpPr>
        <p:spPr>
          <a:xfrm>
            <a:off x="6172200" y="1325880"/>
            <a:ext cx="731520" cy="731520"/>
          </a:xfrm>
          <a:prstGeom prst="ellipse">
            <a:avLst/>
          </a:prstGeom>
          <a:solidFill>
            <a:srgbClr val="C0392B"/>
          </a:solidFill>
          <a:ln w="12700">
            <a:solidFill>
              <a:srgbClr val="C0392B"/>
            </a:solidFill>
            <a:prstDash val="solid"/>
          </a:ln>
        </p:spPr>
      </p:sp>
      <p:pic>
        <p:nvPicPr>
          <p:cNvPr id="8" name="lim-icon-1" descr="preencoded.png">    </p:cNvPr>
          <p:cNvPicPr>
            <a:picLocks noChangeAspect="1"/>
          </p:cNvPicPr>
          <p:nvPr/>
        </p:nvPicPr>
        <p:blipFill>
          <a:blip r:embed="rId2"/>
          <a:stretch>
            <a:fillRect/>
          </a:stretch>
        </p:blipFill>
        <p:spPr>
          <a:xfrm>
            <a:off x="6347765" y="1501445"/>
            <a:ext cx="380390" cy="380390"/>
          </a:xfrm>
          <a:prstGeom prst="rect">
            <a:avLst/>
          </a:prstGeom>
        </p:spPr>
      </p:pic>
      <p:sp>
        <p:nvSpPr>
          <p:cNvPr id="9" name="lim-head-1"/>
          <p:cNvSpPr txBox="1"/>
          <p:nvPr/>
        </p:nvSpPr>
        <p:spPr>
          <a:xfrm>
            <a:off x="7086600" y="1298448"/>
            <a:ext cx="4480560" cy="384048"/>
          </a:xfrm>
          <a:prstGeom prst="rect">
            <a:avLst/>
          </a:prstGeom>
          <a:noFill/>
          <a:ln/>
        </p:spPr>
        <p:txBody>
          <a:bodyPr wrap="square" lIns="0" tIns="0" rIns="0" bIns="0" rtlCol="0" anchor="ctr"/>
          <a:lstStyle/>
          <a:p>
            <a:pPr indent="0" marL="0">
              <a:buNone/>
            </a:pPr>
            <a:r>
              <a:rPr lang="en-US" sz="1600" b="1" dirty="0">
                <a:solidFill>
                  <a:schemeClr val="tx2"/>
                </a:solidFill>
              </a:rPr>
              <a:t>Small scale</a:t>
            </a:r>
            <a:endParaRPr lang="en-US" sz="1600" dirty="0"/>
          </a:p>
        </p:txBody>
      </p:sp>
      <p:sp>
        <p:nvSpPr>
          <p:cNvPr id="10" name="lim-body-1"/>
          <p:cNvSpPr txBox="1"/>
          <p:nvPr/>
        </p:nvSpPr>
        <p:spPr>
          <a:xfrm>
            <a:off x="7086600" y="1709928"/>
            <a:ext cx="4480560" cy="868680"/>
          </a:xfrm>
          <a:prstGeom prst="rect">
            <a:avLst/>
          </a:prstGeom>
          <a:noFill/>
          <a:ln/>
        </p:spPr>
        <p:txBody>
          <a:bodyPr wrap="square" lIns="0" tIns="0" rIns="0" bIns="0" rtlCol="0" anchor="t"/>
          <a:lstStyle/>
          <a:p>
            <a:pPr indent="0" marL="0">
              <a:buNone/>
            </a:pPr>
            <a:r>
              <a:rPr lang="en-US" sz="1400" dirty="0">
                <a:solidFill>
                  <a:schemeClr val="tx1"/>
                </a:solidFill>
              </a:rPr>
              <a:t>4 qubits, shallow circuits, one public dataset (0.17% fraud, inherited PCA).</a:t>
            </a:r>
            <a:endParaRPr lang="en-US" sz="1400" dirty="0"/>
          </a:p>
        </p:txBody>
      </p:sp>
      <p:sp>
        <p:nvSpPr>
          <p:cNvPr id="11" name="lim-icon-2-circle"/>
          <p:cNvSpPr/>
          <p:nvPr/>
        </p:nvSpPr>
        <p:spPr>
          <a:xfrm>
            <a:off x="548640" y="2926080"/>
            <a:ext cx="731520" cy="731520"/>
          </a:xfrm>
          <a:prstGeom prst="ellipse">
            <a:avLst/>
          </a:prstGeom>
          <a:solidFill>
            <a:srgbClr val="C0392B"/>
          </a:solidFill>
          <a:ln w="12700">
            <a:solidFill>
              <a:srgbClr val="C0392B"/>
            </a:solidFill>
            <a:prstDash val="solid"/>
          </a:ln>
        </p:spPr>
      </p:sp>
      <p:pic>
        <p:nvPicPr>
          <p:cNvPr id="12" name="lim-icon-2" descr="preencoded.png">    </p:cNvPr>
          <p:cNvPicPr>
            <a:picLocks noChangeAspect="1"/>
          </p:cNvPicPr>
          <p:nvPr/>
        </p:nvPicPr>
        <p:blipFill>
          <a:blip r:embed="rId3"/>
          <a:stretch>
            <a:fillRect/>
          </a:stretch>
        </p:blipFill>
        <p:spPr>
          <a:xfrm>
            <a:off x="724205" y="3101645"/>
            <a:ext cx="380390" cy="380390"/>
          </a:xfrm>
          <a:prstGeom prst="rect">
            <a:avLst/>
          </a:prstGeom>
        </p:spPr>
      </p:pic>
      <p:sp>
        <p:nvSpPr>
          <p:cNvPr id="13" name="lim-head-2"/>
          <p:cNvSpPr txBox="1"/>
          <p:nvPr/>
        </p:nvSpPr>
        <p:spPr>
          <a:xfrm>
            <a:off x="1463040" y="2898648"/>
            <a:ext cx="4480560" cy="384048"/>
          </a:xfrm>
          <a:prstGeom prst="rect">
            <a:avLst/>
          </a:prstGeom>
          <a:noFill/>
          <a:ln/>
        </p:spPr>
        <p:txBody>
          <a:bodyPr wrap="square" lIns="0" tIns="0" rIns="0" bIns="0" rtlCol="0" anchor="ctr"/>
          <a:lstStyle/>
          <a:p>
            <a:pPr indent="0" marL="0">
              <a:buNone/>
            </a:pPr>
            <a:r>
              <a:rPr lang="en-US" sz="1600" b="1" dirty="0">
                <a:solidFill>
                  <a:schemeClr val="tx2"/>
                </a:solidFill>
              </a:rPr>
              <a:t>No quantum advantage</a:t>
            </a:r>
            <a:endParaRPr lang="en-US" sz="1600" dirty="0"/>
          </a:p>
        </p:txBody>
      </p:sp>
      <p:sp>
        <p:nvSpPr>
          <p:cNvPr id="14" name="lim-body-2"/>
          <p:cNvSpPr txBox="1"/>
          <p:nvPr/>
        </p:nvSpPr>
        <p:spPr>
          <a:xfrm>
            <a:off x="1463040" y="3310128"/>
            <a:ext cx="4480560" cy="868680"/>
          </a:xfrm>
          <a:prstGeom prst="rect">
            <a:avLst/>
          </a:prstGeom>
          <a:noFill/>
          <a:ln/>
        </p:spPr>
        <p:txBody>
          <a:bodyPr wrap="square" lIns="0" tIns="0" rIns="0" bIns="0" rtlCol="0" anchor="t"/>
          <a:lstStyle/>
          <a:p>
            <a:pPr indent="0" marL="0">
              <a:buNone/>
            </a:pPr>
            <a:r>
              <a:rPr lang="en-US" sz="1400" dirty="0">
                <a:solidFill>
                  <a:schemeClr val="tx1"/>
                </a:solidFill>
              </a:rPr>
              <a:t>Classical models score higher on the same inputs.</a:t>
            </a:r>
            <a:endParaRPr lang="en-US" sz="1400" dirty="0"/>
          </a:p>
        </p:txBody>
      </p:sp>
      <p:sp>
        <p:nvSpPr>
          <p:cNvPr id="15" name="lim-icon-3-circle"/>
          <p:cNvSpPr/>
          <p:nvPr/>
        </p:nvSpPr>
        <p:spPr>
          <a:xfrm>
            <a:off x="6172200" y="2926080"/>
            <a:ext cx="731520" cy="731520"/>
          </a:xfrm>
          <a:prstGeom prst="ellipse">
            <a:avLst/>
          </a:prstGeom>
          <a:solidFill>
            <a:srgbClr val="C0392B"/>
          </a:solidFill>
          <a:ln w="12700">
            <a:solidFill>
              <a:srgbClr val="C0392B"/>
            </a:solidFill>
            <a:prstDash val="solid"/>
          </a:ln>
        </p:spPr>
      </p:sp>
      <p:pic>
        <p:nvPicPr>
          <p:cNvPr id="16" name="lim-icon-3" descr="preencoded.png">    </p:cNvPr>
          <p:cNvPicPr>
            <a:picLocks noChangeAspect="1"/>
          </p:cNvPicPr>
          <p:nvPr/>
        </p:nvPicPr>
        <p:blipFill>
          <a:blip r:embed="rId4"/>
          <a:stretch>
            <a:fillRect/>
          </a:stretch>
        </p:blipFill>
        <p:spPr>
          <a:xfrm>
            <a:off x="6347765" y="3101645"/>
            <a:ext cx="380390" cy="380390"/>
          </a:xfrm>
          <a:prstGeom prst="rect">
            <a:avLst/>
          </a:prstGeom>
        </p:spPr>
      </p:pic>
      <p:sp>
        <p:nvSpPr>
          <p:cNvPr id="17" name="lim-head-3"/>
          <p:cNvSpPr txBox="1"/>
          <p:nvPr/>
        </p:nvSpPr>
        <p:spPr>
          <a:xfrm>
            <a:off x="7086600" y="2898648"/>
            <a:ext cx="4480560" cy="384048"/>
          </a:xfrm>
          <a:prstGeom prst="rect">
            <a:avLst/>
          </a:prstGeom>
          <a:noFill/>
          <a:ln/>
        </p:spPr>
        <p:txBody>
          <a:bodyPr wrap="square" lIns="0" tIns="0" rIns="0" bIns="0" rtlCol="0" anchor="ctr"/>
          <a:lstStyle/>
          <a:p>
            <a:pPr indent="0" marL="0">
              <a:buNone/>
            </a:pPr>
            <a:r>
              <a:rPr lang="en-US" sz="1600" b="1" dirty="0">
                <a:solidFill>
                  <a:schemeClr val="tx2"/>
                </a:solidFill>
              </a:rPr>
              <a:t>Narrow mitigation set</a:t>
            </a:r>
            <a:endParaRPr lang="en-US" sz="1600" dirty="0"/>
          </a:p>
        </p:txBody>
      </p:sp>
      <p:sp>
        <p:nvSpPr>
          <p:cNvPr id="18" name="lim-body-3"/>
          <p:cNvSpPr txBox="1"/>
          <p:nvPr/>
        </p:nvSpPr>
        <p:spPr>
          <a:xfrm>
            <a:off x="7086600" y="3310128"/>
            <a:ext cx="4480560" cy="868680"/>
          </a:xfrm>
          <a:prstGeom prst="rect">
            <a:avLst/>
          </a:prstGeom>
          <a:noFill/>
          <a:ln/>
        </p:spPr>
        <p:txBody>
          <a:bodyPr wrap="square" lIns="0" tIns="0" rIns="0" bIns="0" rtlCol="0" anchor="t"/>
          <a:lstStyle/>
          <a:p>
            <a:pPr indent="0" marL="0">
              <a:buNone/>
            </a:pPr>
            <a:r>
              <a:rPr lang="en-US" sz="1400" dirty="0">
                <a:solidFill>
                  <a:schemeClr val="tx1"/>
                </a:solidFill>
              </a:rPr>
              <a:t>Readout inversion and linear ZNE only; no PEC, CDR or dynamical decoupling.</a:t>
            </a:r>
            <a:endParaRPr lang="en-US" sz="1400" dirty="0"/>
          </a:p>
        </p:txBody>
      </p:sp>
      <p:sp>
        <p:nvSpPr>
          <p:cNvPr id="19" name="lim-icon-4-circle"/>
          <p:cNvSpPr/>
          <p:nvPr/>
        </p:nvSpPr>
        <p:spPr>
          <a:xfrm>
            <a:off x="548640" y="4526280"/>
            <a:ext cx="731520" cy="731520"/>
          </a:xfrm>
          <a:prstGeom prst="ellipse">
            <a:avLst/>
          </a:prstGeom>
          <a:solidFill>
            <a:srgbClr val="C0392B"/>
          </a:solidFill>
          <a:ln w="12700">
            <a:solidFill>
              <a:srgbClr val="C0392B"/>
            </a:solidFill>
            <a:prstDash val="solid"/>
          </a:ln>
        </p:spPr>
      </p:sp>
      <p:pic>
        <p:nvPicPr>
          <p:cNvPr id="20" name="lim-icon-4" descr="preencoded.png">    </p:cNvPr>
          <p:cNvPicPr>
            <a:picLocks noChangeAspect="1"/>
          </p:cNvPicPr>
          <p:nvPr/>
        </p:nvPicPr>
        <p:blipFill>
          <a:blip r:embed="rId5"/>
          <a:stretch>
            <a:fillRect/>
          </a:stretch>
        </p:blipFill>
        <p:spPr>
          <a:xfrm>
            <a:off x="724205" y="4701845"/>
            <a:ext cx="380390" cy="380390"/>
          </a:xfrm>
          <a:prstGeom prst="rect">
            <a:avLst/>
          </a:prstGeom>
        </p:spPr>
      </p:pic>
      <p:sp>
        <p:nvSpPr>
          <p:cNvPr id="21" name="lim-head-4"/>
          <p:cNvSpPr txBox="1"/>
          <p:nvPr/>
        </p:nvSpPr>
        <p:spPr>
          <a:xfrm>
            <a:off x="1463040" y="4498848"/>
            <a:ext cx="4480560" cy="384048"/>
          </a:xfrm>
          <a:prstGeom prst="rect">
            <a:avLst/>
          </a:prstGeom>
          <a:noFill/>
          <a:ln/>
        </p:spPr>
        <p:txBody>
          <a:bodyPr wrap="square" lIns="0" tIns="0" rIns="0" bIns="0" rtlCol="0" anchor="ctr"/>
          <a:lstStyle/>
          <a:p>
            <a:pPr indent="0" marL="0">
              <a:buNone/>
            </a:pPr>
            <a:r>
              <a:rPr lang="en-US" sz="1600" b="1" dirty="0">
                <a:solidFill>
                  <a:schemeClr val="tx2"/>
                </a:solidFill>
              </a:rPr>
              <a:t>Probe and design</a:t>
            </a:r>
            <a:endParaRPr lang="en-US" sz="1600" dirty="0"/>
          </a:p>
        </p:txBody>
      </p:sp>
      <p:sp>
        <p:nvSpPr>
          <p:cNvPr id="22" name="lim-body-4"/>
          <p:cNvSpPr txBox="1"/>
          <p:nvPr/>
        </p:nvSpPr>
        <p:spPr>
          <a:xfrm>
            <a:off x="1463040" y="4910328"/>
            <a:ext cx="4480560" cy="868680"/>
          </a:xfrm>
          <a:prstGeom prst="rect">
            <a:avLst/>
          </a:prstGeom>
          <a:noFill/>
          <a:ln/>
        </p:spPr>
        <p:txBody>
          <a:bodyPr wrap="square" lIns="0" tIns="0" rIns="0" bIns="0" rtlCol="0" anchor="t"/>
          <a:lstStyle/>
          <a:p>
            <a:pPr indent="0" marL="0">
              <a:buNone/>
            </a:pPr>
            <a:r>
              <a:rPr lang="en-US" sz="1400" dirty="0">
                <a:solidFill>
                  <a:schemeClr val="tx1"/>
                </a:solidFill>
              </a:rPr>
              <a:t>Gate probe barely sees thermal noise (Spearman −0.12); 16 of 17 gate settings carry gate noise.</a:t>
            </a:r>
            <a:endParaRPr lang="en-US" sz="1400" dirty="0"/>
          </a:p>
        </p:txBody>
      </p:sp>
      <p:sp>
        <p:nvSpPr>
          <p:cNvPr id="23" name="lim-icon-5-circle"/>
          <p:cNvSpPr/>
          <p:nvPr/>
        </p:nvSpPr>
        <p:spPr>
          <a:xfrm>
            <a:off x="6172200" y="4526280"/>
            <a:ext cx="731520" cy="731520"/>
          </a:xfrm>
          <a:prstGeom prst="ellipse">
            <a:avLst/>
          </a:prstGeom>
          <a:solidFill>
            <a:srgbClr val="C0392B"/>
          </a:solidFill>
          <a:ln w="12700">
            <a:solidFill>
              <a:srgbClr val="C0392B"/>
            </a:solidFill>
            <a:prstDash val="solid"/>
          </a:ln>
        </p:spPr>
      </p:sp>
      <p:pic>
        <p:nvPicPr>
          <p:cNvPr id="24" name="lim-icon-5" descr="preencoded.png">    </p:cNvPr>
          <p:cNvPicPr>
            <a:picLocks noChangeAspect="1"/>
          </p:cNvPicPr>
          <p:nvPr/>
        </p:nvPicPr>
        <p:blipFill>
          <a:blip r:embed="rId6"/>
          <a:stretch>
            <a:fillRect/>
          </a:stretch>
        </p:blipFill>
        <p:spPr>
          <a:xfrm>
            <a:off x="6347765" y="4701845"/>
            <a:ext cx="380390" cy="380390"/>
          </a:xfrm>
          <a:prstGeom prst="rect">
            <a:avLst/>
          </a:prstGeom>
        </p:spPr>
      </p:pic>
      <p:sp>
        <p:nvSpPr>
          <p:cNvPr id="25" name="lim-head-5"/>
          <p:cNvSpPr txBox="1"/>
          <p:nvPr/>
        </p:nvSpPr>
        <p:spPr>
          <a:xfrm>
            <a:off x="7086600" y="4498848"/>
            <a:ext cx="4480560" cy="384048"/>
          </a:xfrm>
          <a:prstGeom prst="rect">
            <a:avLst/>
          </a:prstGeom>
          <a:noFill/>
          <a:ln/>
        </p:spPr>
        <p:txBody>
          <a:bodyPr wrap="square" lIns="0" tIns="0" rIns="0" bIns="0" rtlCol="0" anchor="ctr"/>
          <a:lstStyle/>
          <a:p>
            <a:pPr indent="0" marL="0">
              <a:buNone/>
            </a:pPr>
            <a:r>
              <a:rPr lang="en-US" sz="1600" b="1" dirty="0">
                <a:solidFill>
                  <a:schemeClr val="tx2"/>
                </a:solidFill>
              </a:rPr>
              <a:t>Few held-out structures</a:t>
            </a:r>
            <a:endParaRPr lang="en-US" sz="1600" dirty="0"/>
          </a:p>
        </p:txBody>
      </p:sp>
      <p:sp>
        <p:nvSpPr>
          <p:cNvPr id="26" name="lim-body-5"/>
          <p:cNvSpPr txBox="1"/>
          <p:nvPr/>
        </p:nvSpPr>
        <p:spPr>
          <a:xfrm>
            <a:off x="7086600" y="4910328"/>
            <a:ext cx="4480560" cy="868680"/>
          </a:xfrm>
          <a:prstGeom prst="rect">
            <a:avLst/>
          </a:prstGeom>
          <a:noFill/>
          <a:ln/>
        </p:spPr>
        <p:txBody>
          <a:bodyPr wrap="square" lIns="0" tIns="0" rIns="0" bIns="0" rtlCol="0" anchor="t"/>
          <a:lstStyle/>
          <a:p>
            <a:pPr indent="0" marL="0">
              <a:buNone/>
            </a:pPr>
            <a:r>
              <a:rPr lang="en-US" sz="1400" dirty="0">
                <a:solidFill>
                  <a:schemeClr val="tx1"/>
                </a:solidFill>
              </a:rPr>
              <a:t>Only 4: CIs likely too narrow; thresholds tuned on clean validation data.</a:t>
            </a:r>
            <a:endParaRPr lang="en-US" sz="1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bg1"/>
                </a:solidFill>
                <a:latin typeface="Cambria" pitchFamily="34" charset="0"/>
                <a:ea typeface="Cambria" pitchFamily="34" charset="-122"/>
                <a:cs typeface="Cambria" pitchFamily="34" charset="-120"/>
              </a:rPr>
              <a:t>Conclusions and future research</a:t>
            </a:r>
            <a:endParaRPr lang="en-US" sz="3200" dirty="0"/>
          </a:p>
        </p:txBody>
      </p:sp>
      <p:sp>
        <p:nvSpPr>
          <p:cNvPr id="3" name="concl-icon-circle"/>
          <p:cNvSpPr/>
          <p:nvPr/>
        </p:nvSpPr>
        <p:spPr>
          <a:xfrm>
            <a:off x="548640" y="1371600"/>
            <a:ext cx="731520" cy="731520"/>
          </a:xfrm>
          <a:prstGeom prst="ellipse">
            <a:avLst/>
          </a:prstGeom>
          <a:solidFill>
            <a:srgbClr val="0F8B8D"/>
          </a:solidFill>
          <a:ln w="12700">
            <a:solidFill>
              <a:srgbClr val="0F8B8D"/>
            </a:solidFill>
            <a:prstDash val="solid"/>
          </a:ln>
        </p:spPr>
      </p:sp>
      <p:pic>
        <p:nvPicPr>
          <p:cNvPr id="4" name="concl-icon" descr="preencoded.png">    </p:cNvPr>
          <p:cNvPicPr>
            <a:picLocks noChangeAspect="1"/>
          </p:cNvPicPr>
          <p:nvPr/>
        </p:nvPicPr>
        <p:blipFill>
          <a:blip r:embed="rId1"/>
          <a:stretch>
            <a:fillRect/>
          </a:stretch>
        </p:blipFill>
        <p:spPr>
          <a:xfrm>
            <a:off x="724205" y="1547165"/>
            <a:ext cx="380390" cy="380390"/>
          </a:xfrm>
          <a:prstGeom prst="rect">
            <a:avLst/>
          </a:prstGeom>
        </p:spPr>
      </p:pic>
      <p:sp>
        <p:nvSpPr>
          <p:cNvPr id="5" name="concl-text"/>
          <p:cNvSpPr txBox="1"/>
          <p:nvPr/>
        </p:nvSpPr>
        <p:spPr>
          <a:xfrm>
            <a:off x="1463040" y="1325880"/>
            <a:ext cx="5029200" cy="4023360"/>
          </a:xfrm>
          <a:prstGeom prst="rect">
            <a:avLst/>
          </a:prstGeom>
          <a:noFill/>
          <a:ln/>
        </p:spPr>
        <p:txBody>
          <a:bodyPr wrap="square" lIns="0" tIns="0" rIns="0" bIns="0" rtlCol="0" anchor="t"/>
          <a:lstStyle/>
          <a:p>
            <a:pPr indent="0" marL="0">
              <a:spcAft>
                <a:spcPts val="800"/>
              </a:spcAft>
              <a:buNone/>
            </a:pPr>
            <a:r>
              <a:rPr lang="en-US" sz="1900" b="1" dirty="0">
                <a:solidFill>
                  <a:srgbClr val="FFFFFF"/>
                </a:solidFill>
              </a:rPr>
              <a:t>What we found</a:t>
            </a:r>
            <a:endParaRPr lang="en-US" sz="1550" dirty="0"/>
          </a:p>
          <a:p>
            <a:pPr marL="342900" indent="-342900">
              <a:spcAft>
                <a:spcPts val="800"/>
              </a:spcAft>
              <a:buSzPct val="100000"/>
              <a:buChar char="•"/>
            </a:pPr>
            <a:r>
              <a:rPr lang="en-US" sz="1550" dirty="0">
                <a:solidFill>
                  <a:srgbClr val="E6ECF5"/>
                </a:solidFill>
              </a:rPr>
              <a:t>Mitigation fixes calibration, not discrimination; extra shots never substitute.</a:t>
            </a:r>
            <a:endParaRPr lang="en-US" sz="1550" dirty="0"/>
          </a:p>
          <a:p>
            <a:pPr marL="342900" indent="-342900">
              <a:spcAft>
                <a:spcPts val="800"/>
              </a:spcAft>
              <a:buSzPct val="100000"/>
              <a:buChar char="•"/>
            </a:pPr>
            <a:r>
              <a:rPr lang="en-US" sz="1550" dirty="0">
                <a:solidFill>
                  <a:srgbClr val="E6ECF5"/>
                </a:solidFill>
              </a:rPr>
              <a:t>In our joint-noise design the material decision is: is gate noise present?</a:t>
            </a:r>
            <a:endParaRPr lang="en-US" sz="1550" dirty="0"/>
          </a:p>
          <a:p>
            <a:pPr marL="342900" indent="-342900">
              <a:spcAft>
                <a:spcPts val="800"/>
              </a:spcAft>
              <a:buSzPct val="100000"/>
              <a:buChar char="•"/>
            </a:pPr>
            <a:r>
              <a:rPr lang="en-US" sz="1550" dirty="0">
                <a:solidFill>
                  <a:srgbClr val="E6ECF5"/>
                </a:solidFill>
              </a:rPr>
              <a:t>A two-threshold probe rule is near-Oracle on unseen models; fixed learned comparators did not reduce material errors.</a:t>
            </a:r>
            <a:endParaRPr lang="en-US" sz="1550" dirty="0"/>
          </a:p>
        </p:txBody>
      </p:sp>
      <p:sp>
        <p:nvSpPr>
          <p:cNvPr id="6" name="future-icon-circle"/>
          <p:cNvSpPr/>
          <p:nvPr/>
        </p:nvSpPr>
        <p:spPr>
          <a:xfrm>
            <a:off x="6766560" y="1371600"/>
            <a:ext cx="731520" cy="731520"/>
          </a:xfrm>
          <a:prstGeom prst="ellipse">
            <a:avLst/>
          </a:prstGeom>
          <a:solidFill>
            <a:srgbClr val="E8A33D"/>
          </a:solidFill>
          <a:ln w="12700">
            <a:solidFill>
              <a:srgbClr val="E8A33D"/>
            </a:solidFill>
            <a:prstDash val="solid"/>
          </a:ln>
        </p:spPr>
      </p:sp>
      <p:pic>
        <p:nvPicPr>
          <p:cNvPr id="7" name="future-icon" descr="preencoded.png">    </p:cNvPr>
          <p:cNvPicPr>
            <a:picLocks noChangeAspect="1"/>
          </p:cNvPicPr>
          <p:nvPr/>
        </p:nvPicPr>
        <p:blipFill>
          <a:blip r:embed="rId2"/>
          <a:stretch>
            <a:fillRect/>
          </a:stretch>
        </p:blipFill>
        <p:spPr>
          <a:xfrm>
            <a:off x="6942125" y="1547165"/>
            <a:ext cx="380390" cy="380390"/>
          </a:xfrm>
          <a:prstGeom prst="rect">
            <a:avLst/>
          </a:prstGeom>
        </p:spPr>
      </p:pic>
      <p:sp>
        <p:nvSpPr>
          <p:cNvPr id="8" name="future-text"/>
          <p:cNvSpPr txBox="1"/>
          <p:nvPr/>
        </p:nvSpPr>
        <p:spPr>
          <a:xfrm>
            <a:off x="7680960" y="1325880"/>
            <a:ext cx="4023360" cy="4023360"/>
          </a:xfrm>
          <a:prstGeom prst="rect">
            <a:avLst/>
          </a:prstGeom>
          <a:noFill/>
          <a:ln/>
        </p:spPr>
        <p:txBody>
          <a:bodyPr wrap="square" lIns="0" tIns="0" rIns="0" bIns="0" rtlCol="0" anchor="t"/>
          <a:lstStyle/>
          <a:p>
            <a:pPr indent="0" marL="0">
              <a:spcAft>
                <a:spcPts val="800"/>
              </a:spcAft>
              <a:buNone/>
            </a:pPr>
            <a:r>
              <a:rPr lang="en-US" sz="1900" b="1" dirty="0">
                <a:solidFill>
                  <a:srgbClr val="FFFFFF"/>
                </a:solidFill>
              </a:rPr>
              <a:t>Next questions</a:t>
            </a:r>
            <a:endParaRPr lang="en-US" sz="1550" dirty="0"/>
          </a:p>
          <a:p>
            <a:pPr marL="342900" indent="-342900">
              <a:spcAft>
                <a:spcPts val="800"/>
              </a:spcAft>
              <a:buSzPct val="100000"/>
              <a:buChar char="•"/>
            </a:pPr>
            <a:r>
              <a:rPr lang="en-US" sz="1550" dirty="0">
                <a:solidFill>
                  <a:srgbClr val="E6ECF5"/>
                </a:solidFill>
              </a:rPr>
              <a:t>Hardware validation with real readout asymmetry and drift.</a:t>
            </a:r>
            <a:endParaRPr lang="en-US" sz="1550" dirty="0"/>
          </a:p>
          <a:p>
            <a:pPr marL="342900" indent="-342900">
              <a:spcAft>
                <a:spcPts val="800"/>
              </a:spcAft>
              <a:buSzPct val="100000"/>
              <a:buChar char="•"/>
            </a:pPr>
            <a:r>
              <a:rPr lang="en-US" sz="1550" dirty="0">
                <a:solidFill>
                  <a:srgbClr val="E6ECF5"/>
                </a:solidFill>
              </a:rPr>
              <a:t>Richer mitigation (PEC, CDR, DD) and a thermal-sensitive probe.</a:t>
            </a:r>
            <a:endParaRPr lang="en-US" sz="1550" dirty="0"/>
          </a:p>
          <a:p>
            <a:pPr marL="342900" indent="-342900">
              <a:spcAft>
                <a:spcPts val="800"/>
              </a:spcAft>
              <a:buSzPct val="100000"/>
              <a:buChar char="•"/>
            </a:pPr>
            <a:r>
              <a:rPr lang="en-US" sz="1550" dirty="0">
                <a:solidFill>
                  <a:srgbClr val="E6ECF5"/>
                </a:solidFill>
              </a:rPr>
              <a:t>Larger circuits, where noise may also degrade discrimination.</a:t>
            </a:r>
            <a:endParaRPr lang="en-US" sz="1550" dirty="0"/>
          </a:p>
        </p:txBody>
      </p:sp>
      <p:sp>
        <p:nvSpPr>
          <p:cNvPr id="9" name="answer"/>
          <p:cNvSpPr txBox="1"/>
          <p:nvPr/>
        </p:nvSpPr>
        <p:spPr>
          <a:xfrm>
            <a:off x="548640" y="5623560"/>
            <a:ext cx="11064240" cy="502920"/>
          </a:xfrm>
          <a:prstGeom prst="rect">
            <a:avLst/>
          </a:prstGeom>
          <a:noFill/>
          <a:ln/>
        </p:spPr>
        <p:txBody>
          <a:bodyPr wrap="square" lIns="0" tIns="0" rIns="0" bIns="0" rtlCol="0" anchor="ctr"/>
          <a:lstStyle/>
          <a:p>
            <a:pPr indent="0" marL="0">
              <a:buNone/>
            </a:pPr>
            <a:r>
              <a:rPr lang="en-US" sz="1800" b="1" i="1" dirty="0">
                <a:solidFill>
                  <a:srgbClr val="7FD6D3"/>
                </a:solidFill>
              </a:rPr>
              <a:t>Answer: in the studied setting, a simple probe rule performed competitively with learned controllers.</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900">
                <a:solidFill>
                  <a:srgbClr val="AFC2DC"/>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Backup: per-structure held-out results</a:t>
            </a:r>
            <a:endParaRPr lang="en-US" sz="3200" dirty="0"/>
          </a:p>
        </p:txBody>
      </p:sp>
      <p:pic>
        <p:nvPicPr>
          <p:cNvPr id="3" name="structures-figure" descr="/Users/mayankpokhriyal/Workspaces/q-trace/results/figures/final_b_structures.png">    </p:cNvPr>
          <p:cNvPicPr>
            <a:picLocks noChangeAspect="1"/>
          </p:cNvPicPr>
          <p:nvPr/>
        </p:nvPicPr>
        <p:blipFill>
          <a:blip r:embed="rId1"/>
          <a:stretch>
            <a:fillRect/>
          </a:stretch>
        </p:blipFill>
        <p:spPr>
          <a:xfrm>
            <a:off x="457200" y="1620068"/>
            <a:ext cx="11247120" cy="3526425"/>
          </a:xfrm>
          <a:prstGeom prst="rect">
            <a:avLst/>
          </a:prstGeom>
        </p:spPr>
      </p:pic>
      <p:sp>
        <p:nvSpPr>
          <p:cNvPr id="4" name="structures-caption"/>
          <p:cNvSpPr txBox="1"/>
          <p:nvPr/>
        </p:nvSpPr>
        <p:spPr>
          <a:xfrm>
            <a:off x="548640" y="5623560"/>
            <a:ext cx="11064240" cy="457200"/>
          </a:xfrm>
          <a:prstGeom prst="rect">
            <a:avLst/>
          </a:prstGeom>
          <a:noFill/>
          <a:ln/>
        </p:spPr>
        <p:txBody>
          <a:bodyPr wrap="square" lIns="0" tIns="0" rIns="0" bIns="0" rtlCol="0" anchor="t"/>
          <a:lstStyle/>
          <a:p>
            <a:pPr indent="0" marL="0">
              <a:buNone/>
            </a:pPr>
            <a:r>
              <a:rPr lang="en-US" sz="1050" i="1" dirty="0">
                <a:solidFill>
                  <a:schemeClr val="accent5"/>
                </a:solidFill>
              </a:rPr>
              <a:t>The unseen mean-Z structure explains R_thr's higher raw disagreement (non-material: two calibration circuits); R_obs absorbs it.</a:t>
            </a:r>
            <a:endParaRPr lang="en-US" sz="105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Backup: Phase 5C preferred-action map</a:t>
            </a:r>
            <a:endParaRPr lang="en-US" sz="3200" dirty="0"/>
          </a:p>
        </p:txBody>
      </p:sp>
      <p:pic>
        <p:nvPicPr>
          <p:cNvPr id="3" name="map-figure" descr="/Users/mayankpokhriyal/Workspaces/q-trace/results/figures/p5c_b_preferred_map.png">    </p:cNvPr>
          <p:cNvPicPr>
            <a:picLocks noChangeAspect="1"/>
          </p:cNvPicPr>
          <p:nvPr/>
        </p:nvPicPr>
        <p:blipFill>
          <a:blip r:embed="rId1"/>
          <a:stretch>
            <a:fillRect/>
          </a:stretch>
        </p:blipFill>
        <p:spPr>
          <a:xfrm>
            <a:off x="2089146" y="1188720"/>
            <a:ext cx="7983228" cy="4937760"/>
          </a:xfrm>
          <a:prstGeom prst="rect">
            <a:avLst/>
          </a:prstGeom>
        </p:spPr>
      </p:pic>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Q-TRACE">
  <a:themeElements>
    <a:clrScheme name="Q-TRACE">
      <a:dk1>
        <a:srgbClr val="1A1F2B"/>
      </a:dk1>
      <a:lt1>
        <a:srgbClr val="FFFFFF"/>
      </a:lt1>
      <a:dk2>
        <a:srgbClr val="1B2A49"/>
      </a:dk2>
      <a:lt2>
        <a:srgbClr val="EEF2F7"/>
      </a:lt2>
      <a:accent1>
        <a:srgbClr val="0F8B8D"/>
      </a:accent1>
      <a:accent2>
        <a:srgbClr val="E8A33D"/>
      </a:accent2>
      <a:accent3>
        <a:srgbClr val="C0392B"/>
      </a:accent3>
      <a:accent4>
        <a:srgbClr val="56B4E9"/>
      </a:accent4>
      <a:accent5>
        <a:srgbClr val="6B7280"/>
      </a:accent5>
      <a:accent6>
        <a:srgbClr val="0072B2"/>
      </a:accent6>
      <a:hlink>
        <a:srgbClr val="0F8B8D"/>
      </a:hlink>
      <a:folHlink>
        <a:srgbClr val="1B2A49"/>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Katz School of Science and Health, Yeshiva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Q-TRACE final capstone: when is quantum error mitigation worth paying for?</dc:title>
  <dc:subject>PptxGenJS Presentation</dc:subject>
  <dc:creator>Mayank Kumar Pokhriyal; Tushar Poonia</dc:creator>
  <cp:lastModifiedBy>Mayank Kumar Pokhriyal; Tushar Poonia</cp:lastModifiedBy>
  <cp:revision>1</cp:revision>
  <dcterms:created xsi:type="dcterms:W3CDTF">2026-10-08T22:31:17Z</dcterms:created>
  <dcterms:modified xsi:type="dcterms:W3CDTF">2026-10-08T22:31:17Z</dcterms:modified>
</cp:coreProperties>
</file>