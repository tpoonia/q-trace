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b6b5a64-385b-3d67-78f3-d0724b53517d}">
          <p14:sldIdLst>
            <p14:sldId id="256"/>
          </p14:sldIdLst>
        </p14:section>
        <p14:section name="Problem" id="{15becfba-46ef-b932-7ba4-f27a200d5204}">
          <p14:sldIdLst>
            <p14:sldId id="257"/>
            <p14:sldId id="258"/>
          </p14:sldIdLst>
        </p14:section>
        <p14:section name="Findings" id="{eece2512-7e2f-a021-efb2-554759968750}">
          <p14:sldIdLst>
            <p14:sldId id="259"/>
            <p14:sldId id="260"/>
            <p14:sldId id="261"/>
          </p14:sldIdLst>
        </p14:section>
        <p14:section name="Interpretation" id="{f17ebaa5-5d8c-608e-6344-90199a9aca51}">
          <p14:sldIdLst>
            <p14:sldId id="262"/>
          </p14:sldIdLst>
        </p14:section>
        <p14:section name="Next steps" id="{da70e645-1e36-b22a-ff43-87dd2c6711c1}">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~20 s] Good afternoon. Our capstone asks a practical question about near-term quantum machine learning: error mitigation makes noisy quantum results more reliable, but it costs extra quantum resources. So when is it actually worth paying for, and can a learned controller make that decision better than a simple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~40 s] Mitigation is not free. Readout mitigation is nearly free once calibrated, but zero-noise extrapolation needs three times the shots and nine times the two-qubit-gate exposure, and simply buying more shots only reduces variance. Our original hypothesis was that a learned controller, which we called Q-TRACE, could pick the right action per context from cheap probes. From the start we pre-registered the alternative: that a simple rule might be just as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~40 s] We use the public European credit-card fraud dataset, about 284 thousand transactions with 0.17 percent fraud, split into five leakage-safe partitions. We trained 64 independent four-qubit variational quantum classifiers, and simulated every model under every noise context, shot budget and action, about 1.4 million counterfactual outcomes in total. Crucially, the policy only sees cheap label-free probes; the true noise parameters, labels and our test set are kept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~45 s] Our first finding reframed the project. Noise barely changes discrimination: AUPRC moves by at most 0.003, and the top-ranked frauds stay on top. But calibration collapses: the Brier score gets up to 13 times worse. Mitigation fixes exactly that. Under combined noise, readout mitigation plus ZNE cuts the Brier score from 0.122 to 0.054, while spending the same budget on extra shots does nothing. And the best action depends on the type of noise. So it looked like a genuine selective decision problem. Tushar will take it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~45 s] We tested the controller hypothesis with pre-registered gates. First with categorical noise: the best action was simply a lookup on the noise type, and a four-cell probe rule was right 99.7 percent of the time, so the gate failed. Then readout, gate and thermal noise varied continuously together. That actually removed most of the choice. In our design, 16 of 17 gate settings carry gate noise, and ZNE or combined mitigation wins in 94 percent of contexts. A two-threshold rule makes material mistakes only 2 percent of the time. The second gate failed too, so as registered, we did not train a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~45 s] Finally, we froze everything and opened our sealed test set exactly once: 16 models from four structures the policies had never seen. The simple probe rule made material errors in 2 percent of decisions, its Brier score was within 0.03 percent of the cost-aware Oracle, and it spent only 0.6 percent more shots. The best learned comparator, gradient boosting, tied it at 2.1 percent on material errors; it disagreed with the Oracle less often, but the rule's extra disagreements were cheap ones. All four pre-registered hypotheses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~40 s] Why did the simple rule win? Three reasons. First, mitigation removes a calibration bias, and extra shots cannot, so the budget rarely matters. Second, in our joint-noise design, where 16 of 17 gate settings carry gate noise, the decision collapses to one question, is gate noise present, and the gate probe alone answers it. Third, models differ in how much mitigation helps, but rarely in which action wins; and where they do, the learned models generalized worse than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~25 s] To summarize our contribution: mitigation fixes calibration, not discrimination; we built a leakage-safe benchmark across 64 models; and our pre-registered test shows that a simple probe rule is enough in this setting. Next we will polish the manuscript by October 20, update this presentation by October 27, revise after your feedback in November, and deliver the final package in December.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chemeClr val="accent5"/>
                </a:solidFill>
              </a:rPr>
              <a:t>Q-TRACE  ·  Pokhriyal &amp; Poonia  ·  Katz School, Yeshiva University</a:t>
            </a:r>
            <a:endParaRPr lang="en-US" sz="9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AFC2DC"/>
                </a:solidFill>
              </a:rPr>
              <a:t>Q-TRACE  ·  Pokhriyal &amp; Poonia  ·  Katz School, Yeshiva University</a:t>
            </a:r>
            <a:endParaRPr lang="en-US" sz="9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737360"/>
            <a:ext cx="10698480" cy="14630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When is quantum error mitigation worth paying for?</a:t>
            </a:r>
            <a:endParaRPr lang="en-US" sz="4000" dirty="0"/>
          </a:p>
        </p:txBody>
      </p:sp>
      <p:sp>
        <p:nvSpPr>
          <p:cNvPr id="3" name="subtitle"/>
          <p:cNvSpPr txBox="1"/>
          <p:nvPr/>
        </p:nvSpPr>
        <p:spPr>
          <a:xfrm>
            <a:off x="731520" y="3246120"/>
            <a:ext cx="10698480" cy="548640"/>
          </a:xfrm>
          <a:prstGeom prst="rect">
            <a:avLst/>
          </a:prstGeom>
          <a:noFill/>
          <a:ln/>
        </p:spPr>
        <p:txBody>
          <a:bodyPr wrap="square" lIns="0" tIns="0" rIns="0" bIns="0" rtlCol="0" anchor="ctr"/>
          <a:lstStyle/>
          <a:p>
            <a:pPr indent="0" marL="0">
              <a:buNone/>
            </a:pPr>
            <a:r>
              <a:rPr lang="en-US" sz="2000" dirty="0">
                <a:solidFill>
                  <a:srgbClr val="CADCFC"/>
                </a:solidFill>
              </a:rPr>
              <a:t>Q-TRACE: selective error mitigation for noisy quantum fraud classifiers</a:t>
            </a:r>
            <a:endParaRPr lang="en-US" sz="2000" dirty="0"/>
          </a:p>
        </p:txBody>
      </p:sp>
      <p:sp>
        <p:nvSpPr>
          <p:cNvPr id="4" name="authors"/>
          <p:cNvSpPr txBox="1"/>
          <p:nvPr/>
        </p:nvSpPr>
        <p:spPr>
          <a:xfrm>
            <a:off x="731520" y="4663440"/>
            <a:ext cx="10698480" cy="1097280"/>
          </a:xfrm>
          <a:prstGeom prst="rect">
            <a:avLst/>
          </a:prstGeom>
          <a:noFill/>
          <a:ln/>
        </p:spPr>
        <p:txBody>
          <a:bodyPr wrap="square" lIns="0" tIns="0" rIns="0" bIns="0" rtlCol="0" anchor="ctr"/>
          <a:lstStyle/>
          <a:p>
            <a:pPr indent="0" marL="0">
              <a:buNone/>
            </a:pPr>
            <a:r>
              <a:rPr lang="en-US" sz="1500" b="1" dirty="0">
                <a:solidFill>
                  <a:srgbClr val="E6ECF5"/>
                </a:solidFill>
              </a:rPr>
              <a:t>Mayank Kumar Pokhriyal  ·  Tushar Poonia</a:t>
            </a:r>
            <a:endParaRPr lang="en-US" sz="1500" dirty="0"/>
          </a:p>
          <a:p>
            <a:pPr indent="0" marL="0">
              <a:buNone/>
            </a:pPr>
            <a:r>
              <a:rPr lang="en-US" sz="1500" dirty="0">
                <a:solidFill>
                  <a:srgbClr val="E6ECF5"/>
                </a:solidFill>
              </a:rPr>
              <a:t>M.S. in Artificial Intelligence capstone  ·  Katz School of Science and Health, Yeshiva University</a:t>
            </a:r>
            <a:endParaRPr lang="en-US" sz="1500" dirty="0"/>
          </a:p>
          <a:p>
            <a:pPr indent="0" marL="0">
              <a:buNone/>
            </a:pPr>
            <a:r>
              <a:rPr lang="en-US" sz="1500" dirty="0">
                <a:solidFill>
                  <a:srgbClr val="E6ECF5"/>
                </a:solidFill>
              </a:rPr>
              <a:t>Progress presentation  ·  October 13,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Mitigation is expensive, so use it selectively</a:t>
            </a:r>
            <a:endParaRPr lang="en-US" sz="3200" dirty="0"/>
          </a:p>
        </p:txBody>
      </p:sp>
      <p:sp>
        <p:nvSpPr>
          <p:cNvPr id="3" name="cost-icon-0-circle"/>
          <p:cNvSpPr/>
          <p:nvPr/>
        </p:nvSpPr>
        <p:spPr>
          <a:xfrm>
            <a:off x="548640" y="1417320"/>
            <a:ext cx="822960" cy="822960"/>
          </a:xfrm>
          <a:prstGeom prst="ellipse">
            <a:avLst/>
          </a:prstGeom>
          <a:solidFill>
            <a:srgbClr val="1B2A49"/>
          </a:solidFill>
          <a:ln w="12700">
            <a:solidFill>
              <a:srgbClr val="1B2A49"/>
            </a:solidFill>
            <a:prstDash val="solid"/>
          </a:ln>
        </p:spPr>
      </p:sp>
      <p:pic>
        <p:nvPicPr>
          <p:cNvPr id="4" name="cost-icon-0" descr="preencoded.png">    </p:cNvPr>
          <p:cNvPicPr>
            <a:picLocks noChangeAspect="1"/>
          </p:cNvPicPr>
          <p:nvPr/>
        </p:nvPicPr>
        <p:blipFill>
          <a:blip r:embed="rId1"/>
          <a:stretch>
            <a:fillRect/>
          </a:stretch>
        </p:blipFill>
        <p:spPr>
          <a:xfrm>
            <a:off x="746150" y="1614830"/>
            <a:ext cx="427939" cy="427939"/>
          </a:xfrm>
          <a:prstGeom prst="rect">
            <a:avLst/>
          </a:prstGeom>
        </p:spPr>
      </p:pic>
      <p:sp>
        <p:nvSpPr>
          <p:cNvPr id="5" name="cost-head-0"/>
          <p:cNvSpPr txBox="1"/>
          <p:nvPr/>
        </p:nvSpPr>
        <p:spPr>
          <a:xfrm>
            <a:off x="1554480" y="1371600"/>
            <a:ext cx="4937760" cy="411480"/>
          </a:xfrm>
          <a:prstGeom prst="rect">
            <a:avLst/>
          </a:prstGeom>
          <a:noFill/>
          <a:ln/>
        </p:spPr>
        <p:txBody>
          <a:bodyPr wrap="square" lIns="0" tIns="0" rIns="0" bIns="0" rtlCol="0" anchor="ctr"/>
          <a:lstStyle/>
          <a:p>
            <a:pPr indent="0" marL="0">
              <a:buNone/>
            </a:pPr>
            <a:r>
              <a:rPr lang="en-US" sz="1800" b="1" dirty="0">
                <a:solidFill>
                  <a:schemeClr val="tx2"/>
                </a:solidFill>
              </a:rPr>
              <a:t>Readout mitigation</a:t>
            </a:r>
            <a:endParaRPr lang="en-US" sz="1800" dirty="0"/>
          </a:p>
        </p:txBody>
      </p:sp>
      <p:sp>
        <p:nvSpPr>
          <p:cNvPr id="6" name="cost-body-0"/>
          <p:cNvSpPr txBox="1"/>
          <p:nvPr/>
        </p:nvSpPr>
        <p:spPr>
          <a:xfrm>
            <a:off x="1554480" y="1801368"/>
            <a:ext cx="4937760" cy="731520"/>
          </a:xfrm>
          <a:prstGeom prst="rect">
            <a:avLst/>
          </a:prstGeom>
          <a:noFill/>
          <a:ln/>
        </p:spPr>
        <p:txBody>
          <a:bodyPr wrap="square" lIns="0" tIns="0" rIns="0" bIns="0" rtlCol="0" anchor="t"/>
          <a:lstStyle/>
          <a:p>
            <a:pPr indent="0" marL="0">
              <a:buNone/>
            </a:pPr>
            <a:r>
              <a:rPr lang="en-US" sz="1500" dirty="0">
                <a:solidFill>
                  <a:schemeClr val="tx1"/>
                </a:solidFill>
              </a:rPr>
              <a:t>Inverts measurement errors. About two calibration circuits per batch: almost free.</a:t>
            </a:r>
            <a:endParaRPr lang="en-US" sz="1500" dirty="0"/>
          </a:p>
        </p:txBody>
      </p:sp>
      <p:sp>
        <p:nvSpPr>
          <p:cNvPr id="7" name="cost-icon-1-circle"/>
          <p:cNvSpPr/>
          <p:nvPr/>
        </p:nvSpPr>
        <p:spPr>
          <a:xfrm>
            <a:off x="548640" y="2880360"/>
            <a:ext cx="822960" cy="822960"/>
          </a:xfrm>
          <a:prstGeom prst="ellipse">
            <a:avLst/>
          </a:prstGeom>
          <a:solidFill>
            <a:srgbClr val="1B2A49"/>
          </a:solidFill>
          <a:ln w="12700">
            <a:solidFill>
              <a:srgbClr val="1B2A49"/>
            </a:solidFill>
            <a:prstDash val="solid"/>
          </a:ln>
        </p:spPr>
      </p:sp>
      <p:pic>
        <p:nvPicPr>
          <p:cNvPr id="8" name="cost-icon-1" descr="preencoded.png">    </p:cNvPr>
          <p:cNvPicPr>
            <a:picLocks noChangeAspect="1"/>
          </p:cNvPicPr>
          <p:nvPr/>
        </p:nvPicPr>
        <p:blipFill>
          <a:blip r:embed="rId2"/>
          <a:stretch>
            <a:fillRect/>
          </a:stretch>
        </p:blipFill>
        <p:spPr>
          <a:xfrm>
            <a:off x="746150" y="3077870"/>
            <a:ext cx="427939" cy="427939"/>
          </a:xfrm>
          <a:prstGeom prst="rect">
            <a:avLst/>
          </a:prstGeom>
        </p:spPr>
      </p:pic>
      <p:sp>
        <p:nvSpPr>
          <p:cNvPr id="9" name="cost-head-1"/>
          <p:cNvSpPr txBox="1"/>
          <p:nvPr/>
        </p:nvSpPr>
        <p:spPr>
          <a:xfrm>
            <a:off x="1554480" y="2834640"/>
            <a:ext cx="4937760" cy="411480"/>
          </a:xfrm>
          <a:prstGeom prst="rect">
            <a:avLst/>
          </a:prstGeom>
          <a:noFill/>
          <a:ln/>
        </p:spPr>
        <p:txBody>
          <a:bodyPr wrap="square" lIns="0" tIns="0" rIns="0" bIns="0" rtlCol="0" anchor="ctr"/>
          <a:lstStyle/>
          <a:p>
            <a:pPr indent="0" marL="0">
              <a:buNone/>
            </a:pPr>
            <a:r>
              <a:rPr lang="en-US" sz="1800" b="1" dirty="0">
                <a:solidFill>
                  <a:schemeClr val="tx2"/>
                </a:solidFill>
              </a:rPr>
              <a:t>Zero-noise extrapolation (ZNE)</a:t>
            </a:r>
            <a:endParaRPr lang="en-US" sz="1800" dirty="0"/>
          </a:p>
        </p:txBody>
      </p:sp>
      <p:sp>
        <p:nvSpPr>
          <p:cNvPr id="10" name="cost-body-1"/>
          <p:cNvSpPr txBox="1"/>
          <p:nvPr/>
        </p:nvSpPr>
        <p:spPr>
          <a:xfrm>
            <a:off x="1554480" y="3264408"/>
            <a:ext cx="4937760" cy="731520"/>
          </a:xfrm>
          <a:prstGeom prst="rect">
            <a:avLst/>
          </a:prstGeom>
          <a:noFill/>
          <a:ln/>
        </p:spPr>
        <p:txBody>
          <a:bodyPr wrap="square" lIns="0" tIns="0" rIns="0" bIns="0" rtlCol="0" anchor="t"/>
          <a:lstStyle/>
          <a:p>
            <a:pPr indent="0" marL="0">
              <a:buNone/>
            </a:pPr>
            <a:r>
              <a:rPr lang="en-US" sz="1500" dirty="0">
                <a:solidFill>
                  <a:schemeClr val="tx1"/>
                </a:solidFill>
              </a:rPr>
              <a:t>Amplifies gate noise and extrapolates back: 3× shots and 9× two-qubit-gate exposure.</a:t>
            </a:r>
            <a:endParaRPr lang="en-US" sz="1500" dirty="0"/>
          </a:p>
        </p:txBody>
      </p:sp>
      <p:sp>
        <p:nvSpPr>
          <p:cNvPr id="11" name="cost-icon-2-circle"/>
          <p:cNvSpPr/>
          <p:nvPr/>
        </p:nvSpPr>
        <p:spPr>
          <a:xfrm>
            <a:off x="548640" y="4343400"/>
            <a:ext cx="822960" cy="822960"/>
          </a:xfrm>
          <a:prstGeom prst="ellipse">
            <a:avLst/>
          </a:prstGeom>
          <a:solidFill>
            <a:srgbClr val="1B2A49"/>
          </a:solidFill>
          <a:ln w="12700">
            <a:solidFill>
              <a:srgbClr val="1B2A49"/>
            </a:solidFill>
            <a:prstDash val="solid"/>
          </a:ln>
        </p:spPr>
      </p:sp>
      <p:pic>
        <p:nvPicPr>
          <p:cNvPr id="12" name="cost-icon-2" descr="preencoded.png">    </p:cNvPr>
          <p:cNvPicPr>
            <a:picLocks noChangeAspect="1"/>
          </p:cNvPicPr>
          <p:nvPr/>
        </p:nvPicPr>
        <p:blipFill>
          <a:blip r:embed="rId3"/>
          <a:stretch>
            <a:fillRect/>
          </a:stretch>
        </p:blipFill>
        <p:spPr>
          <a:xfrm>
            <a:off x="746150" y="4540910"/>
            <a:ext cx="427939" cy="427939"/>
          </a:xfrm>
          <a:prstGeom prst="rect">
            <a:avLst/>
          </a:prstGeom>
        </p:spPr>
      </p:pic>
      <p:sp>
        <p:nvSpPr>
          <p:cNvPr id="13" name="cost-head-2"/>
          <p:cNvSpPr txBox="1"/>
          <p:nvPr/>
        </p:nvSpPr>
        <p:spPr>
          <a:xfrm>
            <a:off x="1554480" y="4297680"/>
            <a:ext cx="4937760" cy="411480"/>
          </a:xfrm>
          <a:prstGeom prst="rect">
            <a:avLst/>
          </a:prstGeom>
          <a:noFill/>
          <a:ln/>
        </p:spPr>
        <p:txBody>
          <a:bodyPr wrap="square" lIns="0" tIns="0" rIns="0" bIns="0" rtlCol="0" anchor="ctr"/>
          <a:lstStyle/>
          <a:p>
            <a:pPr indent="0" marL="0">
              <a:buNone/>
            </a:pPr>
            <a:r>
              <a:rPr lang="en-US" sz="1800" b="1" dirty="0">
                <a:solidFill>
                  <a:schemeClr val="tx2"/>
                </a:solidFill>
              </a:rPr>
              <a:t>Extra shots</a:t>
            </a:r>
            <a:endParaRPr lang="en-US" sz="1800" dirty="0"/>
          </a:p>
        </p:txBody>
      </p:sp>
      <p:sp>
        <p:nvSpPr>
          <p:cNvPr id="14" name="cost-body-2"/>
          <p:cNvSpPr txBox="1"/>
          <p:nvPr/>
        </p:nvSpPr>
        <p:spPr>
          <a:xfrm>
            <a:off x="1554480" y="4727448"/>
            <a:ext cx="4937760" cy="731520"/>
          </a:xfrm>
          <a:prstGeom prst="rect">
            <a:avLst/>
          </a:prstGeom>
          <a:noFill/>
          <a:ln/>
        </p:spPr>
        <p:txBody>
          <a:bodyPr wrap="square" lIns="0" tIns="0" rIns="0" bIns="0" rtlCol="0" anchor="t"/>
          <a:lstStyle/>
          <a:p>
            <a:pPr indent="0" marL="0">
              <a:buNone/>
            </a:pPr>
            <a:r>
              <a:rPr lang="en-US" sz="1500" dirty="0">
                <a:solidFill>
                  <a:schemeClr val="tx1"/>
                </a:solidFill>
              </a:rPr>
              <a:t>3× shots on the same circuit: lowers sampling variance, not bias.</a:t>
            </a:r>
            <a:endParaRPr lang="en-US" sz="1500" dirty="0"/>
          </a:p>
        </p:txBody>
      </p:sp>
      <p:sp>
        <p:nvSpPr>
          <p:cNvPr id="15" name="hypothesis-card"/>
          <p:cNvSpPr/>
          <p:nvPr/>
        </p:nvSpPr>
        <p:spPr>
          <a:xfrm>
            <a:off x="6949440" y="1417320"/>
            <a:ext cx="4709160" cy="4206240"/>
          </a:xfrm>
          <a:prstGeom prst="roundRect">
            <a:avLst>
              <a:gd name="adj" fmla="val 1739"/>
            </a:avLst>
          </a:prstGeom>
          <a:solidFill>
            <a:srgbClr val="EEF2F7"/>
          </a:solidFill>
          <a:ln w="12700">
            <a:solidFill>
              <a:srgbClr val="EEF2F7"/>
            </a:solidFill>
            <a:prstDash val="solid"/>
          </a:ln>
        </p:spPr>
      </p:sp>
      <p:sp>
        <p:nvSpPr>
          <p:cNvPr id="16" name="hypothesis-icon-circle"/>
          <p:cNvSpPr/>
          <p:nvPr/>
        </p:nvSpPr>
        <p:spPr>
          <a:xfrm>
            <a:off x="7269480" y="1691640"/>
            <a:ext cx="731520" cy="731520"/>
          </a:xfrm>
          <a:prstGeom prst="ellipse">
            <a:avLst/>
          </a:prstGeom>
          <a:solidFill>
            <a:srgbClr val="0F8B8D"/>
          </a:solidFill>
          <a:ln w="12700">
            <a:solidFill>
              <a:srgbClr val="0F8B8D"/>
            </a:solidFill>
            <a:prstDash val="solid"/>
          </a:ln>
        </p:spPr>
      </p:sp>
      <p:pic>
        <p:nvPicPr>
          <p:cNvPr id="17" name="hypothesis-icon" descr="preencoded.png">    </p:cNvPr>
          <p:cNvPicPr>
            <a:picLocks noChangeAspect="1"/>
          </p:cNvPicPr>
          <p:nvPr/>
        </p:nvPicPr>
        <p:blipFill>
          <a:blip r:embed="rId4"/>
          <a:stretch>
            <a:fillRect/>
          </a:stretch>
        </p:blipFill>
        <p:spPr>
          <a:xfrm>
            <a:off x="7445045" y="1867205"/>
            <a:ext cx="380390" cy="380390"/>
          </a:xfrm>
          <a:prstGeom prst="rect">
            <a:avLst/>
          </a:prstGeom>
        </p:spPr>
      </p:pic>
      <p:sp>
        <p:nvSpPr>
          <p:cNvPr id="18" name="hypothesis-head"/>
          <p:cNvSpPr txBox="1"/>
          <p:nvPr/>
        </p:nvSpPr>
        <p:spPr>
          <a:xfrm>
            <a:off x="8183880" y="1783080"/>
            <a:ext cx="3291840" cy="548640"/>
          </a:xfrm>
          <a:prstGeom prst="rect">
            <a:avLst/>
          </a:prstGeom>
          <a:noFill/>
          <a:ln/>
        </p:spPr>
        <p:txBody>
          <a:bodyPr wrap="square" lIns="0" tIns="0" rIns="0" bIns="0" rtlCol="0" anchor="ctr"/>
          <a:lstStyle/>
          <a:p>
            <a:pPr indent="0" marL="0">
              <a:buNone/>
            </a:pPr>
            <a:r>
              <a:rPr lang="en-US" sz="2000" b="1" dirty="0">
                <a:solidFill>
                  <a:schemeClr val="tx2"/>
                </a:solidFill>
              </a:rPr>
              <a:t>Original hypothesis</a:t>
            </a:r>
            <a:endParaRPr lang="en-US" sz="2000" dirty="0"/>
          </a:p>
        </p:txBody>
      </p:sp>
      <p:sp>
        <p:nvSpPr>
          <p:cNvPr id="19" name="hypothesis-body"/>
          <p:cNvSpPr txBox="1"/>
          <p:nvPr/>
        </p:nvSpPr>
        <p:spPr>
          <a:xfrm>
            <a:off x="7269480" y="2651760"/>
            <a:ext cx="4114800" cy="1645920"/>
          </a:xfrm>
          <a:prstGeom prst="rect">
            <a:avLst/>
          </a:prstGeom>
          <a:noFill/>
          <a:ln/>
        </p:spPr>
        <p:txBody>
          <a:bodyPr wrap="square" lIns="0" tIns="0" rIns="0" bIns="0" rtlCol="0" anchor="t"/>
          <a:lstStyle/>
          <a:p>
            <a:pPr indent="0" marL="0">
              <a:buNone/>
            </a:pPr>
            <a:r>
              <a:rPr lang="en-US" sz="1600" dirty="0">
                <a:solidFill>
                  <a:schemeClr val="tx1"/>
                </a:solidFill>
              </a:rPr>
              <a:t>A learned controller (Q-TRACE), seeing only cheap label-free probes, chooses none / readout / ZNE / both / extra shots per context better than fixed policies.</a:t>
            </a:r>
            <a:endParaRPr lang="en-US" sz="1600" dirty="0"/>
          </a:p>
        </p:txBody>
      </p:sp>
      <p:sp>
        <p:nvSpPr>
          <p:cNvPr id="20" name="hypothesis-alt"/>
          <p:cNvSpPr txBox="1"/>
          <p:nvPr/>
        </p:nvSpPr>
        <p:spPr>
          <a:xfrm>
            <a:off x="7269480" y="4526280"/>
            <a:ext cx="4114800" cy="731520"/>
          </a:xfrm>
          <a:prstGeom prst="rect">
            <a:avLst/>
          </a:prstGeom>
          <a:noFill/>
          <a:ln/>
        </p:spPr>
        <p:txBody>
          <a:bodyPr wrap="square" lIns="0" tIns="0" rIns="0" bIns="0" rtlCol="0" anchor="t"/>
          <a:lstStyle/>
          <a:p>
            <a:pPr indent="0" marL="0">
              <a:buNone/>
            </a:pPr>
            <a:r>
              <a:rPr lang="en-US" sz="1500" i="1" dirty="0">
                <a:solidFill>
                  <a:schemeClr val="accent1"/>
                </a:solidFill>
              </a:rPr>
              <a:t>Pre-registered alternative: a simple rule is enough.</a:t>
            </a:r>
            <a:endParaRPr lang="en-US" sz="15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Setup: 64 noisy quantum fraud classifiers</a:t>
            </a:r>
            <a:endParaRPr lang="en-US" sz="3200" dirty="0"/>
          </a:p>
        </p:txBody>
      </p:sp>
      <p:pic>
        <p:nvPicPr>
          <p:cNvPr id="3" name="architecture" descr="/Users/mayankpokhriyal/Workspaces/q-trace/deliverables/figures/fig1_architecture.png">    </p:cNvPr>
          <p:cNvPicPr>
            <a:picLocks noChangeAspect="1"/>
          </p:cNvPicPr>
          <p:nvPr/>
        </p:nvPicPr>
        <p:blipFill>
          <a:blip r:embed="rId1"/>
          <a:stretch>
            <a:fillRect/>
          </a:stretch>
        </p:blipFill>
        <p:spPr>
          <a:xfrm>
            <a:off x="457200" y="1427377"/>
            <a:ext cx="7589520" cy="3820366"/>
          </a:xfrm>
          <a:prstGeom prst="rect">
            <a:avLst/>
          </a:prstGeom>
        </p:spPr>
      </p:pic>
      <p:sp>
        <p:nvSpPr>
          <p:cNvPr id="4" name="architecture-caption"/>
          <p:cNvSpPr txBox="1"/>
          <p:nvPr/>
        </p:nvSpPr>
        <p:spPr>
          <a:xfrm>
            <a:off x="548640" y="5532120"/>
            <a:ext cx="7406640" cy="548640"/>
          </a:xfrm>
          <a:prstGeom prst="rect">
            <a:avLst/>
          </a:prstGeom>
          <a:noFill/>
          <a:ln/>
        </p:spPr>
        <p:txBody>
          <a:bodyPr wrap="square" lIns="0" tIns="0" rIns="0" bIns="0" rtlCol="0" anchor="t"/>
          <a:lstStyle/>
          <a:p>
            <a:pPr indent="0" marL="0">
              <a:buNone/>
            </a:pPr>
            <a:r>
              <a:rPr lang="en-US" sz="1050" i="1" dirty="0">
                <a:solidFill>
                  <a:schemeClr val="accent5"/>
                </a:solidFill>
              </a:rPr>
              <a:t>Policies see only label-free probes and static model descriptors; true noise, labels and the sealed test are offline-only.</a:t>
            </a:r>
            <a:endParaRPr lang="en-US" sz="1050" dirty="0"/>
          </a:p>
        </p:txBody>
      </p:sp>
      <p:sp>
        <p:nvSpPr>
          <p:cNvPr id="5" name="s-data-value"/>
          <p:cNvSpPr txBox="1"/>
          <p:nvPr/>
        </p:nvSpPr>
        <p:spPr>
          <a:xfrm>
            <a:off x="8412480" y="1280160"/>
            <a:ext cx="329184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283,726</a:t>
            </a:r>
            <a:endParaRPr lang="en-US" sz="4000" dirty="0"/>
          </a:p>
        </p:txBody>
      </p:sp>
      <p:sp>
        <p:nvSpPr>
          <p:cNvPr id="6" name="s-data-label"/>
          <p:cNvSpPr txBox="1"/>
          <p:nvPr/>
        </p:nvSpPr>
        <p:spPr>
          <a:xfrm>
            <a:off x="8412480" y="2029968"/>
            <a:ext cx="3291840" cy="685800"/>
          </a:xfrm>
          <a:prstGeom prst="rect">
            <a:avLst/>
          </a:prstGeom>
          <a:noFill/>
          <a:ln/>
        </p:spPr>
        <p:txBody>
          <a:bodyPr wrap="square" lIns="0" tIns="0" rIns="0" bIns="0" rtlCol="0" anchor="t"/>
          <a:lstStyle/>
          <a:p>
            <a:pPr indent="0" marL="0">
              <a:buNone/>
            </a:pPr>
            <a:r>
              <a:rPr lang="en-US" sz="1300" dirty="0">
                <a:solidFill>
                  <a:schemeClr val="tx1"/>
                </a:solidFill>
              </a:rPr>
              <a:t>credit-card transactions, 0.17% fraud, in 5 leakage-safe partitions</a:t>
            </a:r>
            <a:endParaRPr lang="en-US" sz="1300" dirty="0"/>
          </a:p>
        </p:txBody>
      </p:sp>
      <p:sp>
        <p:nvSpPr>
          <p:cNvPr id="7" name="s-pool-value"/>
          <p:cNvSpPr txBox="1"/>
          <p:nvPr/>
        </p:nvSpPr>
        <p:spPr>
          <a:xfrm>
            <a:off x="8412480" y="2788920"/>
            <a:ext cx="329184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64</a:t>
            </a:r>
            <a:endParaRPr lang="en-US" sz="4000" dirty="0"/>
          </a:p>
        </p:txBody>
      </p:sp>
      <p:sp>
        <p:nvSpPr>
          <p:cNvPr id="8" name="s-pool-label"/>
          <p:cNvSpPr txBox="1"/>
          <p:nvPr/>
        </p:nvSpPr>
        <p:spPr>
          <a:xfrm>
            <a:off x="8412480" y="3538728"/>
            <a:ext cx="3291840" cy="685800"/>
          </a:xfrm>
          <a:prstGeom prst="rect">
            <a:avLst/>
          </a:prstGeom>
          <a:noFill/>
          <a:ln/>
        </p:spPr>
        <p:txBody>
          <a:bodyPr wrap="square" lIns="0" tIns="0" rIns="0" bIns="0" rtlCol="0" anchor="t"/>
          <a:lstStyle/>
          <a:p>
            <a:pPr indent="0" marL="0">
              <a:buNone/>
            </a:pPr>
            <a:r>
              <a:rPr lang="en-US" sz="1300" dirty="0">
                <a:solidFill>
                  <a:schemeClr val="tx1"/>
                </a:solidFill>
              </a:rPr>
              <a:t>independent 4-qubit VQCs (16 structures × 4 seeds), frozen</a:t>
            </a:r>
            <a:endParaRPr lang="en-US" sz="1300" dirty="0"/>
          </a:p>
        </p:txBody>
      </p:sp>
      <p:sp>
        <p:nvSpPr>
          <p:cNvPr id="9" name="s-rows-value"/>
          <p:cNvSpPr txBox="1"/>
          <p:nvPr/>
        </p:nvSpPr>
        <p:spPr>
          <a:xfrm>
            <a:off x="8412480" y="4297680"/>
            <a:ext cx="329184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1.4 M</a:t>
            </a:r>
            <a:endParaRPr lang="en-US" sz="4000" dirty="0"/>
          </a:p>
        </p:txBody>
      </p:sp>
      <p:sp>
        <p:nvSpPr>
          <p:cNvPr id="10" name="s-rows-label"/>
          <p:cNvSpPr txBox="1"/>
          <p:nvPr/>
        </p:nvSpPr>
        <p:spPr>
          <a:xfrm>
            <a:off x="8412480" y="5047488"/>
            <a:ext cx="3291840" cy="685800"/>
          </a:xfrm>
          <a:prstGeom prst="rect">
            <a:avLst/>
          </a:prstGeom>
          <a:noFill/>
          <a:ln/>
        </p:spPr>
        <p:txBody>
          <a:bodyPr wrap="square" lIns="0" tIns="0" rIns="0" bIns="0" rtlCol="0" anchor="t"/>
          <a:lstStyle/>
          <a:p>
            <a:pPr indent="0" marL="0">
              <a:buNone/>
            </a:pPr>
            <a:r>
              <a:rPr lang="en-US" sz="1300" dirty="0">
                <a:solidFill>
                  <a:schemeClr val="tx1"/>
                </a:solidFill>
              </a:rPr>
              <a:t>counterfactual outcomes: every model × noise × budget × action</a:t>
            </a:r>
            <a:endParaRPr lang="en-US" sz="13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Noise breaks calibration, and mitigation repairs it</a:t>
            </a:r>
            <a:endParaRPr lang="en-US" sz="3200" dirty="0"/>
          </a:p>
        </p:txBody>
      </p:sp>
      <p:pic>
        <p:nvPicPr>
          <p:cNvPr id="3" name="mitigation-figure" descr="/Users/mayankpokhriyal/Workspaces/q-trace/deliverables/figures/fig4_mitigation.png">    </p:cNvPr>
          <p:cNvPicPr>
            <a:picLocks noChangeAspect="1"/>
          </p:cNvPicPr>
          <p:nvPr/>
        </p:nvPicPr>
        <p:blipFill>
          <a:blip r:embed="rId1"/>
          <a:stretch>
            <a:fillRect/>
          </a:stretch>
        </p:blipFill>
        <p:spPr>
          <a:xfrm>
            <a:off x="457200" y="1697090"/>
            <a:ext cx="7680960" cy="3280940"/>
          </a:xfrm>
          <a:prstGeom prst="rect">
            <a:avLst/>
          </a:prstGeom>
        </p:spPr>
      </p:pic>
      <p:sp>
        <p:nvSpPr>
          <p:cNvPr id="4" name="mitigation-caption"/>
          <p:cNvSpPr txBox="1"/>
          <p:nvPr/>
        </p:nvSpPr>
        <p:spPr>
          <a:xfrm>
            <a:off x="548640" y="5532120"/>
            <a:ext cx="7406640" cy="365760"/>
          </a:xfrm>
          <a:prstGeom prst="rect">
            <a:avLst/>
          </a:prstGeom>
          <a:noFill/>
          <a:ln/>
        </p:spPr>
        <p:txBody>
          <a:bodyPr wrap="square" lIns="0" tIns="0" rIns="0" bIns="0" rtlCol="0" anchor="t"/>
          <a:lstStyle/>
          <a:p>
            <a:pPr indent="0" marL="0">
              <a:buNone/>
            </a:pPr>
            <a:r>
              <a:rPr lang="en-US" sz="1050" i="1" dirty="0">
                <a:solidFill>
                  <a:schemeClr val="accent5"/>
                </a:solidFill>
              </a:rPr>
              <a:t>Brier score by condition and action (1,024 shots, 20 replicates; Phase 4).</a:t>
            </a:r>
            <a:endParaRPr lang="en-US" sz="1050" dirty="0"/>
          </a:p>
        </p:txBody>
      </p:sp>
      <p:sp>
        <p:nvSpPr>
          <p:cNvPr id="5" name="s-auprc-value"/>
          <p:cNvSpPr txBox="1"/>
          <p:nvPr/>
        </p:nvSpPr>
        <p:spPr>
          <a:xfrm>
            <a:off x="8412480" y="1280160"/>
            <a:ext cx="3291840" cy="73152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 0.003</a:t>
            </a:r>
            <a:endParaRPr lang="en-US" sz="4000" dirty="0"/>
          </a:p>
        </p:txBody>
      </p:sp>
      <p:sp>
        <p:nvSpPr>
          <p:cNvPr id="6" name="s-auprc-label"/>
          <p:cNvSpPr txBox="1"/>
          <p:nvPr/>
        </p:nvSpPr>
        <p:spPr>
          <a:xfrm>
            <a:off x="8412480" y="2029968"/>
            <a:ext cx="3291840" cy="685800"/>
          </a:xfrm>
          <a:prstGeom prst="rect">
            <a:avLst/>
          </a:prstGeom>
          <a:noFill/>
          <a:ln/>
        </p:spPr>
        <p:txBody>
          <a:bodyPr wrap="square" lIns="0" tIns="0" rIns="0" bIns="0" rtlCol="0" anchor="t"/>
          <a:lstStyle/>
          <a:p>
            <a:pPr indent="0" marL="0">
              <a:buNone/>
            </a:pPr>
            <a:r>
              <a:rPr lang="en-US" sz="1300" dirty="0">
                <a:solidFill>
                  <a:schemeClr val="tx1"/>
                </a:solidFill>
              </a:rPr>
              <a:t>change in AUPRC under gate noise: discrimination survives</a:t>
            </a:r>
            <a:endParaRPr lang="en-US" sz="1300" dirty="0"/>
          </a:p>
        </p:txBody>
      </p:sp>
      <p:sp>
        <p:nvSpPr>
          <p:cNvPr id="7" name="s-brier-value"/>
          <p:cNvSpPr txBox="1"/>
          <p:nvPr/>
        </p:nvSpPr>
        <p:spPr>
          <a:xfrm>
            <a:off x="8412480" y="2788920"/>
            <a:ext cx="329184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13×</a:t>
            </a:r>
            <a:endParaRPr lang="en-US" sz="4000" dirty="0"/>
          </a:p>
        </p:txBody>
      </p:sp>
      <p:sp>
        <p:nvSpPr>
          <p:cNvPr id="8" name="s-brier-label"/>
          <p:cNvSpPr txBox="1"/>
          <p:nvPr/>
        </p:nvSpPr>
        <p:spPr>
          <a:xfrm>
            <a:off x="8412480" y="3538728"/>
            <a:ext cx="3291840" cy="685800"/>
          </a:xfrm>
          <a:prstGeom prst="rect">
            <a:avLst/>
          </a:prstGeom>
          <a:noFill/>
          <a:ln/>
        </p:spPr>
        <p:txBody>
          <a:bodyPr wrap="square" lIns="0" tIns="0" rIns="0" bIns="0" rtlCol="0" anchor="t"/>
          <a:lstStyle/>
          <a:p>
            <a:pPr indent="0" marL="0">
              <a:buNone/>
            </a:pPr>
            <a:r>
              <a:rPr lang="en-US" sz="1300" dirty="0">
                <a:solidFill>
                  <a:schemeClr val="tx1"/>
                </a:solidFill>
              </a:rPr>
              <a:t>worse Brier under combined noise (0.009 → 0.121)</a:t>
            </a:r>
            <a:endParaRPr lang="en-US" sz="1300" dirty="0"/>
          </a:p>
        </p:txBody>
      </p:sp>
      <p:sp>
        <p:nvSpPr>
          <p:cNvPr id="9" name="s-fix-value"/>
          <p:cNvSpPr txBox="1"/>
          <p:nvPr/>
        </p:nvSpPr>
        <p:spPr>
          <a:xfrm>
            <a:off x="8412480" y="4297680"/>
            <a:ext cx="3291840" cy="7315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0.122 → 0.054</a:t>
            </a:r>
            <a:endParaRPr lang="en-US" sz="3000" dirty="0"/>
          </a:p>
        </p:txBody>
      </p:sp>
      <p:sp>
        <p:nvSpPr>
          <p:cNvPr id="10" name="s-fix-label"/>
          <p:cNvSpPr txBox="1"/>
          <p:nvPr/>
        </p:nvSpPr>
        <p:spPr>
          <a:xfrm>
            <a:off x="8412480" y="5047488"/>
            <a:ext cx="3291840" cy="685800"/>
          </a:xfrm>
          <a:prstGeom prst="rect">
            <a:avLst/>
          </a:prstGeom>
          <a:noFill/>
          <a:ln/>
        </p:spPr>
        <p:txBody>
          <a:bodyPr wrap="square" lIns="0" tIns="0" rIns="0" bIns="0" rtlCol="0" anchor="t"/>
          <a:lstStyle/>
          <a:p>
            <a:pPr indent="0" marL="0">
              <a:buNone/>
            </a:pPr>
            <a:r>
              <a:rPr lang="en-US" sz="1300" dirty="0">
                <a:solidFill>
                  <a:schemeClr val="tx1"/>
                </a:solidFill>
              </a:rPr>
              <a:t>Brier with combined mitigation; 3× shots leaves it at 0.121</a:t>
            </a:r>
            <a:endParaRPr lang="en-US" sz="13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Two pre-registered gates: nothing material left to learn</a:t>
            </a:r>
            <a:endParaRPr lang="en-US" sz="3200" dirty="0"/>
          </a:p>
        </p:txBody>
      </p:sp>
      <p:pic>
        <p:nvPicPr>
          <p:cNvPr id="3" name="preferred-figure" descr="/Users/mayankpokhriyal/Workspaces/q-trace/deliverables/figures/fig5_preferred_actions.png">    </p:cNvPr>
          <p:cNvPicPr>
            <a:picLocks noChangeAspect="1"/>
          </p:cNvPicPr>
          <p:nvPr/>
        </p:nvPicPr>
        <p:blipFill>
          <a:blip r:embed="rId1"/>
          <a:stretch>
            <a:fillRect/>
          </a:stretch>
        </p:blipFill>
        <p:spPr>
          <a:xfrm>
            <a:off x="457200" y="1563501"/>
            <a:ext cx="7223760" cy="3273798"/>
          </a:xfrm>
          <a:prstGeom prst="rect">
            <a:avLst/>
          </a:prstGeom>
        </p:spPr>
      </p:pic>
      <p:sp>
        <p:nvSpPr>
          <p:cNvPr id="4" name="preferred-caption"/>
          <p:cNvSpPr txBox="1"/>
          <p:nvPr/>
        </p:nvSpPr>
        <p:spPr>
          <a:xfrm>
            <a:off x="548640" y="5349240"/>
            <a:ext cx="7040880" cy="548640"/>
          </a:xfrm>
          <a:prstGeom prst="rect">
            <a:avLst/>
          </a:prstGeom>
          <a:noFill/>
          <a:ln/>
        </p:spPr>
        <p:txBody>
          <a:bodyPr wrap="square" lIns="0" tIns="0" rIns="0" bIns="0" rtlCol="0" anchor="t"/>
          <a:lstStyle/>
          <a:p>
            <a:pPr indent="0" marL="0">
              <a:buNone/>
            </a:pPr>
            <a:r>
              <a:rPr lang="en-US" sz="1050" i="1" dirty="0">
                <a:solidFill>
                  <a:schemeClr val="accent5"/>
                </a:solidFill>
              </a:rPr>
              <a:t>Share of contexts where each action is the cost-aware best choice (cheapest within 10% of the best Brier).</a:t>
            </a:r>
            <a:endParaRPr lang="en-US" sz="1050" dirty="0"/>
          </a:p>
        </p:txBody>
      </p:sp>
      <p:sp>
        <p:nvSpPr>
          <p:cNvPr id="5" name="g3b-card"/>
          <p:cNvSpPr/>
          <p:nvPr/>
        </p:nvSpPr>
        <p:spPr>
          <a:xfrm>
            <a:off x="8001000" y="1280160"/>
            <a:ext cx="3703320" cy="2057400"/>
          </a:xfrm>
          <a:prstGeom prst="roundRect">
            <a:avLst>
              <a:gd name="adj" fmla="val 3556"/>
            </a:avLst>
          </a:prstGeom>
          <a:solidFill>
            <a:srgbClr val="EEF2F7"/>
          </a:solidFill>
          <a:ln w="12700">
            <a:solidFill>
              <a:srgbClr val="EEF2F7"/>
            </a:solidFill>
            <a:prstDash val="solid"/>
          </a:ln>
        </p:spPr>
      </p:sp>
      <p:sp>
        <p:nvSpPr>
          <p:cNvPr id="6" name="g3b-text"/>
          <p:cNvSpPr txBox="1"/>
          <p:nvPr/>
        </p:nvSpPr>
        <p:spPr>
          <a:xfrm>
            <a:off x="8229600" y="1417320"/>
            <a:ext cx="3291840" cy="1783080"/>
          </a:xfrm>
          <a:prstGeom prst="rect">
            <a:avLst/>
          </a:prstGeom>
          <a:noFill/>
          <a:ln/>
        </p:spPr>
        <p:txBody>
          <a:bodyPr wrap="square" lIns="0" tIns="0" rIns="0" bIns="0" rtlCol="0" anchor="t"/>
          <a:lstStyle/>
          <a:p>
            <a:pPr indent="0" marL="0">
              <a:buNone/>
            </a:pPr>
            <a:r>
              <a:rPr lang="en-US" sz="1600" b="1" dirty="0">
                <a:solidFill>
                  <a:schemeClr val="tx2"/>
                </a:solidFill>
              </a:rPr>
              <a:t>Phase 5B · categorical noise</a:t>
            </a:r>
            <a:endParaRPr lang="en-US" sz="1600" dirty="0"/>
          </a:p>
          <a:p>
            <a:pPr indent="0" marL="0">
              <a:buNone/>
            </a:pPr>
            <a:r>
              <a:rPr lang="en-US" sz="1500" dirty="0">
                <a:solidFill>
                  <a:schemeClr val="tx1"/>
                </a:solidFill>
              </a:rPr>
              <a:t>Best action = lookup on noise type. A 4-cell probe rule is right in </a:t>
            </a:r>
            <a:pPr indent="0" marL="0">
              <a:buNone/>
            </a:pPr>
            <a:r>
              <a:rPr lang="en-US" sz="1500" b="1" dirty="0">
                <a:solidFill>
                  <a:schemeClr val="accent1"/>
                </a:solidFill>
              </a:rPr>
              <a:t>99.7%</a:t>
            </a:r>
            <a:pPr indent="0" marL="0">
              <a:buNone/>
            </a:pPr>
            <a:r>
              <a:rPr lang="en-US" sz="1500" dirty="0">
                <a:solidFill>
                  <a:schemeClr val="tx1"/>
                </a:solidFill>
              </a:rPr>
              <a:t> of validation cases.</a:t>
            </a:r>
            <a:endParaRPr lang="en-US" sz="1600" dirty="0"/>
          </a:p>
        </p:txBody>
      </p:sp>
      <p:sp>
        <p:nvSpPr>
          <p:cNvPr id="7" name="g3c-card"/>
          <p:cNvSpPr/>
          <p:nvPr/>
        </p:nvSpPr>
        <p:spPr>
          <a:xfrm>
            <a:off x="8001000" y="3566160"/>
            <a:ext cx="3703320" cy="2057400"/>
          </a:xfrm>
          <a:prstGeom prst="roundRect">
            <a:avLst>
              <a:gd name="adj" fmla="val 3556"/>
            </a:avLst>
          </a:prstGeom>
          <a:solidFill>
            <a:srgbClr val="EEF2F7"/>
          </a:solidFill>
          <a:ln w="12700">
            <a:solidFill>
              <a:srgbClr val="EEF2F7"/>
            </a:solidFill>
            <a:prstDash val="solid"/>
          </a:ln>
        </p:spPr>
      </p:sp>
      <p:sp>
        <p:nvSpPr>
          <p:cNvPr id="8" name="g3c-text"/>
          <p:cNvSpPr txBox="1"/>
          <p:nvPr/>
        </p:nvSpPr>
        <p:spPr>
          <a:xfrm>
            <a:off x="8229600" y="3703320"/>
            <a:ext cx="3291840" cy="1783080"/>
          </a:xfrm>
          <a:prstGeom prst="rect">
            <a:avLst/>
          </a:prstGeom>
          <a:noFill/>
          <a:ln/>
        </p:spPr>
        <p:txBody>
          <a:bodyPr wrap="square" lIns="0" tIns="0" rIns="0" bIns="0" rtlCol="0" anchor="t"/>
          <a:lstStyle/>
          <a:p>
            <a:pPr indent="0" marL="0">
              <a:buNone/>
            </a:pPr>
            <a:r>
              <a:rPr lang="en-US" sz="1600" b="1" dirty="0">
                <a:solidFill>
                  <a:schemeClr val="tx2"/>
                </a:solidFill>
              </a:rPr>
              <a:t>Phase 5C · continuous joint noise</a:t>
            </a:r>
            <a:endParaRPr lang="en-US" sz="1600" dirty="0"/>
          </a:p>
          <a:p>
            <a:pPr indent="0" marL="0">
              <a:buNone/>
            </a:pPr>
            <a:r>
              <a:rPr lang="en-US" sz="1500" dirty="0">
                <a:solidFill>
                  <a:schemeClr val="tx1"/>
                </a:solidFill>
              </a:rPr>
              <a:t>ZNE or combined mitigation wins in 94% of contexts. A two-threshold rule makes material errors in </a:t>
            </a:r>
            <a:pPr indent="0" marL="0">
              <a:buNone/>
            </a:pPr>
            <a:r>
              <a:rPr lang="en-US" sz="1500" b="1" dirty="0">
                <a:solidFill>
                  <a:schemeClr val="accent1"/>
                </a:solidFill>
              </a:rPr>
              <a:t>2.0%</a:t>
            </a:r>
            <a:pPr indent="0" marL="0">
              <a:buNone/>
            </a:pPr>
            <a:r>
              <a:rPr lang="en-US" sz="1500" dirty="0">
                <a:solidFill>
                  <a:schemeClr val="tx1"/>
                </a:solidFill>
              </a:rPr>
              <a:t> of cases.</a:t>
            </a:r>
            <a:endParaRPr lang="en-US" sz="16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Sealed held-out test: the rule matches the Oracle</a:t>
            </a:r>
            <a:endParaRPr lang="en-US" sz="3200" dirty="0"/>
          </a:p>
        </p:txBody>
      </p:sp>
      <p:sp>
        <p:nvSpPr>
          <p:cNvPr id="3" name="s-mat-value"/>
          <p:cNvSpPr txBox="1"/>
          <p:nvPr/>
        </p:nvSpPr>
        <p:spPr>
          <a:xfrm>
            <a:off x="548640" y="1325880"/>
            <a:ext cx="35661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4" name="s-mat-label"/>
          <p:cNvSpPr txBox="1"/>
          <p:nvPr/>
        </p:nvSpPr>
        <p:spPr>
          <a:xfrm>
            <a:off x="548640" y="2075688"/>
            <a:ext cx="3566160" cy="685800"/>
          </a:xfrm>
          <a:prstGeom prst="rect">
            <a:avLst/>
          </a:prstGeom>
          <a:noFill/>
          <a:ln/>
        </p:spPr>
        <p:txBody>
          <a:bodyPr wrap="square" lIns="0" tIns="0" rIns="0" bIns="0" rtlCol="0" anchor="t"/>
          <a:lstStyle/>
          <a:p>
            <a:pPr indent="0" marL="0">
              <a:buNone/>
            </a:pPr>
            <a:r>
              <a:rPr lang="en-US" sz="1300" dirty="0">
                <a:solidFill>
                  <a:schemeClr val="tx1"/>
                </a:solidFill>
              </a:rPr>
              <a:t>material errors on 16 unseen models (95% CI 1.5–2.6%)</a:t>
            </a:r>
            <a:endParaRPr lang="en-US" sz="1300" dirty="0"/>
          </a:p>
        </p:txBody>
      </p:sp>
      <p:sp>
        <p:nvSpPr>
          <p:cNvPr id="5" name="s-reg-value"/>
          <p:cNvSpPr txBox="1"/>
          <p:nvPr/>
        </p:nvSpPr>
        <p:spPr>
          <a:xfrm>
            <a:off x="548640" y="2834640"/>
            <a:ext cx="35661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−0.03%</a:t>
            </a:r>
            <a:endParaRPr lang="en-US" sz="4000" dirty="0"/>
          </a:p>
        </p:txBody>
      </p:sp>
      <p:sp>
        <p:nvSpPr>
          <p:cNvPr id="6" name="s-reg-label"/>
          <p:cNvSpPr txBox="1"/>
          <p:nvPr/>
        </p:nvSpPr>
        <p:spPr>
          <a:xfrm>
            <a:off x="548640" y="3584448"/>
            <a:ext cx="3566160" cy="685800"/>
          </a:xfrm>
          <a:prstGeom prst="rect">
            <a:avLst/>
          </a:prstGeom>
          <a:noFill/>
          <a:ln/>
        </p:spPr>
        <p:txBody>
          <a:bodyPr wrap="square" lIns="0" tIns="0" rIns="0" bIns="0" rtlCol="0" anchor="t"/>
          <a:lstStyle/>
          <a:p>
            <a:pPr indent="0" marL="0">
              <a:buNone/>
            </a:pPr>
            <a:r>
              <a:rPr lang="en-US" sz="1300" dirty="0">
                <a:solidFill>
                  <a:schemeClr val="tx1"/>
                </a:solidFill>
              </a:rPr>
              <a:t>Brier regret vs the cost-aware Oracle</a:t>
            </a:r>
            <a:endParaRPr lang="en-US" sz="1300" dirty="0"/>
          </a:p>
        </p:txBody>
      </p:sp>
      <p:sp>
        <p:nvSpPr>
          <p:cNvPr id="7" name="s-cost-value"/>
          <p:cNvSpPr txBox="1"/>
          <p:nvPr/>
        </p:nvSpPr>
        <p:spPr>
          <a:xfrm>
            <a:off x="548640" y="4343400"/>
            <a:ext cx="356616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+0.6%</a:t>
            </a:r>
            <a:endParaRPr lang="en-US" sz="4000" dirty="0"/>
          </a:p>
        </p:txBody>
      </p:sp>
      <p:sp>
        <p:nvSpPr>
          <p:cNvPr id="8" name="s-cost-label"/>
          <p:cNvSpPr txBox="1"/>
          <p:nvPr/>
        </p:nvSpPr>
        <p:spPr>
          <a:xfrm>
            <a:off x="548640" y="5093208"/>
            <a:ext cx="3566160" cy="685800"/>
          </a:xfrm>
          <a:prstGeom prst="rect">
            <a:avLst/>
          </a:prstGeom>
          <a:noFill/>
          <a:ln/>
        </p:spPr>
        <p:txBody>
          <a:bodyPr wrap="square" lIns="0" tIns="0" rIns="0" bIns="0" rtlCol="0" anchor="t"/>
          <a:lstStyle/>
          <a:p>
            <a:pPr indent="0" marL="0">
              <a:buNone/>
            </a:pPr>
            <a:r>
              <a:rPr lang="en-US" sz="1300" dirty="0">
                <a:solidFill>
                  <a:schemeClr val="tx1"/>
                </a:solidFill>
              </a:rPr>
              <a:t>shots vs the Oracle; 3.4% fewer than always-combined</a:t>
            </a:r>
            <a:endParaRPr lang="en-US" sz="1300" dirty="0"/>
          </a:p>
        </p:txBody>
      </p:sp>
      <p:pic>
        <p:nvPicPr>
          <p:cNvPr id="9" name="final-figure" descr="/Users/mayankpokhriyal/Workspaces/q-trace/deliverables/figures/fig8_final_heldout.png">    </p:cNvPr>
          <p:cNvPicPr>
            <a:picLocks noChangeAspect="1"/>
          </p:cNvPicPr>
          <p:nvPr/>
        </p:nvPicPr>
        <p:blipFill>
          <a:blip r:embed="rId1"/>
          <a:stretch>
            <a:fillRect/>
          </a:stretch>
        </p:blipFill>
        <p:spPr>
          <a:xfrm>
            <a:off x="4297680" y="1773416"/>
            <a:ext cx="7498080" cy="3265447"/>
          </a:xfrm>
          <a:prstGeom prst="rect">
            <a:avLst/>
          </a:prstGeom>
        </p:spPr>
      </p:pic>
      <p:sp>
        <p:nvSpPr>
          <p:cNvPr id="10" name="final-caption"/>
          <p:cNvSpPr txBox="1"/>
          <p:nvPr/>
        </p:nvSpPr>
        <p:spPr>
          <a:xfrm>
            <a:off x="4389120" y="5623560"/>
            <a:ext cx="7315200" cy="548640"/>
          </a:xfrm>
          <a:prstGeom prst="rect">
            <a:avLst/>
          </a:prstGeom>
          <a:noFill/>
          <a:ln/>
        </p:spPr>
        <p:txBody>
          <a:bodyPr wrap="square" lIns="0" tIns="0" rIns="0" bIns="0" rtlCol="0" anchor="t"/>
          <a:lstStyle/>
          <a:p>
            <a:pPr indent="0" marL="0">
              <a:buNone/>
            </a:pPr>
            <a:r>
              <a:rPr lang="en-US" sz="1050" i="1" dirty="0">
                <a:solidFill>
                  <a:schemeClr val="accent5"/>
                </a:solidFill>
              </a:rPr>
              <a:t>One-time evaluation of frozen policies on sealed test structures (continuous joint noise). Best learned comparator: 2.1% material errors.</a:t>
            </a:r>
            <a:endParaRPr lang="en-US" sz="105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Why the simpler policy prevailed</a:t>
            </a:r>
            <a:endParaRPr lang="en-US" sz="3200" dirty="0"/>
          </a:p>
        </p:txBody>
      </p:sp>
      <p:sp>
        <p:nvSpPr>
          <p:cNvPr id="3" name="why-icon-0-circle"/>
          <p:cNvSpPr/>
          <p:nvPr/>
        </p:nvSpPr>
        <p:spPr>
          <a:xfrm>
            <a:off x="640080" y="1371600"/>
            <a:ext cx="868680" cy="868680"/>
          </a:xfrm>
          <a:prstGeom prst="ellipse">
            <a:avLst/>
          </a:prstGeom>
          <a:solidFill>
            <a:srgbClr val="0F8B8D"/>
          </a:solidFill>
          <a:ln w="12700">
            <a:solidFill>
              <a:srgbClr val="0F8B8D"/>
            </a:solidFill>
            <a:prstDash val="solid"/>
          </a:ln>
        </p:spPr>
      </p:sp>
      <p:pic>
        <p:nvPicPr>
          <p:cNvPr id="4" name="why-icon-0" descr="preencoded.png">    </p:cNvPr>
          <p:cNvPicPr>
            <a:picLocks noChangeAspect="1"/>
          </p:cNvPicPr>
          <p:nvPr/>
        </p:nvPicPr>
        <p:blipFill>
          <a:blip r:embed="rId1"/>
          <a:stretch>
            <a:fillRect/>
          </a:stretch>
        </p:blipFill>
        <p:spPr>
          <a:xfrm>
            <a:off x="848563" y="1580083"/>
            <a:ext cx="451714" cy="451714"/>
          </a:xfrm>
          <a:prstGeom prst="rect">
            <a:avLst/>
          </a:prstGeom>
        </p:spPr>
      </p:pic>
      <p:sp>
        <p:nvSpPr>
          <p:cNvPr id="5" name="why-head-0"/>
          <p:cNvSpPr txBox="1"/>
          <p:nvPr/>
        </p:nvSpPr>
        <p:spPr>
          <a:xfrm>
            <a:off x="1783080" y="1353312"/>
            <a:ext cx="9784080" cy="411480"/>
          </a:xfrm>
          <a:prstGeom prst="rect">
            <a:avLst/>
          </a:prstGeom>
          <a:noFill/>
          <a:ln/>
        </p:spPr>
        <p:txBody>
          <a:bodyPr wrap="square" lIns="0" tIns="0" rIns="0" bIns="0" rtlCol="0" anchor="ctr"/>
          <a:lstStyle/>
          <a:p>
            <a:pPr indent="0" marL="0">
              <a:buNone/>
            </a:pPr>
            <a:r>
              <a:rPr lang="en-US" sz="1900" b="1" dirty="0">
                <a:solidFill>
                  <a:schemeClr val="tx2"/>
                </a:solidFill>
              </a:rPr>
              <a:t>Bias, not variance</a:t>
            </a:r>
            <a:endParaRPr lang="en-US" sz="1900" dirty="0"/>
          </a:p>
        </p:txBody>
      </p:sp>
      <p:sp>
        <p:nvSpPr>
          <p:cNvPr id="6" name="why-body-0"/>
          <p:cNvSpPr txBox="1"/>
          <p:nvPr/>
        </p:nvSpPr>
        <p:spPr>
          <a:xfrm>
            <a:off x="1783080" y="1792224"/>
            <a:ext cx="9784080" cy="777240"/>
          </a:xfrm>
          <a:prstGeom prst="rect">
            <a:avLst/>
          </a:prstGeom>
          <a:noFill/>
          <a:ln/>
        </p:spPr>
        <p:txBody>
          <a:bodyPr wrap="square" lIns="0" tIns="0" rIns="0" bIns="0" rtlCol="0" anchor="t"/>
          <a:lstStyle/>
          <a:p>
            <a:pPr indent="0" marL="0">
              <a:buNone/>
            </a:pPr>
            <a:r>
              <a:rPr lang="en-US" sz="1600" dirty="0">
                <a:solidFill>
                  <a:schemeClr val="tx1"/>
                </a:solidFill>
              </a:rPr>
              <a:t>Mitigation fixes a calibration bias that extra shots cannot remove, so the shot budget barely matters.</a:t>
            </a:r>
            <a:endParaRPr lang="en-US" sz="1600" dirty="0"/>
          </a:p>
        </p:txBody>
      </p:sp>
      <p:sp>
        <p:nvSpPr>
          <p:cNvPr id="7" name="why-icon-1-circle"/>
          <p:cNvSpPr/>
          <p:nvPr/>
        </p:nvSpPr>
        <p:spPr>
          <a:xfrm>
            <a:off x="640080" y="2971800"/>
            <a:ext cx="868680" cy="868680"/>
          </a:xfrm>
          <a:prstGeom prst="ellipse">
            <a:avLst/>
          </a:prstGeom>
          <a:solidFill>
            <a:srgbClr val="0F8B8D"/>
          </a:solidFill>
          <a:ln w="12700">
            <a:solidFill>
              <a:srgbClr val="0F8B8D"/>
            </a:solidFill>
            <a:prstDash val="solid"/>
          </a:ln>
        </p:spPr>
      </p:sp>
      <p:pic>
        <p:nvPicPr>
          <p:cNvPr id="8" name="why-icon-1" descr="preencoded.png">    </p:cNvPr>
          <p:cNvPicPr>
            <a:picLocks noChangeAspect="1"/>
          </p:cNvPicPr>
          <p:nvPr/>
        </p:nvPicPr>
        <p:blipFill>
          <a:blip r:embed="rId2"/>
          <a:stretch>
            <a:fillRect/>
          </a:stretch>
        </p:blipFill>
        <p:spPr>
          <a:xfrm>
            <a:off x="848563" y="3180283"/>
            <a:ext cx="451714" cy="451714"/>
          </a:xfrm>
          <a:prstGeom prst="rect">
            <a:avLst/>
          </a:prstGeom>
        </p:spPr>
      </p:pic>
      <p:sp>
        <p:nvSpPr>
          <p:cNvPr id="9" name="why-head-1"/>
          <p:cNvSpPr txBox="1"/>
          <p:nvPr/>
        </p:nvSpPr>
        <p:spPr>
          <a:xfrm>
            <a:off x="1783080" y="2953512"/>
            <a:ext cx="9784080" cy="411480"/>
          </a:xfrm>
          <a:prstGeom prst="rect">
            <a:avLst/>
          </a:prstGeom>
          <a:noFill/>
          <a:ln/>
        </p:spPr>
        <p:txBody>
          <a:bodyPr wrap="square" lIns="0" tIns="0" rIns="0" bIns="0" rtlCol="0" anchor="ctr"/>
          <a:lstStyle/>
          <a:p>
            <a:pPr indent="0" marL="0">
              <a:buNone/>
            </a:pPr>
            <a:r>
              <a:rPr lang="en-US" sz="1900" b="1" dirty="0">
                <a:solidFill>
                  <a:schemeClr val="tx2"/>
                </a:solidFill>
              </a:rPr>
              <a:t>One question decides</a:t>
            </a:r>
            <a:endParaRPr lang="en-US" sz="1900" dirty="0"/>
          </a:p>
        </p:txBody>
      </p:sp>
      <p:sp>
        <p:nvSpPr>
          <p:cNvPr id="10" name="why-body-1"/>
          <p:cNvSpPr txBox="1"/>
          <p:nvPr/>
        </p:nvSpPr>
        <p:spPr>
          <a:xfrm>
            <a:off x="1783080" y="3392424"/>
            <a:ext cx="9784080" cy="777240"/>
          </a:xfrm>
          <a:prstGeom prst="rect">
            <a:avLst/>
          </a:prstGeom>
          <a:noFill/>
          <a:ln/>
        </p:spPr>
        <p:txBody>
          <a:bodyPr wrap="square" lIns="0" tIns="0" rIns="0" bIns="0" rtlCol="0" anchor="t"/>
          <a:lstStyle/>
          <a:p>
            <a:pPr indent="0" marL="0">
              <a:buNone/>
            </a:pPr>
            <a:r>
              <a:rPr lang="en-US" sz="1600" dirty="0">
                <a:solidFill>
                  <a:schemeClr val="tx1"/>
                </a:solidFill>
              </a:rPr>
              <a:t>In our design, 16 of 17 gate settings carry gate noise, so the material choice is whether to pay for ZNE. The gate probe alone recovers the rule.</a:t>
            </a:r>
            <a:endParaRPr lang="en-US" sz="1600" dirty="0"/>
          </a:p>
        </p:txBody>
      </p:sp>
      <p:sp>
        <p:nvSpPr>
          <p:cNvPr id="11" name="why-icon-2-circle"/>
          <p:cNvSpPr/>
          <p:nvPr/>
        </p:nvSpPr>
        <p:spPr>
          <a:xfrm>
            <a:off x="640080" y="4572000"/>
            <a:ext cx="868680" cy="868680"/>
          </a:xfrm>
          <a:prstGeom prst="ellipse">
            <a:avLst/>
          </a:prstGeom>
          <a:solidFill>
            <a:srgbClr val="E8A33D"/>
          </a:solidFill>
          <a:ln w="12700">
            <a:solidFill>
              <a:srgbClr val="E8A33D"/>
            </a:solidFill>
            <a:prstDash val="solid"/>
          </a:ln>
        </p:spPr>
      </p:sp>
      <p:pic>
        <p:nvPicPr>
          <p:cNvPr id="12" name="why-icon-2" descr="preencoded.png">    </p:cNvPr>
          <p:cNvPicPr>
            <a:picLocks noChangeAspect="1"/>
          </p:cNvPicPr>
          <p:nvPr/>
        </p:nvPicPr>
        <p:blipFill>
          <a:blip r:embed="rId3"/>
          <a:stretch>
            <a:fillRect/>
          </a:stretch>
        </p:blipFill>
        <p:spPr>
          <a:xfrm>
            <a:off x="848563" y="4780483"/>
            <a:ext cx="451714" cy="451714"/>
          </a:xfrm>
          <a:prstGeom prst="rect">
            <a:avLst/>
          </a:prstGeom>
        </p:spPr>
      </p:pic>
      <p:sp>
        <p:nvSpPr>
          <p:cNvPr id="13" name="why-head-2"/>
          <p:cNvSpPr txBox="1"/>
          <p:nvPr/>
        </p:nvSpPr>
        <p:spPr>
          <a:xfrm>
            <a:off x="1783080" y="4553712"/>
            <a:ext cx="9784080" cy="411480"/>
          </a:xfrm>
          <a:prstGeom prst="rect">
            <a:avLst/>
          </a:prstGeom>
          <a:noFill/>
          <a:ln/>
        </p:spPr>
        <p:txBody>
          <a:bodyPr wrap="square" lIns="0" tIns="0" rIns="0" bIns="0" rtlCol="0" anchor="ctr"/>
          <a:lstStyle/>
          <a:p>
            <a:pPr indent="0" marL="0">
              <a:buNone/>
            </a:pPr>
            <a:r>
              <a:rPr lang="en-US" sz="1900" b="1" dirty="0">
                <a:solidFill>
                  <a:schemeClr val="tx2"/>
                </a:solidFill>
              </a:rPr>
              <a:t>Models differ in magnitude, not in the winner</a:t>
            </a:r>
            <a:endParaRPr lang="en-US" sz="1900" dirty="0"/>
          </a:p>
        </p:txBody>
      </p:sp>
      <p:sp>
        <p:nvSpPr>
          <p:cNvPr id="14" name="why-body-2"/>
          <p:cNvSpPr txBox="1"/>
          <p:nvPr/>
        </p:nvSpPr>
        <p:spPr>
          <a:xfrm>
            <a:off x="1783080" y="4992624"/>
            <a:ext cx="9784080" cy="777240"/>
          </a:xfrm>
          <a:prstGeom prst="rect">
            <a:avLst/>
          </a:prstGeom>
          <a:noFill/>
          <a:ln/>
        </p:spPr>
        <p:txBody>
          <a:bodyPr wrap="square" lIns="0" tIns="0" rIns="0" bIns="0" rtlCol="0" anchor="t"/>
          <a:lstStyle/>
          <a:p>
            <a:pPr indent="0" marL="0">
              <a:buNone/>
            </a:pPr>
            <a:r>
              <a:rPr lang="en-US" sz="1600" dirty="0">
                <a:solidFill>
                  <a:schemeClr val="tx1"/>
                </a:solidFill>
              </a:rPr>
              <a:t>Benefit varies a lot between models but rarely changes the winner. On an unseen readout type, learned models made 5–30% material errors; the rule 1.4%.</a:t>
            </a:r>
            <a:endParaRPr lang="en-US" sz="16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Contribution and remaining academic work</a:t>
            </a:r>
            <a:endParaRPr lang="en-US" sz="3200" dirty="0"/>
          </a:p>
        </p:txBody>
      </p:sp>
      <p:sp>
        <p:nvSpPr>
          <p:cNvPr id="3" name="contrib-icon-circle"/>
          <p:cNvSpPr/>
          <p:nvPr/>
        </p:nvSpPr>
        <p:spPr>
          <a:xfrm>
            <a:off x="640080" y="1417320"/>
            <a:ext cx="731520" cy="731520"/>
          </a:xfrm>
          <a:prstGeom prst="ellipse">
            <a:avLst/>
          </a:prstGeom>
          <a:solidFill>
            <a:srgbClr val="0F8B8D"/>
          </a:solidFill>
          <a:ln w="12700">
            <a:solidFill>
              <a:srgbClr val="0F8B8D"/>
            </a:solidFill>
            <a:prstDash val="solid"/>
          </a:ln>
        </p:spPr>
      </p:sp>
      <p:pic>
        <p:nvPicPr>
          <p:cNvPr id="4" name="contrib-icon" descr="preencoded.png">    </p:cNvPr>
          <p:cNvPicPr>
            <a:picLocks noChangeAspect="1"/>
          </p:cNvPicPr>
          <p:nvPr/>
        </p:nvPicPr>
        <p:blipFill>
          <a:blip r:embed="rId1"/>
          <a:stretch>
            <a:fillRect/>
          </a:stretch>
        </p:blipFill>
        <p:spPr>
          <a:xfrm>
            <a:off x="815645" y="1592885"/>
            <a:ext cx="380390" cy="380390"/>
          </a:xfrm>
          <a:prstGeom prst="rect">
            <a:avLst/>
          </a:prstGeom>
        </p:spPr>
      </p:pic>
      <p:sp>
        <p:nvSpPr>
          <p:cNvPr id="5" name="contrib-text"/>
          <p:cNvSpPr txBox="1"/>
          <p:nvPr/>
        </p:nvSpPr>
        <p:spPr>
          <a:xfrm>
            <a:off x="1554480" y="1371600"/>
            <a:ext cx="4937760" cy="3840480"/>
          </a:xfrm>
          <a:prstGeom prst="rect">
            <a:avLst/>
          </a:prstGeom>
          <a:noFill/>
          <a:ln/>
        </p:spPr>
        <p:txBody>
          <a:bodyPr wrap="square" lIns="0" tIns="0" rIns="0" bIns="0" rtlCol="0" anchor="t"/>
          <a:lstStyle/>
          <a:p>
            <a:pPr indent="0" marL="0">
              <a:spcAft>
                <a:spcPts val="800"/>
              </a:spcAft>
              <a:buNone/>
            </a:pPr>
            <a:r>
              <a:rPr lang="en-US" sz="1900" b="1" dirty="0">
                <a:solidFill>
                  <a:srgbClr val="FFFFFF"/>
                </a:solidFill>
              </a:rPr>
              <a:t>What we contribute</a:t>
            </a:r>
            <a:endParaRPr lang="en-US" sz="1500" dirty="0"/>
          </a:p>
          <a:p>
            <a:pPr marL="342900" indent="-342900">
              <a:spcAft>
                <a:spcPts val="800"/>
              </a:spcAft>
              <a:buSzPct val="100000"/>
              <a:buChar char="•"/>
            </a:pPr>
            <a:r>
              <a:rPr lang="en-US" sz="1500" dirty="0">
                <a:solidFill>
                  <a:srgbClr val="E6ECF5"/>
                </a:solidFill>
              </a:rPr>
              <a:t>Mitigation fixes calibration, not discrimination; extra shots never substitute.</a:t>
            </a:r>
            <a:endParaRPr lang="en-US" sz="1500" dirty="0"/>
          </a:p>
          <a:p>
            <a:pPr marL="342900" indent="-342900">
              <a:spcAft>
                <a:spcPts val="800"/>
              </a:spcAft>
              <a:buSzPct val="100000"/>
              <a:buChar char="•"/>
            </a:pPr>
            <a:r>
              <a:rPr lang="en-US" sz="1500" dirty="0">
                <a:solidFill>
                  <a:srgbClr val="E6ECF5"/>
                </a:solidFill>
              </a:rPr>
              <a:t>A leakage-safe benchmark: 64 VQCs × noise × budget × 5 actions.</a:t>
            </a:r>
            <a:endParaRPr lang="en-US" sz="1500" dirty="0"/>
          </a:p>
          <a:p>
            <a:pPr marL="342900" indent="-342900">
              <a:spcAft>
                <a:spcPts val="800"/>
              </a:spcAft>
              <a:buSzPct val="100000"/>
              <a:buChar char="•"/>
            </a:pPr>
            <a:r>
              <a:rPr lang="en-US" sz="1500" dirty="0">
                <a:solidFill>
                  <a:srgbClr val="E6ECF5"/>
                </a:solidFill>
              </a:rPr>
              <a:t>A pre-registered test: a simple probe rule is enough here; fixed learned comparators did not reduce material errors.</a:t>
            </a:r>
            <a:endParaRPr lang="en-US" sz="1500" dirty="0"/>
          </a:p>
        </p:txBody>
      </p:sp>
      <p:sp>
        <p:nvSpPr>
          <p:cNvPr id="6" name="steps-head"/>
          <p:cNvSpPr txBox="1"/>
          <p:nvPr/>
        </p:nvSpPr>
        <p:spPr>
          <a:xfrm>
            <a:off x="6949440" y="1371600"/>
            <a:ext cx="4754880" cy="457200"/>
          </a:xfrm>
          <a:prstGeom prst="rect">
            <a:avLst/>
          </a:prstGeom>
          <a:noFill/>
          <a:ln/>
        </p:spPr>
        <p:txBody>
          <a:bodyPr wrap="square" lIns="0" tIns="0" rIns="0" bIns="0" rtlCol="0" anchor="ctr"/>
          <a:lstStyle/>
          <a:p>
            <a:pPr indent="0" marL="0">
              <a:buNone/>
            </a:pPr>
            <a:r>
              <a:rPr lang="en-US" sz="1700" b="1" dirty="0">
                <a:solidFill>
                  <a:srgbClr val="FFFFFF"/>
                </a:solidFill>
              </a:rPr>
              <a:t>Planned milestones (to confirm with the course)</a:t>
            </a:r>
            <a:endParaRPr lang="en-US" sz="1700" dirty="0"/>
          </a:p>
        </p:txBody>
      </p:sp>
      <p:sp>
        <p:nvSpPr>
          <p:cNvPr id="7" name="step-pill-0"/>
          <p:cNvSpPr/>
          <p:nvPr/>
        </p:nvSpPr>
        <p:spPr>
          <a:xfrm>
            <a:off x="6949440" y="2011680"/>
            <a:ext cx="1417320" cy="640080"/>
          </a:xfrm>
          <a:prstGeom prst="roundRect">
            <a:avLst>
              <a:gd name="adj" fmla="val 11429"/>
            </a:avLst>
          </a:prstGeom>
          <a:solidFill>
            <a:srgbClr val="0F8B8D"/>
          </a:solidFill>
          <a:ln w="12700">
            <a:solidFill>
              <a:srgbClr val="0F8B8D"/>
            </a:solidFill>
            <a:prstDash val="solid"/>
          </a:ln>
        </p:spPr>
      </p:sp>
      <p:sp>
        <p:nvSpPr>
          <p:cNvPr id="8" name="step-date-0"/>
          <p:cNvSpPr txBox="1"/>
          <p:nvPr/>
        </p:nvSpPr>
        <p:spPr>
          <a:xfrm>
            <a:off x="6949440" y="2011680"/>
            <a:ext cx="1417320" cy="640080"/>
          </a:xfrm>
          <a:prstGeom prst="rect">
            <a:avLst/>
          </a:prstGeom>
          <a:noFill/>
          <a:ln/>
        </p:spPr>
        <p:txBody>
          <a:bodyPr wrap="square" lIns="0" tIns="0" rIns="0" bIns="0" rtlCol="0" anchor="ctr"/>
          <a:lstStyle/>
          <a:p>
            <a:pPr algn="ctr" indent="0" marL="0">
              <a:buNone/>
            </a:pPr>
            <a:r>
              <a:rPr lang="en-US" sz="1400" b="1" dirty="0">
                <a:solidFill>
                  <a:srgbClr val="FFFFFF"/>
                </a:solidFill>
              </a:rPr>
              <a:t>Oct 20</a:t>
            </a:r>
            <a:endParaRPr lang="en-US" sz="1400" dirty="0"/>
          </a:p>
        </p:txBody>
      </p:sp>
      <p:sp>
        <p:nvSpPr>
          <p:cNvPr id="9" name="step-text-0"/>
          <p:cNvSpPr txBox="1"/>
          <p:nvPr/>
        </p:nvSpPr>
        <p:spPr>
          <a:xfrm>
            <a:off x="8549640" y="2011680"/>
            <a:ext cx="3200400" cy="640080"/>
          </a:xfrm>
          <a:prstGeom prst="rect">
            <a:avLst/>
          </a:prstGeom>
          <a:noFill/>
          <a:ln/>
        </p:spPr>
        <p:txBody>
          <a:bodyPr wrap="square" lIns="0" tIns="0" rIns="0" bIns="0" rtlCol="0" anchor="ctr"/>
          <a:lstStyle/>
          <a:p>
            <a:pPr indent="0" marL="0">
              <a:buNone/>
            </a:pPr>
            <a:r>
              <a:rPr lang="en-US" sz="1500" dirty="0">
                <a:solidFill>
                  <a:srgbClr val="E6ECF5"/>
                </a:solidFill>
              </a:rPr>
              <a:t>Polished research manuscript</a:t>
            </a:r>
            <a:endParaRPr lang="en-US" sz="1500" dirty="0"/>
          </a:p>
        </p:txBody>
      </p:sp>
      <p:sp>
        <p:nvSpPr>
          <p:cNvPr id="10" name="step-pill-1"/>
          <p:cNvSpPr/>
          <p:nvPr/>
        </p:nvSpPr>
        <p:spPr>
          <a:xfrm>
            <a:off x="6949440" y="2880360"/>
            <a:ext cx="1417320" cy="640080"/>
          </a:xfrm>
          <a:prstGeom prst="roundRect">
            <a:avLst>
              <a:gd name="adj" fmla="val 11429"/>
            </a:avLst>
          </a:prstGeom>
          <a:solidFill>
            <a:srgbClr val="0F8B8D"/>
          </a:solidFill>
          <a:ln w="12700">
            <a:solidFill>
              <a:srgbClr val="0F8B8D"/>
            </a:solidFill>
            <a:prstDash val="solid"/>
          </a:ln>
        </p:spPr>
      </p:sp>
      <p:sp>
        <p:nvSpPr>
          <p:cNvPr id="11" name="step-date-1"/>
          <p:cNvSpPr txBox="1"/>
          <p:nvPr/>
        </p:nvSpPr>
        <p:spPr>
          <a:xfrm>
            <a:off x="6949440" y="2880360"/>
            <a:ext cx="1417320" cy="640080"/>
          </a:xfrm>
          <a:prstGeom prst="rect">
            <a:avLst/>
          </a:prstGeom>
          <a:noFill/>
          <a:ln/>
        </p:spPr>
        <p:txBody>
          <a:bodyPr wrap="square" lIns="0" tIns="0" rIns="0" bIns="0" rtlCol="0" anchor="ctr"/>
          <a:lstStyle/>
          <a:p>
            <a:pPr algn="ctr" indent="0" marL="0">
              <a:buNone/>
            </a:pPr>
            <a:r>
              <a:rPr lang="en-US" sz="1400" b="1" dirty="0">
                <a:solidFill>
                  <a:srgbClr val="FFFFFF"/>
                </a:solidFill>
              </a:rPr>
              <a:t>Oct 27</a:t>
            </a:r>
            <a:endParaRPr lang="en-US" sz="1400" dirty="0"/>
          </a:p>
        </p:txBody>
      </p:sp>
      <p:sp>
        <p:nvSpPr>
          <p:cNvPr id="12" name="step-text-1"/>
          <p:cNvSpPr txBox="1"/>
          <p:nvPr/>
        </p:nvSpPr>
        <p:spPr>
          <a:xfrm>
            <a:off x="8549640" y="2880360"/>
            <a:ext cx="3200400" cy="640080"/>
          </a:xfrm>
          <a:prstGeom prst="rect">
            <a:avLst/>
          </a:prstGeom>
          <a:noFill/>
          <a:ln/>
        </p:spPr>
        <p:txBody>
          <a:bodyPr wrap="square" lIns="0" tIns="0" rIns="0" bIns="0" rtlCol="0" anchor="ctr"/>
          <a:lstStyle/>
          <a:p>
            <a:pPr indent="0" marL="0">
              <a:buNone/>
            </a:pPr>
            <a:r>
              <a:rPr lang="en-US" sz="1500" dirty="0">
                <a:solidFill>
                  <a:srgbClr val="E6ECF5"/>
                </a:solidFill>
              </a:rPr>
              <a:t>Updated capstone presentation</a:t>
            </a:r>
            <a:endParaRPr lang="en-US" sz="1500" dirty="0"/>
          </a:p>
        </p:txBody>
      </p:sp>
      <p:sp>
        <p:nvSpPr>
          <p:cNvPr id="13" name="step-pill-2"/>
          <p:cNvSpPr/>
          <p:nvPr/>
        </p:nvSpPr>
        <p:spPr>
          <a:xfrm>
            <a:off x="6949440" y="3749040"/>
            <a:ext cx="1417320" cy="640080"/>
          </a:xfrm>
          <a:prstGeom prst="roundRect">
            <a:avLst>
              <a:gd name="adj" fmla="val 11429"/>
            </a:avLst>
          </a:prstGeom>
          <a:solidFill>
            <a:srgbClr val="0F8B8D"/>
          </a:solidFill>
          <a:ln w="12700">
            <a:solidFill>
              <a:srgbClr val="0F8B8D"/>
            </a:solidFill>
            <a:prstDash val="solid"/>
          </a:ln>
        </p:spPr>
      </p:sp>
      <p:sp>
        <p:nvSpPr>
          <p:cNvPr id="14" name="step-date-2"/>
          <p:cNvSpPr txBox="1"/>
          <p:nvPr/>
        </p:nvSpPr>
        <p:spPr>
          <a:xfrm>
            <a:off x="6949440" y="3749040"/>
            <a:ext cx="1417320" cy="640080"/>
          </a:xfrm>
          <a:prstGeom prst="rect">
            <a:avLst/>
          </a:prstGeom>
          <a:noFill/>
          <a:ln/>
        </p:spPr>
        <p:txBody>
          <a:bodyPr wrap="square" lIns="0" tIns="0" rIns="0" bIns="0" rtlCol="0" anchor="ctr"/>
          <a:lstStyle/>
          <a:p>
            <a:pPr algn="ctr" indent="0" marL="0">
              <a:buNone/>
            </a:pPr>
            <a:r>
              <a:rPr lang="en-US" sz="1400" b="1" dirty="0">
                <a:solidFill>
                  <a:srgbClr val="FFFFFF"/>
                </a:solidFill>
              </a:rPr>
              <a:t>Nov 10–24</a:t>
            </a:r>
            <a:endParaRPr lang="en-US" sz="1400" dirty="0"/>
          </a:p>
        </p:txBody>
      </p:sp>
      <p:sp>
        <p:nvSpPr>
          <p:cNvPr id="15" name="step-text-2"/>
          <p:cNvSpPr txBox="1"/>
          <p:nvPr/>
        </p:nvSpPr>
        <p:spPr>
          <a:xfrm>
            <a:off x="8549640" y="3749040"/>
            <a:ext cx="3200400" cy="640080"/>
          </a:xfrm>
          <a:prstGeom prst="rect">
            <a:avLst/>
          </a:prstGeom>
          <a:noFill/>
          <a:ln/>
        </p:spPr>
        <p:txBody>
          <a:bodyPr wrap="square" lIns="0" tIns="0" rIns="0" bIns="0" rtlCol="0" anchor="ctr"/>
          <a:lstStyle/>
          <a:p>
            <a:pPr indent="0" marL="0">
              <a:buNone/>
            </a:pPr>
            <a:r>
              <a:rPr lang="en-US" sz="1500" dirty="0">
                <a:solidFill>
                  <a:srgbClr val="E6ECF5"/>
                </a:solidFill>
              </a:rPr>
              <a:t>Revisions from professor feedback</a:t>
            </a:r>
            <a:endParaRPr lang="en-US" sz="1500" dirty="0"/>
          </a:p>
        </p:txBody>
      </p:sp>
      <p:sp>
        <p:nvSpPr>
          <p:cNvPr id="16" name="step-pill-3"/>
          <p:cNvSpPr/>
          <p:nvPr/>
        </p:nvSpPr>
        <p:spPr>
          <a:xfrm>
            <a:off x="6949440" y="4617720"/>
            <a:ext cx="1417320" cy="640080"/>
          </a:xfrm>
          <a:prstGeom prst="roundRect">
            <a:avLst>
              <a:gd name="adj" fmla="val 11429"/>
            </a:avLst>
          </a:prstGeom>
          <a:solidFill>
            <a:srgbClr val="0F8B8D"/>
          </a:solidFill>
          <a:ln w="12700">
            <a:solidFill>
              <a:srgbClr val="0F8B8D"/>
            </a:solidFill>
            <a:prstDash val="solid"/>
          </a:ln>
        </p:spPr>
      </p:sp>
      <p:sp>
        <p:nvSpPr>
          <p:cNvPr id="17" name="step-date-3"/>
          <p:cNvSpPr txBox="1"/>
          <p:nvPr/>
        </p:nvSpPr>
        <p:spPr>
          <a:xfrm>
            <a:off x="6949440" y="4617720"/>
            <a:ext cx="1417320" cy="640080"/>
          </a:xfrm>
          <a:prstGeom prst="rect">
            <a:avLst/>
          </a:prstGeom>
          <a:noFill/>
          <a:ln/>
        </p:spPr>
        <p:txBody>
          <a:bodyPr wrap="square" lIns="0" tIns="0" rIns="0" bIns="0" rtlCol="0" anchor="ctr"/>
          <a:lstStyle/>
          <a:p>
            <a:pPr algn="ctr" indent="0" marL="0">
              <a:buNone/>
            </a:pPr>
            <a:r>
              <a:rPr lang="en-US" sz="1400" b="1" dirty="0">
                <a:solidFill>
                  <a:srgbClr val="FFFFFF"/>
                </a:solidFill>
              </a:rPr>
              <a:t>Dec 8</a:t>
            </a:r>
            <a:endParaRPr lang="en-US" sz="1400" dirty="0"/>
          </a:p>
        </p:txBody>
      </p:sp>
      <p:sp>
        <p:nvSpPr>
          <p:cNvPr id="18" name="step-text-3"/>
          <p:cNvSpPr txBox="1"/>
          <p:nvPr/>
        </p:nvSpPr>
        <p:spPr>
          <a:xfrm>
            <a:off x="8549640" y="4617720"/>
            <a:ext cx="3200400" cy="640080"/>
          </a:xfrm>
          <a:prstGeom prst="rect">
            <a:avLst/>
          </a:prstGeom>
          <a:noFill/>
          <a:ln/>
        </p:spPr>
        <p:txBody>
          <a:bodyPr wrap="square" lIns="0" tIns="0" rIns="0" bIns="0" rtlCol="0" anchor="ctr"/>
          <a:lstStyle/>
          <a:p>
            <a:pPr indent="0" marL="0">
              <a:buNone/>
            </a:pPr>
            <a:r>
              <a:rPr lang="en-US" sz="1500" dirty="0">
                <a:solidFill>
                  <a:srgbClr val="E6ECF5"/>
                </a:solidFill>
              </a:rPr>
              <a:t>Final presentation package</a:t>
            </a:r>
            <a:endParaRPr lang="en-US" sz="15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When is quantum error mitigation worth paying for?</dc:title>
  <dc:subject>PptxGenJS Presentation</dc:subject>
  <dc:creator>Mayank Kumar Pokhriyal; Tushar Poonia</dc:creator>
  <cp:lastModifiedBy>Mayank Kumar Pokhriyal; Tushar Poonia</cp:lastModifiedBy>
  <cp:revision>1</cp:revision>
  <dcterms:created xsi:type="dcterms:W3CDTF">2026-10-08T22:43:00Z</dcterms:created>
  <dcterms:modified xsi:type="dcterms:W3CDTF">2026-10-08T22:43:00Z</dcterms:modified>
</cp:coreProperties>
</file>